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77" r:id="rId4"/>
    <p:sldId id="258" r:id="rId5"/>
    <p:sldId id="259" r:id="rId6"/>
    <p:sldId id="268" r:id="rId7"/>
    <p:sldId id="260" r:id="rId8"/>
    <p:sldId id="269" r:id="rId9"/>
    <p:sldId id="261" r:id="rId10"/>
    <p:sldId id="278" r:id="rId11"/>
    <p:sldId id="262" r:id="rId12"/>
    <p:sldId id="279" r:id="rId13"/>
    <p:sldId id="280" r:id="rId14"/>
    <p:sldId id="270" r:id="rId15"/>
    <p:sldId id="263" r:id="rId16"/>
    <p:sldId id="271" r:id="rId17"/>
    <p:sldId id="281" r:id="rId32"/>
    <p:sldId id="264" r:id="rId18"/>
    <p:sldId id="272" r:id="rId19"/>
    <p:sldId id="282" r:id="rId33"/>
    <p:sldId id="283" r:id="rId34"/>
    <p:sldId id="284" r:id="rId35"/>
    <p:sldId id="273" r:id="rId20"/>
    <p:sldId id="274" r:id="rId21"/>
    <p:sldId id="275" r:id="rId22"/>
    <p:sldId id="265" r:id="rId23"/>
    <p:sldId id="285" r:id="rId36"/>
    <p:sldId id="276" r:id="rId24"/>
    <p:sldId id="266" r:id="rId25"/>
    <p:sldId id="267"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62C46"/>
    <a:srgbClr val="C6DBEF"/>
    <a:srgbClr val="F6F9F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3.xml"/><Relationship Id="rId21" Type="http://schemas.openxmlformats.org/officeDocument/2006/relationships/slide" Target="slides/slide24.xml"/><Relationship Id="rId22" Type="http://schemas.openxmlformats.org/officeDocument/2006/relationships/slide" Target="slides/slide25.xml"/><Relationship Id="rId23" Type="http://schemas.openxmlformats.org/officeDocument/2006/relationships/slide" Target="slides/slide26.xml"/><Relationship Id="rId24" Type="http://schemas.openxmlformats.org/officeDocument/2006/relationships/slide" Target="slides/slide28.xml"/><Relationship Id="rId25" Type="http://schemas.openxmlformats.org/officeDocument/2006/relationships/slide" Target="slides/slide29.xml"/><Relationship Id="rId26" Type="http://schemas.openxmlformats.org/officeDocument/2006/relationships/slide" Target="slides/slide30.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17.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Mẫu thô (đếm dòng)</c:v>
                </c:pt>
              </c:strCache>
            </c:strRef>
          </c:tx>
          <c:spPr>
            <a:solidFill>
              <a:srgbClr val="A9B8C9"/>
            </a:solidFill>
          </c:spPr>
          <c:dLbls>
            <c:dLbl>
              <c:idx val="0"/>
              <c:tx>
                <c:rich>
                  <a:bodyPr/>
                  <a:lstStyle/>
                  <a:p>
                    <a:r>
                      <a:rPr sz="1000"/>
                      <a:t>9,63%</a:t>
                    </a:r>
                  </a:p>
                </c:rich>
              </c:tx>
              <c:showLegendKey val="0"/>
              <c:showVal val="1"/>
              <c:showCatName val="0"/>
              <c:showSerName val="0"/>
              <c:showPercent val="0"/>
              <c:showBubbleSize val="0"/>
            </c:dLbl>
            <c:dLbl>
              <c:idx val="1"/>
              <c:tx>
                <c:rich>
                  <a:bodyPr/>
                  <a:lstStyle/>
                  <a:p>
                    <a:r>
                      <a:rPr sz="1000"/>
                      <a:t>6,59%</a:t>
                    </a:r>
                  </a:p>
                </c:rich>
              </c:tx>
              <c:showLegendKey val="0"/>
              <c:showVal val="1"/>
              <c:showCatName val="0"/>
              <c:showSerName val="0"/>
              <c:showPercent val="0"/>
              <c:showBubbleSize val="0"/>
            </c:dLbl>
            <c:dLbl>
              <c:idx val="2"/>
              <c:tx>
                <c:rich>
                  <a:bodyPr/>
                  <a:lstStyle/>
                  <a:p>
                    <a:r>
                      <a:rPr sz="1000"/>
                      <a:t>4,53%</a:t>
                    </a:r>
                  </a:p>
                </c:rich>
              </c:tx>
              <c:showLegendKey val="0"/>
              <c:showVal val="1"/>
              <c:showCatName val="0"/>
              <c:showSerName val="0"/>
              <c:showPercent val="0"/>
              <c:showBubbleSize val="0"/>
            </c:dLbl>
            <c:dLbl>
              <c:idx val="3"/>
              <c:tx>
                <c:rich>
                  <a:bodyPr/>
                  <a:lstStyle/>
                  <a:p>
                    <a:r>
                      <a:rPr sz="1000"/>
                      <a:t>3,56%</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train ≤2023</c:v>
                </c:pt>
                <c:pt idx="1">
                  <c:v>CV val 2022</c:v>
                </c:pt>
                <c:pt idx="2">
                  <c:v>CV val 2023</c:v>
                </c:pt>
                <c:pt idx="3">
                  <c:v>test 2024–26</c:v>
                </c:pt>
              </c:strCache>
            </c:strRef>
          </c:cat>
          <c:val>
            <c:numRef>
              <c:f>Sheet1!$B$2:$B$5</c:f>
              <c:numCache>
                <c:formatCode>General</c:formatCode>
                <c:ptCount val="4"/>
                <c:pt idx="0">
                  <c:v>0.09627607795232006</c:v>
                </c:pt>
                <c:pt idx="1">
                  <c:v>0.0659140236006493</c:v>
                </c:pt>
                <c:pt idx="2">
                  <c:v>0.045278477680418185</c:v>
                </c:pt>
                <c:pt idx="3">
                  <c:v>0.03557379437618377</c:v>
                </c:pt>
              </c:numCache>
            </c:numRef>
          </c:val>
        </c:ser>
        <c:ser>
          <c:idx val="1"/>
          <c:order val="1"/>
          <c:tx>
            <c:strRef>
              <c:f>Sheet1!$C$1</c:f>
              <c:strCache>
                <c:ptCount val="1"/>
                <c:pt idx="0">
                  <c:v>Quần thể (nhân trọng số w)</c:v>
                </c:pt>
              </c:strCache>
            </c:strRef>
          </c:tx>
          <c:spPr>
            <a:solidFill>
              <a:srgbClr val="162C46"/>
            </a:solidFill>
          </c:spPr>
          <c:dLbls>
            <c:dLbl>
              <c:idx val="0"/>
              <c:tx>
                <c:rich>
                  <a:bodyPr/>
                  <a:lstStyle/>
                  <a:p>
                    <a:r>
                      <a:rPr sz="1000"/>
                      <a:t>4,45%</a:t>
                    </a:r>
                  </a:p>
                </c:rich>
              </c:tx>
              <c:showLegendKey val="0"/>
              <c:showVal val="1"/>
              <c:showCatName val="0"/>
              <c:showSerName val="0"/>
              <c:showPercent val="0"/>
              <c:showBubbleSize val="0"/>
            </c:dLbl>
            <c:dLbl>
              <c:idx val="1"/>
              <c:tx>
                <c:rich>
                  <a:bodyPr/>
                  <a:lstStyle/>
                  <a:p>
                    <a:r>
                      <a:rPr sz="1000"/>
                      <a:t>2,83%</a:t>
                    </a:r>
                  </a:p>
                </c:rich>
              </c:tx>
              <c:showLegendKey val="0"/>
              <c:showVal val="1"/>
              <c:showCatName val="0"/>
              <c:showSerName val="0"/>
              <c:showPercent val="0"/>
              <c:showBubbleSize val="0"/>
            </c:dLbl>
            <c:dLbl>
              <c:idx val="2"/>
              <c:tx>
                <c:rich>
                  <a:bodyPr/>
                  <a:lstStyle/>
                  <a:p>
                    <a:r>
                      <a:rPr sz="1000"/>
                      <a:t>1,95%</a:t>
                    </a:r>
                  </a:p>
                </c:rich>
              </c:tx>
              <c:showLegendKey val="0"/>
              <c:showVal val="1"/>
              <c:showCatName val="0"/>
              <c:showSerName val="0"/>
              <c:showPercent val="0"/>
              <c:showBubbleSize val="0"/>
            </c:dLbl>
            <c:dLbl>
              <c:idx val="3"/>
              <c:tx>
                <c:rich>
                  <a:bodyPr/>
                  <a:lstStyle/>
                  <a:p>
                    <a:r>
                      <a:rPr sz="1000"/>
                      <a:t>1,68%</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train ≤2023</c:v>
                </c:pt>
                <c:pt idx="1">
                  <c:v>CV val 2022</c:v>
                </c:pt>
                <c:pt idx="2">
                  <c:v>CV val 2023</c:v>
                </c:pt>
                <c:pt idx="3">
                  <c:v>test 2024–26</c:v>
                </c:pt>
              </c:strCache>
            </c:strRef>
          </c:cat>
          <c:val>
            <c:numRef>
              <c:f>Sheet1!$C$2:$C$5</c:f>
              <c:numCache>
                <c:formatCode>General</c:formatCode>
                <c:ptCount val="4"/>
                <c:pt idx="0">
                  <c:v>0.04448235107769515</c:v>
                </c:pt>
                <c:pt idx="1">
                  <c:v>0.028342649545780488</c:v>
                </c:pt>
                <c:pt idx="2">
                  <c:v>0.01949999027835361</c:v>
                </c:pt>
                <c:pt idx="3">
                  <c:v>0.016792405954361118</c:v>
                </c:pt>
              </c:numCache>
            </c:numRef>
          </c:val>
        </c:ser>
        <c:dLbls>
          <c:numFmt formatCode="0.00%" sourceLinked="0"/>
          <c:txPr>
            <a:bodyPr/>
            <a:lstStyle/>
            <a:p>
              <a:pPr>
                <a:defRPr sz="1000">
                  <a:solidFill>
                    <a:srgbClr val="242B33"/>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D3DCE5"/>
            </a:solidFill>
          </a:ln>
        </c:spPr>
        <c:txPr>
          <a:bodyPr/>
          <a:lstStyle/>
          <a:p>
            <a:pPr>
              <a:defRPr sz="1000">
                <a:solidFill>
                  <a:srgbClr val="242B33"/>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t"/>
      <c:overlay val="0"/>
      <c:txPr>
        <a:bodyPr/>
        <a:lstStyle/>
        <a:p>
          <a:pPr>
            <a:defRPr sz="1000">
              <a:solidFill>
                <a:srgbClr val="242B33"/>
              </a:solidFill>
            </a:defRPr>
          </a:pPr>
        </a:p>
      </c:txPr>
    </c:legend>
    <c:dispBlanksAs val="gap"/>
  </c:chart>
  <c:txPr>
    <a:bodyPr/>
    <a:lstStyle/>
    <a:p>
      <a:pPr>
        <a:defRPr sz="1800">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hỗ dành sẵn cho Đầu trang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Chỗ dành sẵn cho Ngày tháng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63EBFCF-7AA4-4AC6-BC31-3DCFABDCB4EC}" type="datetimeFigureOut">
              <a:rPr lang="en-US" smtClean="0"/>
              <a:t>9/30/2026</a:t>
            </a:fld>
            <a:endParaRPr lang="en-US"/>
          </a:p>
        </p:txBody>
      </p:sp>
      <p:sp>
        <p:nvSpPr>
          <p:cNvPr id="4" name="Chỗ dành sẵn cho Hình ảnh của Bản chiế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Chỗ dành sẵn cho Ghi ch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endParaRPr lang="en-US"/>
          </a:p>
        </p:txBody>
      </p:sp>
      <p:sp>
        <p:nvSpPr>
          <p:cNvPr id="6" name="Chỗ dành sẵn cho Chân trang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Chỗ dành sẵn cho Số hiệu Bản chiế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7681AB-B8B1-41BD-B60F-78E646209784}" type="slidenum">
              <a:rPr lang="en-US" smtClean="0"/>
              <a:t>‹#›</a:t>
            </a:fld>
            <a:endParaRPr lang="en-US"/>
          </a:p>
        </p:txBody>
      </p:sp>
    </p:spTree>
    <p:extLst>
      <p:ext uri="{BB962C8B-B14F-4D97-AF65-F5344CB8AC3E}">
        <p14:creationId xmlns:p14="http://schemas.microsoft.com/office/powerpoint/2010/main" val="25922340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Ý chính: cào ngây thơ ra 96% review 5 sao → biến mục tiêu không có phương sai. Nhóm đọc histogram sao ở cấp quần thể (API trả kèm, đếm thật), vét cạn tầng 1–3★, lấy tối đa 200 review ở tầng 4–5★, rồi gán w = N_h/n_h.</a:t>
            </a:r>
          </a:p>
          <a:p>
            <a:endParaRPr/>
          </a:p>
          <a:p>
            <a:r>
              <a:t>Câu hỏi dự kiến — Vì sao tin trọng số đúng? Tổng trọng số 438.255 khớp tổng số review 438.295 lấy từ một endpoint KHÁC, lệch 0,0091% — hai con số không hề được ép cho khớp.</a:t>
            </a:r>
          </a:p>
          <a:p>
            <a:r>
              <a:t>— Trọng số làm gì? Mọi tỉ lệ/trung bình quần thể đều nhân w; không nhân thì tỉ lệ review xấu bị phóng đại gấp đôi (8,6% vs 4,0%).</a:t>
            </a:r>
          </a:p>
          <a:p>
            <a:r>
              <a:t>— n_eff là gì? Kish n_eff = (Σw)²/Σw²: số quan sát 'thật sự mang thông tin'. 182 dòng có thể chỉ bằng 25 quan sát.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Lỗi 1 — hai đồng hồ: purchased_at là epoch UTC, delivery_date là chuỗi giờ Việt Nam. Trừ thẳng → mọi lead time dư 7 giờ. Không làm gãy dòng code nào nên gọi là lỗi im lặng. Bắt được bằng phép đo: created_at (epoch) và review_created_date (chuỗi) mô tả CÙNG một sự kiện → hiệu = 7,0000 giờ trên 200.307 review, độ lệch chuẩn 0.</a:t>
            </a:r>
          </a:p>
          <a:p>
            <a:r>
              <a:t>Lỗi 2 — 1.799 dòng lead_days âm: purchased_at ghi lần mua GẦN NHẤT của khách với sản phẩm, khách mua lại sau khi review thì ngày đặt nhảy qua ngày viết review (93,4% dòng âm như vậy). Gắn cờ, không xoá; nhân trọng số thì nhóm này không khác phần còn lại (rating 4,770 vs 4,781).</a:t>
            </a:r>
          </a:p>
          <a:p>
            <a:r>
              <a:t>Câu hỏi dự kiến — Sao không dropna? Vì chưa biết chúng có phải khách bất mãn không; phải điều tra rồi mới quyết định.</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ỗ dành sẵn cho Hình ảnh của Bản chiếu 1"/>
          <p:cNvSpPr>
            <a:spLocks noGrp="1" noRot="1" noChangeAspect="1"/>
          </p:cNvSpPr>
          <p:nvPr>
            <p:ph type="sldImg"/>
          </p:nvPr>
        </p:nvSpPr>
        <p:spPr/>
      </p:sp>
      <p:sp>
        <p:nvSpPr>
          <p:cNvPr id="3" name="Chỗ dành sẵn cho Ghi chú 2"/>
          <p:cNvSpPr>
            <a:spLocks noGrp="1"/>
          </p:cNvSpPr>
          <p:nvPr>
            <p:ph type="body" idx="1"/>
          </p:nvPr>
        </p:nvSpPr>
        <p:spPr/>
        <p:txBody>
          <a:bodyPr/>
          <a:lstStyle/>
          <a:p>
            <a:endParaRPr lang="en-US" dirty="0"/>
          </a:p>
        </p:txBody>
      </p:sp>
      <p:sp>
        <p:nvSpPr>
          <p:cNvPr id="4" name="Chỗ dành sẵn cho Số hiệu Bản chiếu 3"/>
          <p:cNvSpPr>
            <a:spLocks noGrp="1"/>
          </p:cNvSpPr>
          <p:nvPr>
            <p:ph type="sldNum" sz="quarter" idx="5"/>
          </p:nvPr>
        </p:nvSpPr>
        <p:spPr/>
        <p:txBody>
          <a:bodyPr/>
          <a:lstStyle/>
          <a:p>
            <a:fld id="{317681AB-B8B1-41BD-B60F-78E646209784}" type="slidenum">
              <a:rPr lang="en-US" smtClean="0"/>
              <a:t>9</a:t>
            </a:fld>
            <a:endParaRPr lang="en-US"/>
          </a:p>
        </p:txBody>
      </p:sp>
    </p:spTree>
    <p:extLst>
      <p:ext uri="{BB962C8B-B14F-4D97-AF65-F5344CB8AC3E}">
        <p14:creationId xmlns:p14="http://schemas.microsoft.com/office/powerpoint/2010/main" val="11319604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EC997-A9B7-576C-9D0F-EBAF13F002FD}"/>
            </a:ext>
          </a:extLst>
        </p:cNvPr>
        <p:cNvGrpSpPr/>
        <p:nvPr/>
      </p:nvGrpSpPr>
      <p:grpSpPr>
        <a:xfrm>
          <a:off x="0" y="0"/>
          <a:ext cx="0" cy="0"/>
          <a:chOff x="0" y="0"/>
          <a:chExt cx="0" cy="0"/>
        </a:xfrm>
      </p:grpSpPr>
      <p:sp>
        <p:nvSpPr>
          <p:cNvPr id="2" name="Chỗ dành sẵn cho Hình ảnh của Bản chiếu 1">
            <a:extLst>
              <a:ext uri="{FF2B5EF4-FFF2-40B4-BE49-F238E27FC236}">
                <a16:creationId xmlns:a16="http://schemas.microsoft.com/office/drawing/2014/main" id="{1DB32107-031E-945F-D694-8D66F79F4322}"/>
              </a:ext>
            </a:extLst>
          </p:cNvPr>
          <p:cNvSpPr>
            <a:spLocks noGrp="1" noRot="1" noChangeAspect="1"/>
          </p:cNvSpPr>
          <p:nvPr>
            <p:ph type="sldImg"/>
          </p:nvPr>
        </p:nvSpPr>
        <p:spPr/>
      </p:sp>
      <p:sp>
        <p:nvSpPr>
          <p:cNvPr id="3" name="Chỗ dành sẵn cho Ghi chú 2">
            <a:extLst>
              <a:ext uri="{FF2B5EF4-FFF2-40B4-BE49-F238E27FC236}">
                <a16:creationId xmlns:a16="http://schemas.microsoft.com/office/drawing/2014/main" id="{A336F33F-A486-CCE2-598E-7F9E50C06345}"/>
              </a:ext>
            </a:extLst>
          </p:cNvPr>
          <p:cNvSpPr>
            <a:spLocks noGrp="1"/>
          </p:cNvSpPr>
          <p:nvPr>
            <p:ph type="body" idx="1"/>
          </p:nvPr>
        </p:nvSpPr>
        <p:spPr/>
        <p:txBody>
          <a:bodyPr/>
          <a:lstStyle/>
          <a:p>
            <a:endParaRPr lang="en-US" dirty="0"/>
          </a:p>
        </p:txBody>
      </p:sp>
      <p:sp>
        <p:nvSpPr>
          <p:cNvPr id="4" name="Chỗ dành sẵn cho Số hiệu Bản chiếu 3">
            <a:extLst>
              <a:ext uri="{FF2B5EF4-FFF2-40B4-BE49-F238E27FC236}">
                <a16:creationId xmlns:a16="http://schemas.microsoft.com/office/drawing/2014/main" id="{D3618FAA-EF43-B0B3-879C-554302C8B86A}"/>
              </a:ext>
            </a:extLst>
          </p:cNvPr>
          <p:cNvSpPr>
            <a:spLocks noGrp="1"/>
          </p:cNvSpPr>
          <p:nvPr>
            <p:ph type="sldNum" sz="quarter" idx="5"/>
          </p:nvPr>
        </p:nvSpPr>
        <p:spPr/>
        <p:txBody>
          <a:bodyPr/>
          <a:lstStyle/>
          <a:p>
            <a:fld id="{317681AB-B8B1-41BD-B60F-78E646209784}" type="slidenum">
              <a:rPr lang="en-US" smtClean="0"/>
              <a:t>10</a:t>
            </a:fld>
            <a:endParaRPr lang="en-US"/>
          </a:p>
        </p:txBody>
      </p:sp>
    </p:spTree>
    <p:extLst>
      <p:ext uri="{BB962C8B-B14F-4D97-AF65-F5344CB8AC3E}">
        <p14:creationId xmlns:p14="http://schemas.microsoft.com/office/powerpoint/2010/main" val="17610724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17681AB-B8B1-41BD-B60F-78E646209784}" type="slidenum">
              <a:rPr lang="en-US" smtClean="0"/>
              <a:t>12</a:t>
            </a:fld>
            <a:endParaRPr lang="en-US"/>
          </a:p>
        </p:txBody>
      </p:sp>
    </p:spTree>
    <p:extLst>
      <p:ext uri="{BB962C8B-B14F-4D97-AF65-F5344CB8AC3E}">
        <p14:creationId xmlns:p14="http://schemas.microsoft.com/office/powerpoint/2010/main" val="2196235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343BF7-E31E-315B-BD22-ED19C7DCC1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2A9F3D-5D19-3017-AE37-3927421C8B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095638-368E-B2B4-E9FC-FCAB3A5791B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CFCB8A-8037-BDF2-EEB1-13A5091B793C}"/>
              </a:ext>
            </a:extLst>
          </p:cNvPr>
          <p:cNvSpPr>
            <a:spLocks noGrp="1"/>
          </p:cNvSpPr>
          <p:nvPr>
            <p:ph type="sldNum" sz="quarter" idx="5"/>
          </p:nvPr>
        </p:nvSpPr>
        <p:spPr/>
        <p:txBody>
          <a:bodyPr/>
          <a:lstStyle/>
          <a:p>
            <a:fld id="{317681AB-B8B1-41BD-B60F-78E646209784}" type="slidenum">
              <a:rPr lang="en-US" smtClean="0"/>
              <a:t>13</a:t>
            </a:fld>
            <a:endParaRPr lang="en-US"/>
          </a:p>
        </p:txBody>
      </p:sp>
    </p:spTree>
    <p:extLst>
      <p:ext uri="{BB962C8B-B14F-4D97-AF65-F5344CB8AC3E}">
        <p14:creationId xmlns:p14="http://schemas.microsoft.com/office/powerpoint/2010/main" val="2607038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Định nghĩa: sức phân biệt của một chỉ báo nhị phân = |rating TB nhóm 'có' − rating TB nhóm 'không'| (có trọng số). Kết luận = sức phân biệt của nhãn khách − sức phân biệt của chỉ báo SLA, tính trên cùng 15.816 review có nhãn.</a:t>
            </a:r>
          </a:p>
          <a:p>
            <a:r>
              <a:t>Vì sao bootstrap theo CỤM sản phẩm: review cùng sản phẩm chung nhà bán, kho, tuyến giao → không độc lập; bootstrap theo dòng cho KTC hẹp giả tạo.</a:t>
            </a:r>
          </a:p>
          <a:p>
            <a:r>
              <a:t>Vì sao tin: tính lại từ dữ liệu thô của 3 mẻ cào × 2 cách đọc đồng hồ → 4/4 số đã công bố khớp, 6/6 KTC không chứa 0 (notebook 02, §2).</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điểm dự báo = lúc hàng giao tới tay khách, trước khi khách viết review. Biến nào chưa biết tại thời điểm đó thì cấm.</a:t>
            </a:r>
          </a:p>
          <a:p>
            <a:r>
              <a:t>Câu hỏi dự kiến — Sao không dùng weight làm feature? w = N_h/n_h phụ thuộc tầng sao, tức là hàm của chính nhãn → leakage; weight chỉ dùng khi đánh giá.</a:t>
            </a:r>
          </a:p>
          <a:p>
            <a:r>
              <a:t>— Sao không đưa cả lead_days và gap_days? gap_days = lead_days − 5, tương quan đúng 1,0 → hệ số hồi quy không xác định. sla_breach là bản nhị phân của lead_days → chỉ dùng riêng trong M1a để làm mốc so sánh.</a:t>
            </a:r>
          </a:p>
          <a:p>
            <a:r>
              <a:t>— Feature lịch sử có rò rỉ không? Chỉ cộng review đăng TRƯỚC thời điểm giao, không gồm chính dòng đó, có trọng số và làm trơn Bayes (prior Beta) → cài bằng np.searchsorted, test khớp từng số với bản vòng lặp.</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Vì sao cần interface: thang mô hình chỉ so sánh công bằng khi mọi mô hình đi qua cùng một vòng đánh giá (cùng dòng, cùng cột, cùng metric có trọng số). Vòng đánh giá chỉ gọi fit/predict_proba, không biết đang chấm lớp nào — đa hình.</a:t>
            </a:r>
          </a:p>
          <a:p>
            <a:r>
              <a:t>Template method: fit() ở lớp cha kiểm tra đầu vào, chọn cột, ghi classes_ rồi mới gọi _fit() của lớp con → lớp con không thể quên kiểm tra.</a:t>
            </a:r>
          </a:p>
          <a:p>
            <a:r>
              <a:t>score() bị ghi đè: ClassifierMixin.score mặc định là accuracy — vô nghĩa khi lớp dương ~2–4% — nên đổi thành PR-AUC.</a:t>
            </a:r>
          </a:p>
          <a:p>
            <a:r>
              <a:t>Decorator: CalibratedModel là một BaseModel và chứa một BaseModel. Composite: EnsembleModel là một BaseModel và chứa nhiều BaseModel. Mô hình chốt M7 = CalibratedModel(EnsembleModel(GBM, Logistic)).</a:t>
            </a:r>
          </a:p>
          <a:p>
            <a:r>
              <a:t>Kế thừa sklearn BaseEstimator → get_params/set_params/clone tự động, nhờ quy ước: siêu tham số = tham số __init__ gán nguyên văn.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Random search (Bergstra &amp; Bengio, 2012): khi chỉ vài siêu tham số thật sự quan trọng, random thử được nhiều giá trị khác nhau hơn trên mỗi chiều quan trọng so với grid cùng ngân sách. Không dùng Bayesian (Optuna) vì thêm phụ thuộc, lợi thế nhỏ với ~40 lượt.</a:t>
            </a:r>
          </a:p>
          <a:p>
            <a:r>
              <a:t>Vì sao log-uniform cho learning_rate và l2: tác động theo bậc độ lớn (0,02 vs 0,2 khác nhau như 0,2 vs 2).</a:t>
            </a:r>
          </a:p>
          <a:p>
            <a:r>
              <a:t>Vì sao không tune max_iter: đánh đổi trực tiếp với learning_rate; dừng sớm tìm số cây tốt cho từng cấu hình gần như miễn phí → số cây thật lưu ở n_iter_ = 1.531.</a:t>
            </a:r>
          </a:p>
          <a:p>
            <a:r>
              <a:t>Vì sao min_samples_leaf quan trọng: lớp dương hiếm — lá quá nhỏ chỉ chứa 0–1 ca dương → học nhiễu.</a:t>
            </a:r>
          </a:p>
          <a:p>
            <a:r>
              <a:t>Vì sao C của logistic nhỏ (1,88·10⁻⁵): sklearn nhân C với TỔNG trọng số mẫu; tổng trọng số khảo sát ~ quy mô quần thể nên cường độ phạt hiệu dụng vẫn vừa phải.</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Trả lời ngắn: trong CHÍNH thuộc tính của đối tượng mô hình. tune() là phương thức của BaseModel; chạy xong nó gọi self.set_params(**best) nên gbm.learning_rate giờ là 0,0225 chứ không còn 0,1 mặc định. Bản ghi quá trình tune lưu thành thuộc tính đuôi gạch dưới: best_params_, best_score_, tuning_results_ (bảng 40 cấu hình), tuning_space_, tuning_cv_. Sau đó refit trên toàn bộ train → estimator_, n_iter_.</a:t>
            </a:r>
          </a:p>
          <a:p>
            <a:r>
              <a:t>Phân biệt: siêu tham số (người chọn, trước fit) = tham số __init__, không đuôi _. Thuộc tính học được (dữ liệu quyết định) có đuôi _, chỉ tồn tại sau fit — check_is_fitted dựa vào quy ước này.</a:t>
            </a:r>
          </a:p>
          <a:p>
            <a:r>
              <a:t>clone(tuned) giữ bộ siêu tham số đã tune nhưng bỏ trạng thái đã học → dùng trong CV và ensemble.</a:t>
            </a:r>
          </a:p>
          <a:p>
            <a:r>
              <a:t>Bài học tái lập: một thành viên chạy lại trên scikit-learn 1.9.1 ra bộ siêu tham số GBM khác (logistic thì trùng 16 chữ số) → nhóm ghim scikit-learn==1.5.1 và thêm chốt chặn phiên bản trong run_modeling.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Trọng số khi train: kế hoạch ban đầu D9 là train không trọng số (lập luận case-control). Nhưng lập luận đó cần xác suất vào mẫu chỉ phụ thuộc nhãn; ở đây xác suất cào một review 5★ là n_h/N_h — phụ thuộc SẢN PHẨM. Hệ quả đo được: 3/16 feature đảo chiều giữa mẫu thô và quần thể, và train không trọng số thua ở cả 3 họ mô hình. Chọn survey_balanced (trọng số khảo sát + cân bằng lớp) bằng CV, không bằng cảm tính.</a:t>
            </a:r>
          </a:p>
          <a:p>
            <a:r>
              <a:t>Vì sao không deep learning: dữ liệu bảng 17 biến, ~15 nghìn ca dương; mô hình cây thắng mạng nơ-ron có hệ thống trên dữ liệu bảng (Grinsztajn et al., NeurIPS 2022).</a:t>
            </a:r>
          </a:p>
          <a:p>
            <a:r>
              <a:t>Ensemble: sai số của trung bình = trung bình sai số riêng − độ bất đồng (Krogh &amp; Vedelsby, 1995). GBM và logistic sai theo hai kiểu khác nhau → gộp có lợi.</a:t>
            </a:r>
          </a:p>
          <a:p>
            <a:r>
              <a:t>Trung thực: tune cải thiện CV nhưng không cải thiện test; ensemble chốt ngang logistic tuned trên test. Ensemble được thêm vào tập ứng viên sau lần chạy thử trên test → điểm test của M7 hơi lạc quan (đã ghi rõ trong FINDINGS §11.3).</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Ngưỡng SLA: 5 ngày lấy từ SLA công bố của Tiki. Quét 3–7 ngày: kết luận dương ở mọi ngưỡng, KTC không chứa 0; ở 7 ngày cận dưới sát 0 (0,008) — nói thẳng giới hạn này.</a:t>
            </a:r>
          </a:p>
          <a:p>
            <a:r>
              <a:t>MNAR: 74% review trong kỷ nguyên 2023+ không có nhãn. Chặn Manski không cần giả định thì quá rộng [0,5%; 75%]. Quét θ: θ = 1 là MAR, θ = 0 là nhãn không mang thông tin gì trong nhóm không nhãn. Kết luận chỉ đổi dấu khi θ &lt; 0,047, tức nhãn khách mất hơn 95% thông tin — giả định cực đoan. Tự kiểm A3 tái lập đúng +0,2082.</a:t>
            </a:r>
          </a:p>
          <a:p>
            <a:r>
              <a:t>Năm 2021: mọi review có nhãn nằm ở 2023+, nên bỏ 2021 không đổi kết luận — nhưng bỏ 2021 xoá ~60% ca vượt SLA mà mô hình cần. Chi tiết: notebooks/02_chung_minh.ipynb.</a:t>
            </a:r>
          </a:p>
          <a:p>
            <a:r>
              <a:t>Nếu hỏi vì sao θ = 1 (MAR) cho +0,222 mà kết luận chính là +0,208: +0,208 tính trên riêng 15.816 review có nhãn; phép quét θ gán xác suất 'trễ' cho cả nhóm không nhãn kỷ nguyên 2023+ nên ước lượng trên tập rộng hơn. Hai số cùng dấu, cùng cỡ (FINDINGS §9.3).</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ỗ dành sẵn cho Hình ảnh của Bản chiếu 1"/>
          <p:cNvSpPr>
            <a:spLocks noGrp="1" noRot="1" noChangeAspect="1"/>
          </p:cNvSpPr>
          <p:nvPr>
            <p:ph type="sldImg"/>
          </p:nvPr>
        </p:nvSpPr>
        <p:spPr/>
      </p:sp>
      <p:sp>
        <p:nvSpPr>
          <p:cNvPr id="3" name="Chỗ dành sẵn cho Ghi chú 2"/>
          <p:cNvSpPr>
            <a:spLocks noGrp="1"/>
          </p:cNvSpPr>
          <p:nvPr>
            <p:ph type="body" idx="1"/>
          </p:nvPr>
        </p:nvSpPr>
        <p:spPr/>
        <p:txBody>
          <a:bodyPr/>
          <a:lstStyle/>
          <a:p>
            <a:endParaRPr lang="en-US" dirty="0"/>
          </a:p>
        </p:txBody>
      </p:sp>
      <p:sp>
        <p:nvSpPr>
          <p:cNvPr id="4" name="Chỗ dành sẵn cho Số hiệu Bản chiếu 3"/>
          <p:cNvSpPr>
            <a:spLocks noGrp="1"/>
          </p:cNvSpPr>
          <p:nvPr>
            <p:ph type="sldNum" sz="quarter" idx="5"/>
          </p:nvPr>
        </p:nvSpPr>
        <p:spPr/>
        <p:txBody>
          <a:bodyPr/>
          <a:lstStyle/>
          <a:p>
            <a:fld id="{317681AB-B8B1-41BD-B60F-78E646209784}" type="slidenum">
              <a:rPr lang="en-US" smtClean="0"/>
              <a:t>24</a:t>
            </a:fld>
            <a:endParaRPr lang="en-US"/>
          </a:p>
        </p:txBody>
      </p:sp>
    </p:spTree>
    <p:extLst>
      <p:ext uri="{BB962C8B-B14F-4D97-AF65-F5344CB8AC3E}">
        <p14:creationId xmlns:p14="http://schemas.microsoft.com/office/powerpoint/2010/main" val="3200777823"/>
      </p:ext>
    </p:extLst>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Trả lời thẳng: KHÔNG cân bằng. Low Rating (≤3★) chỉ 4,45% quần thể train, 1,68% quần thể test (≈ 1:59).</a:t>
            </a:r>
          </a:p>
          <a:p>
            <a:r>
              <a:t>Vì sao có hai con số: scraper cố ý cào vét cạn review 1–3★ và chỉ lấy mẫu 5★, nên tỉ lệ thô (9,63%) gấp đôi tỉ lệ thật. Tỉ lệ thật phải nhân trọng số w = N_h/n_h.</a:t>
            </a:r>
          </a:p>
          <a:p>
            <a:r>
              <a:t>Mất cân bằng nặng dần theo thời gian (21:1 → 34:1 → 50:1 → 59:1): tỉ lệ review xấu giảm theo năm — đây là trôi dạt prior, lý do phải hiệu chỉnh xác suất trên năm gần nhất (Platt, 2023).</a:t>
            </a:r>
          </a:p>
          <a:p>
            <a:r>
              <a:t>Hệ quả: accuracy vô nghĩa (đoán toàn 'không' đã 98,3%), nên chấm bằng PR-AUC — mốc ngẫu nhiên = 0,0168.</a:t>
            </a:r>
          </a:p>
          <a:p>
            <a:r>
              <a:t>Không SMOTE/undersample: mẫu đã phân tầng có chủ đích; nhân bản hay xoá dòng làm sai trọng số khảo sát. Thay vào đó cân lớp bằng trọng số, và để GridSearchCV chọn cách cân (class_weight là một siêu tham số).</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Estimator = mọi đối tượng có fit(). Bộ phân loại là estimator có thêm predict_proba(); bộ tiền xử lý là estimator loại transformer (fit + transform).</a:t>
            </a:r>
          </a:p>
          <a:p>
            <a:r>
              <a:t>Pipeline xâu chúng thành MỘT estimator: fit = fit_transform từng bước prep rồi fit bước model. GridSearchCV clone và fit lại cả pipeline trong từng fold → trung vị (điền thiếu), trung bình/độ lệch chuẩn (chuẩn hoá) chỉ học từ phần train của fold — không rò rỉ.</a:t>
            </a:r>
          </a:p>
          <a:p>
            <a:r>
              <a:t>Tên tham số: &lt;bước&gt;__&lt;tham số&gt;, lồng bao nhiêu tầng cũng được. prep__num__impute__strategy = bước prep → nhánh num → bước impute → strategy. Cả tham số của fit cũng dùng __: model__sample_weight.</a:t>
            </a:r>
          </a:p>
          <a:p>
            <a:r>
              <a:t>Bảng dưới: estimator thật của từng mô hình trong thang M0–M7.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Một lần GridSearchCV cho cả ba họ estimator: param_grid là DANH SÁCH dict, mỗi dict một họ. Khoá 'model' thay cả estimator — chính estimator cũng là một siêu tham số. Các khoá khác điều khiển từng bước bằng __.</a:t>
            </a:r>
          </a:p>
          <a:p>
            <a:r>
              <a:t>120 cấu hình × 2 fold theo năm = 240 lần fit. Mỗi lần fit: clone cả pipeline → fit prep + model trên phần train của fold → chấm PR-AUC có trọng số khảo sát trên phần kiểm định.</a:t>
            </a:r>
          </a:p>
          <a:p>
            <a:r>
              <a:t>model__sample_weight truyền vào fit(): __ cũng dùng cho tham số của fit; GridSearchCV tự cắt mảng trọng số theo chỉ số train của từng fold.</a:t>
            </a:r>
          </a:p>
          <a:p>
            <a:r>
              <a:t>refit=True: cấu hình thắng được train lại trên toàn bộ train → gs.best_estimator_. gs.best_params_, gs.best_score_, gs.cv_results_ là thuộc tính đuôi _ (học được).</a:t>
            </a:r>
          </a:p>
          <a:p>
            <a:r>
              <a:t>Lượt đầu có 3 tham số thắng ở mép lưới (C=1e-4, RF min_samples_leaf=200, GBM max_leaf_nodes=8) → mở rộng lưới về phía đó và chạy lại; bảng này là lượt thứ hai.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Cách đọc hình: mỗi hàng một họ estimator, mỗi ô đổi MỘT siêu tham số, các tham số khác giữ ở cấu hình thắng của họ. Các ô cùng hàng chung trục y nên ô dốc = tham số quyết định, ô phẳng = tham số ít ảnh hưởng.</a:t>
            </a:r>
          </a:p>
          <a:p>
            <a:r>
              <a:t>Lượt GridSearch đầu có 3 tham số thắng ở MÉP lưới (C = 1e-4, RF min_samples_leaf = 200, GBM max_leaf_nodes = 8). Thắng ở mép nghĩa là tối ưu có thể nằm ngoài vùng đã thử → nhóm mở rộng lưới về phía đó và chạy lại. Lượt hai: C và min_samples_leaf của RF có đỉnh nằm GIỮA lưới.</a:t>
            </a:r>
          </a:p>
          <a:p>
            <a:r>
              <a:t>GBM max_leaf_nodes = 4 vẫn ở mép, nhưng 4 và 8 chỉ chênh 0,0004 (nhỏ hơn nhiều so với chênh lệch giữa hai fold 0,0074): đường gần như phẳng ở vùng cây nhỏ, điều chắc chắn là cây lớn (31 lá) quá khớp — điểm train 0,21 mà CV chỉ 0,056. Hai tham số GBM khác cũng ở mép: min_samples_leaf = 400 (mép trên) và learning_rate = 0,03 (mép dưới), giá trị kề bên chỉ kém ≤ 0,001. Random search (slide 23) mở rộng khoảng tìm cho hai tham số này (tới 800 lá-mẫu, từ 0,02) và lại chọn 100 / 0,0225 — đỉnh xê dịch theo nhiễu vì đường phẳng, nên đừng bảo vệ một giá trị cụ thể, hãy bảo vệ vùng.</a:t>
            </a:r>
          </a:p>
          <a:p>
            <a:r>
              <a:t>Bằng chứng quá khớp/thiếu khớp: RF min_samples_leaf = 50 cho điểm train 0,27 nhưng CV 0,054; = 2000 thì cả train lẫn CV đều thấp (thiếu khớp). Logistic C = 1e-6 phạt quá mạnh nên hệ số bị co gần 0.</a:t>
            </a:r>
          </a:p>
          <a:p>
            <a:r>
              <a:t>Các tham số cấu trúc (C, min_samples_leaf, max_features, max_leaf_nodes, learning_rate) thắng ở CẢ HAI fold 2022 và 2023 → không phải may của một năm. Riêng class_weight: trung bình hai fold, không cân lớp (None) thua ở cả ba họ, nhưng chọn "balanced" hay {1: 21,5} thì hai fold không thống nhất — chênh nhau rất nhỏ.</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'mới đo một lần, có nên train nhiều lần?' — trả lời: CÓ, và nhóm đã làm ở ba tầng.</a:t>
            </a:r>
          </a:p>
          <a:p>
            <a:r>
              <a:t>(1) Nhiều mô hình × cấu hình: GridSearchCV 240 lần fit + random search notebook 03 + thang 10 mô hình. Đây là phần CHỌN, chỉ dùng CV trên train.</a:t>
            </a:r>
          </a:p>
          <a:p>
            <a:r>
              <a:t>(2) Nhiều seed: train lại cấu hình thắng của mỗi họ với 5 random_state. Logistic (lbfgs, bài toán lồi) không có ngẫu nhiên nên 5 seed ra đúng một số — đó là phép kiểm tra. RF dao động ±0,0006, GBM ±0,0016 vì GBM rút ngẫu nhiên 10% train làm tập dừng sớm.</a:t>
            </a:r>
          </a:p>
          <a:p>
            <a:r>
              <a:t>(3) Nhiều mẫu: bootstrap 1.000 lần theo cụm sản phẩm → KTC 95% cho chênh lệch PR-AUC (slide Evaluation).</a:t>
            </a:r>
          </a:p>
          <a:p>
            <a:r>
              <a:t>GBM thắng trên CV nhưng thấp nhất trên test và dao động seed lớn nhất — cây không ngoại suy được khi dữ liệu 2024+ trôi khỏi miền train. Nhưng M7 KHÔNG được chọn vì điểm test: M7 chốt theo quy tắc đặt trước trên CV (ensemble 0,0589 &gt; GBM 0,0584 &gt; logistic 0,0566). Khai thật: ensemble được thêm vào danh sách ứng viên sau một lần chạy thử test (FINDINGS §11.3) → điểm test M7 có thể hơi lạc quan; dù vậy M7 vẫn không hơn logistic (−0,0010, KTC chứa 0), nên kết luận không đổi.</a:t>
            </a:r>
          </a:p>
          <a:p>
            <a:r>
              <a:t>'Test chấm một lần' = test không được dùng để chọn. Nếu xem test rồi sửa mô hình, test thành dữ liệu train và điểm test lạc quan như best_score_.</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4" Type="http://schemas.openxmlformats.org/officeDocument/2006/relationships/image" Target="../media/image4.png"/><Relationship Id="rId5"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4"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0.png"/><Relationship Id="rId4"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3232" y="685800"/>
            <a:ext cx="7223760" cy="1143000"/>
          </a:xfrm>
          <a:prstGeom prst="rect">
            <a:avLst/>
          </a:prstGeom>
          <a:noFill/>
        </p:spPr>
        <p:txBody>
          <a:bodyPr wrap="square" lIns="36576" tIns="36576" rIns="36576" bIns="36576" anchor="t">
            <a:spAutoFit/>
          </a:bodyPr>
          <a:lstStyle/>
          <a:p>
            <a:pPr algn="l"/>
            <a:r>
              <a:rPr sz="3000" b="1" dirty="0">
                <a:solidFill>
                  <a:srgbClr val="162C46"/>
                </a:solidFill>
                <a:latin typeface="Aptos Display"/>
              </a:rPr>
              <a:t>BẺ GÃY BẪY SLA
TRONG THƯƠNG MẠI ĐIỆN TỬ</a:t>
            </a:r>
          </a:p>
        </p:txBody>
      </p:sp>
      <p:sp>
        <p:nvSpPr>
          <p:cNvPr id="3" name="TextBox 2"/>
          <p:cNvSpPr txBox="1"/>
          <p:nvPr/>
        </p:nvSpPr>
        <p:spPr>
          <a:xfrm>
            <a:off x="749808" y="1920240"/>
            <a:ext cx="6949440" cy="502920"/>
          </a:xfrm>
          <a:prstGeom prst="rect">
            <a:avLst/>
          </a:prstGeom>
          <a:noFill/>
        </p:spPr>
        <p:txBody>
          <a:bodyPr wrap="square" lIns="36576" tIns="36576" rIns="36576" bIns="36576" anchor="t">
            <a:spAutoFit/>
          </a:bodyPr>
          <a:lstStyle/>
          <a:p>
            <a:pPr algn="l"/>
            <a:r>
              <a:rPr sz="1900" b="0" dirty="0" err="1">
                <a:solidFill>
                  <a:srgbClr val="5E6A78"/>
                </a:solidFill>
                <a:latin typeface="Aptos"/>
              </a:rPr>
              <a:t>Phân</a:t>
            </a:r>
            <a:r>
              <a:rPr sz="1900" b="0" dirty="0">
                <a:solidFill>
                  <a:srgbClr val="5E6A78"/>
                </a:solidFill>
                <a:latin typeface="Aptos"/>
              </a:rPr>
              <a:t> </a:t>
            </a:r>
            <a:r>
              <a:rPr sz="1900" b="0" dirty="0" err="1">
                <a:solidFill>
                  <a:srgbClr val="5E6A78"/>
                </a:solidFill>
                <a:latin typeface="Aptos"/>
              </a:rPr>
              <a:t>tích</a:t>
            </a:r>
            <a:r>
              <a:rPr sz="1900" b="0" dirty="0">
                <a:solidFill>
                  <a:srgbClr val="5E6A78"/>
                </a:solidFill>
                <a:latin typeface="Aptos"/>
              </a:rPr>
              <a:t> </a:t>
            </a:r>
            <a:r>
              <a:rPr sz="1900" b="0" dirty="0" err="1">
                <a:solidFill>
                  <a:srgbClr val="5E6A78"/>
                </a:solidFill>
                <a:latin typeface="Aptos"/>
              </a:rPr>
              <a:t>độ</a:t>
            </a:r>
            <a:r>
              <a:rPr sz="1900" b="0" dirty="0">
                <a:solidFill>
                  <a:srgbClr val="5E6A78"/>
                </a:solidFill>
                <a:latin typeface="Aptos"/>
              </a:rPr>
              <a:t> </a:t>
            </a:r>
            <a:r>
              <a:rPr sz="1900" b="0" dirty="0" err="1">
                <a:solidFill>
                  <a:srgbClr val="5E6A78"/>
                </a:solidFill>
                <a:latin typeface="Aptos"/>
              </a:rPr>
              <a:t>lệch</a:t>
            </a:r>
            <a:r>
              <a:rPr sz="1900" b="0" dirty="0">
                <a:solidFill>
                  <a:srgbClr val="5E6A78"/>
                </a:solidFill>
                <a:latin typeface="Aptos"/>
              </a:rPr>
              <a:t> </a:t>
            </a:r>
            <a:r>
              <a:rPr sz="1900" b="0" dirty="0" err="1">
                <a:solidFill>
                  <a:srgbClr val="5E6A78"/>
                </a:solidFill>
                <a:latin typeface="Aptos"/>
              </a:rPr>
              <a:t>giao</a:t>
            </a:r>
            <a:r>
              <a:rPr sz="1900" b="0" dirty="0">
                <a:solidFill>
                  <a:srgbClr val="5E6A78"/>
                </a:solidFill>
                <a:latin typeface="Aptos"/>
              </a:rPr>
              <a:t> </a:t>
            </a:r>
            <a:r>
              <a:rPr sz="1900" b="0" dirty="0" err="1">
                <a:solidFill>
                  <a:srgbClr val="5E6A78"/>
                </a:solidFill>
                <a:latin typeface="Aptos"/>
              </a:rPr>
              <a:t>hàng</a:t>
            </a:r>
            <a:r>
              <a:rPr sz="1900" b="0" dirty="0">
                <a:solidFill>
                  <a:srgbClr val="5E6A78"/>
                </a:solidFill>
                <a:latin typeface="Aptos"/>
              </a:rPr>
              <a:t> </a:t>
            </a:r>
            <a:r>
              <a:rPr sz="1900" b="0" dirty="0" err="1">
                <a:solidFill>
                  <a:srgbClr val="5E6A78"/>
                </a:solidFill>
                <a:latin typeface="Aptos"/>
              </a:rPr>
              <a:t>và</a:t>
            </a:r>
            <a:r>
              <a:rPr sz="1900" b="0" dirty="0">
                <a:solidFill>
                  <a:srgbClr val="5E6A78"/>
                </a:solidFill>
                <a:latin typeface="Aptos"/>
              </a:rPr>
              <a:t> </a:t>
            </a:r>
            <a:r>
              <a:rPr sz="1900" b="0" dirty="0" err="1">
                <a:solidFill>
                  <a:srgbClr val="5E6A78"/>
                </a:solidFill>
                <a:latin typeface="Aptos"/>
              </a:rPr>
              <a:t>tác</a:t>
            </a:r>
            <a:r>
              <a:rPr sz="1900" b="0" dirty="0">
                <a:solidFill>
                  <a:srgbClr val="5E6A78"/>
                </a:solidFill>
                <a:latin typeface="Aptos"/>
              </a:rPr>
              <a:t> </a:t>
            </a:r>
            <a:r>
              <a:rPr sz="1900" b="0" dirty="0" err="1">
                <a:solidFill>
                  <a:srgbClr val="5E6A78"/>
                </a:solidFill>
                <a:latin typeface="Aptos"/>
              </a:rPr>
              <a:t>động</a:t>
            </a:r>
            <a:r>
              <a:rPr sz="1900" b="0" dirty="0">
                <a:solidFill>
                  <a:srgbClr val="5E6A78"/>
                </a:solidFill>
                <a:latin typeface="Aptos"/>
              </a:rPr>
              <a:t> </a:t>
            </a:r>
            <a:r>
              <a:rPr sz="1900" b="0" dirty="0" err="1">
                <a:solidFill>
                  <a:srgbClr val="5E6A78"/>
                </a:solidFill>
                <a:latin typeface="Aptos"/>
              </a:rPr>
              <a:t>đến</a:t>
            </a:r>
            <a:r>
              <a:rPr sz="1900" b="0" dirty="0">
                <a:solidFill>
                  <a:srgbClr val="5E6A78"/>
                </a:solidFill>
                <a:latin typeface="Aptos"/>
              </a:rPr>
              <a:t> </a:t>
            </a:r>
            <a:r>
              <a:rPr sz="1900" b="0" dirty="0" err="1">
                <a:solidFill>
                  <a:srgbClr val="5E6A78"/>
                </a:solidFill>
                <a:latin typeface="Aptos"/>
              </a:rPr>
              <a:t>sự</a:t>
            </a:r>
            <a:r>
              <a:rPr sz="1900" b="0" dirty="0">
                <a:solidFill>
                  <a:srgbClr val="5E6A78"/>
                </a:solidFill>
                <a:latin typeface="Aptos"/>
              </a:rPr>
              <a:t> </a:t>
            </a:r>
            <a:r>
              <a:rPr sz="1900" b="0" dirty="0" err="1">
                <a:solidFill>
                  <a:srgbClr val="5E6A78"/>
                </a:solidFill>
                <a:latin typeface="Aptos"/>
              </a:rPr>
              <a:t>hài</a:t>
            </a:r>
            <a:r>
              <a:rPr sz="1900" b="0" dirty="0">
                <a:solidFill>
                  <a:srgbClr val="5E6A78"/>
                </a:solidFill>
                <a:latin typeface="Aptos"/>
              </a:rPr>
              <a:t> </a:t>
            </a:r>
            <a:r>
              <a:rPr sz="1900" b="0" dirty="0" err="1">
                <a:solidFill>
                  <a:srgbClr val="5E6A78"/>
                </a:solidFill>
                <a:latin typeface="Aptos"/>
              </a:rPr>
              <a:t>lòng</a:t>
            </a:r>
            <a:r>
              <a:rPr sz="1900" b="0" dirty="0">
                <a:solidFill>
                  <a:srgbClr val="5E6A78"/>
                </a:solidFill>
                <a:latin typeface="Aptos"/>
              </a:rPr>
              <a:t> </a:t>
            </a:r>
            <a:r>
              <a:rPr sz="1900" b="0" dirty="0" err="1">
                <a:solidFill>
                  <a:srgbClr val="5E6A78"/>
                </a:solidFill>
                <a:latin typeface="Aptos"/>
              </a:rPr>
              <a:t>của</a:t>
            </a:r>
            <a:r>
              <a:rPr sz="1900" b="0" dirty="0">
                <a:solidFill>
                  <a:srgbClr val="5E6A78"/>
                </a:solidFill>
                <a:latin typeface="Aptos"/>
              </a:rPr>
              <a:t> </a:t>
            </a:r>
            <a:r>
              <a:rPr sz="1900" b="0" dirty="0" err="1">
                <a:solidFill>
                  <a:srgbClr val="5E6A78"/>
                </a:solidFill>
                <a:latin typeface="Aptos"/>
              </a:rPr>
              <a:t>khách</a:t>
            </a:r>
            <a:r>
              <a:rPr sz="1900" b="0" dirty="0">
                <a:solidFill>
                  <a:srgbClr val="5E6A78"/>
                </a:solidFill>
                <a:latin typeface="Aptos"/>
              </a:rPr>
              <a:t> </a:t>
            </a:r>
            <a:r>
              <a:rPr sz="1900" b="0" dirty="0" err="1">
                <a:solidFill>
                  <a:srgbClr val="5E6A78"/>
                </a:solidFill>
                <a:latin typeface="Aptos"/>
              </a:rPr>
              <a:t>hàng</a:t>
            </a:r>
            <a:endParaRPr sz="1900" b="0" dirty="0">
              <a:solidFill>
                <a:srgbClr val="5E6A78"/>
              </a:solidFill>
              <a:latin typeface="Aptos"/>
            </a:endParaRPr>
          </a:p>
        </p:txBody>
      </p:sp>
      <p:sp>
        <p:nvSpPr>
          <p:cNvPr id="4" name="Rounded Rectangle 3"/>
          <p:cNvSpPr/>
          <p:nvPr/>
        </p:nvSpPr>
        <p:spPr>
          <a:xfrm>
            <a:off x="749808" y="2697480"/>
            <a:ext cx="7040880" cy="1234440"/>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2907792"/>
            <a:ext cx="6830568" cy="350865"/>
          </a:xfrm>
          <a:prstGeom prst="rect">
            <a:avLst/>
          </a:prstGeom>
          <a:noFill/>
        </p:spPr>
        <p:txBody>
          <a:bodyPr wrap="square" lIns="36576" tIns="36576" rIns="36576" bIns="36576" anchor="t">
            <a:spAutoFit/>
          </a:bodyPr>
          <a:lstStyle/>
          <a:p>
            <a:pPr algn="l"/>
            <a:r>
              <a:rPr sz="1800" b="1" dirty="0">
                <a:solidFill>
                  <a:srgbClr val="2F639D"/>
                </a:solidFill>
                <a:latin typeface="Aptos"/>
              </a:rPr>
              <a:t>SLA </a:t>
            </a:r>
            <a:r>
              <a:rPr sz="1800" b="1" dirty="0" err="1">
                <a:solidFill>
                  <a:srgbClr val="2F639D"/>
                </a:solidFill>
                <a:latin typeface="Aptos"/>
              </a:rPr>
              <a:t>có</a:t>
            </a:r>
            <a:r>
              <a:rPr sz="1800" b="1" dirty="0">
                <a:solidFill>
                  <a:srgbClr val="2F639D"/>
                </a:solidFill>
                <a:latin typeface="Aptos"/>
              </a:rPr>
              <a:t> </a:t>
            </a:r>
            <a:r>
              <a:rPr sz="1800" b="1" dirty="0" err="1">
                <a:solidFill>
                  <a:srgbClr val="2F639D"/>
                </a:solidFill>
                <a:latin typeface="Aptos"/>
              </a:rPr>
              <a:t>thực</a:t>
            </a:r>
            <a:r>
              <a:rPr sz="1800" b="1" dirty="0">
                <a:solidFill>
                  <a:srgbClr val="2F639D"/>
                </a:solidFill>
                <a:latin typeface="Aptos"/>
              </a:rPr>
              <a:t> </a:t>
            </a:r>
            <a:r>
              <a:rPr sz="1800" b="1" dirty="0" err="1">
                <a:solidFill>
                  <a:srgbClr val="2F639D"/>
                </a:solidFill>
                <a:latin typeface="Aptos"/>
              </a:rPr>
              <a:t>sự</a:t>
            </a:r>
            <a:r>
              <a:rPr sz="1800" b="1" dirty="0">
                <a:solidFill>
                  <a:srgbClr val="2F639D"/>
                </a:solidFill>
                <a:latin typeface="Aptos"/>
              </a:rPr>
              <a:t> </a:t>
            </a:r>
            <a:r>
              <a:rPr sz="1800" b="1" dirty="0" err="1">
                <a:solidFill>
                  <a:srgbClr val="2F639D"/>
                </a:solidFill>
                <a:latin typeface="Aptos"/>
              </a:rPr>
              <a:t>phản</a:t>
            </a:r>
            <a:r>
              <a:rPr sz="1800" b="1" dirty="0">
                <a:solidFill>
                  <a:srgbClr val="2F639D"/>
                </a:solidFill>
                <a:latin typeface="Aptos"/>
              </a:rPr>
              <a:t> </a:t>
            </a:r>
            <a:r>
              <a:rPr sz="1800" b="1" dirty="0" err="1">
                <a:solidFill>
                  <a:srgbClr val="2F639D"/>
                </a:solidFill>
                <a:latin typeface="Aptos"/>
              </a:rPr>
              <a:t>ánh</a:t>
            </a:r>
            <a:r>
              <a:rPr sz="1800" b="1" dirty="0">
                <a:solidFill>
                  <a:srgbClr val="2F639D"/>
                </a:solidFill>
                <a:latin typeface="Aptos"/>
              </a:rPr>
              <a:t> </a:t>
            </a:r>
            <a:r>
              <a:rPr sz="1800" b="1" dirty="0" err="1">
                <a:solidFill>
                  <a:srgbClr val="2F639D"/>
                </a:solidFill>
                <a:latin typeface="Aptos"/>
              </a:rPr>
              <a:t>trải</a:t>
            </a:r>
            <a:r>
              <a:rPr sz="1800" b="1" dirty="0">
                <a:solidFill>
                  <a:srgbClr val="2F639D"/>
                </a:solidFill>
                <a:latin typeface="Aptos"/>
              </a:rPr>
              <a:t> </a:t>
            </a:r>
            <a:r>
              <a:rPr sz="1800" b="1" dirty="0" err="1">
                <a:solidFill>
                  <a:srgbClr val="2F639D"/>
                </a:solidFill>
                <a:latin typeface="Aptos"/>
              </a:rPr>
              <a:t>nghiệm</a:t>
            </a:r>
            <a:r>
              <a:rPr sz="1800" b="1" dirty="0">
                <a:solidFill>
                  <a:srgbClr val="2F639D"/>
                </a:solidFill>
                <a:latin typeface="Aptos"/>
              </a:rPr>
              <a:t> </a:t>
            </a:r>
            <a:r>
              <a:rPr sz="1800" b="1" dirty="0" err="1">
                <a:solidFill>
                  <a:srgbClr val="2F639D"/>
                </a:solidFill>
                <a:latin typeface="Aptos"/>
              </a:rPr>
              <a:t>giao</a:t>
            </a:r>
            <a:r>
              <a:rPr sz="1800" b="1" dirty="0">
                <a:solidFill>
                  <a:srgbClr val="2F639D"/>
                </a:solidFill>
                <a:latin typeface="Aptos"/>
              </a:rPr>
              <a:t> </a:t>
            </a:r>
            <a:r>
              <a:rPr sz="1800" b="1" dirty="0" err="1">
                <a:solidFill>
                  <a:srgbClr val="2F639D"/>
                </a:solidFill>
                <a:latin typeface="Aptos"/>
              </a:rPr>
              <a:t>hàng</a:t>
            </a:r>
            <a:r>
              <a:rPr sz="1800" b="1" dirty="0">
                <a:solidFill>
                  <a:srgbClr val="2F639D"/>
                </a:solidFill>
                <a:latin typeface="Aptos"/>
              </a:rPr>
              <a:t> </a:t>
            </a:r>
            <a:r>
              <a:rPr sz="1800" b="1" dirty="0" err="1">
                <a:solidFill>
                  <a:srgbClr val="2F639D"/>
                </a:solidFill>
                <a:latin typeface="Aptos"/>
              </a:rPr>
              <a:t>của</a:t>
            </a:r>
            <a:r>
              <a:rPr sz="1800" b="1" dirty="0">
                <a:solidFill>
                  <a:srgbClr val="2F639D"/>
                </a:solidFill>
                <a:latin typeface="Aptos"/>
              </a:rPr>
              <a:t> </a:t>
            </a:r>
            <a:r>
              <a:rPr lang="vi-VN" sz="1800" b="1" dirty="0">
                <a:solidFill>
                  <a:srgbClr val="2F639D"/>
                </a:solidFill>
                <a:latin typeface="Aptos"/>
              </a:rPr>
              <a:t>khách </a:t>
            </a:r>
            <a:r>
              <a:rPr sz="1800" b="1" dirty="0" err="1">
                <a:solidFill>
                  <a:srgbClr val="2F639D"/>
                </a:solidFill>
                <a:latin typeface="Aptos"/>
              </a:rPr>
              <a:t>hàng</a:t>
            </a:r>
            <a:r>
              <a:rPr sz="1800" b="1" dirty="0">
                <a:solidFill>
                  <a:srgbClr val="2F639D"/>
                </a:solidFill>
                <a:latin typeface="Aptos"/>
              </a:rPr>
              <a:t>?</a:t>
            </a:r>
          </a:p>
        </p:txBody>
      </p:sp>
      <p:sp>
        <p:nvSpPr>
          <p:cNvPr id="6" name="TextBox 5"/>
          <p:cNvSpPr txBox="1"/>
          <p:nvPr/>
        </p:nvSpPr>
        <p:spPr>
          <a:xfrm>
            <a:off x="960120" y="3310128"/>
            <a:ext cx="6400800" cy="504754"/>
          </a:xfrm>
          <a:prstGeom prst="rect">
            <a:avLst/>
          </a:prstGeom>
          <a:noFill/>
        </p:spPr>
        <p:txBody>
          <a:bodyPr wrap="square" lIns="36576" tIns="36576" rIns="36576" bIns="36576" anchor="t">
            <a:spAutoFit/>
          </a:bodyPr>
          <a:lstStyle/>
          <a:p>
            <a:pPr algn="l"/>
            <a:r>
              <a:rPr sz="1400" b="0" dirty="0" err="1">
                <a:solidFill>
                  <a:srgbClr val="242B33"/>
                </a:solidFill>
                <a:latin typeface="Aptos"/>
              </a:rPr>
              <a:t>Phân</a:t>
            </a:r>
            <a:r>
              <a:rPr sz="1400" b="0" dirty="0">
                <a:solidFill>
                  <a:srgbClr val="242B33"/>
                </a:solidFill>
                <a:latin typeface="Aptos"/>
              </a:rPr>
              <a:t> </a:t>
            </a:r>
            <a:r>
              <a:rPr sz="1400" b="0" dirty="0" err="1">
                <a:solidFill>
                  <a:srgbClr val="242B33"/>
                </a:solidFill>
                <a:latin typeface="Aptos"/>
              </a:rPr>
              <a:t>tích</a:t>
            </a:r>
            <a:r>
              <a:rPr sz="1400" b="0" dirty="0">
                <a:solidFill>
                  <a:srgbClr val="242B33"/>
                </a:solidFill>
                <a:latin typeface="Aptos"/>
              </a:rPr>
              <a:t> </a:t>
            </a:r>
            <a:r>
              <a:rPr sz="1400" b="0" dirty="0" err="1">
                <a:solidFill>
                  <a:srgbClr val="242B33"/>
                </a:solidFill>
                <a:latin typeface="Aptos"/>
              </a:rPr>
              <a:t>dữ</a:t>
            </a:r>
            <a:r>
              <a:rPr sz="1400" b="0" dirty="0">
                <a:solidFill>
                  <a:srgbClr val="242B33"/>
                </a:solidFill>
                <a:latin typeface="Aptos"/>
              </a:rPr>
              <a:t> </a:t>
            </a:r>
            <a:r>
              <a:rPr sz="1400" b="0" dirty="0" err="1">
                <a:solidFill>
                  <a:srgbClr val="242B33"/>
                </a:solidFill>
                <a:latin typeface="Aptos"/>
              </a:rPr>
              <a:t>liệu</a:t>
            </a:r>
            <a:r>
              <a:rPr sz="1400" b="0" dirty="0">
                <a:solidFill>
                  <a:srgbClr val="242B33"/>
                </a:solidFill>
                <a:latin typeface="Aptos"/>
              </a:rPr>
              <a:t> </a:t>
            </a:r>
            <a:r>
              <a:rPr sz="1400" b="0" dirty="0" err="1">
                <a:solidFill>
                  <a:srgbClr val="242B33"/>
                </a:solidFill>
                <a:latin typeface="Aptos"/>
              </a:rPr>
              <a:t>đánh</a:t>
            </a:r>
            <a:r>
              <a:rPr sz="1400" b="0" dirty="0">
                <a:solidFill>
                  <a:srgbClr val="242B33"/>
                </a:solidFill>
                <a:latin typeface="Aptos"/>
              </a:rPr>
              <a:t> </a:t>
            </a:r>
            <a:r>
              <a:rPr sz="1400" b="0" dirty="0" err="1">
                <a:solidFill>
                  <a:srgbClr val="242B33"/>
                </a:solidFill>
                <a:latin typeface="Aptos"/>
              </a:rPr>
              <a:t>giá</a:t>
            </a:r>
            <a:r>
              <a:rPr sz="1400" b="0" dirty="0">
                <a:solidFill>
                  <a:srgbClr val="242B33"/>
                </a:solidFill>
                <a:latin typeface="Aptos"/>
              </a:rPr>
              <a:t> </a:t>
            </a:r>
            <a:r>
              <a:rPr sz="1400" b="0" dirty="0" err="1">
                <a:solidFill>
                  <a:srgbClr val="242B33"/>
                </a:solidFill>
                <a:latin typeface="Aptos"/>
              </a:rPr>
              <a:t>trên</a:t>
            </a:r>
            <a:r>
              <a:rPr sz="1400" b="0" dirty="0">
                <a:solidFill>
                  <a:srgbClr val="242B33"/>
                </a:solidFill>
                <a:latin typeface="Aptos"/>
              </a:rPr>
              <a:t> Tiki </a:t>
            </a:r>
            <a:r>
              <a:rPr sz="1400" b="0" dirty="0" err="1">
                <a:solidFill>
                  <a:srgbClr val="242B33"/>
                </a:solidFill>
                <a:latin typeface="Aptos"/>
              </a:rPr>
              <a:t>nhằm</a:t>
            </a:r>
            <a:r>
              <a:rPr sz="1400" b="0" dirty="0">
                <a:solidFill>
                  <a:srgbClr val="242B33"/>
                </a:solidFill>
                <a:latin typeface="Aptos"/>
              </a:rPr>
              <a:t> </a:t>
            </a:r>
            <a:r>
              <a:rPr sz="1400" b="0" dirty="0" err="1">
                <a:solidFill>
                  <a:srgbClr val="242B33"/>
                </a:solidFill>
                <a:latin typeface="Aptos"/>
              </a:rPr>
              <a:t>đối</a:t>
            </a:r>
            <a:r>
              <a:rPr sz="1400" b="0" dirty="0">
                <a:solidFill>
                  <a:srgbClr val="242B33"/>
                </a:solidFill>
                <a:latin typeface="Aptos"/>
              </a:rPr>
              <a:t> </a:t>
            </a:r>
            <a:r>
              <a:rPr sz="1400" b="0" dirty="0" err="1">
                <a:solidFill>
                  <a:srgbClr val="242B33"/>
                </a:solidFill>
                <a:latin typeface="Aptos"/>
              </a:rPr>
              <a:t>chiếu</a:t>
            </a:r>
            <a:r>
              <a:rPr sz="1400" b="0" dirty="0">
                <a:solidFill>
                  <a:srgbClr val="242B33"/>
                </a:solidFill>
                <a:latin typeface="Aptos"/>
              </a:rPr>
              <a:t> </a:t>
            </a:r>
            <a:r>
              <a:rPr sz="1400" b="0" dirty="0" err="1">
                <a:solidFill>
                  <a:srgbClr val="242B33"/>
                </a:solidFill>
                <a:latin typeface="Aptos"/>
              </a:rPr>
              <a:t>thời</a:t>
            </a:r>
            <a:r>
              <a:rPr sz="1400" b="0" dirty="0">
                <a:solidFill>
                  <a:srgbClr val="242B33"/>
                </a:solidFill>
                <a:latin typeface="Aptos"/>
              </a:rPr>
              <a:t> </a:t>
            </a:r>
            <a:r>
              <a:rPr sz="1400" b="0" dirty="0" err="1">
                <a:solidFill>
                  <a:srgbClr val="242B33"/>
                </a:solidFill>
                <a:latin typeface="Aptos"/>
              </a:rPr>
              <a:t>gian</a:t>
            </a:r>
            <a:r>
              <a:rPr sz="1400" b="0" dirty="0">
                <a:solidFill>
                  <a:srgbClr val="242B33"/>
                </a:solidFill>
                <a:latin typeface="Aptos"/>
              </a:rPr>
              <a:t> </a:t>
            </a:r>
            <a:r>
              <a:rPr sz="1400" b="0" dirty="0" err="1">
                <a:solidFill>
                  <a:srgbClr val="242B33"/>
                </a:solidFill>
                <a:latin typeface="Aptos"/>
              </a:rPr>
              <a:t>giao</a:t>
            </a:r>
            <a:r>
              <a:rPr sz="1400" b="0" dirty="0">
                <a:solidFill>
                  <a:srgbClr val="242B33"/>
                </a:solidFill>
                <a:latin typeface="Aptos"/>
              </a:rPr>
              <a:t> </a:t>
            </a:r>
            <a:r>
              <a:rPr sz="1400" b="0" dirty="0" err="1">
                <a:solidFill>
                  <a:srgbClr val="242B33"/>
                </a:solidFill>
                <a:latin typeface="Aptos"/>
              </a:rPr>
              <a:t>hàng</a:t>
            </a:r>
            <a:r>
              <a:rPr sz="1400" b="0" dirty="0">
                <a:solidFill>
                  <a:srgbClr val="242B33"/>
                </a:solidFill>
                <a:latin typeface="Aptos"/>
              </a:rPr>
              <a:t>, </a:t>
            </a:r>
            <a:r>
              <a:rPr sz="1400" b="0" dirty="0" err="1">
                <a:solidFill>
                  <a:srgbClr val="242B33"/>
                </a:solidFill>
                <a:latin typeface="Aptos"/>
              </a:rPr>
              <a:t>trạng</a:t>
            </a:r>
            <a:r>
              <a:rPr sz="1400" b="0" dirty="0">
                <a:solidFill>
                  <a:srgbClr val="242B33"/>
                </a:solidFill>
                <a:latin typeface="Aptos"/>
              </a:rPr>
              <a:t> </a:t>
            </a:r>
            <a:r>
              <a:rPr sz="1400" b="0" dirty="0" err="1">
                <a:solidFill>
                  <a:srgbClr val="242B33"/>
                </a:solidFill>
                <a:latin typeface="Aptos"/>
              </a:rPr>
              <a:t>thái</a:t>
            </a:r>
            <a:r>
              <a:rPr sz="1400" b="0" dirty="0">
                <a:solidFill>
                  <a:srgbClr val="242B33"/>
                </a:solidFill>
                <a:latin typeface="Aptos"/>
              </a:rPr>
              <a:t> SLA </a:t>
            </a:r>
            <a:r>
              <a:rPr sz="1400" b="0" dirty="0" err="1">
                <a:solidFill>
                  <a:srgbClr val="242B33"/>
                </a:solidFill>
                <a:latin typeface="Aptos"/>
              </a:rPr>
              <a:t>và</a:t>
            </a:r>
            <a:r>
              <a:rPr sz="1400" b="0" dirty="0">
                <a:solidFill>
                  <a:srgbClr val="242B33"/>
                </a:solidFill>
                <a:latin typeface="Aptos"/>
              </a:rPr>
              <a:t> </a:t>
            </a:r>
            <a:r>
              <a:rPr sz="1400" b="0" dirty="0" err="1">
                <a:solidFill>
                  <a:srgbClr val="242B33"/>
                </a:solidFill>
                <a:latin typeface="Aptos"/>
              </a:rPr>
              <a:t>phản</a:t>
            </a:r>
            <a:r>
              <a:rPr sz="1400" b="0" dirty="0">
                <a:solidFill>
                  <a:srgbClr val="242B33"/>
                </a:solidFill>
                <a:latin typeface="Aptos"/>
              </a:rPr>
              <a:t> </a:t>
            </a:r>
            <a:r>
              <a:rPr sz="1400" b="0" dirty="0" err="1">
                <a:solidFill>
                  <a:srgbClr val="242B33"/>
                </a:solidFill>
                <a:latin typeface="Aptos"/>
              </a:rPr>
              <a:t>hồi</a:t>
            </a:r>
            <a:r>
              <a:rPr sz="1400" b="0" dirty="0">
                <a:solidFill>
                  <a:srgbClr val="242B33"/>
                </a:solidFill>
                <a:latin typeface="Aptos"/>
              </a:rPr>
              <a:t> </a:t>
            </a:r>
            <a:r>
              <a:rPr sz="1400" b="0" dirty="0" err="1">
                <a:solidFill>
                  <a:srgbClr val="242B33"/>
                </a:solidFill>
                <a:latin typeface="Aptos"/>
              </a:rPr>
              <a:t>thực</a:t>
            </a:r>
            <a:r>
              <a:rPr sz="1400" b="0" dirty="0">
                <a:solidFill>
                  <a:srgbClr val="242B33"/>
                </a:solidFill>
                <a:latin typeface="Aptos"/>
              </a:rPr>
              <a:t> </a:t>
            </a:r>
            <a:r>
              <a:rPr sz="1400" b="0" dirty="0" err="1">
                <a:solidFill>
                  <a:srgbClr val="242B33"/>
                </a:solidFill>
                <a:latin typeface="Aptos"/>
              </a:rPr>
              <a:t>tế</a:t>
            </a:r>
            <a:r>
              <a:rPr sz="1400" b="0" dirty="0">
                <a:solidFill>
                  <a:srgbClr val="242B33"/>
                </a:solidFill>
                <a:latin typeface="Aptos"/>
              </a:rPr>
              <a:t> </a:t>
            </a:r>
            <a:r>
              <a:rPr sz="1400" b="0" dirty="0" err="1">
                <a:solidFill>
                  <a:srgbClr val="242B33"/>
                </a:solidFill>
                <a:latin typeface="Aptos"/>
              </a:rPr>
              <a:t>của</a:t>
            </a:r>
            <a:r>
              <a:rPr sz="1400" b="0" dirty="0">
                <a:solidFill>
                  <a:srgbClr val="242B33"/>
                </a:solidFill>
                <a:latin typeface="Aptos"/>
              </a:rPr>
              <a:t> </a:t>
            </a:r>
            <a:r>
              <a:rPr sz="1400" b="0" dirty="0" err="1">
                <a:solidFill>
                  <a:srgbClr val="242B33"/>
                </a:solidFill>
                <a:latin typeface="Aptos"/>
              </a:rPr>
              <a:t>khách</a:t>
            </a:r>
            <a:r>
              <a:rPr sz="1400" b="0" dirty="0">
                <a:solidFill>
                  <a:srgbClr val="242B33"/>
                </a:solidFill>
                <a:latin typeface="Aptos"/>
              </a:rPr>
              <a:t> </a:t>
            </a:r>
            <a:r>
              <a:rPr sz="1400" b="0" dirty="0" err="1">
                <a:solidFill>
                  <a:srgbClr val="242B33"/>
                </a:solidFill>
                <a:latin typeface="Aptos"/>
              </a:rPr>
              <a:t>hàng</a:t>
            </a:r>
            <a:r>
              <a:rPr sz="1400" b="0" dirty="0">
                <a:solidFill>
                  <a:srgbClr val="242B33"/>
                </a:solidFill>
                <a:latin typeface="Aptos"/>
              </a:rPr>
              <a:t>.</a:t>
            </a:r>
          </a:p>
        </p:txBody>
      </p:sp>
      <p:sp>
        <p:nvSpPr>
          <p:cNvPr id="7" name="Rounded Rectangle 6"/>
          <p:cNvSpPr/>
          <p:nvPr/>
        </p:nvSpPr>
        <p:spPr>
          <a:xfrm>
            <a:off x="749808" y="4251960"/>
            <a:ext cx="1600200" cy="347472"/>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8" name="TextBox 7"/>
          <p:cNvSpPr txBox="1"/>
          <p:nvPr/>
        </p:nvSpPr>
        <p:spPr>
          <a:xfrm>
            <a:off x="784100" y="4265652"/>
            <a:ext cx="1563624" cy="320088"/>
          </a:xfrm>
          <a:prstGeom prst="rect">
            <a:avLst/>
          </a:prstGeom>
          <a:noFill/>
        </p:spPr>
        <p:txBody>
          <a:bodyPr wrap="square" lIns="36576" tIns="36576" rIns="36576" bIns="36576" anchor="ctr">
            <a:spAutoFit/>
          </a:bodyPr>
          <a:lstStyle/>
          <a:p>
            <a:pPr algn="ctr"/>
            <a:r>
              <a:rPr sz="1600" b="1" dirty="0">
                <a:solidFill>
                  <a:srgbClr val="2F639D"/>
                </a:solidFill>
                <a:latin typeface="Aptos"/>
              </a:rPr>
              <a:t>203.510 reviews</a:t>
            </a:r>
          </a:p>
        </p:txBody>
      </p:sp>
      <p:sp>
        <p:nvSpPr>
          <p:cNvPr id="9" name="Rounded Rectangle 8"/>
          <p:cNvSpPr/>
          <p:nvPr/>
        </p:nvSpPr>
        <p:spPr>
          <a:xfrm>
            <a:off x="2487168" y="4251960"/>
            <a:ext cx="1783080" cy="347472"/>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0" name="TextBox 9"/>
          <p:cNvSpPr txBox="1"/>
          <p:nvPr/>
        </p:nvSpPr>
        <p:spPr>
          <a:xfrm>
            <a:off x="2452879" y="4265652"/>
            <a:ext cx="1801367" cy="320088"/>
          </a:xfrm>
          <a:prstGeom prst="rect">
            <a:avLst/>
          </a:prstGeom>
          <a:noFill/>
        </p:spPr>
        <p:txBody>
          <a:bodyPr wrap="square" lIns="36576" tIns="36576" rIns="36576" bIns="36576" anchor="ctr">
            <a:spAutoFit/>
          </a:bodyPr>
          <a:lstStyle/>
          <a:p>
            <a:pPr algn="ctr"/>
            <a:r>
              <a:rPr sz="1600" b="1" dirty="0">
                <a:solidFill>
                  <a:srgbClr val="2F639D"/>
                </a:solidFill>
                <a:latin typeface="Aptos"/>
              </a:rPr>
              <a:t>Weighted analysis</a:t>
            </a:r>
          </a:p>
        </p:txBody>
      </p:sp>
      <p:sp>
        <p:nvSpPr>
          <p:cNvPr id="11" name="Rounded Rectangle 10"/>
          <p:cNvSpPr/>
          <p:nvPr/>
        </p:nvSpPr>
        <p:spPr>
          <a:xfrm>
            <a:off x="4407408" y="4251960"/>
            <a:ext cx="731520" cy="347472"/>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2" name="TextBox 11"/>
          <p:cNvSpPr txBox="1"/>
          <p:nvPr/>
        </p:nvSpPr>
        <p:spPr>
          <a:xfrm>
            <a:off x="4443984" y="4265652"/>
            <a:ext cx="658368" cy="320088"/>
          </a:xfrm>
          <a:prstGeom prst="rect">
            <a:avLst/>
          </a:prstGeom>
          <a:noFill/>
        </p:spPr>
        <p:txBody>
          <a:bodyPr wrap="square" lIns="36576" tIns="36576" rIns="36576" bIns="36576" anchor="ctr">
            <a:spAutoFit/>
          </a:bodyPr>
          <a:lstStyle/>
          <a:p>
            <a:pPr algn="ctr"/>
            <a:r>
              <a:rPr sz="1600" b="1" dirty="0">
                <a:solidFill>
                  <a:srgbClr val="2F639D"/>
                </a:solidFill>
                <a:latin typeface="Aptos"/>
              </a:rPr>
              <a:t>EDA</a:t>
            </a:r>
          </a:p>
        </p:txBody>
      </p:sp>
      <p:sp>
        <p:nvSpPr>
          <p:cNvPr id="13" name="Rounded Rectangle 12"/>
          <p:cNvSpPr/>
          <p:nvPr/>
        </p:nvSpPr>
        <p:spPr>
          <a:xfrm>
            <a:off x="5276088" y="4251960"/>
            <a:ext cx="1874519" cy="347472"/>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4" name="TextBox 13"/>
          <p:cNvSpPr txBox="1"/>
          <p:nvPr/>
        </p:nvSpPr>
        <p:spPr>
          <a:xfrm>
            <a:off x="5244083" y="4265652"/>
            <a:ext cx="1938527" cy="320088"/>
          </a:xfrm>
          <a:prstGeom prst="rect">
            <a:avLst/>
          </a:prstGeom>
          <a:noFill/>
        </p:spPr>
        <p:txBody>
          <a:bodyPr wrap="square" lIns="36576" tIns="36576" rIns="36576" bIns="36576" anchor="ctr">
            <a:spAutoFit/>
          </a:bodyPr>
          <a:lstStyle/>
          <a:p>
            <a:pPr algn="ctr"/>
            <a:r>
              <a:rPr sz="1600" b="1" dirty="0">
                <a:solidFill>
                  <a:srgbClr val="2F639D"/>
                </a:solidFill>
                <a:latin typeface="Aptos"/>
              </a:rPr>
              <a:t>Predictive modeling</a:t>
            </a:r>
          </a:p>
        </p:txBody>
      </p:sp>
      <p:sp>
        <p:nvSpPr>
          <p:cNvPr id="15" name="Rounded Rectangle 14"/>
          <p:cNvSpPr/>
          <p:nvPr/>
        </p:nvSpPr>
        <p:spPr>
          <a:xfrm>
            <a:off x="8412480" y="594360"/>
            <a:ext cx="2971800" cy="5349240"/>
          </a:xfrm>
          <a:prstGeom prst="roundRect">
            <a:avLst/>
          </a:prstGeom>
          <a:solidFill>
            <a:srgbClr val="162C46"/>
          </a:solidFill>
          <a:ln w="12700">
            <a:solidFill>
              <a:srgbClr val="162C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796528" y="1097280"/>
            <a:ext cx="2240280" cy="1508760"/>
          </a:xfrm>
          <a:prstGeom prst="rect">
            <a:avLst/>
          </a:prstGeom>
          <a:noFill/>
        </p:spPr>
        <p:txBody>
          <a:bodyPr wrap="square" lIns="36576" tIns="36576" rIns="36576" bIns="36576" anchor="t">
            <a:spAutoFit/>
          </a:bodyPr>
          <a:lstStyle/>
          <a:p>
            <a:pPr algn="l"/>
            <a:r>
              <a:rPr sz="2400" b="1" dirty="0">
                <a:solidFill>
                  <a:srgbClr val="FFFFFF"/>
                </a:solidFill>
                <a:latin typeface="Aptos Display"/>
              </a:rPr>
              <a:t>DATA
SCIENCE
WORKFLOW</a:t>
            </a:r>
          </a:p>
        </p:txBody>
      </p:sp>
      <p:cxnSp>
        <p:nvCxnSpPr>
          <p:cNvPr id="17" name="Connector 16"/>
          <p:cNvCxnSpPr/>
          <p:nvPr/>
        </p:nvCxnSpPr>
        <p:spPr>
          <a:xfrm>
            <a:off x="8823960" y="2880360"/>
            <a:ext cx="2057400" cy="0"/>
          </a:xfrm>
          <a:prstGeom prst="line">
            <a:avLst/>
          </a:prstGeom>
          <a:ln w="25400">
            <a:solidFill>
              <a:srgbClr val="76A0C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823960" y="3154680"/>
            <a:ext cx="2194560" cy="1965960"/>
          </a:xfrm>
          <a:prstGeom prst="rect">
            <a:avLst/>
          </a:prstGeom>
          <a:noFill/>
        </p:spPr>
        <p:txBody>
          <a:bodyPr wrap="square" lIns="36576" tIns="36576" rIns="36576" bIns="36576" anchor="t">
            <a:spAutoFit/>
          </a:bodyPr>
          <a:lstStyle/>
          <a:p>
            <a:pPr algn="l"/>
            <a:r>
              <a:rPr sz="1400" b="0">
                <a:solidFill>
                  <a:srgbClr val="FFFFFF"/>
                </a:solidFill>
                <a:latin typeface="Aptos"/>
              </a:rPr>
              <a:t>Business
→ Data Collection
→ Cleaning
→ EDA
→ Features
→ Modeling
→ Evaluation
→ Business Value</a:t>
            </a:r>
          </a:p>
        </p:txBody>
      </p:sp>
      <p:sp>
        <p:nvSpPr>
          <p:cNvPr id="19" name="TextBox 18"/>
          <p:cNvSpPr txBox="1"/>
          <p:nvPr/>
        </p:nvSpPr>
        <p:spPr>
          <a:xfrm>
            <a:off x="713232" y="4754285"/>
            <a:ext cx="5943600" cy="1797415"/>
          </a:xfrm>
          <a:prstGeom prst="rect">
            <a:avLst/>
          </a:prstGeom>
          <a:noFill/>
        </p:spPr>
        <p:txBody>
          <a:bodyPr wrap="square" lIns="36576" tIns="36576" rIns="36576" bIns="36576" anchor="t">
            <a:spAutoFit/>
          </a:bodyPr>
          <a:lstStyle/>
          <a:p>
            <a:pPr algn="l"/>
            <a:r>
              <a:rPr sz="1600" b="0" dirty="0">
                <a:solidFill>
                  <a:srgbClr val="5E6A78"/>
                </a:solidFill>
                <a:latin typeface="Aptos"/>
              </a:rPr>
              <a:t>Môn </a:t>
            </a:r>
            <a:r>
              <a:rPr sz="1600" b="0" dirty="0" err="1">
                <a:solidFill>
                  <a:srgbClr val="5E6A78"/>
                </a:solidFill>
                <a:latin typeface="Aptos"/>
              </a:rPr>
              <a:t>học</a:t>
            </a:r>
            <a:r>
              <a:rPr sz="1600" b="0" dirty="0">
                <a:solidFill>
                  <a:srgbClr val="5E6A78"/>
                </a:solidFill>
                <a:latin typeface="Aptos"/>
              </a:rPr>
              <a:t>: </a:t>
            </a:r>
            <a:r>
              <a:rPr sz="1600" b="0" dirty="0" err="1">
                <a:solidFill>
                  <a:srgbClr val="5E6A78"/>
                </a:solidFill>
                <a:latin typeface="Aptos"/>
              </a:rPr>
              <a:t>Cơ</a:t>
            </a:r>
            <a:r>
              <a:rPr sz="1600" b="0" dirty="0">
                <a:solidFill>
                  <a:srgbClr val="5E6A78"/>
                </a:solidFill>
                <a:latin typeface="Aptos"/>
              </a:rPr>
              <a:t> </a:t>
            </a:r>
            <a:r>
              <a:rPr sz="1600" b="0" dirty="0" err="1">
                <a:solidFill>
                  <a:srgbClr val="5E6A78"/>
                </a:solidFill>
                <a:latin typeface="Aptos"/>
              </a:rPr>
              <a:t>sở</a:t>
            </a:r>
            <a:r>
              <a:rPr sz="1600" b="0" dirty="0">
                <a:solidFill>
                  <a:srgbClr val="5E6A78"/>
                </a:solidFill>
                <a:latin typeface="Aptos"/>
              </a:rPr>
              <a:t> Khoa </a:t>
            </a:r>
            <a:r>
              <a:rPr sz="1600" b="0" dirty="0" err="1">
                <a:solidFill>
                  <a:srgbClr val="5E6A78"/>
                </a:solidFill>
                <a:latin typeface="Aptos"/>
              </a:rPr>
              <a:t>học</a:t>
            </a:r>
            <a:r>
              <a:rPr sz="1600" b="0" dirty="0">
                <a:solidFill>
                  <a:srgbClr val="5E6A78"/>
                </a:solidFill>
                <a:latin typeface="Aptos"/>
              </a:rPr>
              <a:t> </a:t>
            </a:r>
            <a:r>
              <a:rPr sz="1600" b="0" dirty="0" err="1">
                <a:solidFill>
                  <a:srgbClr val="5E6A78"/>
                </a:solidFill>
                <a:latin typeface="Aptos"/>
              </a:rPr>
              <a:t>Dữ</a:t>
            </a:r>
            <a:r>
              <a:rPr sz="1600" b="0" dirty="0">
                <a:solidFill>
                  <a:srgbClr val="5E6A78"/>
                </a:solidFill>
                <a:latin typeface="Aptos"/>
              </a:rPr>
              <a:t> </a:t>
            </a:r>
            <a:r>
              <a:rPr sz="1600" b="0" dirty="0" err="1">
                <a:solidFill>
                  <a:srgbClr val="5E6A78"/>
                </a:solidFill>
                <a:latin typeface="Aptos"/>
              </a:rPr>
              <a:t>liệu</a:t>
            </a:r>
            <a:r>
              <a:rPr sz="1600" b="0" dirty="0">
                <a:solidFill>
                  <a:srgbClr val="5E6A78"/>
                </a:solidFill>
                <a:latin typeface="Aptos"/>
              </a:rPr>
              <a:t>
</a:t>
            </a:r>
            <a:r>
              <a:rPr sz="1600" b="0" dirty="0" err="1">
                <a:solidFill>
                  <a:srgbClr val="5E6A78"/>
                </a:solidFill>
                <a:latin typeface="Aptos"/>
              </a:rPr>
              <a:t>Nhóm</a:t>
            </a:r>
            <a:r>
              <a:rPr sz="1600" b="0" dirty="0">
                <a:solidFill>
                  <a:srgbClr val="5E6A78"/>
                </a:solidFill>
                <a:latin typeface="Aptos"/>
              </a:rPr>
              <a:t>: ........................................
Thành </a:t>
            </a:r>
            <a:r>
              <a:rPr sz="1600" b="0" dirty="0" err="1">
                <a:solidFill>
                  <a:srgbClr val="5E6A78"/>
                </a:solidFill>
                <a:latin typeface="Aptos"/>
              </a:rPr>
              <a:t>viên</a:t>
            </a:r>
            <a:r>
              <a:rPr sz="1600" b="0" dirty="0">
                <a:solidFill>
                  <a:srgbClr val="5E6A78"/>
                </a:solidFill>
                <a:latin typeface="Aptos"/>
              </a:rPr>
              <a:t>: </a:t>
            </a:r>
            <a:r>
              <a:rPr lang="vi-VN" sz="1600" b="0" dirty="0">
                <a:solidFill>
                  <a:srgbClr val="5E6A78"/>
                </a:solidFill>
                <a:latin typeface="Aptos"/>
              </a:rPr>
              <a:t> Phan Ngô Quốc An - 24139002</a:t>
            </a:r>
          </a:p>
          <a:p>
            <a:pPr algn="l"/>
            <a:r>
              <a:rPr lang="vi-VN" sz="1600" dirty="0">
                <a:solidFill>
                  <a:srgbClr val="5E6A78"/>
                </a:solidFill>
                <a:latin typeface="Aptos"/>
              </a:rPr>
              <a:t>	               Đỗ Minh Hiển - 24139013</a:t>
            </a:r>
          </a:p>
          <a:p>
            <a:pPr algn="l"/>
            <a:r>
              <a:rPr lang="vi-VN" sz="1600" b="0" dirty="0">
                <a:solidFill>
                  <a:srgbClr val="5E6A78"/>
                </a:solidFill>
                <a:latin typeface="Aptos"/>
              </a:rPr>
              <a:t>	               Nguyễn Ngọc Ngân - 24139031</a:t>
            </a:r>
          </a:p>
          <a:p>
            <a:pPr algn="l"/>
            <a:r>
              <a:rPr lang="vi-VN" sz="1600" dirty="0">
                <a:solidFill>
                  <a:srgbClr val="5E6A78"/>
                </a:solidFill>
                <a:latin typeface="Aptos"/>
              </a:rPr>
              <a:t>	               Hồ Ngọc </a:t>
            </a:r>
            <a:r>
              <a:rPr lang="vi-VN" sz="1600" dirty="0" err="1">
                <a:solidFill>
                  <a:srgbClr val="5E6A78"/>
                </a:solidFill>
                <a:latin typeface="Aptos"/>
              </a:rPr>
              <a:t>Sỹ</a:t>
            </a:r>
            <a:r>
              <a:rPr lang="vi-VN" sz="1600" dirty="0">
                <a:solidFill>
                  <a:srgbClr val="5E6A78"/>
                </a:solidFill>
                <a:latin typeface="Aptos"/>
              </a:rPr>
              <a:t> - 24139047</a:t>
            </a:r>
            <a:r>
              <a:rPr sz="1600" b="0" dirty="0">
                <a:solidFill>
                  <a:srgbClr val="5E6A78"/>
                </a:solidFill>
                <a:latin typeface="Aptos"/>
              </a:rPr>
              <a:t>
</a:t>
            </a:r>
            <a:r>
              <a:rPr sz="1600" b="0" dirty="0" err="1">
                <a:solidFill>
                  <a:srgbClr val="5E6A78"/>
                </a:solidFill>
                <a:latin typeface="Aptos"/>
              </a:rPr>
              <a:t>Giảng</a:t>
            </a:r>
            <a:r>
              <a:rPr sz="1600" b="0" dirty="0">
                <a:solidFill>
                  <a:srgbClr val="5E6A78"/>
                </a:solidFill>
                <a:latin typeface="Aptos"/>
              </a:rPr>
              <a:t> </a:t>
            </a:r>
            <a:r>
              <a:rPr sz="1600" b="0" dirty="0" err="1">
                <a:solidFill>
                  <a:srgbClr val="5E6A78"/>
                </a:solidFill>
                <a:latin typeface="Aptos"/>
              </a:rPr>
              <a:t>viên</a:t>
            </a:r>
            <a:r>
              <a:rPr sz="1600" b="0" dirty="0">
                <a:solidFill>
                  <a:srgbClr val="5E6A78"/>
                </a:solidFill>
                <a:latin typeface="Aptos"/>
              </a:rPr>
              <a:t>: </a:t>
            </a:r>
            <a:r>
              <a:rPr lang="vi-VN" sz="1600" b="0" dirty="0" err="1">
                <a:solidFill>
                  <a:srgbClr val="5E6A78"/>
                </a:solidFill>
                <a:latin typeface="Aptos"/>
              </a:rPr>
              <a:t>PGS.TS Nguyễn</a:t>
            </a:r>
            <a:r>
              <a:rPr lang="vi-VN" sz="1600" b="0" dirty="0">
                <a:solidFill>
                  <a:srgbClr val="5E6A78"/>
                </a:solidFill>
                <a:latin typeface="Aptos"/>
              </a:rPr>
              <a:t> Mạnh Hùng</a:t>
            </a:r>
            <a:endParaRPr sz="1600" b="0" dirty="0">
              <a:solidFill>
                <a:srgbClr val="5E6A78"/>
              </a:solidFill>
              <a:latin typeface="Aptos"/>
            </a:endParaRPr>
          </a:p>
        </p:txBody>
      </p:sp>
      <p:sp>
        <p:nvSpPr>
          <p:cNvPr id="20" name="TextBox 19"/>
          <p:cNvSpPr txBox="1"/>
          <p:nvPr/>
        </p:nvSpPr>
        <p:spPr>
          <a:xfrm>
            <a:off x="594360" y="6565392"/>
            <a:ext cx="4023360" cy="164592"/>
          </a:xfrm>
          <a:prstGeom prst="rect">
            <a:avLst/>
          </a:prstGeom>
          <a:noFill/>
        </p:spPr>
        <p:txBody>
          <a:bodyPr wrap="square" lIns="36576" tIns="36576" rIns="36576" bIns="36576" anchor="t">
            <a:spAutoFit/>
          </a:bodyPr>
          <a:lstStyle/>
          <a:p>
            <a:pPr algn="l"/>
            <a:r>
              <a:rPr sz="850" b="0" dirty="0" err="1">
                <a:solidFill>
                  <a:srgbClr val="5E6A78"/>
                </a:solidFill>
                <a:latin typeface="Aptos"/>
              </a:rPr>
              <a:t>Cơ</a:t>
            </a:r>
            <a:r>
              <a:rPr sz="850" b="0" dirty="0">
                <a:solidFill>
                  <a:srgbClr val="5E6A78"/>
                </a:solidFill>
                <a:latin typeface="Aptos"/>
              </a:rPr>
              <a:t> </a:t>
            </a:r>
            <a:r>
              <a:rPr sz="850" b="0" dirty="0" err="1">
                <a:solidFill>
                  <a:srgbClr val="5E6A78"/>
                </a:solidFill>
                <a:latin typeface="Aptos"/>
              </a:rPr>
              <a:t>sở</a:t>
            </a:r>
            <a:r>
              <a:rPr sz="850" b="0" dirty="0">
                <a:solidFill>
                  <a:srgbClr val="5E6A78"/>
                </a:solidFill>
                <a:latin typeface="Aptos"/>
              </a:rPr>
              <a:t> Khoa </a:t>
            </a:r>
            <a:r>
              <a:rPr sz="850" b="0" dirty="0" err="1">
                <a:solidFill>
                  <a:srgbClr val="5E6A78"/>
                </a:solidFill>
                <a:latin typeface="Aptos"/>
              </a:rPr>
              <a:t>học</a:t>
            </a:r>
            <a:r>
              <a:rPr sz="850" b="0" dirty="0">
                <a:solidFill>
                  <a:srgbClr val="5E6A78"/>
                </a:solidFill>
                <a:latin typeface="Aptos"/>
              </a:rPr>
              <a:t> </a:t>
            </a:r>
            <a:r>
              <a:rPr sz="850" b="0" dirty="0" err="1">
                <a:solidFill>
                  <a:srgbClr val="5E6A78"/>
                </a:solidFill>
                <a:latin typeface="Aptos"/>
              </a:rPr>
              <a:t>Dữ</a:t>
            </a:r>
            <a:r>
              <a:rPr sz="850" b="0" dirty="0">
                <a:solidFill>
                  <a:srgbClr val="5E6A78"/>
                </a:solidFill>
                <a:latin typeface="Aptos"/>
              </a:rPr>
              <a:t> </a:t>
            </a:r>
            <a:r>
              <a:rPr sz="850" b="0" dirty="0" err="1">
                <a:solidFill>
                  <a:srgbClr val="5E6A78"/>
                </a:solidFill>
                <a:latin typeface="Aptos"/>
              </a:rPr>
              <a:t>liệu</a:t>
            </a:r>
            <a:r>
              <a:rPr sz="850" b="0" dirty="0">
                <a:solidFill>
                  <a:srgbClr val="5E6A78"/>
                </a:solidFill>
                <a:latin typeface="Aptos"/>
              </a:rPr>
              <a:t>  •  SLA &amp; Customer Experience</a:t>
            </a:r>
          </a:p>
        </p:txBody>
      </p:sp>
      <p:sp>
        <p:nvSpPr>
          <p:cNvPr id="21" name="TextBox 20"/>
          <p:cNvSpPr txBox="1"/>
          <p:nvPr/>
        </p:nvSpPr>
        <p:spPr>
          <a:xfrm>
            <a:off x="11201400" y="6567055"/>
            <a:ext cx="365760" cy="166255"/>
          </a:xfrm>
          <a:prstGeom prst="rect">
            <a:avLst/>
          </a:prstGeom>
          <a:noFill/>
        </p:spPr>
        <p:txBody>
          <a:bodyPr wrap="square" lIns="36576" tIns="36576" rIns="36576" bIns="36576" anchor="t">
            <a:spAutoFit/>
          </a:bodyPr>
          <a:lstStyle/>
          <a:p>
            <a:pPr algn="r"/>
            <a:r>
              <a:rPr sz="850" b="0">
                <a:solidFill>
                  <a:srgbClr val="5E6A78"/>
                </a:solidFill>
                <a:latin typeface="Aptos"/>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284131"/>
            <a:ext cx="10972800" cy="535531"/>
          </a:xfrm>
          <a:prstGeom prst="rect">
            <a:avLst/>
          </a:prstGeom>
          <a:noFill/>
        </p:spPr>
        <p:txBody>
          <a:bodyPr wrap="square" lIns="36576" tIns="36576" rIns="36576" bIns="36576" anchor="t">
            <a:spAutoFit/>
          </a:bodyPr>
          <a:lstStyle/>
          <a:p>
            <a:pPr algn="l"/>
            <a:r>
              <a:rPr sz="3000" b="1" dirty="0">
                <a:solidFill>
                  <a:srgbClr val="162C46"/>
                </a:solidFill>
                <a:latin typeface="Aptos Display"/>
              </a:rPr>
              <a:t>QUY TRÌNH NGHIÊN CỨU DATA SCIENCE</a:t>
            </a:r>
          </a:p>
        </p:txBody>
      </p:sp>
      <p:cxnSp>
        <p:nvCxnSpPr>
          <p:cNvPr id="3" name="Connector 2"/>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94360" y="960120"/>
            <a:ext cx="10881360" cy="320040"/>
          </a:xfrm>
          <a:prstGeom prst="rect">
            <a:avLst/>
          </a:prstGeom>
          <a:noFill/>
        </p:spPr>
        <p:txBody>
          <a:bodyPr wrap="square" lIns="36576" tIns="36576" rIns="36576" bIns="36576" anchor="t">
            <a:spAutoFit/>
          </a:bodyPr>
          <a:lstStyle/>
          <a:p>
            <a:pPr algn="l"/>
            <a:r>
              <a:rPr sz="1600" b="0" dirty="0" err="1">
                <a:solidFill>
                  <a:srgbClr val="5E6A78"/>
                </a:solidFill>
                <a:latin typeface="Aptos"/>
              </a:rPr>
              <a:t>Từ</a:t>
            </a:r>
            <a:r>
              <a:rPr sz="1600" b="0" dirty="0">
                <a:solidFill>
                  <a:srgbClr val="5E6A78"/>
                </a:solidFill>
                <a:latin typeface="Aptos"/>
              </a:rPr>
              <a:t> </a:t>
            </a:r>
            <a:r>
              <a:rPr sz="1600" b="0" dirty="0" err="1">
                <a:solidFill>
                  <a:srgbClr val="5E6A78"/>
                </a:solidFill>
                <a:latin typeface="Aptos"/>
              </a:rPr>
              <a:t>dữ</a:t>
            </a:r>
            <a:r>
              <a:rPr sz="1600" b="0" dirty="0">
                <a:solidFill>
                  <a:srgbClr val="5E6A78"/>
                </a:solidFill>
                <a:latin typeface="Aptos"/>
              </a:rPr>
              <a:t> </a:t>
            </a:r>
            <a:r>
              <a:rPr sz="1600" b="0" dirty="0" err="1">
                <a:solidFill>
                  <a:srgbClr val="5E6A78"/>
                </a:solidFill>
                <a:latin typeface="Aptos"/>
              </a:rPr>
              <a:t>liệu</a:t>
            </a:r>
            <a:r>
              <a:rPr sz="1600" b="0" dirty="0">
                <a:solidFill>
                  <a:srgbClr val="5E6A78"/>
                </a:solidFill>
                <a:latin typeface="Aptos"/>
              </a:rPr>
              <a:t> </a:t>
            </a:r>
            <a:r>
              <a:rPr sz="1600" b="0" dirty="0" err="1">
                <a:solidFill>
                  <a:srgbClr val="5E6A78"/>
                </a:solidFill>
                <a:latin typeface="Aptos"/>
              </a:rPr>
              <a:t>đánh</a:t>
            </a:r>
            <a:r>
              <a:rPr sz="1600" b="0" dirty="0">
                <a:solidFill>
                  <a:srgbClr val="5E6A78"/>
                </a:solidFill>
                <a:latin typeface="Aptos"/>
              </a:rPr>
              <a:t> </a:t>
            </a:r>
            <a:r>
              <a:rPr sz="1600" b="0" dirty="0" err="1">
                <a:solidFill>
                  <a:srgbClr val="5E6A78"/>
                </a:solidFill>
                <a:latin typeface="Aptos"/>
              </a:rPr>
              <a:t>giá</a:t>
            </a:r>
            <a:r>
              <a:rPr sz="1600" b="0" dirty="0">
                <a:solidFill>
                  <a:srgbClr val="5E6A78"/>
                </a:solidFill>
                <a:latin typeface="Aptos"/>
              </a:rPr>
              <a:t> Tiki </a:t>
            </a:r>
            <a:r>
              <a:rPr sz="1600" b="0" dirty="0" err="1">
                <a:solidFill>
                  <a:srgbClr val="5E6A78"/>
                </a:solidFill>
                <a:latin typeface="Aptos"/>
              </a:rPr>
              <a:t>đến</a:t>
            </a:r>
            <a:r>
              <a:rPr sz="1600" b="0" dirty="0">
                <a:solidFill>
                  <a:srgbClr val="5E6A78"/>
                </a:solidFill>
                <a:latin typeface="Aptos"/>
              </a:rPr>
              <a:t> </a:t>
            </a:r>
            <a:r>
              <a:rPr sz="1600" b="0" dirty="0" err="1">
                <a:solidFill>
                  <a:srgbClr val="5E6A78"/>
                </a:solidFill>
                <a:latin typeface="Aptos"/>
              </a:rPr>
              <a:t>đánh</a:t>
            </a:r>
            <a:r>
              <a:rPr sz="1600" b="0" dirty="0">
                <a:solidFill>
                  <a:srgbClr val="5E6A78"/>
                </a:solidFill>
                <a:latin typeface="Aptos"/>
              </a:rPr>
              <a:t> </a:t>
            </a:r>
            <a:r>
              <a:rPr sz="1600" b="0" dirty="0" err="1">
                <a:solidFill>
                  <a:srgbClr val="5E6A78"/>
                </a:solidFill>
                <a:latin typeface="Aptos"/>
              </a:rPr>
              <a:t>giá</a:t>
            </a:r>
            <a:r>
              <a:rPr sz="1600" b="0" dirty="0">
                <a:solidFill>
                  <a:srgbClr val="5E6A78"/>
                </a:solidFill>
                <a:latin typeface="Aptos"/>
              </a:rPr>
              <a:t> “</a:t>
            </a:r>
            <a:r>
              <a:rPr sz="1600" b="0" dirty="0" err="1">
                <a:solidFill>
                  <a:srgbClr val="5E6A78"/>
                </a:solidFill>
                <a:latin typeface="Aptos"/>
              </a:rPr>
              <a:t>bẫy</a:t>
            </a:r>
            <a:r>
              <a:rPr sz="1600" b="0" dirty="0">
                <a:solidFill>
                  <a:srgbClr val="5E6A78"/>
                </a:solidFill>
                <a:latin typeface="Aptos"/>
              </a:rPr>
              <a:t> SLA” </a:t>
            </a:r>
            <a:r>
              <a:rPr sz="1600" b="0" dirty="0" err="1">
                <a:solidFill>
                  <a:srgbClr val="5E6A78"/>
                </a:solidFill>
                <a:latin typeface="Aptos"/>
              </a:rPr>
              <a:t>và</a:t>
            </a:r>
            <a:r>
              <a:rPr sz="1600" b="0" dirty="0">
                <a:solidFill>
                  <a:srgbClr val="5E6A78"/>
                </a:solidFill>
                <a:latin typeface="Aptos"/>
              </a:rPr>
              <a:t> </a:t>
            </a:r>
            <a:r>
              <a:rPr sz="1600" b="0" dirty="0" err="1">
                <a:solidFill>
                  <a:srgbClr val="5E6A78"/>
                </a:solidFill>
                <a:latin typeface="Aptos"/>
              </a:rPr>
              <a:t>dự</a:t>
            </a:r>
            <a:r>
              <a:rPr sz="1600" b="0" dirty="0">
                <a:solidFill>
                  <a:srgbClr val="5E6A78"/>
                </a:solidFill>
                <a:latin typeface="Aptos"/>
              </a:rPr>
              <a:t> </a:t>
            </a:r>
            <a:r>
              <a:rPr sz="1600" b="0" dirty="0" err="1">
                <a:solidFill>
                  <a:srgbClr val="5E6A78"/>
                </a:solidFill>
                <a:latin typeface="Aptos"/>
              </a:rPr>
              <a:t>báo</a:t>
            </a:r>
            <a:r>
              <a:rPr sz="1600" b="0" dirty="0">
                <a:solidFill>
                  <a:srgbClr val="5E6A78"/>
                </a:solidFill>
                <a:latin typeface="Aptos"/>
              </a:rPr>
              <a:t> </a:t>
            </a:r>
            <a:r>
              <a:rPr sz="1600" b="0" dirty="0" err="1">
                <a:solidFill>
                  <a:srgbClr val="5E6A78"/>
                </a:solidFill>
                <a:latin typeface="Aptos"/>
              </a:rPr>
              <a:t>sự</a:t>
            </a:r>
            <a:r>
              <a:rPr sz="1600" b="0" dirty="0">
                <a:solidFill>
                  <a:srgbClr val="5E6A78"/>
                </a:solidFill>
                <a:latin typeface="Aptos"/>
              </a:rPr>
              <a:t> </a:t>
            </a:r>
            <a:r>
              <a:rPr sz="1600" b="0" dirty="0" err="1">
                <a:solidFill>
                  <a:srgbClr val="5E6A78"/>
                </a:solidFill>
                <a:latin typeface="Aptos"/>
              </a:rPr>
              <a:t>không</a:t>
            </a:r>
            <a:r>
              <a:rPr sz="1600" b="0" dirty="0">
                <a:solidFill>
                  <a:srgbClr val="5E6A78"/>
                </a:solidFill>
                <a:latin typeface="Aptos"/>
              </a:rPr>
              <a:t> </a:t>
            </a:r>
            <a:r>
              <a:rPr sz="1600" b="0" dirty="0" err="1">
                <a:solidFill>
                  <a:srgbClr val="5E6A78"/>
                </a:solidFill>
                <a:latin typeface="Aptos"/>
              </a:rPr>
              <a:t>hài</a:t>
            </a:r>
            <a:r>
              <a:rPr sz="1600" b="0" dirty="0">
                <a:solidFill>
                  <a:srgbClr val="5E6A78"/>
                </a:solidFill>
                <a:latin typeface="Aptos"/>
              </a:rPr>
              <a:t> </a:t>
            </a:r>
            <a:r>
              <a:rPr sz="1600" b="0" dirty="0" err="1">
                <a:solidFill>
                  <a:srgbClr val="5E6A78"/>
                </a:solidFill>
                <a:latin typeface="Aptos"/>
              </a:rPr>
              <a:t>lòng</a:t>
            </a:r>
            <a:endParaRPr sz="1600" b="0" dirty="0">
              <a:solidFill>
                <a:srgbClr val="5E6A78"/>
              </a:solidFill>
              <a:latin typeface="Aptos"/>
            </a:endParaRPr>
          </a:p>
        </p:txBody>
      </p:sp>
      <p:sp>
        <p:nvSpPr>
          <p:cNvPr id="6" name="Rounded Rectangle 5"/>
          <p:cNvSpPr/>
          <p:nvPr/>
        </p:nvSpPr>
        <p:spPr>
          <a:xfrm>
            <a:off x="640080" y="1508760"/>
            <a:ext cx="2240280" cy="1417320"/>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7" name="Rounded Rectangle 6"/>
          <p:cNvSpPr/>
          <p:nvPr/>
        </p:nvSpPr>
        <p:spPr>
          <a:xfrm>
            <a:off x="786384" y="1645919"/>
            <a:ext cx="457200" cy="292608"/>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8" name="TextBox 7"/>
          <p:cNvSpPr txBox="1"/>
          <p:nvPr/>
        </p:nvSpPr>
        <p:spPr>
          <a:xfrm>
            <a:off x="822960" y="1632179"/>
            <a:ext cx="384048" cy="320088"/>
          </a:xfrm>
          <a:prstGeom prst="rect">
            <a:avLst/>
          </a:prstGeom>
          <a:noFill/>
        </p:spPr>
        <p:txBody>
          <a:bodyPr wrap="square" lIns="36576" tIns="36576" rIns="36576" bIns="36576" anchor="ctr">
            <a:spAutoFit/>
          </a:bodyPr>
          <a:lstStyle/>
          <a:p>
            <a:pPr algn="ctr"/>
            <a:r>
              <a:rPr sz="1600" b="1">
                <a:solidFill>
                  <a:srgbClr val="2F639D"/>
                </a:solidFill>
                <a:latin typeface="Aptos"/>
              </a:rPr>
              <a:t>01</a:t>
            </a:r>
          </a:p>
        </p:txBody>
      </p:sp>
      <p:sp>
        <p:nvSpPr>
          <p:cNvPr id="9" name="TextBox 8"/>
          <p:cNvSpPr txBox="1"/>
          <p:nvPr/>
        </p:nvSpPr>
        <p:spPr>
          <a:xfrm>
            <a:off x="1330036" y="1629295"/>
            <a:ext cx="1554480" cy="324196"/>
          </a:xfrm>
          <a:prstGeom prst="rect">
            <a:avLst/>
          </a:prstGeom>
          <a:noFill/>
        </p:spPr>
        <p:txBody>
          <a:bodyPr wrap="none" lIns="0" tIns="36576" rIns="0" bIns="36576" anchor="t">
            <a:spAutoFit/>
          </a:bodyPr>
          <a:lstStyle/>
          <a:p>
            <a:pPr algn="l"/>
            <a:r>
              <a:rPr sz="1400" b="1" dirty="0">
                <a:solidFill>
                  <a:srgbClr val="162C46"/>
                </a:solidFill>
                <a:latin typeface="Aptos"/>
              </a:rPr>
              <a:t>BUSINESS</a:t>
            </a:r>
          </a:p>
        </p:txBody>
      </p:sp>
      <p:sp>
        <p:nvSpPr>
          <p:cNvPr id="10" name="TextBox 9"/>
          <p:cNvSpPr txBox="1"/>
          <p:nvPr/>
        </p:nvSpPr>
        <p:spPr>
          <a:xfrm>
            <a:off x="756458" y="1995055"/>
            <a:ext cx="2028305" cy="881149"/>
          </a:xfrm>
          <a:prstGeom prst="rect">
            <a:avLst/>
          </a:prstGeom>
          <a:noFill/>
        </p:spPr>
        <p:txBody>
          <a:bodyPr wrap="square" lIns="36576" tIns="36576" rIns="36576" bIns="36576" anchor="t">
            <a:spAutoFit/>
          </a:bodyPr>
          <a:lstStyle/>
          <a:p>
            <a:pPr algn="l"/>
            <a:r>
              <a:rPr sz="1400" b="0" dirty="0" err="1">
                <a:solidFill>
                  <a:srgbClr val="5E6A78"/>
                </a:solidFill>
                <a:latin typeface="Aptos"/>
              </a:rPr>
              <a:t>Bẫy</a:t>
            </a:r>
            <a:r>
              <a:rPr sz="1400" b="0" dirty="0">
                <a:solidFill>
                  <a:srgbClr val="5E6A78"/>
                </a:solidFill>
                <a:latin typeface="Aptos"/>
              </a:rPr>
              <a:t> SLA </a:t>
            </a:r>
            <a:r>
              <a:rPr sz="1400" b="0" dirty="0" err="1">
                <a:solidFill>
                  <a:srgbClr val="5E6A78"/>
                </a:solidFill>
                <a:latin typeface="Aptos"/>
              </a:rPr>
              <a:t>trong</a:t>
            </a:r>
            <a:r>
              <a:rPr sz="1400" b="0" dirty="0">
                <a:solidFill>
                  <a:srgbClr val="5E6A78"/>
                </a:solidFill>
                <a:latin typeface="Aptos"/>
              </a:rPr>
              <a:t> TMĐT
SLA ↔ Customer Satisfaction</a:t>
            </a:r>
          </a:p>
        </p:txBody>
      </p:sp>
      <p:sp>
        <p:nvSpPr>
          <p:cNvPr id="11" name="Rounded Rectangle 10"/>
          <p:cNvSpPr/>
          <p:nvPr/>
        </p:nvSpPr>
        <p:spPr>
          <a:xfrm>
            <a:off x="3520440" y="1508760"/>
            <a:ext cx="2240280" cy="1417320"/>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2" name="Rounded Rectangle 11"/>
          <p:cNvSpPr/>
          <p:nvPr/>
        </p:nvSpPr>
        <p:spPr>
          <a:xfrm>
            <a:off x="3666744" y="1645919"/>
            <a:ext cx="457200" cy="292608"/>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3" name="TextBox 12"/>
          <p:cNvSpPr txBox="1"/>
          <p:nvPr/>
        </p:nvSpPr>
        <p:spPr>
          <a:xfrm>
            <a:off x="3703320" y="1632179"/>
            <a:ext cx="384048" cy="320088"/>
          </a:xfrm>
          <a:prstGeom prst="rect">
            <a:avLst/>
          </a:prstGeom>
          <a:noFill/>
        </p:spPr>
        <p:txBody>
          <a:bodyPr wrap="square" lIns="36576" tIns="36576" rIns="36576" bIns="36576" anchor="ctr">
            <a:spAutoFit/>
          </a:bodyPr>
          <a:lstStyle/>
          <a:p>
            <a:pPr algn="ctr"/>
            <a:r>
              <a:rPr sz="1600" b="1">
                <a:solidFill>
                  <a:srgbClr val="2F639D"/>
                </a:solidFill>
                <a:latin typeface="Aptos"/>
              </a:rPr>
              <a:t>02</a:t>
            </a:r>
          </a:p>
        </p:txBody>
      </p:sp>
      <p:sp>
        <p:nvSpPr>
          <p:cNvPr id="14" name="TextBox 13"/>
          <p:cNvSpPr txBox="1"/>
          <p:nvPr/>
        </p:nvSpPr>
        <p:spPr>
          <a:xfrm>
            <a:off x="4214553" y="1629295"/>
            <a:ext cx="1554480" cy="324196"/>
          </a:xfrm>
          <a:prstGeom prst="rect">
            <a:avLst/>
          </a:prstGeom>
          <a:noFill/>
        </p:spPr>
        <p:txBody>
          <a:bodyPr wrap="none" lIns="0" tIns="36576" rIns="0" bIns="36576" anchor="t">
            <a:spAutoFit/>
          </a:bodyPr>
          <a:lstStyle/>
          <a:p>
            <a:pPr algn="l"/>
            <a:r>
              <a:rPr sz="1400" b="1" dirty="0">
                <a:solidFill>
                  <a:srgbClr val="162C46"/>
                </a:solidFill>
                <a:latin typeface="Aptos"/>
              </a:rPr>
              <a:t>DATA COLLECTION</a:t>
            </a:r>
          </a:p>
        </p:txBody>
      </p:sp>
      <p:sp>
        <p:nvSpPr>
          <p:cNvPr id="15" name="TextBox 14"/>
          <p:cNvSpPr txBox="1"/>
          <p:nvPr/>
        </p:nvSpPr>
        <p:spPr>
          <a:xfrm>
            <a:off x="3640975" y="1995055"/>
            <a:ext cx="2028305" cy="881149"/>
          </a:xfrm>
          <a:prstGeom prst="rect">
            <a:avLst/>
          </a:prstGeom>
          <a:noFill/>
        </p:spPr>
        <p:txBody>
          <a:bodyPr wrap="square" lIns="36576" tIns="36576" rIns="36576" bIns="36576" anchor="t">
            <a:spAutoFit/>
          </a:bodyPr>
          <a:lstStyle/>
          <a:p>
            <a:pPr algn="l"/>
            <a:r>
              <a:rPr sz="1400" b="0">
                <a:solidFill>
                  <a:srgbClr val="5E6A78"/>
                </a:solidFill>
                <a:latin typeface="Aptos"/>
              </a:rPr>
              <a:t>Tiki Review Data
203.510 reviews</a:t>
            </a:r>
          </a:p>
        </p:txBody>
      </p:sp>
      <p:sp>
        <p:nvSpPr>
          <p:cNvPr id="16" name="Rounded Rectangle 15"/>
          <p:cNvSpPr/>
          <p:nvPr/>
        </p:nvSpPr>
        <p:spPr>
          <a:xfrm>
            <a:off x="6400800" y="1508760"/>
            <a:ext cx="2240280" cy="1417320"/>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7" name="Rounded Rectangle 16"/>
          <p:cNvSpPr/>
          <p:nvPr/>
        </p:nvSpPr>
        <p:spPr>
          <a:xfrm>
            <a:off x="6547104" y="1645919"/>
            <a:ext cx="457200" cy="292608"/>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8" name="TextBox 17"/>
          <p:cNvSpPr txBox="1"/>
          <p:nvPr/>
        </p:nvSpPr>
        <p:spPr>
          <a:xfrm>
            <a:off x="6583680" y="1632179"/>
            <a:ext cx="384048" cy="320088"/>
          </a:xfrm>
          <a:prstGeom prst="rect">
            <a:avLst/>
          </a:prstGeom>
          <a:noFill/>
        </p:spPr>
        <p:txBody>
          <a:bodyPr wrap="square" lIns="36576" tIns="36576" rIns="36576" bIns="36576" anchor="ctr">
            <a:spAutoFit/>
          </a:bodyPr>
          <a:lstStyle/>
          <a:p>
            <a:pPr algn="ctr"/>
            <a:r>
              <a:rPr sz="1600" b="1">
                <a:solidFill>
                  <a:srgbClr val="2F639D"/>
                </a:solidFill>
                <a:latin typeface="Aptos"/>
              </a:rPr>
              <a:t>03</a:t>
            </a:r>
          </a:p>
        </p:txBody>
      </p:sp>
      <p:sp>
        <p:nvSpPr>
          <p:cNvPr id="19" name="TextBox 18"/>
          <p:cNvSpPr txBox="1"/>
          <p:nvPr/>
        </p:nvSpPr>
        <p:spPr>
          <a:xfrm>
            <a:off x="7090756" y="1629295"/>
            <a:ext cx="1554480" cy="324196"/>
          </a:xfrm>
          <a:prstGeom prst="rect">
            <a:avLst/>
          </a:prstGeom>
          <a:noFill/>
        </p:spPr>
        <p:txBody>
          <a:bodyPr wrap="none" lIns="0" tIns="36576" rIns="0" bIns="36576" anchor="t">
            <a:spAutoFit/>
          </a:bodyPr>
          <a:lstStyle/>
          <a:p>
            <a:pPr algn="l"/>
            <a:r>
              <a:rPr sz="1400" b="1" dirty="0">
                <a:solidFill>
                  <a:srgbClr val="162C46"/>
                </a:solidFill>
                <a:latin typeface="Aptos"/>
              </a:rPr>
              <a:t>CLEANING</a:t>
            </a:r>
          </a:p>
        </p:txBody>
      </p:sp>
      <p:sp>
        <p:nvSpPr>
          <p:cNvPr id="20" name="TextBox 19"/>
          <p:cNvSpPr txBox="1"/>
          <p:nvPr/>
        </p:nvSpPr>
        <p:spPr>
          <a:xfrm>
            <a:off x="6517178" y="1995055"/>
            <a:ext cx="2028305" cy="881149"/>
          </a:xfrm>
          <a:prstGeom prst="rect">
            <a:avLst/>
          </a:prstGeom>
          <a:noFill/>
        </p:spPr>
        <p:txBody>
          <a:bodyPr wrap="square" lIns="36576" tIns="36576" rIns="36576" bIns="36576" anchor="t">
            <a:spAutoFit/>
          </a:bodyPr>
          <a:lstStyle/>
          <a:p>
            <a:pPr algn="l"/>
            <a:r>
              <a:rPr sz="1400" b="0" dirty="0">
                <a:solidFill>
                  <a:srgbClr val="5E6A78"/>
                </a:solidFill>
                <a:latin typeface="Aptos"/>
              </a:rPr>
              <a:t>Timestamp · Lead Time · SLA
Anomaly &amp; missing labels</a:t>
            </a:r>
          </a:p>
        </p:txBody>
      </p:sp>
      <p:sp>
        <p:nvSpPr>
          <p:cNvPr id="21" name="Rounded Rectangle 20"/>
          <p:cNvSpPr/>
          <p:nvPr/>
        </p:nvSpPr>
        <p:spPr>
          <a:xfrm>
            <a:off x="9281160" y="1508760"/>
            <a:ext cx="2240280" cy="1417320"/>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2" name="Rounded Rectangle 21"/>
          <p:cNvSpPr/>
          <p:nvPr/>
        </p:nvSpPr>
        <p:spPr>
          <a:xfrm>
            <a:off x="9427464" y="1645919"/>
            <a:ext cx="457200" cy="292608"/>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3" name="TextBox 22"/>
          <p:cNvSpPr txBox="1"/>
          <p:nvPr/>
        </p:nvSpPr>
        <p:spPr>
          <a:xfrm>
            <a:off x="9464040" y="1632179"/>
            <a:ext cx="384048" cy="320088"/>
          </a:xfrm>
          <a:prstGeom prst="rect">
            <a:avLst/>
          </a:prstGeom>
          <a:noFill/>
        </p:spPr>
        <p:txBody>
          <a:bodyPr wrap="square" lIns="36576" tIns="36576" rIns="36576" bIns="36576" anchor="ctr">
            <a:spAutoFit/>
          </a:bodyPr>
          <a:lstStyle/>
          <a:p>
            <a:pPr algn="ctr"/>
            <a:r>
              <a:rPr sz="1600" b="1">
                <a:solidFill>
                  <a:srgbClr val="2F639D"/>
                </a:solidFill>
                <a:latin typeface="Aptos"/>
              </a:rPr>
              <a:t>04</a:t>
            </a:r>
          </a:p>
        </p:txBody>
      </p:sp>
      <p:sp>
        <p:nvSpPr>
          <p:cNvPr id="24" name="TextBox 23"/>
          <p:cNvSpPr txBox="1"/>
          <p:nvPr/>
        </p:nvSpPr>
        <p:spPr>
          <a:xfrm>
            <a:off x="9966960" y="1629295"/>
            <a:ext cx="1554480" cy="324196"/>
          </a:xfrm>
          <a:prstGeom prst="rect">
            <a:avLst/>
          </a:prstGeom>
          <a:noFill/>
        </p:spPr>
        <p:txBody>
          <a:bodyPr wrap="none" lIns="0" tIns="36576" rIns="0" bIns="36576" anchor="t">
            <a:spAutoFit/>
          </a:bodyPr>
          <a:lstStyle/>
          <a:p>
            <a:pPr algn="l"/>
            <a:r>
              <a:rPr sz="1400" b="1" dirty="0">
                <a:solidFill>
                  <a:srgbClr val="162C46"/>
                </a:solidFill>
                <a:latin typeface="Aptos"/>
              </a:rPr>
              <a:t>EDA</a:t>
            </a:r>
          </a:p>
        </p:txBody>
      </p:sp>
      <p:sp>
        <p:nvSpPr>
          <p:cNvPr id="25" name="TextBox 24"/>
          <p:cNvSpPr txBox="1"/>
          <p:nvPr/>
        </p:nvSpPr>
        <p:spPr>
          <a:xfrm>
            <a:off x="9393382" y="1995055"/>
            <a:ext cx="2028305" cy="881149"/>
          </a:xfrm>
          <a:prstGeom prst="rect">
            <a:avLst/>
          </a:prstGeom>
          <a:noFill/>
        </p:spPr>
        <p:txBody>
          <a:bodyPr wrap="square" lIns="36576" tIns="36576" rIns="36576" bIns="36576" anchor="t">
            <a:spAutoFit/>
          </a:bodyPr>
          <a:lstStyle/>
          <a:p>
            <a:pPr algn="l"/>
            <a:r>
              <a:rPr sz="1400" b="0" dirty="0">
                <a:solidFill>
                  <a:srgbClr val="5E6A78"/>
                </a:solidFill>
                <a:latin typeface="Aptos"/>
              </a:rPr>
              <a:t>Weighted analysis
Lead Time · SLA · Rating</a:t>
            </a:r>
          </a:p>
        </p:txBody>
      </p:sp>
      <p:sp>
        <p:nvSpPr>
          <p:cNvPr id="26" name="Rounded Rectangle 25"/>
          <p:cNvSpPr/>
          <p:nvPr/>
        </p:nvSpPr>
        <p:spPr>
          <a:xfrm>
            <a:off x="640080" y="3794760"/>
            <a:ext cx="2240280" cy="1417320"/>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7" name="Rounded Rectangle 26"/>
          <p:cNvSpPr/>
          <p:nvPr/>
        </p:nvSpPr>
        <p:spPr>
          <a:xfrm>
            <a:off x="786384" y="3931920"/>
            <a:ext cx="457200" cy="292608"/>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8" name="TextBox 27"/>
          <p:cNvSpPr txBox="1"/>
          <p:nvPr/>
        </p:nvSpPr>
        <p:spPr>
          <a:xfrm>
            <a:off x="822960" y="3918180"/>
            <a:ext cx="384048" cy="320088"/>
          </a:xfrm>
          <a:prstGeom prst="rect">
            <a:avLst/>
          </a:prstGeom>
          <a:noFill/>
        </p:spPr>
        <p:txBody>
          <a:bodyPr wrap="square" lIns="36576" tIns="36576" rIns="36576" bIns="36576" anchor="ctr">
            <a:spAutoFit/>
          </a:bodyPr>
          <a:lstStyle/>
          <a:p>
            <a:pPr algn="ctr"/>
            <a:r>
              <a:rPr sz="1600" b="1">
                <a:solidFill>
                  <a:srgbClr val="2F639D"/>
                </a:solidFill>
                <a:latin typeface="Aptos"/>
              </a:rPr>
              <a:t>08</a:t>
            </a:r>
          </a:p>
        </p:txBody>
      </p:sp>
      <p:sp>
        <p:nvSpPr>
          <p:cNvPr id="29" name="TextBox 28"/>
          <p:cNvSpPr txBox="1"/>
          <p:nvPr/>
        </p:nvSpPr>
        <p:spPr>
          <a:xfrm>
            <a:off x="1330036" y="3906982"/>
            <a:ext cx="1554480" cy="324196"/>
          </a:xfrm>
          <a:prstGeom prst="rect">
            <a:avLst/>
          </a:prstGeom>
          <a:noFill/>
        </p:spPr>
        <p:txBody>
          <a:bodyPr wrap="none" lIns="0" tIns="36576" rIns="0" bIns="36576" anchor="t">
            <a:spAutoFit/>
          </a:bodyPr>
          <a:lstStyle/>
          <a:p>
            <a:pPr algn="l"/>
            <a:r>
              <a:rPr sz="1400" b="1" dirty="0">
                <a:solidFill>
                  <a:srgbClr val="162C46"/>
                </a:solidFill>
                <a:latin typeface="Aptos"/>
              </a:rPr>
              <a:t>BUSINESS VALUE</a:t>
            </a:r>
          </a:p>
        </p:txBody>
      </p:sp>
      <p:sp>
        <p:nvSpPr>
          <p:cNvPr id="30" name="TextBox 29"/>
          <p:cNvSpPr txBox="1"/>
          <p:nvPr/>
        </p:nvSpPr>
        <p:spPr>
          <a:xfrm>
            <a:off x="756458" y="4272742"/>
            <a:ext cx="2028305" cy="881149"/>
          </a:xfrm>
          <a:prstGeom prst="rect">
            <a:avLst/>
          </a:prstGeom>
          <a:noFill/>
        </p:spPr>
        <p:txBody>
          <a:bodyPr wrap="square" lIns="36576" tIns="36576" rIns="36576" bIns="36576" anchor="t">
            <a:spAutoFit/>
          </a:bodyPr>
          <a:lstStyle/>
          <a:p>
            <a:pPr algn="l"/>
            <a:r>
              <a:rPr sz="1400" b="0" dirty="0" err="1">
                <a:solidFill>
                  <a:srgbClr val="5E6A78"/>
                </a:solidFill>
                <a:latin typeface="Aptos"/>
              </a:rPr>
              <a:t>Đánh</a:t>
            </a:r>
            <a:r>
              <a:rPr sz="1400" b="0" dirty="0">
                <a:solidFill>
                  <a:srgbClr val="5E6A78"/>
                </a:solidFill>
                <a:latin typeface="Aptos"/>
              </a:rPr>
              <a:t> </a:t>
            </a:r>
            <a:r>
              <a:rPr sz="1400" b="0" dirty="0" err="1">
                <a:solidFill>
                  <a:srgbClr val="5E6A78"/>
                </a:solidFill>
                <a:latin typeface="Aptos"/>
              </a:rPr>
              <a:t>giá</a:t>
            </a:r>
            <a:r>
              <a:rPr sz="1400" b="0" dirty="0">
                <a:solidFill>
                  <a:srgbClr val="5E6A78"/>
                </a:solidFill>
                <a:latin typeface="Aptos"/>
              </a:rPr>
              <a:t> </a:t>
            </a:r>
            <a:r>
              <a:rPr sz="1400" b="0" dirty="0" err="1">
                <a:solidFill>
                  <a:srgbClr val="5E6A78"/>
                </a:solidFill>
                <a:latin typeface="Aptos"/>
              </a:rPr>
              <a:t>giới</a:t>
            </a:r>
            <a:r>
              <a:rPr sz="1400" b="0" dirty="0">
                <a:solidFill>
                  <a:srgbClr val="5E6A78"/>
                </a:solidFill>
                <a:latin typeface="Aptos"/>
              </a:rPr>
              <a:t> </a:t>
            </a:r>
            <a:r>
              <a:rPr sz="1400" b="0" dirty="0" err="1">
                <a:solidFill>
                  <a:srgbClr val="5E6A78"/>
                </a:solidFill>
                <a:latin typeface="Aptos"/>
              </a:rPr>
              <a:t>hạn</a:t>
            </a:r>
            <a:r>
              <a:rPr sz="1400" b="0" dirty="0">
                <a:solidFill>
                  <a:srgbClr val="5E6A78"/>
                </a:solidFill>
                <a:latin typeface="Aptos"/>
              </a:rPr>
              <a:t> </a:t>
            </a:r>
            <a:r>
              <a:rPr sz="1400" b="0" dirty="0" err="1">
                <a:solidFill>
                  <a:srgbClr val="5E6A78"/>
                </a:solidFill>
                <a:latin typeface="Aptos"/>
              </a:rPr>
              <a:t>của</a:t>
            </a:r>
            <a:r>
              <a:rPr sz="1400" b="0" dirty="0">
                <a:solidFill>
                  <a:srgbClr val="5E6A78"/>
                </a:solidFill>
                <a:latin typeface="Aptos"/>
              </a:rPr>
              <a:t> SLA
</a:t>
            </a:r>
            <a:r>
              <a:rPr sz="1400" b="0" dirty="0" err="1">
                <a:solidFill>
                  <a:srgbClr val="5E6A78"/>
                </a:solidFill>
                <a:latin typeface="Aptos"/>
              </a:rPr>
              <a:t>Bổ</a:t>
            </a:r>
            <a:r>
              <a:rPr sz="1400" b="0" dirty="0">
                <a:solidFill>
                  <a:srgbClr val="5E6A78"/>
                </a:solidFill>
                <a:latin typeface="Aptos"/>
              </a:rPr>
              <a:t> sung customer signal</a:t>
            </a:r>
          </a:p>
        </p:txBody>
      </p:sp>
      <p:sp>
        <p:nvSpPr>
          <p:cNvPr id="31" name="Rounded Rectangle 30"/>
          <p:cNvSpPr/>
          <p:nvPr/>
        </p:nvSpPr>
        <p:spPr>
          <a:xfrm>
            <a:off x="3520440" y="3794760"/>
            <a:ext cx="2240280" cy="1417320"/>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2" name="Rounded Rectangle 31"/>
          <p:cNvSpPr/>
          <p:nvPr/>
        </p:nvSpPr>
        <p:spPr>
          <a:xfrm>
            <a:off x="3666744" y="3931920"/>
            <a:ext cx="457200" cy="292608"/>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3" name="TextBox 32"/>
          <p:cNvSpPr txBox="1"/>
          <p:nvPr/>
        </p:nvSpPr>
        <p:spPr>
          <a:xfrm>
            <a:off x="3703320" y="3918180"/>
            <a:ext cx="384048" cy="320088"/>
          </a:xfrm>
          <a:prstGeom prst="rect">
            <a:avLst/>
          </a:prstGeom>
          <a:noFill/>
        </p:spPr>
        <p:txBody>
          <a:bodyPr wrap="square" lIns="36576" tIns="36576" rIns="36576" bIns="36576" anchor="ctr">
            <a:spAutoFit/>
          </a:bodyPr>
          <a:lstStyle/>
          <a:p>
            <a:pPr algn="ctr"/>
            <a:r>
              <a:rPr sz="1600" b="1">
                <a:solidFill>
                  <a:srgbClr val="2F639D"/>
                </a:solidFill>
                <a:latin typeface="Aptos"/>
              </a:rPr>
              <a:t>07</a:t>
            </a:r>
          </a:p>
        </p:txBody>
      </p:sp>
      <p:sp>
        <p:nvSpPr>
          <p:cNvPr id="34" name="TextBox 33"/>
          <p:cNvSpPr txBox="1"/>
          <p:nvPr/>
        </p:nvSpPr>
        <p:spPr>
          <a:xfrm>
            <a:off x="4214553" y="3906982"/>
            <a:ext cx="1554480" cy="324196"/>
          </a:xfrm>
          <a:prstGeom prst="rect">
            <a:avLst/>
          </a:prstGeom>
          <a:noFill/>
        </p:spPr>
        <p:txBody>
          <a:bodyPr wrap="none" lIns="0" tIns="36576" rIns="0" bIns="36576" anchor="t">
            <a:spAutoFit/>
          </a:bodyPr>
          <a:lstStyle/>
          <a:p>
            <a:pPr algn="l"/>
            <a:r>
              <a:rPr sz="1400" b="1" dirty="0">
                <a:solidFill>
                  <a:srgbClr val="162C46"/>
                </a:solidFill>
                <a:latin typeface="Aptos"/>
              </a:rPr>
              <a:t>EVALUATION</a:t>
            </a:r>
          </a:p>
        </p:txBody>
      </p:sp>
      <p:sp>
        <p:nvSpPr>
          <p:cNvPr id="35" name="TextBox 34"/>
          <p:cNvSpPr txBox="1"/>
          <p:nvPr/>
        </p:nvSpPr>
        <p:spPr>
          <a:xfrm>
            <a:off x="3640975" y="4272742"/>
            <a:ext cx="2028305" cy="881149"/>
          </a:xfrm>
          <a:prstGeom prst="rect">
            <a:avLst/>
          </a:prstGeom>
          <a:noFill/>
        </p:spPr>
        <p:txBody>
          <a:bodyPr wrap="square" lIns="36576" tIns="36576" rIns="36576" bIns="36576" anchor="t">
            <a:spAutoFit/>
          </a:bodyPr>
          <a:lstStyle/>
          <a:p>
            <a:pPr algn="l"/>
            <a:r>
              <a:rPr sz="1400" b="0" dirty="0">
                <a:solidFill>
                  <a:srgbClr val="5E6A78"/>
                </a:solidFill>
                <a:latin typeface="Aptos"/>
              </a:rPr>
              <a:t>PR-AUC · Lift · Calibration
Robustness &amp; uncertainty</a:t>
            </a:r>
          </a:p>
        </p:txBody>
      </p:sp>
      <p:sp>
        <p:nvSpPr>
          <p:cNvPr id="36" name="Rounded Rectangle 35"/>
          <p:cNvSpPr/>
          <p:nvPr/>
        </p:nvSpPr>
        <p:spPr>
          <a:xfrm>
            <a:off x="6400800" y="3794760"/>
            <a:ext cx="2240280" cy="1417320"/>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7" name="Rounded Rectangle 36"/>
          <p:cNvSpPr/>
          <p:nvPr/>
        </p:nvSpPr>
        <p:spPr>
          <a:xfrm>
            <a:off x="6547104" y="3931920"/>
            <a:ext cx="457200" cy="292608"/>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8" name="TextBox 37"/>
          <p:cNvSpPr txBox="1"/>
          <p:nvPr/>
        </p:nvSpPr>
        <p:spPr>
          <a:xfrm>
            <a:off x="6583680" y="3918180"/>
            <a:ext cx="384048" cy="320088"/>
          </a:xfrm>
          <a:prstGeom prst="rect">
            <a:avLst/>
          </a:prstGeom>
          <a:noFill/>
        </p:spPr>
        <p:txBody>
          <a:bodyPr wrap="square" lIns="36576" tIns="36576" rIns="36576" bIns="36576" anchor="ctr">
            <a:spAutoFit/>
          </a:bodyPr>
          <a:lstStyle/>
          <a:p>
            <a:pPr algn="ctr"/>
            <a:r>
              <a:rPr sz="1600" b="1">
                <a:solidFill>
                  <a:srgbClr val="2F639D"/>
                </a:solidFill>
                <a:latin typeface="Aptos"/>
              </a:rPr>
              <a:t>06</a:t>
            </a:r>
          </a:p>
        </p:txBody>
      </p:sp>
      <p:sp>
        <p:nvSpPr>
          <p:cNvPr id="39" name="TextBox 38"/>
          <p:cNvSpPr txBox="1"/>
          <p:nvPr/>
        </p:nvSpPr>
        <p:spPr>
          <a:xfrm>
            <a:off x="7090756" y="3906982"/>
            <a:ext cx="1554480" cy="324196"/>
          </a:xfrm>
          <a:prstGeom prst="rect">
            <a:avLst/>
          </a:prstGeom>
          <a:noFill/>
        </p:spPr>
        <p:txBody>
          <a:bodyPr wrap="none" lIns="0" tIns="36576" rIns="0" bIns="36576" anchor="t">
            <a:spAutoFit/>
          </a:bodyPr>
          <a:lstStyle/>
          <a:p>
            <a:pPr algn="l"/>
            <a:r>
              <a:rPr sz="1400" b="1" dirty="0">
                <a:solidFill>
                  <a:srgbClr val="162C46"/>
                </a:solidFill>
                <a:latin typeface="Aptos"/>
              </a:rPr>
              <a:t>MODELING</a:t>
            </a:r>
          </a:p>
        </p:txBody>
      </p:sp>
      <p:sp>
        <p:nvSpPr>
          <p:cNvPr id="40" name="TextBox 39"/>
          <p:cNvSpPr txBox="1"/>
          <p:nvPr/>
        </p:nvSpPr>
        <p:spPr>
          <a:xfrm>
            <a:off x="6517178" y="4272742"/>
            <a:ext cx="2028305" cy="881149"/>
          </a:xfrm>
          <a:prstGeom prst="rect">
            <a:avLst/>
          </a:prstGeom>
          <a:noFill/>
        </p:spPr>
        <p:txBody>
          <a:bodyPr wrap="square" lIns="36576" tIns="36576" rIns="36576" bIns="36576" anchor="t">
            <a:spAutoFit/>
          </a:bodyPr>
          <a:lstStyle/>
          <a:p>
            <a:pPr algn="l"/>
            <a:r>
              <a:rPr sz="1400" b="0" dirty="0">
                <a:solidFill>
                  <a:srgbClr val="5E6A78"/>
                </a:solidFill>
                <a:latin typeface="Aptos"/>
              </a:rPr>
              <a:t>Baseline · Logistic · RF · GBM
Ensemble</a:t>
            </a:r>
          </a:p>
        </p:txBody>
      </p:sp>
      <p:sp>
        <p:nvSpPr>
          <p:cNvPr id="41" name="Rounded Rectangle 40"/>
          <p:cNvSpPr/>
          <p:nvPr/>
        </p:nvSpPr>
        <p:spPr>
          <a:xfrm>
            <a:off x="9281160" y="3794760"/>
            <a:ext cx="2286000" cy="1417320"/>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42" name="Rounded Rectangle 41"/>
          <p:cNvSpPr/>
          <p:nvPr/>
        </p:nvSpPr>
        <p:spPr>
          <a:xfrm>
            <a:off x="9427464" y="3931920"/>
            <a:ext cx="457200" cy="292608"/>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43" name="TextBox 42"/>
          <p:cNvSpPr txBox="1"/>
          <p:nvPr/>
        </p:nvSpPr>
        <p:spPr>
          <a:xfrm>
            <a:off x="9464040" y="3918180"/>
            <a:ext cx="384048" cy="320088"/>
          </a:xfrm>
          <a:prstGeom prst="rect">
            <a:avLst/>
          </a:prstGeom>
          <a:noFill/>
        </p:spPr>
        <p:txBody>
          <a:bodyPr wrap="square" lIns="36576" tIns="36576" rIns="36576" bIns="36576" anchor="ctr">
            <a:spAutoFit/>
          </a:bodyPr>
          <a:lstStyle/>
          <a:p>
            <a:pPr algn="ctr"/>
            <a:r>
              <a:rPr sz="1600" b="1">
                <a:solidFill>
                  <a:srgbClr val="2F639D"/>
                </a:solidFill>
                <a:latin typeface="Aptos"/>
              </a:rPr>
              <a:t>05</a:t>
            </a:r>
          </a:p>
        </p:txBody>
      </p:sp>
      <p:sp>
        <p:nvSpPr>
          <p:cNvPr id="44" name="TextBox 43"/>
          <p:cNvSpPr txBox="1"/>
          <p:nvPr/>
        </p:nvSpPr>
        <p:spPr>
          <a:xfrm>
            <a:off x="9966960" y="3906982"/>
            <a:ext cx="1554480" cy="324196"/>
          </a:xfrm>
          <a:prstGeom prst="rect">
            <a:avLst/>
          </a:prstGeom>
          <a:noFill/>
        </p:spPr>
        <p:txBody>
          <a:bodyPr wrap="none" lIns="0" tIns="36576" rIns="0" bIns="36576" anchor="t">
            <a:spAutoFit/>
          </a:bodyPr>
          <a:lstStyle/>
          <a:p>
            <a:pPr algn="l"/>
            <a:r>
              <a:rPr sz="1400" b="1" dirty="0">
                <a:solidFill>
                  <a:srgbClr val="162C46"/>
                </a:solidFill>
                <a:latin typeface="Aptos"/>
              </a:rPr>
              <a:t>FEATURES</a:t>
            </a:r>
          </a:p>
        </p:txBody>
      </p:sp>
      <p:sp>
        <p:nvSpPr>
          <p:cNvPr id="45" name="TextBox 44"/>
          <p:cNvSpPr txBox="1"/>
          <p:nvPr/>
        </p:nvSpPr>
        <p:spPr>
          <a:xfrm>
            <a:off x="9393382" y="4272742"/>
            <a:ext cx="2028305" cy="881149"/>
          </a:xfrm>
          <a:prstGeom prst="rect">
            <a:avLst/>
          </a:prstGeom>
          <a:noFill/>
        </p:spPr>
        <p:txBody>
          <a:bodyPr wrap="square" lIns="36576" tIns="36576" rIns="36576" bIns="36576" anchor="t">
            <a:spAutoFit/>
          </a:bodyPr>
          <a:lstStyle/>
          <a:p>
            <a:pPr algn="l"/>
            <a:r>
              <a:rPr sz="1400" b="0" dirty="0">
                <a:solidFill>
                  <a:srgbClr val="5E6A78"/>
                </a:solidFill>
                <a:latin typeface="Aptos"/>
              </a:rPr>
              <a:t>Delivery · Customer history
Product history · Target</a:t>
            </a:r>
          </a:p>
        </p:txBody>
      </p:sp>
      <p:sp>
        <p:nvSpPr>
          <p:cNvPr id="46" name="TextBox 45"/>
          <p:cNvSpPr txBox="1"/>
          <p:nvPr/>
        </p:nvSpPr>
        <p:spPr>
          <a:xfrm>
            <a:off x="3063240" y="1965960"/>
            <a:ext cx="320040" cy="320040"/>
          </a:xfrm>
          <a:prstGeom prst="rect">
            <a:avLst/>
          </a:prstGeom>
          <a:noFill/>
        </p:spPr>
        <p:txBody>
          <a:bodyPr wrap="square" lIns="36576" tIns="36576" rIns="36576" bIns="36576" anchor="t">
            <a:spAutoFit/>
          </a:bodyPr>
          <a:lstStyle/>
          <a:p>
            <a:pPr algn="ctr"/>
            <a:r>
              <a:rPr sz="1600" b="1">
                <a:solidFill>
                  <a:srgbClr val="2F639D"/>
                </a:solidFill>
                <a:latin typeface="Aptos"/>
              </a:rPr>
              <a:t>→</a:t>
            </a:r>
          </a:p>
        </p:txBody>
      </p:sp>
      <p:sp>
        <p:nvSpPr>
          <p:cNvPr id="47" name="TextBox 46"/>
          <p:cNvSpPr txBox="1"/>
          <p:nvPr/>
        </p:nvSpPr>
        <p:spPr>
          <a:xfrm>
            <a:off x="5943600" y="1965960"/>
            <a:ext cx="320040" cy="320040"/>
          </a:xfrm>
          <a:prstGeom prst="rect">
            <a:avLst/>
          </a:prstGeom>
          <a:noFill/>
        </p:spPr>
        <p:txBody>
          <a:bodyPr wrap="square" lIns="36576" tIns="36576" rIns="36576" bIns="36576" anchor="t">
            <a:spAutoFit/>
          </a:bodyPr>
          <a:lstStyle/>
          <a:p>
            <a:pPr algn="ctr"/>
            <a:r>
              <a:rPr sz="1600" b="1">
                <a:solidFill>
                  <a:srgbClr val="2F639D"/>
                </a:solidFill>
                <a:latin typeface="Aptos"/>
              </a:rPr>
              <a:t>→</a:t>
            </a:r>
          </a:p>
        </p:txBody>
      </p:sp>
      <p:sp>
        <p:nvSpPr>
          <p:cNvPr id="48" name="TextBox 47"/>
          <p:cNvSpPr txBox="1"/>
          <p:nvPr/>
        </p:nvSpPr>
        <p:spPr>
          <a:xfrm>
            <a:off x="8823960" y="1965960"/>
            <a:ext cx="320040" cy="320040"/>
          </a:xfrm>
          <a:prstGeom prst="rect">
            <a:avLst/>
          </a:prstGeom>
          <a:noFill/>
        </p:spPr>
        <p:txBody>
          <a:bodyPr wrap="square" lIns="36576" tIns="36576" rIns="36576" bIns="36576" anchor="t">
            <a:spAutoFit/>
          </a:bodyPr>
          <a:lstStyle/>
          <a:p>
            <a:pPr algn="ctr"/>
            <a:r>
              <a:rPr sz="1600" b="1">
                <a:solidFill>
                  <a:srgbClr val="2F639D"/>
                </a:solidFill>
                <a:latin typeface="Aptos"/>
              </a:rPr>
              <a:t>→</a:t>
            </a:r>
          </a:p>
        </p:txBody>
      </p:sp>
      <p:sp>
        <p:nvSpPr>
          <p:cNvPr id="49" name="TextBox 48"/>
          <p:cNvSpPr txBox="1"/>
          <p:nvPr/>
        </p:nvSpPr>
        <p:spPr>
          <a:xfrm>
            <a:off x="3063240" y="4251960"/>
            <a:ext cx="320040" cy="320040"/>
          </a:xfrm>
          <a:prstGeom prst="rect">
            <a:avLst/>
          </a:prstGeom>
          <a:noFill/>
        </p:spPr>
        <p:txBody>
          <a:bodyPr wrap="square" lIns="36576" tIns="36576" rIns="36576" bIns="36576" anchor="t">
            <a:spAutoFit/>
          </a:bodyPr>
          <a:lstStyle/>
          <a:p>
            <a:pPr algn="ctr"/>
            <a:r>
              <a:rPr sz="1600" b="1">
                <a:solidFill>
                  <a:srgbClr val="2F639D"/>
                </a:solidFill>
                <a:latin typeface="Aptos"/>
              </a:rPr>
              <a:t>←</a:t>
            </a:r>
          </a:p>
        </p:txBody>
      </p:sp>
      <p:sp>
        <p:nvSpPr>
          <p:cNvPr id="50" name="TextBox 49"/>
          <p:cNvSpPr txBox="1"/>
          <p:nvPr/>
        </p:nvSpPr>
        <p:spPr>
          <a:xfrm>
            <a:off x="5943600" y="4251960"/>
            <a:ext cx="320040" cy="320040"/>
          </a:xfrm>
          <a:prstGeom prst="rect">
            <a:avLst/>
          </a:prstGeom>
          <a:noFill/>
        </p:spPr>
        <p:txBody>
          <a:bodyPr wrap="square" lIns="36576" tIns="36576" rIns="36576" bIns="36576" anchor="t">
            <a:spAutoFit/>
          </a:bodyPr>
          <a:lstStyle/>
          <a:p>
            <a:pPr algn="ctr"/>
            <a:r>
              <a:rPr sz="1600" b="1">
                <a:solidFill>
                  <a:srgbClr val="2F639D"/>
                </a:solidFill>
                <a:latin typeface="Aptos"/>
              </a:rPr>
              <a:t>←</a:t>
            </a:r>
          </a:p>
        </p:txBody>
      </p:sp>
      <p:sp>
        <p:nvSpPr>
          <p:cNvPr id="51" name="TextBox 50"/>
          <p:cNvSpPr txBox="1"/>
          <p:nvPr/>
        </p:nvSpPr>
        <p:spPr>
          <a:xfrm>
            <a:off x="8823960" y="4251960"/>
            <a:ext cx="320040" cy="320040"/>
          </a:xfrm>
          <a:prstGeom prst="rect">
            <a:avLst/>
          </a:prstGeom>
          <a:noFill/>
        </p:spPr>
        <p:txBody>
          <a:bodyPr wrap="square" lIns="36576" tIns="36576" rIns="36576" bIns="36576" anchor="t">
            <a:spAutoFit/>
          </a:bodyPr>
          <a:lstStyle/>
          <a:p>
            <a:pPr algn="ctr"/>
            <a:r>
              <a:rPr sz="1600" b="1">
                <a:solidFill>
                  <a:srgbClr val="2F639D"/>
                </a:solidFill>
                <a:latin typeface="Aptos"/>
              </a:rPr>
              <a:t>←</a:t>
            </a:r>
          </a:p>
        </p:txBody>
      </p:sp>
      <p:sp>
        <p:nvSpPr>
          <p:cNvPr id="52" name="TextBox 51"/>
          <p:cNvSpPr txBox="1"/>
          <p:nvPr/>
        </p:nvSpPr>
        <p:spPr>
          <a:xfrm>
            <a:off x="10241280" y="3172968"/>
            <a:ext cx="320040" cy="320040"/>
          </a:xfrm>
          <a:prstGeom prst="rect">
            <a:avLst/>
          </a:prstGeom>
          <a:noFill/>
        </p:spPr>
        <p:txBody>
          <a:bodyPr wrap="square" lIns="36576" tIns="36576" rIns="36576" bIns="36576" anchor="t">
            <a:spAutoFit/>
          </a:bodyPr>
          <a:lstStyle/>
          <a:p>
            <a:pPr algn="ctr"/>
            <a:r>
              <a:rPr sz="1600" b="1">
                <a:solidFill>
                  <a:srgbClr val="2F639D"/>
                </a:solidFill>
                <a:latin typeface="Aptos"/>
              </a:rPr>
              <a:t>↓</a:t>
            </a:r>
          </a:p>
        </p:txBody>
      </p:sp>
      <p:sp>
        <p:nvSpPr>
          <p:cNvPr id="53" name="Rounded Rectangle 52"/>
          <p:cNvSpPr/>
          <p:nvPr/>
        </p:nvSpPr>
        <p:spPr>
          <a:xfrm>
            <a:off x="640080" y="5532120"/>
            <a:ext cx="11028756" cy="699248"/>
          </a:xfrm>
          <a:prstGeom prst="roundRect">
            <a:avLst/>
          </a:prstGeom>
          <a:solidFill>
            <a:srgbClr val="F6F9FC"/>
          </a:solidFill>
          <a:ln w="12700">
            <a:solidFill>
              <a:srgbClr val="F6F9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54" name="TextBox 53"/>
          <p:cNvSpPr txBox="1"/>
          <p:nvPr/>
        </p:nvSpPr>
        <p:spPr>
          <a:xfrm>
            <a:off x="777240" y="5611989"/>
            <a:ext cx="10698480" cy="547842"/>
          </a:xfrm>
          <a:prstGeom prst="rect">
            <a:avLst/>
          </a:prstGeom>
          <a:noFill/>
        </p:spPr>
        <p:txBody>
          <a:bodyPr wrap="square" lIns="45720" tIns="27432" rIns="45720" bIns="27432">
            <a:spAutoFit/>
          </a:bodyPr>
          <a:lstStyle/>
          <a:p>
            <a:pPr algn="l"/>
            <a:r>
              <a:rPr sz="1600" b="1" dirty="0" err="1">
                <a:solidFill>
                  <a:srgbClr val="162C46"/>
                </a:solidFill>
                <a:latin typeface="Aptos"/>
              </a:rPr>
              <a:t>Mục</a:t>
            </a:r>
            <a:r>
              <a:rPr sz="1600" b="1" dirty="0">
                <a:solidFill>
                  <a:srgbClr val="162C46"/>
                </a:solidFill>
                <a:latin typeface="Aptos"/>
              </a:rPr>
              <a:t> </a:t>
            </a:r>
            <a:r>
              <a:rPr sz="1600" b="1" dirty="0" err="1">
                <a:solidFill>
                  <a:srgbClr val="162C46"/>
                </a:solidFill>
                <a:latin typeface="Aptos"/>
              </a:rPr>
              <a:t>tiêu</a:t>
            </a:r>
            <a:r>
              <a:rPr sz="1600" b="1" dirty="0">
                <a:solidFill>
                  <a:srgbClr val="162C46"/>
                </a:solidFill>
                <a:latin typeface="Aptos"/>
              </a:rPr>
              <a:t> </a:t>
            </a:r>
            <a:r>
              <a:rPr sz="1600" b="1" dirty="0" err="1">
                <a:solidFill>
                  <a:srgbClr val="162C46"/>
                </a:solidFill>
                <a:latin typeface="Aptos"/>
              </a:rPr>
              <a:t>xuyên</a:t>
            </a:r>
            <a:r>
              <a:rPr sz="1600" b="1" dirty="0">
                <a:solidFill>
                  <a:srgbClr val="162C46"/>
                </a:solidFill>
                <a:latin typeface="Aptos"/>
              </a:rPr>
              <a:t> </a:t>
            </a:r>
            <a:r>
              <a:rPr sz="1600" b="1" dirty="0" err="1">
                <a:solidFill>
                  <a:srgbClr val="162C46"/>
                </a:solidFill>
                <a:latin typeface="Aptos"/>
              </a:rPr>
              <a:t>suốt</a:t>
            </a:r>
            <a:r>
              <a:rPr sz="1600" b="1" dirty="0">
                <a:solidFill>
                  <a:srgbClr val="162C46"/>
                </a:solidFill>
                <a:latin typeface="Aptos"/>
              </a:rPr>
              <a:t>: </a:t>
            </a:r>
            <a:r>
              <a:rPr sz="1600" b="0" dirty="0" err="1">
                <a:solidFill>
                  <a:srgbClr val="242B33"/>
                </a:solidFill>
                <a:latin typeface="Aptos"/>
              </a:rPr>
              <a:t>Kiểm</a:t>
            </a:r>
            <a:r>
              <a:rPr sz="1600" b="0" dirty="0">
                <a:solidFill>
                  <a:srgbClr val="242B33"/>
                </a:solidFill>
                <a:latin typeface="Aptos"/>
              </a:rPr>
              <a:t> </a:t>
            </a:r>
            <a:r>
              <a:rPr sz="1600" b="0" dirty="0" err="1">
                <a:solidFill>
                  <a:srgbClr val="242B33"/>
                </a:solidFill>
                <a:latin typeface="Aptos"/>
              </a:rPr>
              <a:t>tra</a:t>
            </a:r>
            <a:r>
              <a:rPr sz="1600" b="0" dirty="0">
                <a:solidFill>
                  <a:srgbClr val="242B33"/>
                </a:solidFill>
                <a:latin typeface="Aptos"/>
              </a:rPr>
              <a:t> </a:t>
            </a:r>
            <a:r>
              <a:rPr sz="1600" b="0" dirty="0" err="1">
                <a:solidFill>
                  <a:srgbClr val="242B33"/>
                </a:solidFill>
                <a:latin typeface="Aptos"/>
              </a:rPr>
              <a:t>liệu</a:t>
            </a:r>
            <a:r>
              <a:rPr sz="1600" b="0" dirty="0">
                <a:solidFill>
                  <a:srgbClr val="242B33"/>
                </a:solidFill>
                <a:latin typeface="Aptos"/>
              </a:rPr>
              <a:t> </a:t>
            </a:r>
            <a:r>
              <a:rPr sz="1600" b="0" dirty="0" err="1">
                <a:solidFill>
                  <a:srgbClr val="242B33"/>
                </a:solidFill>
                <a:latin typeface="Aptos"/>
              </a:rPr>
              <a:t>chỉ</a:t>
            </a:r>
            <a:r>
              <a:rPr sz="1600" b="0" dirty="0">
                <a:solidFill>
                  <a:srgbClr val="242B33"/>
                </a:solidFill>
                <a:latin typeface="Aptos"/>
              </a:rPr>
              <a:t> </a:t>
            </a:r>
            <a:r>
              <a:rPr sz="1600" b="0" dirty="0" err="1">
                <a:solidFill>
                  <a:srgbClr val="242B33"/>
                </a:solidFill>
                <a:latin typeface="Aptos"/>
              </a:rPr>
              <a:t>báo</a:t>
            </a:r>
            <a:r>
              <a:rPr sz="1600" b="0" dirty="0">
                <a:solidFill>
                  <a:srgbClr val="242B33"/>
                </a:solidFill>
                <a:latin typeface="Aptos"/>
              </a:rPr>
              <a:t> SLA </a:t>
            </a:r>
            <a:r>
              <a:rPr sz="1600" b="0" dirty="0" err="1">
                <a:solidFill>
                  <a:srgbClr val="242B33"/>
                </a:solidFill>
                <a:latin typeface="Aptos"/>
              </a:rPr>
              <a:t>của</a:t>
            </a:r>
            <a:r>
              <a:rPr sz="1600" b="0" dirty="0">
                <a:solidFill>
                  <a:srgbClr val="242B33"/>
                </a:solidFill>
                <a:latin typeface="Aptos"/>
              </a:rPr>
              <a:t> </a:t>
            </a:r>
            <a:r>
              <a:rPr sz="1600" b="0" dirty="0" err="1">
                <a:solidFill>
                  <a:srgbClr val="242B33"/>
                </a:solidFill>
                <a:latin typeface="Aptos"/>
              </a:rPr>
              <a:t>doanh</a:t>
            </a:r>
            <a:r>
              <a:rPr sz="1600" b="0" dirty="0">
                <a:solidFill>
                  <a:srgbClr val="242B33"/>
                </a:solidFill>
                <a:latin typeface="Aptos"/>
              </a:rPr>
              <a:t> </a:t>
            </a:r>
            <a:r>
              <a:rPr sz="1600" b="0" dirty="0" err="1">
                <a:solidFill>
                  <a:srgbClr val="242B33"/>
                </a:solidFill>
                <a:latin typeface="Aptos"/>
              </a:rPr>
              <a:t>nghiệp</a:t>
            </a:r>
            <a:r>
              <a:rPr sz="1600" b="0" dirty="0">
                <a:solidFill>
                  <a:srgbClr val="242B33"/>
                </a:solidFill>
                <a:latin typeface="Aptos"/>
              </a:rPr>
              <a:t> </a:t>
            </a:r>
            <a:r>
              <a:rPr sz="1600" b="0" dirty="0" err="1">
                <a:solidFill>
                  <a:srgbClr val="242B33"/>
                </a:solidFill>
                <a:latin typeface="Aptos"/>
              </a:rPr>
              <a:t>có</a:t>
            </a:r>
            <a:r>
              <a:rPr sz="1600" b="0" dirty="0">
                <a:solidFill>
                  <a:srgbClr val="242B33"/>
                </a:solidFill>
                <a:latin typeface="Aptos"/>
              </a:rPr>
              <a:t> </a:t>
            </a:r>
            <a:r>
              <a:rPr sz="1600" b="0" dirty="0" err="1">
                <a:solidFill>
                  <a:srgbClr val="242B33"/>
                </a:solidFill>
                <a:latin typeface="Aptos"/>
              </a:rPr>
              <a:t>phản</a:t>
            </a:r>
            <a:r>
              <a:rPr sz="1600" b="0" dirty="0">
                <a:solidFill>
                  <a:srgbClr val="242B33"/>
                </a:solidFill>
                <a:latin typeface="Aptos"/>
              </a:rPr>
              <a:t> </a:t>
            </a:r>
            <a:r>
              <a:rPr sz="1600" b="0" dirty="0" err="1">
                <a:solidFill>
                  <a:srgbClr val="242B33"/>
                </a:solidFill>
                <a:latin typeface="Aptos"/>
              </a:rPr>
              <a:t>ánh</a:t>
            </a:r>
            <a:r>
              <a:rPr sz="1600" b="0" dirty="0">
                <a:solidFill>
                  <a:srgbClr val="242B33"/>
                </a:solidFill>
                <a:latin typeface="Aptos"/>
              </a:rPr>
              <a:t> </a:t>
            </a:r>
            <a:r>
              <a:rPr sz="1600" b="0" dirty="0" err="1">
                <a:solidFill>
                  <a:srgbClr val="242B33"/>
                </a:solidFill>
                <a:latin typeface="Aptos"/>
              </a:rPr>
              <a:t>đầy</a:t>
            </a:r>
            <a:r>
              <a:rPr sz="1600" b="0" dirty="0">
                <a:solidFill>
                  <a:srgbClr val="242B33"/>
                </a:solidFill>
                <a:latin typeface="Aptos"/>
              </a:rPr>
              <a:t> </a:t>
            </a:r>
            <a:r>
              <a:rPr sz="1600" b="0" dirty="0" err="1">
                <a:solidFill>
                  <a:srgbClr val="242B33"/>
                </a:solidFill>
                <a:latin typeface="Aptos"/>
              </a:rPr>
              <a:t>đủ</a:t>
            </a:r>
            <a:r>
              <a:rPr sz="1600" b="0" dirty="0">
                <a:solidFill>
                  <a:srgbClr val="242B33"/>
                </a:solidFill>
                <a:latin typeface="Aptos"/>
              </a:rPr>
              <a:t> </a:t>
            </a:r>
            <a:r>
              <a:rPr sz="1600" b="0" dirty="0" err="1">
                <a:solidFill>
                  <a:srgbClr val="242B33"/>
                </a:solidFill>
                <a:latin typeface="Aptos"/>
              </a:rPr>
              <a:t>trải</a:t>
            </a:r>
            <a:r>
              <a:rPr sz="1600" b="0" dirty="0">
                <a:solidFill>
                  <a:srgbClr val="242B33"/>
                </a:solidFill>
                <a:latin typeface="Aptos"/>
              </a:rPr>
              <a:t> </a:t>
            </a:r>
            <a:r>
              <a:rPr sz="1600" b="0" dirty="0" err="1">
                <a:solidFill>
                  <a:srgbClr val="242B33"/>
                </a:solidFill>
                <a:latin typeface="Aptos"/>
              </a:rPr>
              <a:t>nghiệm</a:t>
            </a:r>
            <a:r>
              <a:rPr sz="1600" b="0" dirty="0">
                <a:solidFill>
                  <a:srgbClr val="242B33"/>
                </a:solidFill>
                <a:latin typeface="Aptos"/>
              </a:rPr>
              <a:t> </a:t>
            </a:r>
            <a:r>
              <a:rPr sz="1600" b="0" dirty="0" err="1">
                <a:solidFill>
                  <a:srgbClr val="242B33"/>
                </a:solidFill>
                <a:latin typeface="Aptos"/>
              </a:rPr>
              <a:t>giao</a:t>
            </a:r>
            <a:r>
              <a:rPr sz="1600" b="0" dirty="0">
                <a:solidFill>
                  <a:srgbClr val="242B33"/>
                </a:solidFill>
                <a:latin typeface="Aptos"/>
              </a:rPr>
              <a:t> </a:t>
            </a:r>
            <a:r>
              <a:rPr sz="1600" b="0" dirty="0" err="1">
                <a:solidFill>
                  <a:srgbClr val="242B33"/>
                </a:solidFill>
                <a:latin typeface="Aptos"/>
              </a:rPr>
              <a:t>hàng</a:t>
            </a:r>
            <a:r>
              <a:rPr sz="1600" b="0" dirty="0">
                <a:solidFill>
                  <a:srgbClr val="242B33"/>
                </a:solidFill>
                <a:latin typeface="Aptos"/>
              </a:rPr>
              <a:t> </a:t>
            </a:r>
            <a:r>
              <a:rPr sz="1600" b="0" dirty="0" err="1">
                <a:solidFill>
                  <a:srgbClr val="242B33"/>
                </a:solidFill>
                <a:latin typeface="Aptos"/>
              </a:rPr>
              <a:t>và</a:t>
            </a:r>
            <a:r>
              <a:rPr sz="1600" b="0" dirty="0">
                <a:solidFill>
                  <a:srgbClr val="242B33"/>
                </a:solidFill>
                <a:latin typeface="Aptos"/>
              </a:rPr>
              <a:t> </a:t>
            </a:r>
            <a:r>
              <a:rPr sz="1600" b="0" dirty="0" err="1">
                <a:solidFill>
                  <a:srgbClr val="242B33"/>
                </a:solidFill>
                <a:latin typeface="Aptos"/>
              </a:rPr>
              <a:t>nguy</a:t>
            </a:r>
            <a:r>
              <a:rPr sz="1600" b="0" dirty="0">
                <a:solidFill>
                  <a:srgbClr val="242B33"/>
                </a:solidFill>
                <a:latin typeface="Aptos"/>
              </a:rPr>
              <a:t> </a:t>
            </a:r>
            <a:r>
              <a:rPr sz="1600" b="0" dirty="0" err="1">
                <a:solidFill>
                  <a:srgbClr val="242B33"/>
                </a:solidFill>
                <a:latin typeface="Aptos"/>
              </a:rPr>
              <a:t>cơ</a:t>
            </a:r>
            <a:r>
              <a:rPr sz="1600" b="0" dirty="0">
                <a:solidFill>
                  <a:srgbClr val="242B33"/>
                </a:solidFill>
                <a:latin typeface="Aptos"/>
              </a:rPr>
              <a:t> </a:t>
            </a:r>
            <a:r>
              <a:rPr sz="1600" b="0" dirty="0" err="1">
                <a:solidFill>
                  <a:srgbClr val="242B33"/>
                </a:solidFill>
                <a:latin typeface="Aptos"/>
              </a:rPr>
              <a:t>khách</a:t>
            </a:r>
            <a:r>
              <a:rPr sz="1600" b="0" dirty="0">
                <a:solidFill>
                  <a:srgbClr val="242B33"/>
                </a:solidFill>
                <a:latin typeface="Aptos"/>
              </a:rPr>
              <a:t> </a:t>
            </a:r>
            <a:r>
              <a:rPr sz="1600" b="0" dirty="0" err="1">
                <a:solidFill>
                  <a:srgbClr val="242B33"/>
                </a:solidFill>
                <a:latin typeface="Aptos"/>
              </a:rPr>
              <a:t>hàng</a:t>
            </a:r>
            <a:r>
              <a:rPr sz="1600" b="0" dirty="0">
                <a:solidFill>
                  <a:srgbClr val="242B33"/>
                </a:solidFill>
                <a:latin typeface="Aptos"/>
              </a:rPr>
              <a:t> </a:t>
            </a:r>
            <a:r>
              <a:rPr sz="1600" b="0" dirty="0" err="1">
                <a:solidFill>
                  <a:srgbClr val="242B33"/>
                </a:solidFill>
                <a:latin typeface="Aptos"/>
              </a:rPr>
              <a:t>đánh</a:t>
            </a:r>
            <a:r>
              <a:rPr sz="1600" b="0" dirty="0">
                <a:solidFill>
                  <a:srgbClr val="242B33"/>
                </a:solidFill>
                <a:latin typeface="Aptos"/>
              </a:rPr>
              <a:t> </a:t>
            </a:r>
            <a:r>
              <a:rPr sz="1600" b="0" dirty="0" err="1">
                <a:solidFill>
                  <a:srgbClr val="242B33"/>
                </a:solidFill>
                <a:latin typeface="Aptos"/>
              </a:rPr>
              <a:t>giá</a:t>
            </a:r>
            <a:r>
              <a:rPr sz="1600" b="0" dirty="0">
                <a:solidFill>
                  <a:srgbClr val="242B33"/>
                </a:solidFill>
                <a:latin typeface="Aptos"/>
              </a:rPr>
              <a:t> </a:t>
            </a:r>
            <a:r>
              <a:rPr sz="1600" b="0" dirty="0" err="1">
                <a:solidFill>
                  <a:srgbClr val="242B33"/>
                </a:solidFill>
                <a:latin typeface="Aptos"/>
              </a:rPr>
              <a:t>thấp</a:t>
            </a:r>
            <a:r>
              <a:rPr sz="1600" b="0" dirty="0">
                <a:solidFill>
                  <a:srgbClr val="242B33"/>
                </a:solidFill>
                <a:latin typeface="Aptos"/>
              </a:rPr>
              <a:t> hay </a:t>
            </a:r>
            <a:r>
              <a:rPr sz="1600" b="0" dirty="0" err="1">
                <a:solidFill>
                  <a:srgbClr val="242B33"/>
                </a:solidFill>
                <a:latin typeface="Aptos"/>
              </a:rPr>
              <a:t>không</a:t>
            </a:r>
            <a:r>
              <a:rPr sz="1600" b="0" dirty="0">
                <a:solidFill>
                  <a:srgbClr val="242B33"/>
                </a:solidFill>
                <a:latin typeface="Aptos"/>
              </a:rPr>
              <a:t>.</a:t>
            </a:r>
          </a:p>
        </p:txBody>
      </p:sp>
      <p:sp>
        <p:nvSpPr>
          <p:cNvPr id="55" name="TextBox 54"/>
          <p:cNvSpPr txBox="1"/>
          <p:nvPr/>
        </p:nvSpPr>
        <p:spPr>
          <a:xfrm>
            <a:off x="594360" y="6565392"/>
            <a:ext cx="4023360" cy="164592"/>
          </a:xfrm>
          <a:prstGeom prst="rect">
            <a:avLst/>
          </a:prstGeom>
          <a:noFill/>
        </p:spPr>
        <p:txBody>
          <a:bodyPr wrap="square" lIns="36576" tIns="36576" rIns="36576" bIns="36576" anchor="t">
            <a:spAutoFit/>
          </a:bodyPr>
          <a:lstStyle/>
          <a:p>
            <a:pPr algn="l"/>
            <a:r>
              <a:rPr sz="850" b="0" dirty="0" err="1">
                <a:solidFill>
                  <a:srgbClr val="5E6A78"/>
                </a:solidFill>
                <a:latin typeface="Aptos"/>
              </a:rPr>
              <a:t>Cơ</a:t>
            </a:r>
            <a:r>
              <a:rPr sz="850" b="0" dirty="0">
                <a:solidFill>
                  <a:srgbClr val="5E6A78"/>
                </a:solidFill>
                <a:latin typeface="Aptos"/>
              </a:rPr>
              <a:t> </a:t>
            </a:r>
            <a:r>
              <a:rPr sz="850" b="0" dirty="0" err="1">
                <a:solidFill>
                  <a:srgbClr val="5E6A78"/>
                </a:solidFill>
                <a:latin typeface="Aptos"/>
              </a:rPr>
              <a:t>sở</a:t>
            </a:r>
            <a:r>
              <a:rPr sz="850" b="0" dirty="0">
                <a:solidFill>
                  <a:srgbClr val="5E6A78"/>
                </a:solidFill>
                <a:latin typeface="Aptos"/>
              </a:rPr>
              <a:t> Khoa </a:t>
            </a:r>
            <a:r>
              <a:rPr sz="850" b="0" dirty="0" err="1">
                <a:solidFill>
                  <a:srgbClr val="5E6A78"/>
                </a:solidFill>
                <a:latin typeface="Aptos"/>
              </a:rPr>
              <a:t>học</a:t>
            </a:r>
            <a:r>
              <a:rPr sz="850" b="0" dirty="0">
                <a:solidFill>
                  <a:srgbClr val="5E6A78"/>
                </a:solidFill>
                <a:latin typeface="Aptos"/>
              </a:rPr>
              <a:t> </a:t>
            </a:r>
            <a:r>
              <a:rPr sz="850" b="0" dirty="0" err="1">
                <a:solidFill>
                  <a:srgbClr val="5E6A78"/>
                </a:solidFill>
                <a:latin typeface="Aptos"/>
              </a:rPr>
              <a:t>Dữ</a:t>
            </a:r>
            <a:r>
              <a:rPr sz="850" b="0" dirty="0">
                <a:solidFill>
                  <a:srgbClr val="5E6A78"/>
                </a:solidFill>
                <a:latin typeface="Aptos"/>
              </a:rPr>
              <a:t> </a:t>
            </a:r>
            <a:r>
              <a:rPr sz="850" b="0" dirty="0" err="1">
                <a:solidFill>
                  <a:srgbClr val="5E6A78"/>
                </a:solidFill>
                <a:latin typeface="Aptos"/>
              </a:rPr>
              <a:t>liệu</a:t>
            </a:r>
            <a:r>
              <a:rPr sz="850" b="0" dirty="0">
                <a:solidFill>
                  <a:srgbClr val="5E6A78"/>
                </a:solidFill>
                <a:latin typeface="Aptos"/>
              </a:rPr>
              <a:t>  •  SLA &amp; Customer Experience</a:t>
            </a:r>
          </a:p>
        </p:txBody>
      </p:sp>
      <p:sp>
        <p:nvSpPr>
          <p:cNvPr id="56" name="TextBox 55"/>
          <p:cNvSpPr txBox="1"/>
          <p:nvPr/>
        </p:nvSpPr>
        <p:spPr>
          <a:xfrm>
            <a:off x="11201400" y="6567055"/>
            <a:ext cx="365760" cy="166255"/>
          </a:xfrm>
          <a:prstGeom prst="rect">
            <a:avLst/>
          </a:prstGeom>
          <a:noFill/>
        </p:spPr>
        <p:txBody>
          <a:bodyPr wrap="square" lIns="36576" tIns="36576" rIns="36576" bIns="36576" anchor="t">
            <a:spAutoFit/>
          </a:bodyPr>
          <a:lstStyle/>
          <a:p>
            <a:pPr algn="r"/>
            <a:r>
              <a:rPr sz="850" b="0">
                <a:solidFill>
                  <a:srgbClr val="5E6A78"/>
                </a:solidFill>
                <a:latin typeface="Aptos"/>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550C2-DBB7-8770-179B-7162907A225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6623A26-8707-4EC2-2C3B-434CED9B2075}"/>
              </a:ext>
            </a:extLst>
          </p:cNvPr>
          <p:cNvSpPr txBox="1"/>
          <p:nvPr/>
        </p:nvSpPr>
        <p:spPr>
          <a:xfrm>
            <a:off x="566928" y="88487"/>
            <a:ext cx="10972800" cy="935641"/>
          </a:xfrm>
          <a:prstGeom prst="rect">
            <a:avLst/>
          </a:prstGeom>
          <a:noFill/>
        </p:spPr>
        <p:txBody>
          <a:bodyPr wrap="square" lIns="36576" tIns="36576" rIns="36576" bIns="36576" anchor="t">
            <a:spAutoFit/>
          </a:bodyPr>
          <a:lstStyle/>
          <a:p>
            <a:pPr algn="l"/>
            <a:r>
              <a:rPr sz="2800" b="1" dirty="0">
                <a:solidFill>
                  <a:srgbClr val="162C46"/>
                </a:solidFill>
                <a:latin typeface="Aptos Display"/>
              </a:rPr>
              <a:t>BÀI TOÁN KINH DOANH: SLA CÓ PHẢN ÁNH ĐÚNG TRẢI NGHIỆM KHÁCH HÀNG?</a:t>
            </a:r>
          </a:p>
        </p:txBody>
      </p:sp>
      <p:cxnSp>
        <p:nvCxnSpPr>
          <p:cNvPr id="3" name="Connector 2">
            <a:extLst>
              <a:ext uri="{FF2B5EF4-FFF2-40B4-BE49-F238E27FC236}">
                <a16:creationId xmlns:a16="http://schemas.microsoft.com/office/drawing/2014/main" id="{947D17CE-7DA3-5F6B-35D6-BE2D177F571F}"/>
              </a:ext>
            </a:extLst>
          </p:cNvPr>
          <p:cNvCxnSpPr/>
          <p:nvPr/>
        </p:nvCxnSpPr>
        <p:spPr>
          <a:xfrm>
            <a:off x="566928" y="97322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DC2ABBD9-8EB1-A24D-74A6-7E3BB3C879AE}"/>
              </a:ext>
            </a:extLst>
          </p:cNvPr>
          <p:cNvSpPr txBox="1"/>
          <p:nvPr/>
        </p:nvSpPr>
        <p:spPr>
          <a:xfrm>
            <a:off x="658368" y="1115568"/>
            <a:ext cx="2926080" cy="320088"/>
          </a:xfrm>
          <a:prstGeom prst="rect">
            <a:avLst/>
          </a:prstGeom>
          <a:noFill/>
        </p:spPr>
        <p:txBody>
          <a:bodyPr wrap="square" lIns="36576" tIns="36576" rIns="36576" bIns="36576" anchor="t">
            <a:spAutoFit/>
          </a:bodyPr>
          <a:lstStyle/>
          <a:p>
            <a:pPr algn="l"/>
            <a:r>
              <a:rPr sz="1600" b="1">
                <a:solidFill>
                  <a:srgbClr val="2F639D"/>
                </a:solidFill>
                <a:latin typeface="Aptos"/>
              </a:rPr>
              <a:t>1. VẤN ĐỀ KINH DOANH</a:t>
            </a:r>
          </a:p>
        </p:txBody>
      </p:sp>
      <p:sp>
        <p:nvSpPr>
          <p:cNvPr id="21" name="TextBox 20">
            <a:extLst>
              <a:ext uri="{FF2B5EF4-FFF2-40B4-BE49-F238E27FC236}">
                <a16:creationId xmlns:a16="http://schemas.microsoft.com/office/drawing/2014/main" id="{DD8A8BBF-E632-B090-89DF-9EBCACAE91A6}"/>
              </a:ext>
            </a:extLst>
          </p:cNvPr>
          <p:cNvSpPr txBox="1"/>
          <p:nvPr/>
        </p:nvSpPr>
        <p:spPr>
          <a:xfrm>
            <a:off x="594360" y="6565392"/>
            <a:ext cx="4023360" cy="204671"/>
          </a:xfrm>
          <a:prstGeom prst="rect">
            <a:avLst/>
          </a:prstGeom>
          <a:noFill/>
        </p:spPr>
        <p:txBody>
          <a:bodyPr wrap="square" lIns="36576" tIns="36576" rIns="36576" bIns="36576" anchor="t">
            <a:spAutoFit/>
          </a:bodyPr>
          <a:lstStyle/>
          <a:p>
            <a:pPr algn="l"/>
            <a:r>
              <a:rPr sz="850" b="0" dirty="0" err="1">
                <a:solidFill>
                  <a:srgbClr val="5E6A78"/>
                </a:solidFill>
                <a:latin typeface="Aptos"/>
              </a:rPr>
              <a:t>Cơ</a:t>
            </a:r>
            <a:r>
              <a:rPr sz="850" b="0" dirty="0">
                <a:solidFill>
                  <a:srgbClr val="5E6A78"/>
                </a:solidFill>
                <a:latin typeface="Aptos"/>
              </a:rPr>
              <a:t> </a:t>
            </a:r>
            <a:r>
              <a:rPr sz="850" b="0" dirty="0" err="1">
                <a:solidFill>
                  <a:srgbClr val="5E6A78"/>
                </a:solidFill>
                <a:latin typeface="Aptos"/>
              </a:rPr>
              <a:t>sở</a:t>
            </a:r>
            <a:r>
              <a:rPr sz="850" b="0" dirty="0">
                <a:solidFill>
                  <a:srgbClr val="5E6A78"/>
                </a:solidFill>
                <a:latin typeface="Aptos"/>
              </a:rPr>
              <a:t> Khoa </a:t>
            </a:r>
            <a:r>
              <a:rPr sz="850" b="0" dirty="0" err="1">
                <a:solidFill>
                  <a:srgbClr val="5E6A78"/>
                </a:solidFill>
                <a:latin typeface="Aptos"/>
              </a:rPr>
              <a:t>học</a:t>
            </a:r>
            <a:r>
              <a:rPr sz="850" b="0" dirty="0">
                <a:solidFill>
                  <a:srgbClr val="5E6A78"/>
                </a:solidFill>
                <a:latin typeface="Aptos"/>
              </a:rPr>
              <a:t> </a:t>
            </a:r>
            <a:r>
              <a:rPr sz="850" b="0" dirty="0" err="1">
                <a:solidFill>
                  <a:srgbClr val="5E6A78"/>
                </a:solidFill>
                <a:latin typeface="Aptos"/>
              </a:rPr>
              <a:t>Dữ</a:t>
            </a:r>
            <a:r>
              <a:rPr sz="850" b="0" dirty="0">
                <a:solidFill>
                  <a:srgbClr val="5E6A78"/>
                </a:solidFill>
                <a:latin typeface="Aptos"/>
              </a:rPr>
              <a:t> </a:t>
            </a:r>
            <a:r>
              <a:rPr sz="850" b="0" dirty="0" err="1">
                <a:solidFill>
                  <a:srgbClr val="5E6A78"/>
                </a:solidFill>
                <a:latin typeface="Aptos"/>
              </a:rPr>
              <a:t>liệu</a:t>
            </a:r>
            <a:r>
              <a:rPr sz="850" b="0" dirty="0">
                <a:solidFill>
                  <a:srgbClr val="5E6A78"/>
                </a:solidFill>
                <a:latin typeface="Aptos"/>
              </a:rPr>
              <a:t>  •  SLA &amp; Customer Experience</a:t>
            </a:r>
          </a:p>
        </p:txBody>
      </p:sp>
      <p:sp>
        <p:nvSpPr>
          <p:cNvPr id="22" name="TextBox 21">
            <a:extLst>
              <a:ext uri="{FF2B5EF4-FFF2-40B4-BE49-F238E27FC236}">
                <a16:creationId xmlns:a16="http://schemas.microsoft.com/office/drawing/2014/main" id="{C977E2DC-C23A-329E-42C4-88490BBFFC42}"/>
              </a:ext>
            </a:extLst>
          </p:cNvPr>
          <p:cNvSpPr txBox="1"/>
          <p:nvPr/>
        </p:nvSpPr>
        <p:spPr>
          <a:xfrm>
            <a:off x="11201400" y="6567055"/>
            <a:ext cx="365760" cy="166255"/>
          </a:xfrm>
          <a:prstGeom prst="rect">
            <a:avLst/>
          </a:prstGeom>
          <a:noFill/>
        </p:spPr>
        <p:txBody>
          <a:bodyPr wrap="square" lIns="36576" tIns="36576" rIns="36576" bIns="36576" anchor="t">
            <a:spAutoFit/>
          </a:bodyPr>
          <a:lstStyle/>
          <a:p>
            <a:pPr algn="r"/>
            <a:r>
              <a:rPr sz="850" b="0">
                <a:solidFill>
                  <a:srgbClr val="5E6A78"/>
                </a:solidFill>
                <a:latin typeface="Aptos"/>
              </a:rPr>
              <a:t>3</a:t>
            </a:r>
          </a:p>
        </p:txBody>
      </p:sp>
      <p:sp>
        <p:nvSpPr>
          <p:cNvPr id="23" name="Rounded Rectangle 22">
            <a:extLst>
              <a:ext uri="{FF2B5EF4-FFF2-40B4-BE49-F238E27FC236}">
                <a16:creationId xmlns:a16="http://schemas.microsoft.com/office/drawing/2014/main" id="{23556CD1-7D67-BBC9-1F1D-115D05EBEF08}"/>
              </a:ext>
            </a:extLst>
          </p:cNvPr>
          <p:cNvSpPr/>
          <p:nvPr/>
        </p:nvSpPr>
        <p:spPr>
          <a:xfrm>
            <a:off x="4846320" y="6510528"/>
            <a:ext cx="658368"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Business</a:t>
            </a:r>
          </a:p>
        </p:txBody>
      </p:sp>
      <p:sp>
        <p:nvSpPr>
          <p:cNvPr id="24" name="Rounded Rectangle 23">
            <a:extLst>
              <a:ext uri="{FF2B5EF4-FFF2-40B4-BE49-F238E27FC236}">
                <a16:creationId xmlns:a16="http://schemas.microsoft.com/office/drawing/2014/main" id="{27B3E9F8-4348-34F1-E863-48917E41FA44}"/>
              </a:ext>
            </a:extLst>
          </p:cNvPr>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Data Collection</a:t>
            </a:r>
          </a:p>
        </p:txBody>
      </p:sp>
      <p:sp>
        <p:nvSpPr>
          <p:cNvPr id="25" name="Rounded Rectangle 24">
            <a:extLst>
              <a:ext uri="{FF2B5EF4-FFF2-40B4-BE49-F238E27FC236}">
                <a16:creationId xmlns:a16="http://schemas.microsoft.com/office/drawing/2014/main" id="{10718466-F631-CA23-4C47-E85541675635}"/>
              </a:ext>
            </a:extLst>
          </p:cNvPr>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Cleaning</a:t>
            </a:r>
          </a:p>
        </p:txBody>
      </p:sp>
      <p:sp>
        <p:nvSpPr>
          <p:cNvPr id="26" name="Rounded Rectangle 25">
            <a:extLst>
              <a:ext uri="{FF2B5EF4-FFF2-40B4-BE49-F238E27FC236}">
                <a16:creationId xmlns:a16="http://schemas.microsoft.com/office/drawing/2014/main" id="{ACF7477E-42E4-4604-9BDF-BD3E43B3193D}"/>
              </a:ext>
            </a:extLst>
          </p:cNvPr>
          <p:cNvSpPr/>
          <p:nvPr/>
        </p:nvSpPr>
        <p:spPr>
          <a:xfrm>
            <a:off x="7306056" y="6510528"/>
            <a:ext cx="42062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EDA</a:t>
            </a:r>
          </a:p>
        </p:txBody>
      </p:sp>
      <p:sp>
        <p:nvSpPr>
          <p:cNvPr id="27" name="Rounded Rectangle 26">
            <a:extLst>
              <a:ext uri="{FF2B5EF4-FFF2-40B4-BE49-F238E27FC236}">
                <a16:creationId xmlns:a16="http://schemas.microsoft.com/office/drawing/2014/main" id="{BEEA6AFC-887F-DC28-04F8-410FD28AA3A7}"/>
              </a:ext>
            </a:extLst>
          </p:cNvPr>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Features</a:t>
            </a:r>
          </a:p>
        </p:txBody>
      </p:sp>
      <p:sp>
        <p:nvSpPr>
          <p:cNvPr id="28" name="Rounded Rectangle 27">
            <a:extLst>
              <a:ext uri="{FF2B5EF4-FFF2-40B4-BE49-F238E27FC236}">
                <a16:creationId xmlns:a16="http://schemas.microsoft.com/office/drawing/2014/main" id="{B19E1C10-1246-DBAC-705C-B659D12C701B}"/>
              </a:ext>
            </a:extLst>
          </p:cNvPr>
          <p:cNvSpPr/>
          <p:nvPr/>
        </p:nvSpPr>
        <p:spPr>
          <a:xfrm>
            <a:off x="8494776" y="6510528"/>
            <a:ext cx="69494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Modeling</a:t>
            </a:r>
          </a:p>
        </p:txBody>
      </p:sp>
      <p:sp>
        <p:nvSpPr>
          <p:cNvPr id="29" name="Rounded Rectangle 28">
            <a:extLst>
              <a:ext uri="{FF2B5EF4-FFF2-40B4-BE49-F238E27FC236}">
                <a16:creationId xmlns:a16="http://schemas.microsoft.com/office/drawing/2014/main" id="{9C51383F-DAD0-19EA-00E8-010BCD8F2424}"/>
              </a:ext>
            </a:extLst>
          </p:cNvPr>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Evaluation</a:t>
            </a:r>
          </a:p>
        </p:txBody>
      </p:sp>
      <p:sp>
        <p:nvSpPr>
          <p:cNvPr id="30" name="Rounded Rectangle 29">
            <a:extLst>
              <a:ext uri="{FF2B5EF4-FFF2-40B4-BE49-F238E27FC236}">
                <a16:creationId xmlns:a16="http://schemas.microsoft.com/office/drawing/2014/main" id="{48A44511-9564-3664-5CD9-CADB81266A9B}"/>
              </a:ext>
            </a:extLst>
          </p:cNvPr>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 Value</a:t>
            </a:r>
          </a:p>
        </p:txBody>
      </p:sp>
      <p:sp>
        <p:nvSpPr>
          <p:cNvPr id="32" name="TextBox 31">
            <a:extLst>
              <a:ext uri="{FF2B5EF4-FFF2-40B4-BE49-F238E27FC236}">
                <a16:creationId xmlns:a16="http://schemas.microsoft.com/office/drawing/2014/main" id="{0B6E5819-6745-793A-801A-CF76C9BDEA6F}"/>
              </a:ext>
            </a:extLst>
          </p:cNvPr>
          <p:cNvSpPr txBox="1"/>
          <p:nvPr/>
        </p:nvSpPr>
        <p:spPr>
          <a:xfrm>
            <a:off x="438792" y="1418937"/>
            <a:ext cx="4742808" cy="2254400"/>
          </a:xfrm>
          <a:prstGeom prst="rect">
            <a:avLst/>
          </a:prstGeom>
          <a:noFill/>
        </p:spPr>
        <p:txBody>
          <a:bodyPr wrap="square" lIns="36576" tIns="36576" rIns="36576" bIns="36576" anchor="t">
            <a:spAutoFit/>
          </a:bodyPr>
          <a:lstStyle/>
          <a:p>
            <a:pPr>
              <a:lnSpc>
                <a:spcPct val="150000"/>
              </a:lnSpc>
            </a:pPr>
            <a:r>
              <a:rPr lang="vi-VN" sz="1600" b="1" dirty="0">
                <a:solidFill>
                  <a:srgbClr val="242B33"/>
                </a:solidFill>
                <a:latin typeface="Aptos"/>
              </a:rPr>
              <a:t>- Trong thương mại điện tử, khách hàng được cung cấp một cam kết giao hàng/SLA. </a:t>
            </a:r>
          </a:p>
          <a:p>
            <a:pPr>
              <a:lnSpc>
                <a:spcPct val="150000"/>
              </a:lnSpc>
            </a:pPr>
            <a:r>
              <a:rPr lang="vi-VN" sz="1600" b="1" dirty="0">
                <a:solidFill>
                  <a:srgbClr val="242B33"/>
                </a:solidFill>
                <a:latin typeface="Aptos"/>
              </a:rPr>
              <a:t>- Doanh nghiệp thường dùng trạng thái đúng SLA / vượt SLA để theo dõi hiệu quả giao hàng. </a:t>
            </a:r>
          </a:p>
          <a:p>
            <a:pPr>
              <a:lnSpc>
                <a:spcPct val="150000"/>
              </a:lnSpc>
            </a:pPr>
            <a:r>
              <a:rPr lang="vi-VN" sz="1600" b="1" dirty="0">
                <a:solidFill>
                  <a:srgbClr val="242B33"/>
                </a:solidFill>
                <a:latin typeface="Aptos"/>
              </a:rPr>
              <a:t>- Vì vậy đặt vấn đề liệu SLA có phản ánh đầy đủ trải nghiệm giao hàng của khách hàng hay không.</a:t>
            </a:r>
          </a:p>
        </p:txBody>
      </p:sp>
      <p:grpSp>
        <p:nvGrpSpPr>
          <p:cNvPr id="69" name="Group 68">
            <a:extLst>
              <a:ext uri="{FF2B5EF4-FFF2-40B4-BE49-F238E27FC236}">
                <a16:creationId xmlns:a16="http://schemas.microsoft.com/office/drawing/2014/main" id="{70F72990-664C-16A4-E9E0-F4B7647BF7C8}"/>
              </a:ext>
            </a:extLst>
          </p:cNvPr>
          <p:cNvGrpSpPr/>
          <p:nvPr/>
        </p:nvGrpSpPr>
        <p:grpSpPr>
          <a:xfrm>
            <a:off x="5848423" y="1233978"/>
            <a:ext cx="5201265" cy="3865035"/>
            <a:chOff x="5642292" y="1324653"/>
            <a:chExt cx="5201265" cy="3865035"/>
          </a:xfrm>
        </p:grpSpPr>
        <p:sp>
          <p:nvSpPr>
            <p:cNvPr id="34" name="Rounded Rectangle 5">
              <a:extLst>
                <a:ext uri="{FF2B5EF4-FFF2-40B4-BE49-F238E27FC236}">
                  <a16:creationId xmlns:a16="http://schemas.microsoft.com/office/drawing/2014/main" id="{9FD292E3-C172-03C6-6088-A9E0F5B16BF0}"/>
                </a:ext>
              </a:extLst>
            </p:cNvPr>
            <p:cNvSpPr/>
            <p:nvPr/>
          </p:nvSpPr>
          <p:spPr>
            <a:xfrm>
              <a:off x="5642292" y="1324653"/>
              <a:ext cx="5201265" cy="3865035"/>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grpSp>
          <p:nvGrpSpPr>
            <p:cNvPr id="39" name="Group 38">
              <a:extLst>
                <a:ext uri="{FF2B5EF4-FFF2-40B4-BE49-F238E27FC236}">
                  <a16:creationId xmlns:a16="http://schemas.microsoft.com/office/drawing/2014/main" id="{A276F186-02EC-CBC7-D62B-2BB5838377C5}"/>
                </a:ext>
              </a:extLst>
            </p:cNvPr>
            <p:cNvGrpSpPr/>
            <p:nvPr/>
          </p:nvGrpSpPr>
          <p:grpSpPr>
            <a:xfrm>
              <a:off x="6334055" y="1914368"/>
              <a:ext cx="1649115" cy="411480"/>
              <a:chOff x="6256020" y="1737384"/>
              <a:chExt cx="2331720" cy="411480"/>
            </a:xfrm>
          </p:grpSpPr>
          <p:sp>
            <p:nvSpPr>
              <p:cNvPr id="36" name="Rounded Rectangle 6">
                <a:extLst>
                  <a:ext uri="{FF2B5EF4-FFF2-40B4-BE49-F238E27FC236}">
                    <a16:creationId xmlns:a16="http://schemas.microsoft.com/office/drawing/2014/main" id="{14008E3C-D790-C1E9-8A03-D94F0CFAEB15}"/>
                  </a:ext>
                </a:extLst>
              </p:cNvPr>
              <p:cNvSpPr/>
              <p:nvPr/>
            </p:nvSpPr>
            <p:spPr>
              <a:xfrm>
                <a:off x="6256020" y="1737384"/>
                <a:ext cx="2331720" cy="411480"/>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8" name="TextBox 37">
                <a:extLst>
                  <a:ext uri="{FF2B5EF4-FFF2-40B4-BE49-F238E27FC236}">
                    <a16:creationId xmlns:a16="http://schemas.microsoft.com/office/drawing/2014/main" id="{34496CC3-5583-9C07-CCBA-A869367EE3CA}"/>
                  </a:ext>
                </a:extLst>
              </p:cNvPr>
              <p:cNvSpPr txBox="1"/>
              <p:nvPr/>
            </p:nvSpPr>
            <p:spPr>
              <a:xfrm>
                <a:off x="6292596" y="1783080"/>
                <a:ext cx="2258568" cy="320088"/>
              </a:xfrm>
              <a:prstGeom prst="rect">
                <a:avLst/>
              </a:prstGeom>
              <a:noFill/>
            </p:spPr>
            <p:txBody>
              <a:bodyPr wrap="square" lIns="36576" tIns="36576" rIns="36576" bIns="36576" anchor="ctr">
                <a:spAutoFit/>
              </a:bodyPr>
              <a:lstStyle/>
              <a:p>
                <a:pPr algn="ctr"/>
                <a:r>
                  <a:rPr lang="vi-VN" sz="1600" b="1" dirty="0">
                    <a:solidFill>
                      <a:srgbClr val="2F639D"/>
                    </a:solidFill>
                    <a:latin typeface="Aptos"/>
                  </a:rPr>
                  <a:t>Đặt hàng</a:t>
                </a:r>
                <a:endParaRPr sz="1600" b="1" dirty="0">
                  <a:solidFill>
                    <a:srgbClr val="2F639D"/>
                  </a:solidFill>
                  <a:latin typeface="Aptos"/>
                </a:endParaRPr>
              </a:p>
            </p:txBody>
          </p:sp>
        </p:grpSp>
        <p:grpSp>
          <p:nvGrpSpPr>
            <p:cNvPr id="40" name="Group 39">
              <a:extLst>
                <a:ext uri="{FF2B5EF4-FFF2-40B4-BE49-F238E27FC236}">
                  <a16:creationId xmlns:a16="http://schemas.microsoft.com/office/drawing/2014/main" id="{F3A777D7-AD7C-F29A-9D2E-208D17C0B411}"/>
                </a:ext>
              </a:extLst>
            </p:cNvPr>
            <p:cNvGrpSpPr/>
            <p:nvPr/>
          </p:nvGrpSpPr>
          <p:grpSpPr>
            <a:xfrm>
              <a:off x="6359924" y="2800712"/>
              <a:ext cx="1649115" cy="411480"/>
              <a:chOff x="6256020" y="1737384"/>
              <a:chExt cx="2331720" cy="411480"/>
            </a:xfrm>
          </p:grpSpPr>
          <p:sp>
            <p:nvSpPr>
              <p:cNvPr id="41" name="Rounded Rectangle 6">
                <a:extLst>
                  <a:ext uri="{FF2B5EF4-FFF2-40B4-BE49-F238E27FC236}">
                    <a16:creationId xmlns:a16="http://schemas.microsoft.com/office/drawing/2014/main" id="{D7DFABD3-7988-71F5-21CC-A9E30D7CC5DD}"/>
                  </a:ext>
                </a:extLst>
              </p:cNvPr>
              <p:cNvSpPr/>
              <p:nvPr/>
            </p:nvSpPr>
            <p:spPr>
              <a:xfrm>
                <a:off x="6256020" y="1737384"/>
                <a:ext cx="2331720" cy="411480"/>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42" name="TextBox 41">
                <a:extLst>
                  <a:ext uri="{FF2B5EF4-FFF2-40B4-BE49-F238E27FC236}">
                    <a16:creationId xmlns:a16="http://schemas.microsoft.com/office/drawing/2014/main" id="{1A7DC888-A6D7-924E-5438-20FDCDC1C3FB}"/>
                  </a:ext>
                </a:extLst>
              </p:cNvPr>
              <p:cNvSpPr txBox="1"/>
              <p:nvPr/>
            </p:nvSpPr>
            <p:spPr>
              <a:xfrm>
                <a:off x="6292596" y="1783080"/>
                <a:ext cx="2258568" cy="320088"/>
              </a:xfrm>
              <a:prstGeom prst="rect">
                <a:avLst/>
              </a:prstGeom>
              <a:noFill/>
            </p:spPr>
            <p:txBody>
              <a:bodyPr wrap="square" lIns="36576" tIns="36576" rIns="36576" bIns="36576" anchor="ctr">
                <a:spAutoFit/>
              </a:bodyPr>
              <a:lstStyle/>
              <a:p>
                <a:pPr algn="ctr"/>
                <a:r>
                  <a:rPr lang="vi-VN" sz="1600" b="1" dirty="0">
                    <a:solidFill>
                      <a:srgbClr val="2F639D"/>
                    </a:solidFill>
                    <a:latin typeface="Aptos"/>
                  </a:rPr>
                  <a:t>SLA: 1–5 ngày</a:t>
                </a:r>
                <a:endParaRPr sz="1600" b="1" dirty="0">
                  <a:solidFill>
                    <a:srgbClr val="2F639D"/>
                  </a:solidFill>
                  <a:latin typeface="Aptos"/>
                </a:endParaRPr>
              </a:p>
            </p:txBody>
          </p:sp>
        </p:grpSp>
        <p:grpSp>
          <p:nvGrpSpPr>
            <p:cNvPr id="52" name="Group 51">
              <a:extLst>
                <a:ext uri="{FF2B5EF4-FFF2-40B4-BE49-F238E27FC236}">
                  <a16:creationId xmlns:a16="http://schemas.microsoft.com/office/drawing/2014/main" id="{CF168AB2-09CE-4612-90DE-5826154F92EF}"/>
                </a:ext>
              </a:extLst>
            </p:cNvPr>
            <p:cNvGrpSpPr/>
            <p:nvPr/>
          </p:nvGrpSpPr>
          <p:grpSpPr>
            <a:xfrm>
              <a:off x="8780262" y="2278615"/>
              <a:ext cx="1645920" cy="1445883"/>
              <a:chOff x="8750838" y="2094966"/>
              <a:chExt cx="1645920" cy="1445883"/>
            </a:xfrm>
          </p:grpSpPr>
          <p:sp>
            <p:nvSpPr>
              <p:cNvPr id="44" name="Rounded Rectangle 13">
                <a:extLst>
                  <a:ext uri="{FF2B5EF4-FFF2-40B4-BE49-F238E27FC236}">
                    <a16:creationId xmlns:a16="http://schemas.microsoft.com/office/drawing/2014/main" id="{2BD57BA3-1FAA-0881-C5BB-5E4DCABD3F2D}"/>
                  </a:ext>
                </a:extLst>
              </p:cNvPr>
              <p:cNvSpPr/>
              <p:nvPr/>
            </p:nvSpPr>
            <p:spPr>
              <a:xfrm>
                <a:off x="8750838" y="2094966"/>
                <a:ext cx="1645920" cy="1445883"/>
              </a:xfrm>
              <a:prstGeom prst="roundRect">
                <a:avLst/>
              </a:prstGeom>
              <a:solidFill>
                <a:srgbClr val="162C46"/>
              </a:solidFill>
              <a:ln w="12700">
                <a:solidFill>
                  <a:srgbClr val="162C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51" name="TextBox 50">
                <a:extLst>
                  <a:ext uri="{FF2B5EF4-FFF2-40B4-BE49-F238E27FC236}">
                    <a16:creationId xmlns:a16="http://schemas.microsoft.com/office/drawing/2014/main" id="{9FD3D57E-9DEE-8F7B-FCE1-4DC69213D793}"/>
                  </a:ext>
                </a:extLst>
              </p:cNvPr>
              <p:cNvSpPr txBox="1"/>
              <p:nvPr/>
            </p:nvSpPr>
            <p:spPr>
              <a:xfrm>
                <a:off x="8775109" y="2306825"/>
                <a:ext cx="1597378" cy="1058751"/>
              </a:xfrm>
              <a:prstGeom prst="rect">
                <a:avLst/>
              </a:prstGeom>
              <a:noFill/>
            </p:spPr>
            <p:txBody>
              <a:bodyPr wrap="square" lIns="36576" tIns="36576" rIns="36576" bIns="36576" anchor="ctr">
                <a:spAutoFit/>
              </a:bodyPr>
              <a:lstStyle/>
              <a:p>
                <a:pPr algn="ctr"/>
                <a:r>
                  <a:rPr lang="vi-VN" sz="1600" b="1" dirty="0">
                    <a:solidFill>
                      <a:schemeClr val="bg1"/>
                    </a:solidFill>
                    <a:latin typeface="Aptos"/>
                  </a:rPr>
                  <a:t>Doanh nghiệp đánh giá hiệu quả giao hàng qua SLA</a:t>
                </a:r>
                <a:endParaRPr sz="1600" b="1" dirty="0">
                  <a:solidFill>
                    <a:schemeClr val="bg1"/>
                  </a:solidFill>
                  <a:latin typeface="Aptos"/>
                </a:endParaRPr>
              </a:p>
            </p:txBody>
          </p:sp>
        </p:grpSp>
        <p:grpSp>
          <p:nvGrpSpPr>
            <p:cNvPr id="57" name="Group 56">
              <a:extLst>
                <a:ext uri="{FF2B5EF4-FFF2-40B4-BE49-F238E27FC236}">
                  <a16:creationId xmlns:a16="http://schemas.microsoft.com/office/drawing/2014/main" id="{A625F553-44D6-9419-0E61-2965F7BD622A}"/>
                </a:ext>
              </a:extLst>
            </p:cNvPr>
            <p:cNvGrpSpPr/>
            <p:nvPr/>
          </p:nvGrpSpPr>
          <p:grpSpPr>
            <a:xfrm>
              <a:off x="6098092" y="3812189"/>
              <a:ext cx="2836551" cy="891850"/>
              <a:chOff x="6096000" y="3589135"/>
              <a:chExt cx="2836551" cy="891850"/>
            </a:xfrm>
          </p:grpSpPr>
          <p:sp>
            <p:nvSpPr>
              <p:cNvPr id="54" name="TextBox 53">
                <a:extLst>
                  <a:ext uri="{FF2B5EF4-FFF2-40B4-BE49-F238E27FC236}">
                    <a16:creationId xmlns:a16="http://schemas.microsoft.com/office/drawing/2014/main" id="{B0A35ECF-0E7A-BCCB-9603-9163A84C3662}"/>
                  </a:ext>
                </a:extLst>
              </p:cNvPr>
              <p:cNvSpPr txBox="1"/>
              <p:nvPr/>
            </p:nvSpPr>
            <p:spPr>
              <a:xfrm>
                <a:off x="6394136" y="3589135"/>
                <a:ext cx="2240280" cy="320088"/>
              </a:xfrm>
              <a:prstGeom prst="rect">
                <a:avLst/>
              </a:prstGeom>
              <a:noFill/>
            </p:spPr>
            <p:txBody>
              <a:bodyPr wrap="square" lIns="36576" tIns="36576" rIns="36576" bIns="36576" anchor="t">
                <a:spAutoFit/>
              </a:bodyPr>
              <a:lstStyle/>
              <a:p>
                <a:pPr algn="ctr"/>
                <a:r>
                  <a:rPr sz="1600" b="1" dirty="0" err="1">
                    <a:solidFill>
                      <a:srgbClr val="5E6A78"/>
                    </a:solidFill>
                    <a:latin typeface="Aptos"/>
                  </a:rPr>
                  <a:t>Câu</a:t>
                </a:r>
                <a:r>
                  <a:rPr sz="1600" b="1" dirty="0">
                    <a:solidFill>
                      <a:srgbClr val="5E6A78"/>
                    </a:solidFill>
                    <a:latin typeface="Aptos"/>
                  </a:rPr>
                  <a:t> </a:t>
                </a:r>
                <a:r>
                  <a:rPr sz="1600" b="1" dirty="0" err="1">
                    <a:solidFill>
                      <a:srgbClr val="5E6A78"/>
                    </a:solidFill>
                    <a:latin typeface="Aptos"/>
                  </a:rPr>
                  <a:t>hỏi</a:t>
                </a:r>
                <a:r>
                  <a:rPr sz="1600" b="1" dirty="0">
                    <a:solidFill>
                      <a:srgbClr val="5E6A78"/>
                    </a:solidFill>
                    <a:latin typeface="Aptos"/>
                  </a:rPr>
                  <a:t> </a:t>
                </a:r>
                <a:r>
                  <a:rPr sz="1600" b="1" dirty="0" err="1">
                    <a:solidFill>
                      <a:srgbClr val="5E6A78"/>
                    </a:solidFill>
                    <a:latin typeface="Aptos"/>
                  </a:rPr>
                  <a:t>đặt</a:t>
                </a:r>
                <a:r>
                  <a:rPr sz="1600" b="1" dirty="0">
                    <a:solidFill>
                      <a:srgbClr val="5E6A78"/>
                    </a:solidFill>
                    <a:latin typeface="Aptos"/>
                  </a:rPr>
                  <a:t> </a:t>
                </a:r>
                <a:r>
                  <a:rPr sz="1600" b="1" dirty="0" err="1">
                    <a:solidFill>
                      <a:srgbClr val="5E6A78"/>
                    </a:solidFill>
                    <a:latin typeface="Aptos"/>
                  </a:rPr>
                  <a:t>ra</a:t>
                </a:r>
                <a:r>
                  <a:rPr sz="1600" b="1" dirty="0">
                    <a:solidFill>
                      <a:srgbClr val="5E6A78"/>
                    </a:solidFill>
                    <a:latin typeface="Aptos"/>
                  </a:rPr>
                  <a:t>:</a:t>
                </a:r>
              </a:p>
            </p:txBody>
          </p:sp>
          <p:sp>
            <p:nvSpPr>
              <p:cNvPr id="56" name="TextBox 55">
                <a:extLst>
                  <a:ext uri="{FF2B5EF4-FFF2-40B4-BE49-F238E27FC236}">
                    <a16:creationId xmlns:a16="http://schemas.microsoft.com/office/drawing/2014/main" id="{FA84A013-F5E0-EAEE-74E4-EE560EBAEB6E}"/>
                  </a:ext>
                </a:extLst>
              </p:cNvPr>
              <p:cNvSpPr txBox="1"/>
              <p:nvPr/>
            </p:nvSpPr>
            <p:spPr>
              <a:xfrm>
                <a:off x="6096000" y="3914676"/>
                <a:ext cx="2836551" cy="566309"/>
              </a:xfrm>
              <a:prstGeom prst="rect">
                <a:avLst/>
              </a:prstGeom>
              <a:noFill/>
            </p:spPr>
            <p:txBody>
              <a:bodyPr wrap="square" lIns="36576" tIns="36576" rIns="36576" bIns="36576" anchor="t">
                <a:spAutoFit/>
              </a:bodyPr>
              <a:lstStyle/>
              <a:p>
                <a:pPr algn="ctr"/>
                <a:r>
                  <a:rPr sz="1600" b="1" dirty="0">
                    <a:solidFill>
                      <a:srgbClr val="242B33"/>
                    </a:solidFill>
                    <a:latin typeface="Aptos"/>
                  </a:rPr>
                  <a:t>Tuân </a:t>
                </a:r>
                <a:r>
                  <a:rPr sz="1600" b="1" dirty="0" err="1">
                    <a:solidFill>
                      <a:srgbClr val="242B33"/>
                    </a:solidFill>
                    <a:latin typeface="Aptos"/>
                  </a:rPr>
                  <a:t>thủ</a:t>
                </a:r>
                <a:r>
                  <a:rPr sz="1600" b="1" dirty="0">
                    <a:solidFill>
                      <a:srgbClr val="242B33"/>
                    </a:solidFill>
                    <a:latin typeface="Aptos"/>
                  </a:rPr>
                  <a:t> SLA </a:t>
                </a:r>
                <a:r>
                  <a:rPr sz="1600" b="1" dirty="0" err="1">
                    <a:solidFill>
                      <a:srgbClr val="242B33"/>
                    </a:solidFill>
                    <a:latin typeface="Aptos"/>
                  </a:rPr>
                  <a:t>có</a:t>
                </a:r>
                <a:r>
                  <a:rPr sz="1600" b="1" dirty="0">
                    <a:solidFill>
                      <a:srgbClr val="242B33"/>
                    </a:solidFill>
                    <a:latin typeface="Aptos"/>
                  </a:rPr>
                  <a:t> </a:t>
                </a:r>
                <a:r>
                  <a:rPr sz="1600" b="1" dirty="0" err="1">
                    <a:solidFill>
                      <a:srgbClr val="242B33"/>
                    </a:solidFill>
                    <a:latin typeface="Aptos"/>
                  </a:rPr>
                  <a:t>đồng</a:t>
                </a:r>
                <a:r>
                  <a:rPr sz="1600" b="1" dirty="0">
                    <a:solidFill>
                      <a:srgbClr val="242B33"/>
                    </a:solidFill>
                    <a:latin typeface="Aptos"/>
                  </a:rPr>
                  <a:t> </a:t>
                </a:r>
                <a:r>
                  <a:rPr sz="1600" b="1" dirty="0" err="1">
                    <a:solidFill>
                      <a:srgbClr val="242B33"/>
                    </a:solidFill>
                    <a:latin typeface="Aptos"/>
                  </a:rPr>
                  <a:t>nghĩa</a:t>
                </a:r>
                <a:r>
                  <a:rPr sz="1600" b="1" dirty="0">
                    <a:solidFill>
                      <a:srgbClr val="242B33"/>
                    </a:solidFill>
                    <a:latin typeface="Aptos"/>
                  </a:rPr>
                  <a:t>
</a:t>
                </a:r>
                <a:r>
                  <a:rPr sz="1600" b="1" dirty="0" err="1">
                    <a:solidFill>
                      <a:srgbClr val="242B33"/>
                    </a:solidFill>
                    <a:latin typeface="Aptos"/>
                  </a:rPr>
                  <a:t>với</a:t>
                </a:r>
                <a:r>
                  <a:rPr sz="1600" b="1" dirty="0">
                    <a:solidFill>
                      <a:srgbClr val="242B33"/>
                    </a:solidFill>
                    <a:latin typeface="Aptos"/>
                  </a:rPr>
                  <a:t> </a:t>
                </a:r>
                <a:r>
                  <a:rPr sz="1600" b="1" dirty="0" err="1">
                    <a:solidFill>
                      <a:srgbClr val="242B33"/>
                    </a:solidFill>
                    <a:latin typeface="Aptos"/>
                  </a:rPr>
                  <a:t>trải</a:t>
                </a:r>
                <a:r>
                  <a:rPr sz="1600" b="1" dirty="0">
                    <a:solidFill>
                      <a:srgbClr val="242B33"/>
                    </a:solidFill>
                    <a:latin typeface="Aptos"/>
                  </a:rPr>
                  <a:t> </a:t>
                </a:r>
                <a:r>
                  <a:rPr sz="1600" b="1" dirty="0" err="1">
                    <a:solidFill>
                      <a:srgbClr val="242B33"/>
                    </a:solidFill>
                    <a:latin typeface="Aptos"/>
                  </a:rPr>
                  <a:t>nghiệm</a:t>
                </a:r>
                <a:r>
                  <a:rPr sz="1600" b="1" dirty="0">
                    <a:solidFill>
                      <a:srgbClr val="242B33"/>
                    </a:solidFill>
                    <a:latin typeface="Aptos"/>
                  </a:rPr>
                  <a:t> </a:t>
                </a:r>
                <a:r>
                  <a:rPr sz="1600" b="1" dirty="0" err="1">
                    <a:solidFill>
                      <a:srgbClr val="242B33"/>
                    </a:solidFill>
                    <a:latin typeface="Aptos"/>
                  </a:rPr>
                  <a:t>giao</a:t>
                </a:r>
                <a:r>
                  <a:rPr sz="1600" b="1" dirty="0">
                    <a:solidFill>
                      <a:srgbClr val="242B33"/>
                    </a:solidFill>
                    <a:latin typeface="Aptos"/>
                  </a:rPr>
                  <a:t> </a:t>
                </a:r>
                <a:r>
                  <a:rPr sz="1600" b="1" dirty="0" err="1">
                    <a:solidFill>
                      <a:srgbClr val="242B33"/>
                    </a:solidFill>
                    <a:latin typeface="Aptos"/>
                  </a:rPr>
                  <a:t>hàng</a:t>
                </a:r>
                <a:r>
                  <a:rPr sz="1600" b="1" dirty="0">
                    <a:solidFill>
                      <a:srgbClr val="242B33"/>
                    </a:solidFill>
                    <a:latin typeface="Aptos"/>
                  </a:rPr>
                  <a:t> </a:t>
                </a:r>
                <a:r>
                  <a:rPr sz="1600" b="1" dirty="0" err="1">
                    <a:solidFill>
                      <a:srgbClr val="242B33"/>
                    </a:solidFill>
                    <a:latin typeface="Aptos"/>
                  </a:rPr>
                  <a:t>tốt</a:t>
                </a:r>
                <a:r>
                  <a:rPr sz="1600" b="1" dirty="0">
                    <a:solidFill>
                      <a:srgbClr val="242B33"/>
                    </a:solidFill>
                    <a:latin typeface="Aptos"/>
                  </a:rPr>
                  <a:t>?</a:t>
                </a:r>
              </a:p>
            </p:txBody>
          </p:sp>
        </p:grpSp>
        <p:cxnSp>
          <p:nvCxnSpPr>
            <p:cNvPr id="60" name="Straight Arrow Connector 59">
              <a:extLst>
                <a:ext uri="{FF2B5EF4-FFF2-40B4-BE49-F238E27FC236}">
                  <a16:creationId xmlns:a16="http://schemas.microsoft.com/office/drawing/2014/main" id="{6E4C41E7-FD92-9F5A-C674-0D8632DC6869}"/>
                </a:ext>
              </a:extLst>
            </p:cNvPr>
            <p:cNvCxnSpPr>
              <a:cxnSpLocks/>
              <a:stCxn id="36" idx="2"/>
            </p:cNvCxnSpPr>
            <p:nvPr/>
          </p:nvCxnSpPr>
          <p:spPr>
            <a:xfrm>
              <a:off x="7158613" y="2325848"/>
              <a:ext cx="13387" cy="465374"/>
            </a:xfrm>
            <a:prstGeom prst="straightConnector1">
              <a:avLst/>
            </a:prstGeom>
            <a:ln>
              <a:solidFill>
                <a:srgbClr val="162C46"/>
              </a:solidFill>
              <a:tailEnd type="triangle"/>
            </a:ln>
          </p:spPr>
          <p:style>
            <a:lnRef idx="2">
              <a:schemeClr val="dk1"/>
            </a:lnRef>
            <a:fillRef idx="0">
              <a:schemeClr val="dk1"/>
            </a:fillRef>
            <a:effectRef idx="1">
              <a:schemeClr val="dk1"/>
            </a:effectRef>
            <a:fontRef idx="minor">
              <a:schemeClr val="tx1"/>
            </a:fontRef>
          </p:style>
        </p:cxnSp>
        <p:cxnSp>
          <p:nvCxnSpPr>
            <p:cNvPr id="63" name="Straight Arrow Connector 62">
              <a:extLst>
                <a:ext uri="{FF2B5EF4-FFF2-40B4-BE49-F238E27FC236}">
                  <a16:creationId xmlns:a16="http://schemas.microsoft.com/office/drawing/2014/main" id="{BC5C193B-B6AA-0AFB-7A5D-623D81DB7C03}"/>
                </a:ext>
              </a:extLst>
            </p:cNvPr>
            <p:cNvCxnSpPr>
              <a:stCxn id="41" idx="3"/>
              <a:endCxn id="44" idx="1"/>
            </p:cNvCxnSpPr>
            <p:nvPr/>
          </p:nvCxnSpPr>
          <p:spPr>
            <a:xfrm flipV="1">
              <a:off x="8009039" y="3001557"/>
              <a:ext cx="771223" cy="4895"/>
            </a:xfrm>
            <a:prstGeom prst="straightConnector1">
              <a:avLst/>
            </a:prstGeom>
            <a:ln>
              <a:solidFill>
                <a:srgbClr val="162C46"/>
              </a:solidFill>
              <a:tailEnd type="triangle"/>
            </a:ln>
          </p:spPr>
          <p:style>
            <a:lnRef idx="2">
              <a:schemeClr val="dk1"/>
            </a:lnRef>
            <a:fillRef idx="0">
              <a:schemeClr val="dk1"/>
            </a:fillRef>
            <a:effectRef idx="1">
              <a:schemeClr val="dk1"/>
            </a:effectRef>
            <a:fontRef idx="minor">
              <a:schemeClr val="tx1"/>
            </a:fontRef>
          </p:style>
        </p:cxnSp>
      </p:grpSp>
      <p:grpSp>
        <p:nvGrpSpPr>
          <p:cNvPr id="68" name="Group 67">
            <a:extLst>
              <a:ext uri="{FF2B5EF4-FFF2-40B4-BE49-F238E27FC236}">
                <a16:creationId xmlns:a16="http://schemas.microsoft.com/office/drawing/2014/main" id="{09B14063-380C-EC58-81FD-969DEEA207E1}"/>
              </a:ext>
            </a:extLst>
          </p:cNvPr>
          <p:cNvGrpSpPr/>
          <p:nvPr/>
        </p:nvGrpSpPr>
        <p:grpSpPr>
          <a:xfrm>
            <a:off x="624840" y="5329606"/>
            <a:ext cx="11255690" cy="1245082"/>
            <a:chOff x="658368" y="5413248"/>
            <a:chExt cx="11160006" cy="879060"/>
          </a:xfrm>
        </p:grpSpPr>
        <p:sp>
          <p:nvSpPr>
            <p:cNvPr id="65" name="Rounded Rectangle 18">
              <a:extLst>
                <a:ext uri="{FF2B5EF4-FFF2-40B4-BE49-F238E27FC236}">
                  <a16:creationId xmlns:a16="http://schemas.microsoft.com/office/drawing/2014/main" id="{F736952B-0113-DA02-6392-1FC9825E69D4}"/>
                </a:ext>
              </a:extLst>
            </p:cNvPr>
            <p:cNvSpPr/>
            <p:nvPr/>
          </p:nvSpPr>
          <p:spPr>
            <a:xfrm>
              <a:off x="658368" y="5413248"/>
              <a:ext cx="11160006" cy="730400"/>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67" name="TextBox 66">
              <a:extLst>
                <a:ext uri="{FF2B5EF4-FFF2-40B4-BE49-F238E27FC236}">
                  <a16:creationId xmlns:a16="http://schemas.microsoft.com/office/drawing/2014/main" id="{8CF3328F-6368-F191-CB65-AE9B4A27A261}"/>
                </a:ext>
              </a:extLst>
            </p:cNvPr>
            <p:cNvSpPr txBox="1"/>
            <p:nvPr/>
          </p:nvSpPr>
          <p:spPr>
            <a:xfrm>
              <a:off x="820709" y="5467467"/>
              <a:ext cx="10930193" cy="824841"/>
            </a:xfrm>
            <a:prstGeom prst="rect">
              <a:avLst/>
            </a:prstGeom>
            <a:noFill/>
          </p:spPr>
          <p:txBody>
            <a:bodyPr wrap="square" lIns="45720" tIns="27432" rIns="45720" bIns="27432">
              <a:spAutoFit/>
            </a:bodyPr>
            <a:lstStyle/>
            <a:p>
              <a:r>
                <a:rPr lang="vi-VN" sz="1600" b="1" dirty="0">
                  <a:solidFill>
                    <a:srgbClr val="162C46"/>
                  </a:solidFill>
                  <a:latin typeface="Aptos" panose="020B0004020202020204" pitchFamily="34" charset="0"/>
                </a:rPr>
                <a:t>SLA là gì? 	</a:t>
              </a:r>
            </a:p>
            <a:p>
              <a:r>
                <a:rPr lang="en-US" sz="1600" dirty="0">
                  <a:latin typeface="Aptos" panose="020B0004020202020204" pitchFamily="34" charset="0"/>
                </a:rPr>
                <a:t>Service Level Agreement</a:t>
              </a:r>
              <a:r>
                <a:rPr lang="vi-VN" sz="1600" dirty="0">
                  <a:latin typeface="Aptos" panose="020B0004020202020204" pitchFamily="34" charset="0"/>
                </a:rPr>
                <a:t> (</a:t>
              </a:r>
              <a:r>
                <a:rPr lang="vi-VN" sz="1600" dirty="0">
                  <a:solidFill>
                    <a:srgbClr val="242B33"/>
                  </a:solidFill>
                  <a:latin typeface="Aptos" panose="020B0004020202020204" pitchFamily="34" charset="0"/>
                </a:rPr>
                <a:t>SLA) </a:t>
              </a:r>
              <a:r>
                <a:rPr lang="en-US" sz="1600" dirty="0">
                  <a:latin typeface="Aptos" panose="020B0004020202020204" pitchFamily="34" charset="0"/>
                </a:rPr>
                <a:t>hay </a:t>
              </a:r>
              <a:r>
                <a:rPr lang="en-US" sz="1600" dirty="0" err="1">
                  <a:latin typeface="Aptos" panose="020B0004020202020204" pitchFamily="34" charset="0"/>
                </a:rPr>
                <a:t>còn</a:t>
              </a:r>
              <a:r>
                <a:rPr lang="en-US" sz="1600" dirty="0">
                  <a:latin typeface="Aptos" panose="020B0004020202020204" pitchFamily="34" charset="0"/>
                </a:rPr>
                <a:t> </a:t>
              </a:r>
              <a:r>
                <a:rPr lang="en-US" sz="1600" dirty="0" err="1">
                  <a:latin typeface="Aptos" panose="020B0004020202020204" pitchFamily="34" charset="0"/>
                </a:rPr>
                <a:t>gọi</a:t>
              </a:r>
              <a:r>
                <a:rPr lang="en-US" sz="1600" dirty="0">
                  <a:latin typeface="Aptos" panose="020B0004020202020204" pitchFamily="34" charset="0"/>
                </a:rPr>
                <a:t> </a:t>
              </a:r>
              <a:r>
                <a:rPr lang="en-US" sz="1600" dirty="0" err="1">
                  <a:latin typeface="Aptos" panose="020B0004020202020204" pitchFamily="34" charset="0"/>
                </a:rPr>
                <a:t>là</a:t>
              </a:r>
              <a:r>
                <a:rPr lang="en-US" sz="1600" dirty="0">
                  <a:latin typeface="Aptos" panose="020B0004020202020204" pitchFamily="34" charset="0"/>
                </a:rPr>
                <a:t> </a:t>
              </a:r>
              <a:r>
                <a:rPr lang="vi-VN" sz="1600" dirty="0">
                  <a:latin typeface="Aptos" panose="020B0004020202020204" pitchFamily="34" charset="0"/>
                </a:rPr>
                <a:t>t</a:t>
              </a:r>
              <a:r>
                <a:rPr lang="en-US" dirty="0" err="1" sz="1600">
                  <a:latin typeface="Aptos" panose="020B0004020202020204" pitchFamily="34" charset="0"/>
                </a:rPr>
                <a:t>hỏa</a:t>
              </a:r>
              <a:r>
                <a:rPr lang="en-US" dirty="0" sz="1600">
                  <a:latin typeface="Aptos" panose="020B0004020202020204" pitchFamily="34" charset="0"/>
                </a:rPr>
                <a:t> </a:t>
              </a:r>
              <a:r>
                <a:rPr lang="en-US" dirty="0" err="1" sz="1600">
                  <a:latin typeface="Aptos" panose="020B0004020202020204" pitchFamily="34" charset="0"/>
                </a:rPr>
                <a:t>thuận</a:t>
              </a:r>
              <a:r>
                <a:rPr lang="en-US" dirty="0" sz="1600">
                  <a:latin typeface="Aptos" panose="020B0004020202020204" pitchFamily="34" charset="0"/>
                </a:rPr>
                <a:t> </a:t>
              </a:r>
              <a:r>
                <a:rPr lang="en-US" dirty="0" err="1" sz="1600">
                  <a:latin typeface="Aptos" panose="020B0004020202020204" pitchFamily="34" charset="0"/>
                </a:rPr>
                <a:t>mức</a:t>
              </a:r>
              <a:r>
                <a:rPr lang="en-US" dirty="0" sz="1600">
                  <a:latin typeface="Aptos" panose="020B0004020202020204" pitchFamily="34" charset="0"/>
                </a:rPr>
                <a:t> </a:t>
              </a:r>
              <a:r>
                <a:rPr lang="en-US" dirty="0" err="1" sz="1600">
                  <a:latin typeface="Aptos" panose="020B0004020202020204" pitchFamily="34" charset="0"/>
                </a:rPr>
                <a:t>độ</a:t>
              </a:r>
              <a:r>
                <a:rPr lang="en-US" dirty="0" sz="1600">
                  <a:latin typeface="Aptos" panose="020B0004020202020204" pitchFamily="34" charset="0"/>
                </a:rPr>
                <a:t> </a:t>
              </a:r>
              <a:r>
                <a:rPr lang="en-US" dirty="0" err="1" sz="1600">
                  <a:latin typeface="Aptos" panose="020B0004020202020204" pitchFamily="34" charset="0"/>
                </a:rPr>
                <a:t>dịch</a:t>
              </a:r>
              <a:r>
                <a:rPr lang="en-US" dirty="0" sz="1600">
                  <a:latin typeface="Aptos" panose="020B0004020202020204" pitchFamily="34" charset="0"/>
                </a:rPr>
                <a:t> </a:t>
              </a:r>
              <a:r>
                <a:rPr lang="en-US" dirty="0" err="1" sz="1600">
                  <a:latin typeface="Aptos" panose="020B0004020202020204" pitchFamily="34" charset="0"/>
                </a:rPr>
                <a:t>vụ</a:t>
              </a:r>
              <a:r>
                <a:rPr lang="vi-VN" dirty="0" sz="1600">
                  <a:latin typeface="Aptos" panose="020B0004020202020204" pitchFamily="34" charset="0"/>
                </a:rPr>
                <a:t> </a:t>
              </a:r>
              <a:r>
                <a:rPr lang="en-US" sz="1600" dirty="0" err="1">
                  <a:latin typeface="Aptos" panose="020B0004020202020204" pitchFamily="34" charset="0"/>
                </a:rPr>
                <a:t>là</a:t>
              </a:r>
              <a:r>
                <a:rPr lang="en-US" sz="1600" dirty="0">
                  <a:latin typeface="Aptos" panose="020B0004020202020204" pitchFamily="34" charset="0"/>
                </a:rPr>
                <a:t> cam </a:t>
              </a:r>
              <a:r>
                <a:rPr lang="en-US" sz="1600" dirty="0" err="1">
                  <a:latin typeface="Aptos" panose="020B0004020202020204" pitchFamily="34" charset="0"/>
                </a:rPr>
                <a:t>kết</a:t>
              </a:r>
              <a:r>
                <a:rPr lang="en-US" sz="1600" dirty="0">
                  <a:latin typeface="Aptos" panose="020B0004020202020204" pitchFamily="34" charset="0"/>
                </a:rPr>
                <a:t> </a:t>
              </a:r>
              <a:r>
                <a:rPr lang="en-US" sz="1600" dirty="0" err="1">
                  <a:latin typeface="Aptos" panose="020B0004020202020204" pitchFamily="34" charset="0"/>
                </a:rPr>
                <a:t>giữa</a:t>
              </a:r>
              <a:r>
                <a:rPr lang="en-US" sz="1600" dirty="0">
                  <a:latin typeface="Aptos" panose="020B0004020202020204" pitchFamily="34" charset="0"/>
                </a:rPr>
                <a:t> </a:t>
              </a:r>
              <a:r>
                <a:rPr lang="en-US" sz="1600" dirty="0" err="1">
                  <a:latin typeface="Aptos" panose="020B0004020202020204" pitchFamily="34" charset="0"/>
                </a:rPr>
                <a:t>nhà</a:t>
              </a:r>
              <a:r>
                <a:rPr lang="en-US" sz="1600" dirty="0">
                  <a:latin typeface="Aptos" panose="020B0004020202020204" pitchFamily="34" charset="0"/>
                </a:rPr>
                <a:t> </a:t>
              </a:r>
              <a:r>
                <a:rPr lang="en-US" sz="1600" dirty="0" err="1">
                  <a:latin typeface="Aptos" panose="020B0004020202020204" pitchFamily="34" charset="0"/>
                </a:rPr>
                <a:t>cung</a:t>
              </a:r>
              <a:r>
                <a:rPr lang="en-US" sz="1600" dirty="0">
                  <a:latin typeface="Aptos" panose="020B0004020202020204" pitchFamily="34" charset="0"/>
                </a:rPr>
                <a:t> </a:t>
              </a:r>
              <a:r>
                <a:rPr lang="en-US" sz="1600" dirty="0" err="1">
                  <a:latin typeface="Aptos" panose="020B0004020202020204" pitchFamily="34" charset="0"/>
                </a:rPr>
                <a:t>cấp</a:t>
              </a:r>
              <a:r>
                <a:rPr lang="en-US" sz="1600" dirty="0">
                  <a:latin typeface="Aptos" panose="020B0004020202020204" pitchFamily="34" charset="0"/>
                </a:rPr>
                <a:t> </a:t>
              </a:r>
              <a:r>
                <a:rPr lang="en-US" sz="1600" dirty="0" err="1">
                  <a:latin typeface="Aptos" panose="020B0004020202020204" pitchFamily="34" charset="0"/>
                </a:rPr>
                <a:t>dịch</a:t>
              </a:r>
              <a:r>
                <a:rPr lang="en-US" sz="1600" dirty="0">
                  <a:latin typeface="Aptos" panose="020B0004020202020204" pitchFamily="34" charset="0"/>
                </a:rPr>
                <a:t> </a:t>
              </a:r>
              <a:r>
                <a:rPr lang="en-US" sz="1600" dirty="0" err="1">
                  <a:latin typeface="Aptos" panose="020B0004020202020204" pitchFamily="34" charset="0"/>
                </a:rPr>
                <a:t>vụ</a:t>
              </a:r>
              <a:r>
                <a:rPr lang="en-US" sz="1600" dirty="0">
                  <a:latin typeface="Aptos" panose="020B0004020202020204" pitchFamily="34" charset="0"/>
                </a:rPr>
                <a:t> </a:t>
              </a:r>
              <a:r>
                <a:rPr lang="en-US" sz="1600" dirty="0" err="1">
                  <a:latin typeface="Aptos" panose="020B0004020202020204" pitchFamily="34" charset="0"/>
                </a:rPr>
                <a:t>và</a:t>
              </a:r>
              <a:r>
                <a:rPr lang="en-US" sz="1600" dirty="0">
                  <a:latin typeface="Aptos" panose="020B0004020202020204" pitchFamily="34" charset="0"/>
                </a:rPr>
                <a:t> </a:t>
              </a:r>
              <a:r>
                <a:rPr lang="en-US" sz="1600" dirty="0" err="1">
                  <a:latin typeface="Aptos" panose="020B0004020202020204" pitchFamily="34" charset="0"/>
                </a:rPr>
                <a:t>khách</a:t>
              </a:r>
              <a:r>
                <a:rPr lang="en-US" sz="1600" dirty="0">
                  <a:latin typeface="Aptos" panose="020B0004020202020204" pitchFamily="34" charset="0"/>
                </a:rPr>
                <a:t> </a:t>
              </a:r>
              <a:r>
                <a:rPr lang="en-US" sz="1600" dirty="0" err="1">
                  <a:latin typeface="Aptos" panose="020B0004020202020204" pitchFamily="34" charset="0"/>
                </a:rPr>
                <a:t>hàng</a:t>
              </a:r>
              <a:r>
                <a:rPr lang="en-US" sz="1600" dirty="0">
                  <a:latin typeface="Aptos" panose="020B0004020202020204" pitchFamily="34" charset="0"/>
                </a:rPr>
                <a:t> </a:t>
              </a:r>
              <a:r>
                <a:rPr lang="en-US" sz="1600" dirty="0" err="1">
                  <a:latin typeface="Aptos" panose="020B0004020202020204" pitchFamily="34" charset="0"/>
                </a:rPr>
                <a:t>về</a:t>
              </a:r>
              <a:r>
                <a:rPr lang="vi-VN" sz="1600" dirty="0">
                  <a:latin typeface="Aptos" panose="020B0004020202020204" pitchFamily="34" charset="0"/>
                </a:rPr>
                <a:t> thời gian giao hàng</a:t>
              </a:r>
              <a:r>
                <a:rPr lang="en-US" sz="1600" dirty="0">
                  <a:latin typeface="Aptos" panose="020B0004020202020204" pitchFamily="34" charset="0"/>
                </a:rPr>
                <a:t> </a:t>
              </a:r>
              <a:endParaRPr sz="1600" dirty="0">
                <a:solidFill>
                  <a:srgbClr val="242B33"/>
                </a:solidFill>
                <a:latin typeface="Aptos" panose="020B0004020202020204" pitchFamily="34" charset="0"/>
              </a:endParaRPr>
            </a:p>
          </p:txBody>
        </p:sp>
      </p:grpSp>
    </p:spTree>
    <p:extLst>
      <p:ext uri="{BB962C8B-B14F-4D97-AF65-F5344CB8AC3E}">
        <p14:creationId xmlns:p14="http://schemas.microsoft.com/office/powerpoint/2010/main" val="112119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88487"/>
            <a:ext cx="10972800" cy="935641"/>
          </a:xfrm>
          <a:prstGeom prst="rect">
            <a:avLst/>
          </a:prstGeom>
          <a:noFill/>
        </p:spPr>
        <p:txBody>
          <a:bodyPr wrap="square" lIns="36576" tIns="36576" rIns="36576" bIns="36576" anchor="t">
            <a:spAutoFit/>
          </a:bodyPr>
          <a:lstStyle/>
          <a:p>
            <a:pPr algn="l"/>
            <a:r>
              <a:rPr sz="2800" b="1" dirty="0">
                <a:solidFill>
                  <a:srgbClr val="162C46"/>
                </a:solidFill>
                <a:latin typeface="Aptos Display"/>
              </a:rPr>
              <a:t>BÀI TOÁN KINH DOANH: SLA CÓ PHẢN ÁNH ĐÚNG TRẢI NGHIỆM KHÁCH HÀNG?</a:t>
            </a:r>
          </a:p>
        </p:txBody>
      </p:sp>
      <p:cxnSp>
        <p:nvCxnSpPr>
          <p:cNvPr id="3" name="Connector 2"/>
          <p:cNvCxnSpPr/>
          <p:nvPr/>
        </p:nvCxnSpPr>
        <p:spPr>
          <a:xfrm>
            <a:off x="566928" y="97322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94360" y="1215514"/>
            <a:ext cx="3108960" cy="320088"/>
          </a:xfrm>
          <a:prstGeom prst="rect">
            <a:avLst/>
          </a:prstGeom>
          <a:noFill/>
        </p:spPr>
        <p:txBody>
          <a:bodyPr wrap="square" lIns="36576" tIns="36576" rIns="36576" bIns="36576" anchor="t">
            <a:spAutoFit/>
          </a:bodyPr>
          <a:lstStyle/>
          <a:p>
            <a:pPr algn="l"/>
            <a:r>
              <a:rPr sz="1600" b="1" dirty="0">
                <a:solidFill>
                  <a:srgbClr val="2F639D"/>
                </a:solidFill>
                <a:latin typeface="Aptos"/>
              </a:rPr>
              <a:t>2. CÂU HỎI NGHIÊN CỨU</a:t>
            </a:r>
          </a:p>
        </p:txBody>
      </p:sp>
      <p:grpSp>
        <p:nvGrpSpPr>
          <p:cNvPr id="31" name="Group 30">
            <a:extLst>
              <a:ext uri="{FF2B5EF4-FFF2-40B4-BE49-F238E27FC236}">
                <a16:creationId xmlns:a16="http://schemas.microsoft.com/office/drawing/2014/main" id="{F41DC95D-178E-558A-E49F-B4E9C1B408ED}"/>
              </a:ext>
            </a:extLst>
          </p:cNvPr>
          <p:cNvGrpSpPr/>
          <p:nvPr/>
        </p:nvGrpSpPr>
        <p:grpSpPr>
          <a:xfrm>
            <a:off x="2302714" y="1726988"/>
            <a:ext cx="7962163" cy="2368748"/>
            <a:chOff x="365760" y="1598065"/>
            <a:chExt cx="7962163" cy="2368748"/>
          </a:xfrm>
        </p:grpSpPr>
        <p:sp>
          <p:nvSpPr>
            <p:cNvPr id="19" name="Rounded Rectangle 18"/>
            <p:cNvSpPr/>
            <p:nvPr/>
          </p:nvSpPr>
          <p:spPr>
            <a:xfrm>
              <a:off x="365760" y="1598065"/>
              <a:ext cx="7962163" cy="2368748"/>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8" name="TextBox 17"/>
            <p:cNvSpPr txBox="1"/>
            <p:nvPr/>
          </p:nvSpPr>
          <p:spPr>
            <a:xfrm>
              <a:off x="632313" y="1857958"/>
              <a:ext cx="7449803" cy="1658980"/>
            </a:xfrm>
            <a:prstGeom prst="rect">
              <a:avLst/>
            </a:prstGeom>
            <a:noFill/>
          </p:spPr>
          <p:txBody>
            <a:bodyPr wrap="square" lIns="36576" tIns="18288" rIns="18288" bIns="18288">
              <a:spAutoFit/>
            </a:bodyPr>
            <a:lstStyle/>
            <a:p>
              <a:pPr>
                <a:lnSpc>
                  <a:spcPct val="150000"/>
                </a:lnSpc>
              </a:pPr>
              <a:r>
                <a:rPr lang="vi-VN" b="1" dirty="0">
                  <a:latin typeface="Aptos" panose="020B0004020202020204" pitchFamily="34" charset="0"/>
                </a:rPr>
                <a:t>Q1: </a:t>
              </a:r>
              <a:r>
                <a:rPr lang="en-US" b="1" dirty="0">
                  <a:latin typeface="Aptos" panose="020B0004020202020204" pitchFamily="34" charset="0"/>
                </a:rPr>
                <a:t>Lead Time </a:t>
              </a:r>
              <a:r>
                <a:rPr lang="en-US" b="1" dirty="0" err="1">
                  <a:latin typeface="Aptos" panose="020B0004020202020204" pitchFamily="34" charset="0"/>
                </a:rPr>
                <a:t>thực</a:t>
              </a:r>
              <a:r>
                <a:rPr lang="en-US" b="1" dirty="0">
                  <a:latin typeface="Aptos" panose="020B0004020202020204" pitchFamily="34" charset="0"/>
                </a:rPr>
                <a:t> </a:t>
              </a:r>
              <a:r>
                <a:rPr lang="en-US" b="1" dirty="0" err="1">
                  <a:latin typeface="Aptos" panose="020B0004020202020204" pitchFamily="34" charset="0"/>
                </a:rPr>
                <a:t>tế</a:t>
              </a:r>
              <a:r>
                <a:rPr lang="en-US" b="1" dirty="0">
                  <a:latin typeface="Aptos" panose="020B0004020202020204" pitchFamily="34" charset="0"/>
                </a:rPr>
                <a:t> </a:t>
              </a:r>
              <a:r>
                <a:rPr lang="en-US" b="1" dirty="0" err="1">
                  <a:latin typeface="Aptos" panose="020B0004020202020204" pitchFamily="34" charset="0"/>
                </a:rPr>
                <a:t>phân</a:t>
              </a:r>
              <a:r>
                <a:rPr lang="en-US" b="1" dirty="0">
                  <a:latin typeface="Aptos" panose="020B0004020202020204" pitchFamily="34" charset="0"/>
                </a:rPr>
                <a:t> </a:t>
              </a:r>
              <a:r>
                <a:rPr lang="en-US" b="1" dirty="0" err="1">
                  <a:latin typeface="Aptos" panose="020B0004020202020204" pitchFamily="34" charset="0"/>
                </a:rPr>
                <a:t>bố</a:t>
              </a:r>
              <a:r>
                <a:rPr lang="en-US" b="1" dirty="0">
                  <a:latin typeface="Aptos" panose="020B0004020202020204" pitchFamily="34" charset="0"/>
                </a:rPr>
                <a:t> </a:t>
              </a:r>
              <a:r>
                <a:rPr lang="en-US" b="1" dirty="0" err="1">
                  <a:latin typeface="Aptos" panose="020B0004020202020204" pitchFamily="34" charset="0"/>
                </a:rPr>
                <a:t>như</a:t>
              </a:r>
              <a:r>
                <a:rPr lang="en-US" b="1" dirty="0">
                  <a:latin typeface="Aptos" panose="020B0004020202020204" pitchFamily="34" charset="0"/>
                </a:rPr>
                <a:t> </a:t>
              </a:r>
              <a:r>
                <a:rPr lang="en-US" b="1" dirty="0" err="1">
                  <a:latin typeface="Aptos" panose="020B0004020202020204" pitchFamily="34" charset="0"/>
                </a:rPr>
                <a:t>thế</a:t>
              </a:r>
              <a:r>
                <a:rPr lang="en-US" b="1" dirty="0">
                  <a:latin typeface="Aptos" panose="020B0004020202020204" pitchFamily="34" charset="0"/>
                </a:rPr>
                <a:t> </a:t>
              </a:r>
              <a:r>
                <a:rPr lang="en-US" b="1" dirty="0" err="1">
                  <a:latin typeface="Aptos" panose="020B0004020202020204" pitchFamily="34" charset="0"/>
                </a:rPr>
                <a:t>nào</a:t>
              </a:r>
              <a:r>
                <a:rPr lang="en-US" b="1" dirty="0">
                  <a:latin typeface="Aptos" panose="020B0004020202020204" pitchFamily="34" charset="0"/>
                </a:rPr>
                <a:t> so </a:t>
              </a:r>
              <a:r>
                <a:rPr lang="en-US" b="1" dirty="0" err="1">
                  <a:latin typeface="Aptos" panose="020B0004020202020204" pitchFamily="34" charset="0"/>
                </a:rPr>
                <a:t>với</a:t>
              </a:r>
              <a:r>
                <a:rPr lang="en-US" b="1" dirty="0">
                  <a:latin typeface="Aptos" panose="020B0004020202020204" pitchFamily="34" charset="0"/>
                </a:rPr>
                <a:t> SLA?</a:t>
              </a:r>
            </a:p>
            <a:p>
              <a:pPr>
                <a:lnSpc>
                  <a:spcPct val="150000"/>
                </a:lnSpc>
              </a:pPr>
              <a:r>
                <a:rPr lang="vi-VN" b="1" dirty="0">
                  <a:latin typeface="Aptos" panose="020B0004020202020204" pitchFamily="34" charset="0"/>
                </a:rPr>
                <a:t>Q2: </a:t>
              </a:r>
              <a:r>
                <a:rPr lang="en-US" b="1" dirty="0">
                  <a:latin typeface="Aptos" panose="020B0004020202020204" pitchFamily="34" charset="0"/>
                </a:rPr>
                <a:t>SLA </a:t>
              </a:r>
              <a:r>
                <a:rPr lang="en-US" b="1" dirty="0" err="1">
                  <a:latin typeface="Aptos" panose="020B0004020202020204" pitchFamily="34" charset="0"/>
                </a:rPr>
                <a:t>có</a:t>
              </a:r>
              <a:r>
                <a:rPr lang="en-US" b="1" dirty="0">
                  <a:latin typeface="Aptos" panose="020B0004020202020204" pitchFamily="34" charset="0"/>
                </a:rPr>
                <a:t> </a:t>
              </a:r>
              <a:r>
                <a:rPr lang="en-US" b="1" dirty="0" err="1">
                  <a:latin typeface="Aptos" panose="020B0004020202020204" pitchFamily="34" charset="0"/>
                </a:rPr>
                <a:t>phản</a:t>
              </a:r>
              <a:r>
                <a:rPr lang="en-US" b="1" dirty="0">
                  <a:latin typeface="Aptos" panose="020B0004020202020204" pitchFamily="34" charset="0"/>
                </a:rPr>
                <a:t> </a:t>
              </a:r>
              <a:r>
                <a:rPr lang="en-US" b="1" dirty="0" err="1">
                  <a:latin typeface="Aptos" panose="020B0004020202020204" pitchFamily="34" charset="0"/>
                </a:rPr>
                <a:t>ánh</a:t>
              </a:r>
              <a:r>
                <a:rPr lang="en-US" b="1" dirty="0">
                  <a:latin typeface="Aptos" panose="020B0004020202020204" pitchFamily="34" charset="0"/>
                </a:rPr>
                <a:t> </a:t>
              </a:r>
              <a:r>
                <a:rPr lang="en-US" b="1" dirty="0" err="1">
                  <a:latin typeface="Aptos" panose="020B0004020202020204" pitchFamily="34" charset="0"/>
                </a:rPr>
                <a:t>đúng</a:t>
              </a:r>
              <a:r>
                <a:rPr lang="en-US" b="1" dirty="0">
                  <a:latin typeface="Aptos" panose="020B0004020202020204" pitchFamily="34" charset="0"/>
                </a:rPr>
                <a:t> </a:t>
              </a:r>
              <a:r>
                <a:rPr lang="en-US" b="1" dirty="0" err="1">
                  <a:latin typeface="Aptos" panose="020B0004020202020204" pitchFamily="34" charset="0"/>
                </a:rPr>
                <a:t>cảm</a:t>
              </a:r>
              <a:r>
                <a:rPr lang="en-US" b="1" dirty="0">
                  <a:latin typeface="Aptos" panose="020B0004020202020204" pitchFamily="34" charset="0"/>
                </a:rPr>
                <a:t> </a:t>
              </a:r>
              <a:r>
                <a:rPr lang="en-US" b="1" dirty="0" err="1">
                  <a:latin typeface="Aptos" panose="020B0004020202020204" pitchFamily="34" charset="0"/>
                </a:rPr>
                <a:t>nhận</a:t>
              </a:r>
              <a:r>
                <a:rPr lang="en-US" b="1" dirty="0">
                  <a:latin typeface="Aptos" panose="020B0004020202020204" pitchFamily="34" charset="0"/>
                </a:rPr>
                <a:t> </a:t>
              </a:r>
              <a:r>
                <a:rPr lang="en-US" b="1" dirty="0" err="1">
                  <a:latin typeface="Aptos" panose="020B0004020202020204" pitchFamily="34" charset="0"/>
                </a:rPr>
                <a:t>giao</a:t>
              </a:r>
              <a:r>
                <a:rPr lang="en-US" b="1" dirty="0">
                  <a:latin typeface="Aptos" panose="020B0004020202020204" pitchFamily="34" charset="0"/>
                </a:rPr>
                <a:t> </a:t>
              </a:r>
              <a:r>
                <a:rPr lang="en-US" b="1" dirty="0" err="1">
                  <a:latin typeface="Aptos" panose="020B0004020202020204" pitchFamily="34" charset="0"/>
                </a:rPr>
                <a:t>hàng</a:t>
              </a:r>
              <a:r>
                <a:rPr lang="en-US" b="1" dirty="0">
                  <a:latin typeface="Aptos" panose="020B0004020202020204" pitchFamily="34" charset="0"/>
                </a:rPr>
                <a:t> </a:t>
              </a:r>
              <a:r>
                <a:rPr lang="en-US" b="1" dirty="0" err="1">
                  <a:latin typeface="Aptos" panose="020B0004020202020204" pitchFamily="34" charset="0"/>
                </a:rPr>
                <a:t>của</a:t>
              </a:r>
              <a:r>
                <a:rPr lang="en-US" b="1" dirty="0">
                  <a:latin typeface="Aptos" panose="020B0004020202020204" pitchFamily="34" charset="0"/>
                </a:rPr>
                <a:t> </a:t>
              </a:r>
              <a:r>
                <a:rPr lang="en-US" b="1" dirty="0" err="1">
                  <a:latin typeface="Aptos" panose="020B0004020202020204" pitchFamily="34" charset="0"/>
                </a:rPr>
                <a:t>khách</a:t>
              </a:r>
              <a:r>
                <a:rPr lang="en-US" b="1" dirty="0">
                  <a:latin typeface="Aptos" panose="020B0004020202020204" pitchFamily="34" charset="0"/>
                </a:rPr>
                <a:t> </a:t>
              </a:r>
              <a:r>
                <a:rPr lang="en-US" b="1" dirty="0" err="1">
                  <a:latin typeface="Aptos" panose="020B0004020202020204" pitchFamily="34" charset="0"/>
                </a:rPr>
                <a:t>hàng</a:t>
              </a:r>
              <a:r>
                <a:rPr lang="en-US" b="1" dirty="0">
                  <a:latin typeface="Aptos" panose="020B0004020202020204" pitchFamily="34" charset="0"/>
                </a:rPr>
                <a:t> </a:t>
              </a:r>
              <a:r>
                <a:rPr lang="en-US" b="1" dirty="0" err="1">
                  <a:latin typeface="Aptos" panose="020B0004020202020204" pitchFamily="34" charset="0"/>
                </a:rPr>
                <a:t>không</a:t>
              </a:r>
              <a:r>
                <a:rPr lang="en-US" b="1" dirty="0">
                  <a:latin typeface="Aptos" panose="020B0004020202020204" pitchFamily="34" charset="0"/>
                </a:rPr>
                <a:t>?</a:t>
              </a:r>
            </a:p>
            <a:p>
              <a:pPr>
                <a:lnSpc>
                  <a:spcPct val="150000"/>
                </a:lnSpc>
              </a:pPr>
              <a:r>
                <a:rPr lang="vi-VN" b="1" dirty="0">
                  <a:latin typeface="Aptos" panose="020B0004020202020204" pitchFamily="34" charset="0"/>
                </a:rPr>
                <a:t>Q3: </a:t>
              </a:r>
              <a:r>
                <a:rPr lang="en-US" b="1" dirty="0">
                  <a:latin typeface="Aptos" panose="020B0004020202020204" pitchFamily="34" charset="0"/>
                </a:rPr>
                <a:t>Lead Time </a:t>
              </a:r>
              <a:r>
                <a:rPr lang="en-US" b="1" dirty="0" err="1">
                  <a:latin typeface="Aptos" panose="020B0004020202020204" pitchFamily="34" charset="0"/>
                </a:rPr>
                <a:t>có</a:t>
              </a:r>
              <a:r>
                <a:rPr lang="en-US" b="1" dirty="0">
                  <a:latin typeface="Aptos" panose="020B0004020202020204" pitchFamily="34" charset="0"/>
                </a:rPr>
                <a:t> </a:t>
              </a:r>
              <a:r>
                <a:rPr lang="en-US" b="1" dirty="0" err="1">
                  <a:latin typeface="Aptos" panose="020B0004020202020204" pitchFamily="34" charset="0"/>
                </a:rPr>
                <a:t>liên</a:t>
              </a:r>
              <a:r>
                <a:rPr lang="en-US" b="1" dirty="0">
                  <a:latin typeface="Aptos" panose="020B0004020202020204" pitchFamily="34" charset="0"/>
                </a:rPr>
                <a:t> </a:t>
              </a:r>
              <a:r>
                <a:rPr lang="en-US" b="1" dirty="0" err="1">
                  <a:latin typeface="Aptos" panose="020B0004020202020204" pitchFamily="34" charset="0"/>
                </a:rPr>
                <a:t>hệ</a:t>
              </a:r>
              <a:r>
                <a:rPr lang="en-US" b="1" dirty="0">
                  <a:latin typeface="Aptos" panose="020B0004020202020204" pitchFamily="34" charset="0"/>
                </a:rPr>
                <a:t> </a:t>
              </a:r>
              <a:r>
                <a:rPr lang="en-US" b="1" dirty="0" err="1">
                  <a:latin typeface="Aptos" panose="020B0004020202020204" pitchFamily="34" charset="0"/>
                </a:rPr>
                <a:t>với</a:t>
              </a:r>
              <a:r>
                <a:rPr lang="en-US" b="1" dirty="0">
                  <a:latin typeface="Aptos" panose="020B0004020202020204" pitchFamily="34" charset="0"/>
                </a:rPr>
                <a:t> Rating </a:t>
              </a:r>
              <a:r>
                <a:rPr lang="en-US" b="1" dirty="0" err="1">
                  <a:latin typeface="Aptos" panose="020B0004020202020204" pitchFamily="34" charset="0"/>
                </a:rPr>
                <a:t>không</a:t>
              </a:r>
              <a:r>
                <a:rPr lang="en-US" b="1" dirty="0">
                  <a:latin typeface="Aptos" panose="020B0004020202020204" pitchFamily="34" charset="0"/>
                </a:rPr>
                <a:t>?</a:t>
              </a:r>
            </a:p>
            <a:p>
              <a:pPr>
                <a:lnSpc>
                  <a:spcPct val="150000"/>
                </a:lnSpc>
              </a:pPr>
              <a:r>
                <a:rPr lang="vi-VN" b="1" dirty="0">
                  <a:latin typeface="Aptos" panose="020B0004020202020204" pitchFamily="34" charset="0"/>
                </a:rPr>
                <a:t>Q4: </a:t>
              </a:r>
              <a:r>
                <a:rPr lang="en-US" b="1" dirty="0" err="1">
                  <a:latin typeface="Aptos" panose="020B0004020202020204" pitchFamily="34" charset="0"/>
                </a:rPr>
                <a:t>Có</a:t>
              </a:r>
              <a:r>
                <a:rPr lang="en-US" b="1" dirty="0">
                  <a:latin typeface="Aptos" panose="020B0004020202020204" pitchFamily="34" charset="0"/>
                </a:rPr>
                <a:t> </a:t>
              </a:r>
              <a:r>
                <a:rPr lang="en-US" b="1" dirty="0" err="1">
                  <a:latin typeface="Aptos" panose="020B0004020202020204" pitchFamily="34" charset="0"/>
                </a:rPr>
                <a:t>thể</a:t>
              </a:r>
              <a:r>
                <a:rPr lang="en-US" b="1" dirty="0">
                  <a:latin typeface="Aptos" panose="020B0004020202020204" pitchFamily="34" charset="0"/>
                </a:rPr>
                <a:t> </a:t>
              </a:r>
              <a:r>
                <a:rPr lang="en-US" b="1" dirty="0" err="1">
                  <a:latin typeface="Aptos" panose="020B0004020202020204" pitchFamily="34" charset="0"/>
                </a:rPr>
                <a:t>dự</a:t>
              </a:r>
              <a:r>
                <a:rPr lang="en-US" b="1" dirty="0">
                  <a:latin typeface="Aptos" panose="020B0004020202020204" pitchFamily="34" charset="0"/>
                </a:rPr>
                <a:t> </a:t>
              </a:r>
              <a:r>
                <a:rPr lang="en-US" b="1" dirty="0" err="1">
                  <a:latin typeface="Aptos" panose="020B0004020202020204" pitchFamily="34" charset="0"/>
                </a:rPr>
                <a:t>báo</a:t>
              </a:r>
              <a:r>
                <a:rPr lang="en-US" b="1" dirty="0">
                  <a:latin typeface="Aptos" panose="020B0004020202020204" pitchFamily="34" charset="0"/>
                </a:rPr>
                <a:t> Low Rating </a:t>
              </a:r>
              <a:r>
                <a:rPr lang="en-US" b="1" dirty="0" err="1">
                  <a:latin typeface="Aptos" panose="020B0004020202020204" pitchFamily="34" charset="0"/>
                </a:rPr>
                <a:t>tốt</a:t>
              </a:r>
              <a:r>
                <a:rPr lang="en-US" b="1" dirty="0">
                  <a:latin typeface="Aptos" panose="020B0004020202020204" pitchFamily="34" charset="0"/>
                </a:rPr>
                <a:t> </a:t>
              </a:r>
              <a:r>
                <a:rPr lang="en-US" b="1" dirty="0" err="1">
                  <a:latin typeface="Aptos" panose="020B0004020202020204" pitchFamily="34" charset="0"/>
                </a:rPr>
                <a:t>hơn</a:t>
              </a:r>
              <a:r>
                <a:rPr lang="en-US" b="1" dirty="0">
                  <a:latin typeface="Aptos" panose="020B0004020202020204" pitchFamily="34" charset="0"/>
                </a:rPr>
                <a:t> </a:t>
              </a:r>
              <a:r>
                <a:rPr lang="en-US" b="1" dirty="0" err="1">
                  <a:latin typeface="Aptos" panose="020B0004020202020204" pitchFamily="34" charset="0"/>
                </a:rPr>
                <a:t>chỉ</a:t>
              </a:r>
              <a:r>
                <a:rPr lang="en-US" b="1" dirty="0">
                  <a:latin typeface="Aptos" panose="020B0004020202020204" pitchFamily="34" charset="0"/>
                </a:rPr>
                <a:t> </a:t>
              </a:r>
              <a:r>
                <a:rPr lang="en-US" b="1" dirty="0" err="1">
                  <a:latin typeface="Aptos" panose="020B0004020202020204" pitchFamily="34" charset="0"/>
                </a:rPr>
                <a:t>sử</a:t>
              </a:r>
              <a:r>
                <a:rPr lang="en-US" b="1" dirty="0">
                  <a:latin typeface="Aptos" panose="020B0004020202020204" pitchFamily="34" charset="0"/>
                </a:rPr>
                <a:t> </a:t>
              </a:r>
              <a:r>
                <a:rPr lang="en-US" b="1" dirty="0" err="1">
                  <a:latin typeface="Aptos" panose="020B0004020202020204" pitchFamily="34" charset="0"/>
                </a:rPr>
                <a:t>dụng</a:t>
              </a:r>
              <a:r>
                <a:rPr lang="en-US" b="1" dirty="0">
                  <a:latin typeface="Aptos" panose="020B0004020202020204" pitchFamily="34" charset="0"/>
                </a:rPr>
                <a:t> SLA </a:t>
              </a:r>
              <a:r>
                <a:rPr lang="en-US" b="1" dirty="0" err="1">
                  <a:latin typeface="Aptos" panose="020B0004020202020204" pitchFamily="34" charset="0"/>
                </a:rPr>
                <a:t>không</a:t>
              </a:r>
              <a:r>
                <a:rPr lang="en-US" b="1" dirty="0">
                  <a:latin typeface="Aptos" panose="020B0004020202020204" pitchFamily="34" charset="0"/>
                </a:rPr>
                <a:t>?</a:t>
              </a:r>
            </a:p>
          </p:txBody>
        </p:sp>
      </p:grpSp>
      <p:sp>
        <p:nvSpPr>
          <p:cNvPr id="21" name="TextBox 20"/>
          <p:cNvSpPr txBox="1"/>
          <p:nvPr/>
        </p:nvSpPr>
        <p:spPr>
          <a:xfrm>
            <a:off x="594360" y="6565392"/>
            <a:ext cx="4023360" cy="204671"/>
          </a:xfrm>
          <a:prstGeom prst="rect">
            <a:avLst/>
          </a:prstGeom>
          <a:noFill/>
        </p:spPr>
        <p:txBody>
          <a:bodyPr wrap="square" lIns="36576" tIns="36576" rIns="36576" bIns="36576" anchor="t">
            <a:spAutoFit/>
          </a:bodyPr>
          <a:lstStyle/>
          <a:p>
            <a:pPr algn="l"/>
            <a:r>
              <a:rPr sz="850" b="0" dirty="0" err="1">
                <a:solidFill>
                  <a:srgbClr val="5E6A78"/>
                </a:solidFill>
                <a:latin typeface="Aptos"/>
              </a:rPr>
              <a:t>Cơ</a:t>
            </a:r>
            <a:r>
              <a:rPr sz="850" b="0" dirty="0">
                <a:solidFill>
                  <a:srgbClr val="5E6A78"/>
                </a:solidFill>
                <a:latin typeface="Aptos"/>
              </a:rPr>
              <a:t> </a:t>
            </a:r>
            <a:r>
              <a:rPr sz="850" b="0" dirty="0" err="1">
                <a:solidFill>
                  <a:srgbClr val="5E6A78"/>
                </a:solidFill>
                <a:latin typeface="Aptos"/>
              </a:rPr>
              <a:t>sở</a:t>
            </a:r>
            <a:r>
              <a:rPr sz="850" b="0" dirty="0">
                <a:solidFill>
                  <a:srgbClr val="5E6A78"/>
                </a:solidFill>
                <a:latin typeface="Aptos"/>
              </a:rPr>
              <a:t> Khoa </a:t>
            </a:r>
            <a:r>
              <a:rPr sz="850" b="0" dirty="0" err="1">
                <a:solidFill>
                  <a:srgbClr val="5E6A78"/>
                </a:solidFill>
                <a:latin typeface="Aptos"/>
              </a:rPr>
              <a:t>học</a:t>
            </a:r>
            <a:r>
              <a:rPr sz="850" b="0" dirty="0">
                <a:solidFill>
                  <a:srgbClr val="5E6A78"/>
                </a:solidFill>
                <a:latin typeface="Aptos"/>
              </a:rPr>
              <a:t> </a:t>
            </a:r>
            <a:r>
              <a:rPr sz="850" b="0" dirty="0" err="1">
                <a:solidFill>
                  <a:srgbClr val="5E6A78"/>
                </a:solidFill>
                <a:latin typeface="Aptos"/>
              </a:rPr>
              <a:t>Dữ</a:t>
            </a:r>
            <a:r>
              <a:rPr sz="850" b="0" dirty="0">
                <a:solidFill>
                  <a:srgbClr val="5E6A78"/>
                </a:solidFill>
                <a:latin typeface="Aptos"/>
              </a:rPr>
              <a:t> </a:t>
            </a:r>
            <a:r>
              <a:rPr sz="850" b="0" dirty="0" err="1">
                <a:solidFill>
                  <a:srgbClr val="5E6A78"/>
                </a:solidFill>
                <a:latin typeface="Aptos"/>
              </a:rPr>
              <a:t>liệu</a:t>
            </a:r>
            <a:r>
              <a:rPr sz="850" b="0" dirty="0">
                <a:solidFill>
                  <a:srgbClr val="5E6A78"/>
                </a:solidFill>
                <a:latin typeface="Aptos"/>
              </a:rPr>
              <a:t>  •  SLA &amp; Customer Experience</a:t>
            </a:r>
          </a:p>
        </p:txBody>
      </p:sp>
      <p:sp>
        <p:nvSpPr>
          <p:cNvPr id="22" name="TextBox 21"/>
          <p:cNvSpPr txBox="1"/>
          <p:nvPr/>
        </p:nvSpPr>
        <p:spPr>
          <a:xfrm>
            <a:off x="11201400" y="6567055"/>
            <a:ext cx="365760" cy="166255"/>
          </a:xfrm>
          <a:prstGeom prst="rect">
            <a:avLst/>
          </a:prstGeom>
          <a:noFill/>
        </p:spPr>
        <p:txBody>
          <a:bodyPr wrap="square" lIns="36576" tIns="36576" rIns="36576" bIns="36576" anchor="t">
            <a:spAutoFit/>
          </a:bodyPr>
          <a:lstStyle/>
          <a:p>
            <a:pPr algn="r"/>
            <a:r>
              <a:rPr sz="850" b="0">
                <a:solidFill>
                  <a:srgbClr val="5E6A78"/>
                </a:solidFill>
                <a:latin typeface="Aptos"/>
              </a:rPr>
              <a:t>4</a:t>
            </a:r>
          </a:p>
        </p:txBody>
      </p:sp>
      <p:sp>
        <p:nvSpPr>
          <p:cNvPr id="23" name="Rounded Rectangle 22"/>
          <p:cNvSpPr/>
          <p:nvPr/>
        </p:nvSpPr>
        <p:spPr>
          <a:xfrm>
            <a:off x="4846320" y="6510528"/>
            <a:ext cx="658368"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Business</a:t>
            </a:r>
          </a:p>
        </p:txBody>
      </p:sp>
      <p:sp>
        <p:nvSpPr>
          <p:cNvPr id="24" name="Rounded Rectangle 23"/>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Data Collection</a:t>
            </a:r>
          </a:p>
        </p:txBody>
      </p:sp>
      <p:sp>
        <p:nvSpPr>
          <p:cNvPr id="25" name="Rounded Rectangle 24"/>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Cleaning</a:t>
            </a:r>
          </a:p>
        </p:txBody>
      </p:sp>
      <p:sp>
        <p:nvSpPr>
          <p:cNvPr id="26" name="Rounded Rectangle 25"/>
          <p:cNvSpPr/>
          <p:nvPr/>
        </p:nvSpPr>
        <p:spPr>
          <a:xfrm>
            <a:off x="7306056" y="6510528"/>
            <a:ext cx="42062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EDA</a:t>
            </a:r>
          </a:p>
        </p:txBody>
      </p:sp>
      <p:sp>
        <p:nvSpPr>
          <p:cNvPr id="27" name="Rounded Rectangle 26"/>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Features</a:t>
            </a:r>
          </a:p>
        </p:txBody>
      </p:sp>
      <p:sp>
        <p:nvSpPr>
          <p:cNvPr id="28" name="Rounded Rectangle 27"/>
          <p:cNvSpPr/>
          <p:nvPr/>
        </p:nvSpPr>
        <p:spPr>
          <a:xfrm>
            <a:off x="8494776" y="6510528"/>
            <a:ext cx="69494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Modeling</a:t>
            </a:r>
          </a:p>
        </p:txBody>
      </p:sp>
      <p:sp>
        <p:nvSpPr>
          <p:cNvPr id="29" name="Rounded Rectangle 28"/>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Evaluation</a:t>
            </a:r>
          </a:p>
        </p:txBody>
      </p:sp>
      <p:sp>
        <p:nvSpPr>
          <p:cNvPr id="30" name="Rounded Rectangle 29"/>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 Value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0832" y="123194"/>
            <a:ext cx="10972800" cy="997196"/>
          </a:xfrm>
          <a:prstGeom prst="rect">
            <a:avLst/>
          </a:prstGeom>
          <a:noFill/>
        </p:spPr>
        <p:txBody>
          <a:bodyPr wrap="square" lIns="36576" tIns="36576" rIns="36576" bIns="36576" anchor="t">
            <a:spAutoFit/>
          </a:bodyPr>
          <a:lstStyle/>
          <a:p>
            <a:pPr algn="l"/>
            <a:r>
              <a:rPr sz="3000" b="1" dirty="0">
                <a:solidFill>
                  <a:srgbClr val="162C46"/>
                </a:solidFill>
                <a:latin typeface="Aptos Display"/>
              </a:rPr>
              <a:t>THU THẬP DỮ LIỆU — TỪ TIKI REVIEWS ĐẾN TẬP DỮ LIỆU PHÂN TÍCH</a:t>
            </a:r>
          </a:p>
        </p:txBody>
      </p:sp>
      <p:cxnSp>
        <p:nvCxnSpPr>
          <p:cNvPr id="3" name="Connector 2"/>
          <p:cNvCxnSpPr/>
          <p:nvPr/>
        </p:nvCxnSpPr>
        <p:spPr>
          <a:xfrm>
            <a:off x="594359" y="1120390"/>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94360" y="1365597"/>
            <a:ext cx="3108960" cy="320088"/>
          </a:xfrm>
          <a:prstGeom prst="rect">
            <a:avLst/>
          </a:prstGeom>
          <a:noFill/>
        </p:spPr>
        <p:txBody>
          <a:bodyPr wrap="square" lIns="36576" tIns="36576" rIns="36576" bIns="36576" anchor="t">
            <a:spAutoFit/>
          </a:bodyPr>
          <a:lstStyle/>
          <a:p>
            <a:pPr algn="l"/>
            <a:r>
              <a:rPr sz="1600" b="1" dirty="0">
                <a:solidFill>
                  <a:srgbClr val="2F639D"/>
                </a:solidFill>
                <a:latin typeface="Aptos"/>
              </a:rPr>
              <a:t>NGUỒN VÀ QUY MÔ DỮ LIỆU</a:t>
            </a:r>
          </a:p>
        </p:txBody>
      </p:sp>
      <p:sp>
        <p:nvSpPr>
          <p:cNvPr id="6" name="TextBox 5"/>
          <p:cNvSpPr txBox="1"/>
          <p:nvPr/>
        </p:nvSpPr>
        <p:spPr>
          <a:xfrm>
            <a:off x="621792" y="1703925"/>
            <a:ext cx="4572000" cy="301621"/>
          </a:xfrm>
          <a:prstGeom prst="rect">
            <a:avLst/>
          </a:prstGeom>
          <a:noFill/>
        </p:spPr>
        <p:txBody>
          <a:bodyPr wrap="square" lIns="45720" tIns="27432" rIns="45720" bIns="27432">
            <a:spAutoFit/>
          </a:bodyPr>
          <a:lstStyle/>
          <a:p>
            <a:pPr algn="l"/>
            <a:r>
              <a:rPr sz="1600" b="1" dirty="0" err="1">
                <a:solidFill>
                  <a:srgbClr val="162C46"/>
                </a:solidFill>
                <a:latin typeface="Aptos"/>
              </a:rPr>
              <a:t>Nguồn</a:t>
            </a:r>
            <a:r>
              <a:rPr sz="1600" b="1" dirty="0">
                <a:solidFill>
                  <a:srgbClr val="162C46"/>
                </a:solidFill>
                <a:latin typeface="Aptos"/>
              </a:rPr>
              <a:t> </a:t>
            </a:r>
            <a:r>
              <a:rPr sz="1600" b="1" dirty="0" err="1">
                <a:solidFill>
                  <a:srgbClr val="162C46"/>
                </a:solidFill>
                <a:latin typeface="Aptos"/>
              </a:rPr>
              <a:t>dữ</a:t>
            </a:r>
            <a:r>
              <a:rPr sz="1600" b="1" dirty="0">
                <a:solidFill>
                  <a:srgbClr val="162C46"/>
                </a:solidFill>
                <a:latin typeface="Aptos"/>
              </a:rPr>
              <a:t> </a:t>
            </a:r>
            <a:r>
              <a:rPr sz="1600" b="1" dirty="0" err="1">
                <a:solidFill>
                  <a:srgbClr val="162C46"/>
                </a:solidFill>
                <a:latin typeface="Aptos"/>
              </a:rPr>
              <a:t>liệu</a:t>
            </a:r>
            <a:r>
              <a:rPr sz="1600" b="1" dirty="0">
                <a:solidFill>
                  <a:srgbClr val="162C46"/>
                </a:solidFill>
                <a:latin typeface="Aptos"/>
              </a:rPr>
              <a:t>: </a:t>
            </a:r>
            <a:r>
              <a:rPr sz="1600" b="0" dirty="0" err="1">
                <a:solidFill>
                  <a:srgbClr val="242B33"/>
                </a:solidFill>
                <a:latin typeface="Aptos"/>
              </a:rPr>
              <a:t>Đánh</a:t>
            </a:r>
            <a:r>
              <a:rPr sz="1600" b="0" dirty="0">
                <a:solidFill>
                  <a:srgbClr val="242B33"/>
                </a:solidFill>
                <a:latin typeface="Aptos"/>
              </a:rPr>
              <a:t> </a:t>
            </a:r>
            <a:r>
              <a:rPr sz="1600" b="0" dirty="0" err="1">
                <a:solidFill>
                  <a:srgbClr val="242B33"/>
                </a:solidFill>
                <a:latin typeface="Aptos"/>
              </a:rPr>
              <a:t>giá</a:t>
            </a:r>
            <a:r>
              <a:rPr sz="1600" b="0" dirty="0">
                <a:solidFill>
                  <a:srgbClr val="242B33"/>
                </a:solidFill>
                <a:latin typeface="Aptos"/>
              </a:rPr>
              <a:t> </a:t>
            </a:r>
            <a:r>
              <a:rPr sz="1600" b="0" dirty="0" err="1">
                <a:solidFill>
                  <a:srgbClr val="242B33"/>
                </a:solidFill>
                <a:latin typeface="Aptos"/>
              </a:rPr>
              <a:t>sản</a:t>
            </a:r>
            <a:r>
              <a:rPr sz="1600" b="0" dirty="0">
                <a:solidFill>
                  <a:srgbClr val="242B33"/>
                </a:solidFill>
                <a:latin typeface="Aptos"/>
              </a:rPr>
              <a:t> </a:t>
            </a:r>
            <a:r>
              <a:rPr sz="1600" b="0" dirty="0" err="1">
                <a:solidFill>
                  <a:srgbClr val="242B33"/>
                </a:solidFill>
                <a:latin typeface="Aptos"/>
              </a:rPr>
              <a:t>phẩm</a:t>
            </a:r>
            <a:r>
              <a:rPr sz="1600" b="0" dirty="0">
                <a:solidFill>
                  <a:srgbClr val="242B33"/>
                </a:solidFill>
                <a:latin typeface="Aptos"/>
              </a:rPr>
              <a:t> </a:t>
            </a:r>
            <a:r>
              <a:rPr sz="1600" b="0" dirty="0" err="1">
                <a:solidFill>
                  <a:srgbClr val="242B33"/>
                </a:solidFill>
                <a:latin typeface="Aptos"/>
              </a:rPr>
              <a:t>trên</a:t>
            </a:r>
            <a:r>
              <a:rPr sz="1600" b="0" dirty="0">
                <a:solidFill>
                  <a:srgbClr val="242B33"/>
                </a:solidFill>
                <a:latin typeface="Aptos"/>
              </a:rPr>
              <a:t> Tiki</a:t>
            </a:r>
          </a:p>
        </p:txBody>
      </p:sp>
      <p:sp>
        <p:nvSpPr>
          <p:cNvPr id="7" name="TextBox 6"/>
          <p:cNvSpPr txBox="1"/>
          <p:nvPr/>
        </p:nvSpPr>
        <p:spPr>
          <a:xfrm>
            <a:off x="621792" y="2097117"/>
            <a:ext cx="4572000" cy="301621"/>
          </a:xfrm>
          <a:prstGeom prst="rect">
            <a:avLst/>
          </a:prstGeom>
          <a:noFill/>
        </p:spPr>
        <p:txBody>
          <a:bodyPr wrap="square" lIns="45720" tIns="27432" rIns="45720" bIns="27432">
            <a:spAutoFit/>
          </a:bodyPr>
          <a:lstStyle/>
          <a:p>
            <a:pPr algn="l"/>
            <a:r>
              <a:rPr sz="1600" b="1" dirty="0">
                <a:solidFill>
                  <a:srgbClr val="162C46"/>
                </a:solidFill>
                <a:latin typeface="Aptos"/>
              </a:rPr>
              <a:t>Quy </a:t>
            </a:r>
            <a:r>
              <a:rPr sz="1600" b="1" dirty="0" err="1">
                <a:solidFill>
                  <a:srgbClr val="162C46"/>
                </a:solidFill>
                <a:latin typeface="Aptos"/>
              </a:rPr>
              <a:t>mô</a:t>
            </a:r>
            <a:r>
              <a:rPr sz="1600" b="1" dirty="0">
                <a:solidFill>
                  <a:srgbClr val="162C46"/>
                </a:solidFill>
                <a:latin typeface="Aptos"/>
              </a:rPr>
              <a:t> </a:t>
            </a:r>
            <a:r>
              <a:rPr sz="1600" b="1" dirty="0" err="1">
                <a:solidFill>
                  <a:srgbClr val="162C46"/>
                </a:solidFill>
                <a:latin typeface="Aptos"/>
              </a:rPr>
              <a:t>tập</a:t>
            </a:r>
            <a:r>
              <a:rPr sz="1600" b="1" dirty="0">
                <a:solidFill>
                  <a:srgbClr val="162C46"/>
                </a:solidFill>
                <a:latin typeface="Aptos"/>
              </a:rPr>
              <a:t> </a:t>
            </a:r>
            <a:r>
              <a:rPr sz="1600" b="1" dirty="0" err="1">
                <a:solidFill>
                  <a:srgbClr val="162C46"/>
                </a:solidFill>
                <a:latin typeface="Aptos"/>
              </a:rPr>
              <a:t>dữ</a:t>
            </a:r>
            <a:r>
              <a:rPr sz="1600" b="1" dirty="0">
                <a:solidFill>
                  <a:srgbClr val="162C46"/>
                </a:solidFill>
                <a:latin typeface="Aptos"/>
              </a:rPr>
              <a:t> </a:t>
            </a:r>
            <a:r>
              <a:rPr sz="1600" b="1" dirty="0" err="1">
                <a:solidFill>
                  <a:srgbClr val="162C46"/>
                </a:solidFill>
                <a:latin typeface="Aptos"/>
              </a:rPr>
              <a:t>liệu</a:t>
            </a:r>
            <a:r>
              <a:rPr sz="1600" b="1" dirty="0">
                <a:solidFill>
                  <a:srgbClr val="162C46"/>
                </a:solidFill>
                <a:latin typeface="Aptos"/>
              </a:rPr>
              <a:t>: </a:t>
            </a:r>
            <a:r>
              <a:rPr sz="1600" b="1" dirty="0">
                <a:solidFill>
                  <a:srgbClr val="2F639D"/>
                </a:solidFill>
                <a:latin typeface="Aptos"/>
              </a:rPr>
              <a:t>203.510 reviews</a:t>
            </a:r>
          </a:p>
        </p:txBody>
      </p:sp>
      <p:sp>
        <p:nvSpPr>
          <p:cNvPr id="8" name="TextBox 7"/>
          <p:cNvSpPr txBox="1"/>
          <p:nvPr/>
        </p:nvSpPr>
        <p:spPr>
          <a:xfrm>
            <a:off x="594360" y="2682333"/>
            <a:ext cx="2560320" cy="320088"/>
          </a:xfrm>
          <a:prstGeom prst="rect">
            <a:avLst/>
          </a:prstGeom>
          <a:noFill/>
        </p:spPr>
        <p:txBody>
          <a:bodyPr wrap="square" lIns="36576" tIns="36576" rIns="36576" bIns="36576" anchor="t">
            <a:spAutoFit/>
          </a:bodyPr>
          <a:lstStyle/>
          <a:p>
            <a:pPr algn="l"/>
            <a:r>
              <a:rPr sz="1600" b="1" dirty="0">
                <a:solidFill>
                  <a:srgbClr val="2F639D"/>
                </a:solidFill>
                <a:latin typeface="Aptos"/>
              </a:rPr>
              <a:t>DỮ LIỆU THU THẬP</a:t>
            </a:r>
          </a:p>
        </p:txBody>
      </p:sp>
      <p:sp>
        <p:nvSpPr>
          <p:cNvPr id="9" name="Rounded Rectangle 8"/>
          <p:cNvSpPr/>
          <p:nvPr/>
        </p:nvSpPr>
        <p:spPr>
          <a:xfrm>
            <a:off x="594359" y="3189956"/>
            <a:ext cx="3364992" cy="1325880"/>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0" name="TextBox 9"/>
          <p:cNvSpPr txBox="1"/>
          <p:nvPr/>
        </p:nvSpPr>
        <p:spPr>
          <a:xfrm>
            <a:off x="758950" y="3354548"/>
            <a:ext cx="3017520" cy="320088"/>
          </a:xfrm>
          <a:prstGeom prst="rect">
            <a:avLst/>
          </a:prstGeom>
          <a:noFill/>
        </p:spPr>
        <p:txBody>
          <a:bodyPr wrap="square" lIns="36576" tIns="36576" rIns="36576" bIns="36576" anchor="t">
            <a:spAutoFit/>
          </a:bodyPr>
          <a:lstStyle/>
          <a:p>
            <a:pPr algn="l"/>
            <a:r>
              <a:rPr sz="1600" b="1" dirty="0">
                <a:solidFill>
                  <a:srgbClr val="162C46"/>
                </a:solidFill>
                <a:latin typeface="Aptos"/>
              </a:rPr>
              <a:t>ĐÁNH GIÁ KHÁCH HÀNG</a:t>
            </a:r>
          </a:p>
        </p:txBody>
      </p:sp>
      <p:sp>
        <p:nvSpPr>
          <p:cNvPr id="11" name="TextBox 10"/>
          <p:cNvSpPr txBox="1"/>
          <p:nvPr/>
        </p:nvSpPr>
        <p:spPr>
          <a:xfrm>
            <a:off x="758950" y="3711164"/>
            <a:ext cx="3017520" cy="566309"/>
          </a:xfrm>
          <a:prstGeom prst="rect">
            <a:avLst/>
          </a:prstGeom>
          <a:noFill/>
        </p:spPr>
        <p:txBody>
          <a:bodyPr wrap="square" lIns="36576" tIns="36576" rIns="36576" bIns="36576" anchor="t">
            <a:spAutoFit/>
          </a:bodyPr>
          <a:lstStyle/>
          <a:p>
            <a:pPr algn="l"/>
            <a:r>
              <a:rPr sz="1600" b="0" dirty="0">
                <a:solidFill>
                  <a:srgbClr val="5E6A78"/>
                </a:solidFill>
                <a:latin typeface="Aptos"/>
              </a:rPr>
              <a:t>Rating · </a:t>
            </a:r>
            <a:r>
              <a:rPr sz="1600" b="0" dirty="0" err="1">
                <a:solidFill>
                  <a:srgbClr val="5E6A78"/>
                </a:solidFill>
                <a:latin typeface="Aptos"/>
              </a:rPr>
              <a:t>Thời</a:t>
            </a:r>
            <a:r>
              <a:rPr sz="1600" b="0" dirty="0">
                <a:solidFill>
                  <a:srgbClr val="5E6A78"/>
                </a:solidFill>
                <a:latin typeface="Aptos"/>
              </a:rPr>
              <a:t> </a:t>
            </a:r>
            <a:r>
              <a:rPr sz="1600" b="0" dirty="0" err="1">
                <a:solidFill>
                  <a:srgbClr val="5E6A78"/>
                </a:solidFill>
                <a:latin typeface="Aptos"/>
              </a:rPr>
              <a:t>điểm</a:t>
            </a:r>
            <a:r>
              <a:rPr sz="1600" b="0" dirty="0">
                <a:solidFill>
                  <a:srgbClr val="5E6A78"/>
                </a:solidFill>
                <a:latin typeface="Aptos"/>
              </a:rPr>
              <a:t> </a:t>
            </a:r>
            <a:r>
              <a:rPr sz="1600" b="0" dirty="0" err="1">
                <a:solidFill>
                  <a:srgbClr val="5E6A78"/>
                </a:solidFill>
                <a:latin typeface="Aptos"/>
              </a:rPr>
              <a:t>đánh</a:t>
            </a:r>
            <a:r>
              <a:rPr sz="1600" b="0" dirty="0">
                <a:solidFill>
                  <a:srgbClr val="5E6A78"/>
                </a:solidFill>
                <a:latin typeface="Aptos"/>
              </a:rPr>
              <a:t> </a:t>
            </a:r>
            <a:r>
              <a:rPr sz="1600" b="0" dirty="0" err="1">
                <a:solidFill>
                  <a:srgbClr val="5E6A78"/>
                </a:solidFill>
                <a:latin typeface="Aptos"/>
              </a:rPr>
              <a:t>giá</a:t>
            </a:r>
            <a:r>
              <a:rPr sz="1600" b="0" dirty="0">
                <a:solidFill>
                  <a:srgbClr val="5E6A78"/>
                </a:solidFill>
                <a:latin typeface="Aptos"/>
              </a:rPr>
              <a:t>
</a:t>
            </a:r>
            <a:r>
              <a:rPr sz="1600" b="0" dirty="0" err="1">
                <a:solidFill>
                  <a:srgbClr val="5E6A78"/>
                </a:solidFill>
                <a:latin typeface="Aptos"/>
              </a:rPr>
              <a:t>Nội</a:t>
            </a:r>
            <a:r>
              <a:rPr sz="1600" b="0" dirty="0">
                <a:solidFill>
                  <a:srgbClr val="5E6A78"/>
                </a:solidFill>
                <a:latin typeface="Aptos"/>
              </a:rPr>
              <a:t> dung / </a:t>
            </a:r>
            <a:r>
              <a:rPr sz="1600" b="0" dirty="0" err="1">
                <a:solidFill>
                  <a:srgbClr val="5E6A78"/>
                </a:solidFill>
                <a:latin typeface="Aptos"/>
              </a:rPr>
              <a:t>thông</a:t>
            </a:r>
            <a:r>
              <a:rPr sz="1600" b="0" dirty="0">
                <a:solidFill>
                  <a:srgbClr val="5E6A78"/>
                </a:solidFill>
                <a:latin typeface="Aptos"/>
              </a:rPr>
              <a:t> tin review</a:t>
            </a:r>
          </a:p>
        </p:txBody>
      </p:sp>
      <p:sp>
        <p:nvSpPr>
          <p:cNvPr id="12" name="Rounded Rectangle 11"/>
          <p:cNvSpPr/>
          <p:nvPr/>
        </p:nvSpPr>
        <p:spPr>
          <a:xfrm>
            <a:off x="4270246" y="3189956"/>
            <a:ext cx="3364992" cy="1325880"/>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3" name="TextBox 12"/>
          <p:cNvSpPr txBox="1"/>
          <p:nvPr/>
        </p:nvSpPr>
        <p:spPr>
          <a:xfrm>
            <a:off x="4434838" y="3354548"/>
            <a:ext cx="3017520" cy="320088"/>
          </a:xfrm>
          <a:prstGeom prst="rect">
            <a:avLst/>
          </a:prstGeom>
          <a:noFill/>
        </p:spPr>
        <p:txBody>
          <a:bodyPr wrap="square" lIns="36576" tIns="36576" rIns="36576" bIns="36576" anchor="t">
            <a:spAutoFit/>
          </a:bodyPr>
          <a:lstStyle/>
          <a:p>
            <a:pPr algn="l"/>
            <a:r>
              <a:rPr sz="1600" b="1" dirty="0">
                <a:solidFill>
                  <a:srgbClr val="162C46"/>
                </a:solidFill>
                <a:latin typeface="Aptos"/>
              </a:rPr>
              <a:t>THÔNG TIN GIAO HÀNG</a:t>
            </a:r>
          </a:p>
        </p:txBody>
      </p:sp>
      <p:sp>
        <p:nvSpPr>
          <p:cNvPr id="14" name="TextBox 13"/>
          <p:cNvSpPr txBox="1"/>
          <p:nvPr/>
        </p:nvSpPr>
        <p:spPr>
          <a:xfrm>
            <a:off x="4434838" y="3659374"/>
            <a:ext cx="3200400" cy="812530"/>
          </a:xfrm>
          <a:prstGeom prst="rect">
            <a:avLst/>
          </a:prstGeom>
          <a:noFill/>
        </p:spPr>
        <p:txBody>
          <a:bodyPr wrap="square" lIns="36576" tIns="36576" rIns="36576" bIns="36576" anchor="t">
            <a:spAutoFit/>
          </a:bodyPr>
          <a:lstStyle/>
          <a:p>
            <a:pPr algn="l"/>
            <a:r>
              <a:rPr sz="1600" b="0" dirty="0" err="1">
                <a:solidFill>
                  <a:srgbClr val="5E6A78"/>
                </a:solidFill>
                <a:latin typeface="Aptos"/>
              </a:rPr>
              <a:t>Thời</a:t>
            </a:r>
            <a:r>
              <a:rPr sz="1600" b="0" dirty="0">
                <a:solidFill>
                  <a:srgbClr val="5E6A78"/>
                </a:solidFill>
                <a:latin typeface="Aptos"/>
              </a:rPr>
              <a:t> </a:t>
            </a:r>
            <a:r>
              <a:rPr sz="1600" b="0" dirty="0" err="1">
                <a:solidFill>
                  <a:srgbClr val="5E6A78"/>
                </a:solidFill>
                <a:latin typeface="Aptos"/>
              </a:rPr>
              <a:t>điểm</a:t>
            </a:r>
            <a:r>
              <a:rPr sz="1600" b="0" dirty="0">
                <a:solidFill>
                  <a:srgbClr val="5E6A78"/>
                </a:solidFill>
                <a:latin typeface="Aptos"/>
              </a:rPr>
              <a:t> </a:t>
            </a:r>
            <a:r>
              <a:rPr sz="1600" b="0" dirty="0" err="1">
                <a:solidFill>
                  <a:srgbClr val="5E6A78"/>
                </a:solidFill>
                <a:latin typeface="Aptos"/>
              </a:rPr>
              <a:t>giao</a:t>
            </a:r>
            <a:r>
              <a:rPr sz="1600" b="0" dirty="0">
                <a:solidFill>
                  <a:srgbClr val="5E6A78"/>
                </a:solidFill>
                <a:latin typeface="Aptos"/>
              </a:rPr>
              <a:t> </a:t>
            </a:r>
            <a:r>
              <a:rPr sz="1600" b="0" dirty="0" err="1">
                <a:solidFill>
                  <a:srgbClr val="5E6A78"/>
                </a:solidFill>
                <a:latin typeface="Aptos"/>
              </a:rPr>
              <a:t>hàng</a:t>
            </a:r>
            <a:r>
              <a:rPr sz="1600" b="0" dirty="0">
                <a:solidFill>
                  <a:srgbClr val="5E6A78"/>
                </a:solidFill>
                <a:latin typeface="Aptos"/>
              </a:rPr>
              <a:t>
Customer-reported delivery label
Các timestamp </a:t>
            </a:r>
            <a:r>
              <a:rPr sz="1600" b="0" dirty="0" err="1">
                <a:solidFill>
                  <a:srgbClr val="5E6A78"/>
                </a:solidFill>
                <a:latin typeface="Aptos"/>
              </a:rPr>
              <a:t>liên</a:t>
            </a:r>
            <a:r>
              <a:rPr sz="1600" b="0" dirty="0">
                <a:solidFill>
                  <a:srgbClr val="5E6A78"/>
                </a:solidFill>
                <a:latin typeface="Aptos"/>
              </a:rPr>
              <a:t> </a:t>
            </a:r>
            <a:r>
              <a:rPr sz="1600" b="0" dirty="0" err="1">
                <a:solidFill>
                  <a:srgbClr val="5E6A78"/>
                </a:solidFill>
                <a:latin typeface="Aptos"/>
              </a:rPr>
              <a:t>quan</a:t>
            </a:r>
            <a:endParaRPr sz="1600" b="0" dirty="0">
              <a:solidFill>
                <a:srgbClr val="5E6A78"/>
              </a:solidFill>
              <a:latin typeface="Aptos"/>
            </a:endParaRPr>
          </a:p>
        </p:txBody>
      </p:sp>
      <p:sp>
        <p:nvSpPr>
          <p:cNvPr id="15" name="Rounded Rectangle 14"/>
          <p:cNvSpPr/>
          <p:nvPr/>
        </p:nvSpPr>
        <p:spPr>
          <a:xfrm>
            <a:off x="7946135" y="3189956"/>
            <a:ext cx="3364992" cy="1325880"/>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6" name="TextBox 15"/>
          <p:cNvSpPr txBox="1"/>
          <p:nvPr/>
        </p:nvSpPr>
        <p:spPr>
          <a:xfrm>
            <a:off x="8110727" y="3354548"/>
            <a:ext cx="3017520" cy="320088"/>
          </a:xfrm>
          <a:prstGeom prst="rect">
            <a:avLst/>
          </a:prstGeom>
          <a:noFill/>
        </p:spPr>
        <p:txBody>
          <a:bodyPr wrap="square" lIns="36576" tIns="36576" rIns="36576" bIns="36576" anchor="t">
            <a:spAutoFit/>
          </a:bodyPr>
          <a:lstStyle/>
          <a:p>
            <a:pPr algn="l"/>
            <a:r>
              <a:rPr sz="1600" b="1" dirty="0">
                <a:solidFill>
                  <a:srgbClr val="162C46"/>
                </a:solidFill>
                <a:latin typeface="Aptos"/>
              </a:rPr>
              <a:t>SẢN PHẨM &amp; NHÀ BÁN</a:t>
            </a:r>
          </a:p>
        </p:txBody>
      </p:sp>
      <p:sp>
        <p:nvSpPr>
          <p:cNvPr id="17" name="TextBox 16"/>
          <p:cNvSpPr txBox="1"/>
          <p:nvPr/>
        </p:nvSpPr>
        <p:spPr>
          <a:xfrm>
            <a:off x="8110727" y="3711164"/>
            <a:ext cx="3017520" cy="566309"/>
          </a:xfrm>
          <a:prstGeom prst="rect">
            <a:avLst/>
          </a:prstGeom>
          <a:noFill/>
        </p:spPr>
        <p:txBody>
          <a:bodyPr wrap="square" lIns="36576" tIns="36576" rIns="36576" bIns="36576" anchor="t">
            <a:spAutoFit/>
          </a:bodyPr>
          <a:lstStyle/>
          <a:p>
            <a:pPr algn="l"/>
            <a:r>
              <a:rPr sz="1600" b="0">
                <a:solidFill>
                  <a:srgbClr val="5E6A78"/>
                </a:solidFill>
                <a:latin typeface="Aptos"/>
              </a:rPr>
              <a:t>Thông tin sản phẩm · Seller
Thuộc tính phục vụ phân nhóm</a:t>
            </a:r>
          </a:p>
        </p:txBody>
      </p:sp>
      <p:sp>
        <p:nvSpPr>
          <p:cNvPr id="18" name="TextBox 17"/>
          <p:cNvSpPr txBox="1"/>
          <p:nvPr/>
        </p:nvSpPr>
        <p:spPr>
          <a:xfrm>
            <a:off x="594359" y="4748877"/>
            <a:ext cx="4400721" cy="320088"/>
          </a:xfrm>
          <a:prstGeom prst="rect">
            <a:avLst/>
          </a:prstGeom>
          <a:noFill/>
        </p:spPr>
        <p:txBody>
          <a:bodyPr wrap="square" lIns="36576" tIns="36576" rIns="36576" bIns="36576" anchor="t">
            <a:spAutoFit/>
          </a:bodyPr>
          <a:lstStyle/>
          <a:p>
            <a:pPr algn="l"/>
            <a:r>
              <a:rPr sz="1600" b="1" dirty="0">
                <a:solidFill>
                  <a:srgbClr val="2F639D"/>
                </a:solidFill>
                <a:latin typeface="Aptos"/>
              </a:rPr>
              <a:t>TỪ DỮ LIỆU THÔ ĐẾN DỮ LIỆU PHÂN TÍCH</a:t>
            </a:r>
          </a:p>
        </p:txBody>
      </p:sp>
      <p:sp>
        <p:nvSpPr>
          <p:cNvPr id="19" name="Rounded Rectangle 18"/>
          <p:cNvSpPr/>
          <p:nvPr/>
        </p:nvSpPr>
        <p:spPr>
          <a:xfrm>
            <a:off x="594360" y="5114637"/>
            <a:ext cx="10863072" cy="822960"/>
          </a:xfrm>
          <a:prstGeom prst="roundRect">
            <a:avLst/>
          </a:prstGeom>
          <a:solidFill>
            <a:srgbClr val="F6F9FC"/>
          </a:solidFill>
          <a:ln w="12700">
            <a:solidFill>
              <a:srgbClr val="F6F9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0" name="Rounded Rectangle 19"/>
          <p:cNvSpPr/>
          <p:nvPr/>
        </p:nvSpPr>
        <p:spPr>
          <a:xfrm>
            <a:off x="850392" y="5343237"/>
            <a:ext cx="1097280" cy="347472"/>
          </a:xfrm>
          <a:prstGeom prst="round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1" name="TextBox 20"/>
          <p:cNvSpPr txBox="1"/>
          <p:nvPr/>
        </p:nvSpPr>
        <p:spPr>
          <a:xfrm>
            <a:off x="886968" y="5356929"/>
            <a:ext cx="1024127" cy="320088"/>
          </a:xfrm>
          <a:prstGeom prst="rect">
            <a:avLst/>
          </a:prstGeom>
          <a:noFill/>
        </p:spPr>
        <p:txBody>
          <a:bodyPr wrap="square" lIns="36576" tIns="36576" rIns="36576" bIns="36576" anchor="ctr">
            <a:spAutoFit/>
          </a:bodyPr>
          <a:lstStyle/>
          <a:p>
            <a:pPr algn="ctr"/>
            <a:r>
              <a:rPr sz="1600" b="1">
                <a:solidFill>
                  <a:srgbClr val="162C46"/>
                </a:solidFill>
                <a:latin typeface="Aptos"/>
              </a:rPr>
              <a:t>Raw Data</a:t>
            </a:r>
          </a:p>
        </p:txBody>
      </p:sp>
      <p:sp>
        <p:nvSpPr>
          <p:cNvPr id="22" name="TextBox 21"/>
          <p:cNvSpPr txBox="1"/>
          <p:nvPr/>
        </p:nvSpPr>
        <p:spPr>
          <a:xfrm>
            <a:off x="2130552" y="5361525"/>
            <a:ext cx="320040" cy="320088"/>
          </a:xfrm>
          <a:prstGeom prst="rect">
            <a:avLst/>
          </a:prstGeom>
          <a:noFill/>
        </p:spPr>
        <p:txBody>
          <a:bodyPr wrap="square" lIns="36576" tIns="36576" rIns="36576" bIns="36576" anchor="t">
            <a:spAutoFit/>
          </a:bodyPr>
          <a:lstStyle/>
          <a:p>
            <a:pPr algn="ctr"/>
            <a:r>
              <a:rPr sz="1600" b="1">
                <a:solidFill>
                  <a:srgbClr val="2F639D"/>
                </a:solidFill>
                <a:latin typeface="Aptos"/>
              </a:rPr>
              <a:t>→</a:t>
            </a:r>
          </a:p>
        </p:txBody>
      </p:sp>
      <p:sp>
        <p:nvSpPr>
          <p:cNvPr id="23" name="Rounded Rectangle 22"/>
          <p:cNvSpPr/>
          <p:nvPr/>
        </p:nvSpPr>
        <p:spPr>
          <a:xfrm>
            <a:off x="2633472" y="5343237"/>
            <a:ext cx="1143000" cy="347472"/>
          </a:xfrm>
          <a:prstGeom prst="round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4" name="TextBox 23"/>
          <p:cNvSpPr txBox="1"/>
          <p:nvPr/>
        </p:nvSpPr>
        <p:spPr>
          <a:xfrm>
            <a:off x="2670048" y="5356929"/>
            <a:ext cx="1069848" cy="320088"/>
          </a:xfrm>
          <a:prstGeom prst="rect">
            <a:avLst/>
          </a:prstGeom>
          <a:noFill/>
        </p:spPr>
        <p:txBody>
          <a:bodyPr wrap="square" lIns="36576" tIns="36576" rIns="36576" bIns="36576" anchor="ctr">
            <a:spAutoFit/>
          </a:bodyPr>
          <a:lstStyle/>
          <a:p>
            <a:pPr algn="ctr"/>
            <a:r>
              <a:rPr sz="1600" b="1">
                <a:solidFill>
                  <a:srgbClr val="2F639D"/>
                </a:solidFill>
                <a:latin typeface="Aptos"/>
              </a:rPr>
              <a:t>Lead Time</a:t>
            </a:r>
          </a:p>
        </p:txBody>
      </p:sp>
      <p:sp>
        <p:nvSpPr>
          <p:cNvPr id="25" name="Rounded Rectangle 24"/>
          <p:cNvSpPr/>
          <p:nvPr/>
        </p:nvSpPr>
        <p:spPr>
          <a:xfrm>
            <a:off x="4005072" y="5343237"/>
            <a:ext cx="1234440" cy="347472"/>
          </a:xfrm>
          <a:prstGeom prst="round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6" name="TextBox 25"/>
          <p:cNvSpPr txBox="1"/>
          <p:nvPr/>
        </p:nvSpPr>
        <p:spPr>
          <a:xfrm>
            <a:off x="4041648" y="5356929"/>
            <a:ext cx="1161288" cy="320088"/>
          </a:xfrm>
          <a:prstGeom prst="rect">
            <a:avLst/>
          </a:prstGeom>
          <a:noFill/>
        </p:spPr>
        <p:txBody>
          <a:bodyPr wrap="square" lIns="36576" tIns="36576" rIns="36576" bIns="36576" anchor="ctr">
            <a:spAutoFit/>
          </a:bodyPr>
          <a:lstStyle/>
          <a:p>
            <a:pPr algn="ctr"/>
            <a:r>
              <a:rPr sz="1600" b="1">
                <a:solidFill>
                  <a:srgbClr val="2F639D"/>
                </a:solidFill>
                <a:latin typeface="Aptos"/>
              </a:rPr>
              <a:t>SLA Status</a:t>
            </a:r>
          </a:p>
        </p:txBody>
      </p:sp>
      <p:sp>
        <p:nvSpPr>
          <p:cNvPr id="27" name="Rounded Rectangle 26"/>
          <p:cNvSpPr/>
          <p:nvPr/>
        </p:nvSpPr>
        <p:spPr>
          <a:xfrm>
            <a:off x="5468112" y="5343237"/>
            <a:ext cx="822960" cy="347472"/>
          </a:xfrm>
          <a:prstGeom prst="round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8" name="TextBox 27"/>
          <p:cNvSpPr txBox="1"/>
          <p:nvPr/>
        </p:nvSpPr>
        <p:spPr>
          <a:xfrm>
            <a:off x="5504688" y="5356929"/>
            <a:ext cx="749808" cy="320088"/>
          </a:xfrm>
          <a:prstGeom prst="rect">
            <a:avLst/>
          </a:prstGeom>
          <a:noFill/>
        </p:spPr>
        <p:txBody>
          <a:bodyPr wrap="square" lIns="36576" tIns="36576" rIns="36576" bIns="36576" anchor="ctr">
            <a:spAutoFit/>
          </a:bodyPr>
          <a:lstStyle/>
          <a:p>
            <a:pPr algn="ctr"/>
            <a:r>
              <a:rPr sz="1600" b="1">
                <a:solidFill>
                  <a:srgbClr val="2F639D"/>
                </a:solidFill>
                <a:latin typeface="Aptos"/>
              </a:rPr>
              <a:t>Rating</a:t>
            </a:r>
          </a:p>
        </p:txBody>
      </p:sp>
      <p:sp>
        <p:nvSpPr>
          <p:cNvPr id="29" name="Rounded Rectangle 28"/>
          <p:cNvSpPr/>
          <p:nvPr/>
        </p:nvSpPr>
        <p:spPr>
          <a:xfrm>
            <a:off x="6473952" y="5343237"/>
            <a:ext cx="2574514" cy="347472"/>
          </a:xfrm>
          <a:prstGeom prst="round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0" name="TextBox 29"/>
          <p:cNvSpPr txBox="1"/>
          <p:nvPr/>
        </p:nvSpPr>
        <p:spPr>
          <a:xfrm>
            <a:off x="6510528" y="5356929"/>
            <a:ext cx="2626648" cy="320088"/>
          </a:xfrm>
          <a:prstGeom prst="rect">
            <a:avLst/>
          </a:prstGeom>
          <a:noFill/>
        </p:spPr>
        <p:txBody>
          <a:bodyPr wrap="square" lIns="36576" tIns="36576" rIns="36576" bIns="36576" anchor="ctr">
            <a:spAutoFit/>
          </a:bodyPr>
          <a:lstStyle/>
          <a:p>
            <a:pPr algn="ctr"/>
            <a:r>
              <a:rPr sz="1600" b="1" dirty="0">
                <a:solidFill>
                  <a:srgbClr val="2F639D"/>
                </a:solidFill>
                <a:latin typeface="Aptos"/>
              </a:rPr>
              <a:t>Customer Delivery Status</a:t>
            </a:r>
          </a:p>
        </p:txBody>
      </p:sp>
      <p:sp>
        <p:nvSpPr>
          <p:cNvPr id="31" name="Rounded Rectangle 30"/>
          <p:cNvSpPr/>
          <p:nvPr/>
        </p:nvSpPr>
        <p:spPr>
          <a:xfrm>
            <a:off x="9231345" y="5343237"/>
            <a:ext cx="1284799" cy="347472"/>
          </a:xfrm>
          <a:prstGeom prst="round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2" name="TextBox 31"/>
          <p:cNvSpPr txBox="1"/>
          <p:nvPr/>
        </p:nvSpPr>
        <p:spPr>
          <a:xfrm>
            <a:off x="9267922" y="5356929"/>
            <a:ext cx="1284800" cy="320088"/>
          </a:xfrm>
          <a:prstGeom prst="rect">
            <a:avLst/>
          </a:prstGeom>
          <a:noFill/>
        </p:spPr>
        <p:txBody>
          <a:bodyPr wrap="square" lIns="36576" tIns="36576" rIns="36576" bIns="36576" anchor="ctr">
            <a:spAutoFit/>
          </a:bodyPr>
          <a:lstStyle/>
          <a:p>
            <a:pPr algn="ctr"/>
            <a:r>
              <a:rPr sz="1600" b="1" dirty="0">
                <a:solidFill>
                  <a:srgbClr val="2F639D"/>
                </a:solidFill>
                <a:latin typeface="Aptos"/>
              </a:rPr>
              <a:t>Low Rating</a:t>
            </a:r>
          </a:p>
        </p:txBody>
      </p:sp>
      <p:sp>
        <p:nvSpPr>
          <p:cNvPr id="33" name="TextBox 32"/>
          <p:cNvSpPr txBox="1"/>
          <p:nvPr/>
        </p:nvSpPr>
        <p:spPr>
          <a:xfrm>
            <a:off x="594360" y="6565392"/>
            <a:ext cx="4023360" cy="164592"/>
          </a:xfrm>
          <a:prstGeom prst="rect">
            <a:avLst/>
          </a:prstGeom>
          <a:noFill/>
        </p:spPr>
        <p:txBody>
          <a:bodyPr wrap="square" lIns="36576" tIns="36576" rIns="36576" bIns="36576" anchor="t">
            <a:spAutoFit/>
          </a:bodyPr>
          <a:lstStyle/>
          <a:p>
            <a:pPr algn="l"/>
            <a:r>
              <a:rPr sz="850" b="0">
                <a:solidFill>
                  <a:srgbClr val="5E6A78"/>
                </a:solidFill>
                <a:latin typeface="Aptos"/>
              </a:rPr>
              <a:t>Cơ sở Khoa học Dữ liệu  •  SLA &amp; Customer Experience</a:t>
            </a:r>
          </a:p>
        </p:txBody>
      </p:sp>
      <p:sp>
        <p:nvSpPr>
          <p:cNvPr id="34" name="TextBox 33"/>
          <p:cNvSpPr txBox="1"/>
          <p:nvPr/>
        </p:nvSpPr>
        <p:spPr>
          <a:xfrm>
            <a:off x="11201400" y="6567055"/>
            <a:ext cx="365760" cy="166255"/>
          </a:xfrm>
          <a:prstGeom prst="rect">
            <a:avLst/>
          </a:prstGeom>
          <a:noFill/>
        </p:spPr>
        <p:txBody>
          <a:bodyPr wrap="square" lIns="36576" tIns="36576" rIns="36576" bIns="36576" anchor="t">
            <a:spAutoFit/>
          </a:bodyPr>
          <a:lstStyle/>
          <a:p>
            <a:pPr algn="r"/>
            <a:r>
              <a:rPr sz="850" b="0">
                <a:solidFill>
                  <a:srgbClr val="5E6A78"/>
                </a:solidFill>
                <a:latin typeface="Aptos"/>
              </a:rPr>
              <a:t>5</a:t>
            </a:r>
          </a:p>
        </p:txBody>
      </p:sp>
      <p:sp>
        <p:nvSpPr>
          <p:cNvPr id="35" name="Rounded Rectangle 34"/>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a:t>
            </a:r>
          </a:p>
        </p:txBody>
      </p:sp>
      <p:sp>
        <p:nvSpPr>
          <p:cNvPr id="36" name="Rounded Rectangle 35"/>
          <p:cNvSpPr/>
          <p:nvPr/>
        </p:nvSpPr>
        <p:spPr>
          <a:xfrm>
            <a:off x="5550408" y="6510528"/>
            <a:ext cx="1005840"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Data Collection</a:t>
            </a:r>
          </a:p>
        </p:txBody>
      </p:sp>
      <p:sp>
        <p:nvSpPr>
          <p:cNvPr id="37" name="Rounded Rectangle 36"/>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Cleaning</a:t>
            </a:r>
          </a:p>
        </p:txBody>
      </p:sp>
      <p:sp>
        <p:nvSpPr>
          <p:cNvPr id="38" name="Rounded Rectangle 37"/>
          <p:cNvSpPr/>
          <p:nvPr/>
        </p:nvSpPr>
        <p:spPr>
          <a:xfrm>
            <a:off x="7306056" y="6510528"/>
            <a:ext cx="42062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EDA</a:t>
            </a:r>
          </a:p>
        </p:txBody>
      </p:sp>
      <p:sp>
        <p:nvSpPr>
          <p:cNvPr id="39" name="Rounded Rectangle 38"/>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Features</a:t>
            </a:r>
          </a:p>
        </p:txBody>
      </p:sp>
      <p:sp>
        <p:nvSpPr>
          <p:cNvPr id="40" name="Rounded Rectangle 39"/>
          <p:cNvSpPr/>
          <p:nvPr/>
        </p:nvSpPr>
        <p:spPr>
          <a:xfrm>
            <a:off x="8494776" y="6510528"/>
            <a:ext cx="69494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Modeling</a:t>
            </a:r>
          </a:p>
        </p:txBody>
      </p:sp>
      <p:sp>
        <p:nvSpPr>
          <p:cNvPr id="41" name="Rounded Rectangle 40"/>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Evaluation</a:t>
            </a:r>
          </a:p>
        </p:txBody>
      </p:sp>
      <p:sp>
        <p:nvSpPr>
          <p:cNvPr id="42" name="Rounded Rectangle 41"/>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 Value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265176"/>
            <a:ext cx="10424160" cy="566928"/>
          </a:xfrm>
          <a:prstGeom prst="rect">
            <a:avLst/>
          </a:prstGeom>
          <a:noFill/>
        </p:spPr>
        <p:txBody>
          <a:bodyPr wrap="square" lIns="36576" tIns="36576" rIns="36576" bIns="36576" anchor="t">
            <a:noAutofit/>
          </a:bodyPr>
          <a:lstStyle/>
          <a:p>
            <a:pPr algn="l">
              <a:spcAft>
                <a:spcPts val="300"/>
              </a:spcAft>
            </a:pPr>
            <a:r>
              <a:rPr sz="2400" b="1" i="0">
                <a:solidFill>
                  <a:srgbClr val="162C46"/>
                </a:solidFill>
                <a:latin typeface="Aptos Display"/>
              </a:rPr>
              <a:t>DATA COLLECTION — LẤY MẪU PHÂN TẦNG THEO SAO &amp; TRỌNG SỐ</a:t>
            </a:r>
          </a:p>
        </p:txBody>
      </p:sp>
      <p:cxnSp>
        <p:nvCxnSpPr>
          <p:cNvPr id="3" name="Connector 2"/>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583680"/>
            <a:ext cx="4023360" cy="182880"/>
          </a:xfrm>
          <a:prstGeom prst="rect">
            <a:avLst/>
          </a:prstGeom>
          <a:noFill/>
        </p:spPr>
        <p:txBody>
          <a:bodyPr wrap="square" lIns="36576" tIns="36576" rIns="36576" bIns="36576" anchor="t">
            <a:noAutofit/>
          </a:bodyPr>
          <a:lstStyle/>
          <a:p>
            <a:pPr algn="l">
              <a:spcAft>
                <a:spcPts val="300"/>
              </a:spcAft>
            </a:pPr>
            <a:r>
              <a:rPr sz="850" b="0" i="0">
                <a:solidFill>
                  <a:srgbClr val="5E6A78"/>
                </a:solidFill>
                <a:latin typeface="Aptos"/>
              </a:rPr>
              <a:t>Cơ sở Khoa học Dữ liệu  •  SLA &amp; Customer Experience</a:t>
            </a:r>
          </a:p>
        </p:txBody>
      </p:sp>
      <p:sp>
        <p:nvSpPr>
          <p:cNvPr id="6" name="TextBox 5"/>
          <p:cNvSpPr txBox="1"/>
          <p:nvPr/>
        </p:nvSpPr>
        <p:spPr>
          <a:xfrm>
            <a:off x="11201400" y="6567055"/>
            <a:ext cx="365760" cy="166255"/>
          </a:xfrm>
          <a:prstGeom prst="rect">
            <a:avLst/>
          </a:prstGeom>
          <a:noFill/>
        </p:spPr>
        <p:txBody>
          <a:bodyPr wrap="square" lIns="36576" tIns="36576" rIns="36576" bIns="36576" anchor="t">
            <a:noAutofit/>
          </a:bodyPr>
          <a:lstStyle/>
          <a:p>
            <a:pPr algn="l">
              <a:spcAft>
                <a:spcPts val="300"/>
              </a:spcAft>
            </a:pPr>
            <a:r>
              <a:rPr sz="850" b="0" i="0">
                <a:solidFill>
                  <a:srgbClr val="5E6A78"/>
                </a:solidFill>
                <a:latin typeface="Aptos"/>
              </a:rPr>
              <a:t>6</a:t>
            </a:r>
          </a:p>
        </p:txBody>
      </p:sp>
      <p:sp>
        <p:nvSpPr>
          <p:cNvPr id="10" name="TextBox 9"/>
          <p:cNvSpPr txBox="1"/>
          <p:nvPr/>
        </p:nvSpPr>
        <p:spPr>
          <a:xfrm>
            <a:off x="588138" y="1245870"/>
            <a:ext cx="5669280" cy="310896"/>
          </a:xfrm>
          <a:prstGeom prst="rect">
            <a:avLst/>
          </a:prstGeom>
          <a:noFill/>
        </p:spPr>
        <p:txBody>
          <a:bodyPr wrap="square" lIns="36576" tIns="36576" rIns="36576" bIns="36576" anchor="t">
            <a:noAutofit/>
          </a:bodyPr>
          <a:lstStyle/>
          <a:p>
            <a:pPr algn="l">
              <a:spcAft>
                <a:spcPts val="300"/>
              </a:spcAft>
            </a:pPr>
            <a:r>
              <a:rPr lang="vi-VN" sz="1500" b="1" dirty="0">
                <a:solidFill>
                  <a:srgbClr val="2F639D"/>
                </a:solidFill>
                <a:latin typeface="Aptos"/>
              </a:rPr>
              <a:t>1</a:t>
            </a:r>
            <a:r>
              <a:rPr sz="1500" b="1" i="0" dirty="0">
                <a:solidFill>
                  <a:srgbClr val="2F639D"/>
                </a:solidFill>
                <a:latin typeface="Aptos"/>
              </a:rPr>
              <a:t>. THIẾT KẾ</a:t>
            </a:r>
            <a:r>
              <a:rPr lang="vi-VN" sz="1500" b="1" i="0" dirty="0">
                <a:solidFill>
                  <a:srgbClr val="2F639D"/>
                </a:solidFill>
                <a:latin typeface="Aptos"/>
              </a:rPr>
              <a:t> LẤY MẪU</a:t>
            </a:r>
            <a:r>
              <a:rPr sz="1500" b="1" i="0" dirty="0">
                <a:solidFill>
                  <a:srgbClr val="2F639D"/>
                </a:solidFill>
                <a:latin typeface="Aptos"/>
              </a:rPr>
              <a:t> PHÂN TẦNG THEO SỐ SAO</a:t>
            </a:r>
          </a:p>
        </p:txBody>
      </p:sp>
      <p:sp>
        <p:nvSpPr>
          <p:cNvPr id="11" name="Rounded Rectangle 10"/>
          <p:cNvSpPr/>
          <p:nvPr/>
        </p:nvSpPr>
        <p:spPr>
          <a:xfrm>
            <a:off x="603504" y="1641348"/>
            <a:ext cx="5577840" cy="62179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731520" y="1787652"/>
            <a:ext cx="329184" cy="329184"/>
          </a:xfrm>
          <a:prstGeom prst="roundRect">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31520" y="1796796"/>
            <a:ext cx="329184" cy="310896"/>
          </a:xfrm>
          <a:prstGeom prst="rect">
            <a:avLst/>
          </a:prstGeom>
          <a:noFill/>
        </p:spPr>
        <p:txBody>
          <a:bodyPr wrap="square" lIns="36576" tIns="36576" rIns="36576" bIns="36576" anchor="t">
            <a:noAutofit/>
          </a:bodyPr>
          <a:lstStyle/>
          <a:p>
            <a:pPr algn="ctr">
              <a:spcAft>
                <a:spcPts val="300"/>
              </a:spcAft>
            </a:pPr>
            <a:r>
              <a:rPr sz="1300" b="1" i="0">
                <a:solidFill>
                  <a:srgbClr val="FFFFFF"/>
                </a:solidFill>
                <a:latin typeface="Aptos"/>
              </a:rPr>
              <a:t>1</a:t>
            </a:r>
          </a:p>
        </p:txBody>
      </p:sp>
      <p:sp>
        <p:nvSpPr>
          <p:cNvPr id="14" name="TextBox 13"/>
          <p:cNvSpPr txBox="1"/>
          <p:nvPr/>
        </p:nvSpPr>
        <p:spPr>
          <a:xfrm>
            <a:off x="1152144" y="1821942"/>
            <a:ext cx="4937760" cy="274320"/>
          </a:xfrm>
          <a:prstGeom prst="rect">
            <a:avLst/>
          </a:prstGeom>
          <a:noFill/>
        </p:spPr>
        <p:txBody>
          <a:bodyPr wrap="square" lIns="36576" tIns="36576" rIns="36576" bIns="36576" anchor="t">
            <a:noAutofit/>
          </a:bodyPr>
          <a:lstStyle/>
          <a:p>
            <a:pPr algn="l">
              <a:spcAft>
                <a:spcPts val="300"/>
              </a:spcAft>
            </a:pPr>
            <a:r>
              <a:rPr lang="vi-VN" sz="1300" b="1" dirty="0">
                <a:solidFill>
                  <a:srgbClr val="162C46"/>
                </a:solidFill>
                <a:latin typeface="Aptos"/>
              </a:rPr>
              <a:t>L</a:t>
            </a:r>
            <a:r>
              <a:rPr lang="en-US" sz="1300" b="1" i="0" dirty="0" err="1">
                <a:solidFill>
                  <a:srgbClr val="162C46"/>
                </a:solidFill>
                <a:latin typeface="Aptos"/>
              </a:rPr>
              <a:t>ấy</a:t>
            </a:r>
            <a:r>
              <a:rPr lang="en-US" sz="1300" b="1" i="0" dirty="0">
                <a:solidFill>
                  <a:srgbClr val="162C46"/>
                </a:solidFill>
                <a:latin typeface="Aptos"/>
              </a:rPr>
              <a:t> </a:t>
            </a:r>
            <a:r>
              <a:rPr lang="en-US" sz="1300" b="1" i="0" dirty="0" err="1">
                <a:solidFill>
                  <a:srgbClr val="162C46"/>
                </a:solidFill>
                <a:latin typeface="Aptos"/>
              </a:rPr>
              <a:t>mẫu</a:t>
            </a:r>
            <a:r>
              <a:rPr lang="en-US" sz="1300" b="1" i="0" dirty="0">
                <a:solidFill>
                  <a:srgbClr val="162C46"/>
                </a:solidFill>
                <a:latin typeface="Aptos"/>
              </a:rPr>
              <a:t> </a:t>
            </a:r>
            <a:r>
              <a:rPr lang="en-US" sz="1300" b="1" i="0" dirty="0" err="1">
                <a:solidFill>
                  <a:srgbClr val="162C46"/>
                </a:solidFill>
                <a:latin typeface="Aptos"/>
              </a:rPr>
              <a:t>phân</a:t>
            </a:r>
            <a:r>
              <a:rPr lang="en-US" sz="1300" b="1" i="0" dirty="0">
                <a:solidFill>
                  <a:srgbClr val="162C46"/>
                </a:solidFill>
                <a:latin typeface="Aptos"/>
              </a:rPr>
              <a:t> </a:t>
            </a:r>
            <a:r>
              <a:rPr lang="en-US" sz="1300" b="1" i="0" dirty="0" err="1">
                <a:solidFill>
                  <a:srgbClr val="162C46"/>
                </a:solidFill>
                <a:latin typeface="Aptos"/>
              </a:rPr>
              <a:t>tầng</a:t>
            </a:r>
            <a:r>
              <a:rPr lang="en-US" sz="1300" b="1" i="0" dirty="0">
                <a:solidFill>
                  <a:srgbClr val="162C46"/>
                </a:solidFill>
                <a:latin typeface="Aptos"/>
              </a:rPr>
              <a:t> </a:t>
            </a:r>
            <a:r>
              <a:rPr lang="en-US" sz="1300" b="1" i="0" dirty="0" err="1">
                <a:solidFill>
                  <a:srgbClr val="162C46"/>
                </a:solidFill>
                <a:latin typeface="Aptos"/>
              </a:rPr>
              <a:t>theo</a:t>
            </a:r>
            <a:r>
              <a:rPr lang="en-US" sz="1300" b="1" i="0" dirty="0">
                <a:solidFill>
                  <a:srgbClr val="162C46"/>
                </a:solidFill>
                <a:latin typeface="Aptos"/>
              </a:rPr>
              <a:t> rating</a:t>
            </a:r>
            <a:endParaRPr sz="1300" b="1" i="0" dirty="0">
              <a:solidFill>
                <a:srgbClr val="162C46"/>
              </a:solidFill>
              <a:latin typeface="Aptos"/>
            </a:endParaRPr>
          </a:p>
        </p:txBody>
      </p:sp>
      <p:sp>
        <p:nvSpPr>
          <p:cNvPr id="16" name="Rounded Rectangle 15"/>
          <p:cNvSpPr/>
          <p:nvPr/>
        </p:nvSpPr>
        <p:spPr>
          <a:xfrm>
            <a:off x="603504" y="2354580"/>
            <a:ext cx="5577840" cy="62179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731520" y="2500884"/>
            <a:ext cx="329184" cy="329184"/>
          </a:xfrm>
          <a:prstGeom prst="roundRect">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31520" y="2510028"/>
            <a:ext cx="329184" cy="310896"/>
          </a:xfrm>
          <a:prstGeom prst="rect">
            <a:avLst/>
          </a:prstGeom>
          <a:noFill/>
        </p:spPr>
        <p:txBody>
          <a:bodyPr wrap="square" lIns="36576" tIns="36576" rIns="36576" bIns="36576" anchor="t">
            <a:noAutofit/>
          </a:bodyPr>
          <a:lstStyle/>
          <a:p>
            <a:pPr algn="ctr">
              <a:spcAft>
                <a:spcPts val="300"/>
              </a:spcAft>
            </a:pPr>
            <a:r>
              <a:rPr sz="1300" b="1" i="0">
                <a:solidFill>
                  <a:srgbClr val="FFFFFF"/>
                </a:solidFill>
                <a:latin typeface="Aptos"/>
              </a:rPr>
              <a:t>2</a:t>
            </a:r>
          </a:p>
        </p:txBody>
      </p:sp>
      <p:sp>
        <p:nvSpPr>
          <p:cNvPr id="19" name="TextBox 18"/>
          <p:cNvSpPr txBox="1"/>
          <p:nvPr/>
        </p:nvSpPr>
        <p:spPr>
          <a:xfrm>
            <a:off x="1188720" y="2391156"/>
            <a:ext cx="4937760" cy="274320"/>
          </a:xfrm>
          <a:prstGeom prst="rect">
            <a:avLst/>
          </a:prstGeom>
          <a:noFill/>
        </p:spPr>
        <p:txBody>
          <a:bodyPr wrap="square" lIns="36576" tIns="36576" rIns="36576" bIns="36576" anchor="t">
            <a:noAutofit/>
          </a:bodyPr>
          <a:lstStyle/>
          <a:p>
            <a:pPr algn="l">
              <a:spcAft>
                <a:spcPts val="300"/>
              </a:spcAft>
            </a:pPr>
            <a:r>
              <a:rPr sz="1300" b="1" i="0" dirty="0" err="1">
                <a:solidFill>
                  <a:srgbClr val="162C46"/>
                </a:solidFill>
                <a:latin typeface="Aptos"/>
              </a:rPr>
              <a:t>Vét</a:t>
            </a:r>
            <a:r>
              <a:rPr sz="1300" b="1" i="0" dirty="0">
                <a:solidFill>
                  <a:srgbClr val="162C46"/>
                </a:solidFill>
                <a:latin typeface="Aptos"/>
              </a:rPr>
              <a:t> </a:t>
            </a:r>
            <a:r>
              <a:rPr sz="1300" b="1" i="0" dirty="0" err="1">
                <a:solidFill>
                  <a:srgbClr val="162C46"/>
                </a:solidFill>
                <a:latin typeface="Aptos"/>
              </a:rPr>
              <a:t>cạn</a:t>
            </a:r>
            <a:r>
              <a:rPr sz="1300" b="1" i="0" dirty="0">
                <a:solidFill>
                  <a:srgbClr val="162C46"/>
                </a:solidFill>
                <a:latin typeface="Aptos"/>
              </a:rPr>
              <a:t> </a:t>
            </a:r>
            <a:r>
              <a:rPr sz="1300" b="1" i="0" dirty="0" err="1">
                <a:solidFill>
                  <a:srgbClr val="162C46"/>
                </a:solidFill>
                <a:latin typeface="Aptos"/>
              </a:rPr>
              <a:t>tầng</a:t>
            </a:r>
            <a:r>
              <a:rPr sz="1300" b="1" i="0" dirty="0">
                <a:solidFill>
                  <a:srgbClr val="162C46"/>
                </a:solidFill>
                <a:latin typeface="Aptos"/>
              </a:rPr>
              <a:t> </a:t>
            </a:r>
            <a:r>
              <a:rPr sz="1300" b="1" i="0" dirty="0" err="1">
                <a:solidFill>
                  <a:srgbClr val="162C46"/>
                </a:solidFill>
                <a:latin typeface="Aptos"/>
              </a:rPr>
              <a:t>hiếm</a:t>
            </a:r>
            <a:r>
              <a:rPr sz="1300" b="1" i="0" dirty="0">
                <a:solidFill>
                  <a:srgbClr val="162C46"/>
                </a:solidFill>
                <a:latin typeface="Aptos"/>
              </a:rPr>
              <a:t>, </a:t>
            </a:r>
            <a:r>
              <a:rPr sz="1300" b="1" i="0" dirty="0" err="1">
                <a:solidFill>
                  <a:srgbClr val="162C46"/>
                </a:solidFill>
                <a:latin typeface="Aptos"/>
              </a:rPr>
              <a:t>lấy</a:t>
            </a:r>
            <a:r>
              <a:rPr sz="1300" b="1" i="0" dirty="0">
                <a:solidFill>
                  <a:srgbClr val="162C46"/>
                </a:solidFill>
                <a:latin typeface="Aptos"/>
              </a:rPr>
              <a:t> </a:t>
            </a:r>
            <a:r>
              <a:rPr sz="1300" b="1" i="0" dirty="0" err="1">
                <a:solidFill>
                  <a:srgbClr val="162C46"/>
                </a:solidFill>
                <a:latin typeface="Aptos"/>
              </a:rPr>
              <a:t>mẫu</a:t>
            </a:r>
            <a:r>
              <a:rPr sz="1300" b="1" i="0" dirty="0">
                <a:solidFill>
                  <a:srgbClr val="162C46"/>
                </a:solidFill>
                <a:latin typeface="Aptos"/>
              </a:rPr>
              <a:t> </a:t>
            </a:r>
            <a:r>
              <a:rPr sz="1300" b="1" i="0" dirty="0" err="1">
                <a:solidFill>
                  <a:srgbClr val="162C46"/>
                </a:solidFill>
                <a:latin typeface="Aptos"/>
              </a:rPr>
              <a:t>tầng</a:t>
            </a:r>
            <a:r>
              <a:rPr sz="1300" b="1" i="0" dirty="0">
                <a:solidFill>
                  <a:srgbClr val="162C46"/>
                </a:solidFill>
                <a:latin typeface="Aptos"/>
              </a:rPr>
              <a:t> </a:t>
            </a:r>
            <a:r>
              <a:rPr sz="1300" b="1" i="0" dirty="0" err="1">
                <a:solidFill>
                  <a:srgbClr val="162C46"/>
                </a:solidFill>
                <a:latin typeface="Aptos"/>
              </a:rPr>
              <a:t>đông</a:t>
            </a:r>
            <a:endParaRPr sz="1300" b="1" i="0" dirty="0">
              <a:solidFill>
                <a:srgbClr val="162C46"/>
              </a:solidFill>
              <a:latin typeface="Aptos"/>
            </a:endParaRPr>
          </a:p>
        </p:txBody>
      </p:sp>
      <p:sp>
        <p:nvSpPr>
          <p:cNvPr id="20" name="TextBox 19"/>
          <p:cNvSpPr txBox="1"/>
          <p:nvPr/>
        </p:nvSpPr>
        <p:spPr>
          <a:xfrm>
            <a:off x="1188720" y="2656332"/>
            <a:ext cx="4937760" cy="274320"/>
          </a:xfrm>
          <a:prstGeom prst="rect">
            <a:avLst/>
          </a:prstGeom>
          <a:noFill/>
        </p:spPr>
        <p:txBody>
          <a:bodyPr wrap="square" lIns="36576" tIns="36576" rIns="36576" bIns="36576" anchor="t">
            <a:noAutofit/>
          </a:bodyPr>
          <a:lstStyle/>
          <a:p>
            <a:pPr algn="l">
              <a:spcAft>
                <a:spcPts val="300"/>
              </a:spcAft>
            </a:pPr>
            <a:r>
              <a:rPr sz="1150" b="0" i="0" dirty="0">
                <a:solidFill>
                  <a:srgbClr val="5E6A78"/>
                </a:solidFill>
                <a:latin typeface="Aptos"/>
              </a:rPr>
              <a:t>sort=stars|1…3: </a:t>
            </a:r>
            <a:r>
              <a:rPr sz="1150" b="0" i="0" dirty="0" err="1">
                <a:solidFill>
                  <a:srgbClr val="5E6A78"/>
                </a:solidFill>
                <a:latin typeface="Aptos"/>
              </a:rPr>
              <a:t>lấy</a:t>
            </a:r>
            <a:r>
              <a:rPr sz="1150" b="0" i="0" dirty="0">
                <a:solidFill>
                  <a:srgbClr val="5E6A78"/>
                </a:solidFill>
                <a:latin typeface="Aptos"/>
              </a:rPr>
              <a:t> </a:t>
            </a:r>
            <a:r>
              <a:rPr sz="1150" b="0" i="0" dirty="0" err="1">
                <a:solidFill>
                  <a:srgbClr val="5E6A78"/>
                </a:solidFill>
                <a:latin typeface="Aptos"/>
              </a:rPr>
              <a:t>hết</a:t>
            </a:r>
            <a:r>
              <a:rPr sz="1150" b="0" i="0" dirty="0">
                <a:solidFill>
                  <a:srgbClr val="5E6A78"/>
                </a:solidFill>
                <a:latin typeface="Aptos"/>
              </a:rPr>
              <a:t> · 4–5★: </a:t>
            </a:r>
            <a:r>
              <a:rPr sz="1150" b="0" i="0" dirty="0" err="1">
                <a:solidFill>
                  <a:srgbClr val="5E6A78"/>
                </a:solidFill>
                <a:latin typeface="Aptos"/>
              </a:rPr>
              <a:t>tối</a:t>
            </a:r>
            <a:r>
              <a:rPr sz="1150" b="0" i="0" dirty="0">
                <a:solidFill>
                  <a:srgbClr val="5E6A78"/>
                </a:solidFill>
                <a:latin typeface="Aptos"/>
              </a:rPr>
              <a:t> </a:t>
            </a:r>
            <a:r>
              <a:rPr sz="1150" b="0" i="0" dirty="0" err="1">
                <a:solidFill>
                  <a:srgbClr val="5E6A78"/>
                </a:solidFill>
                <a:latin typeface="Aptos"/>
              </a:rPr>
              <a:t>đa</a:t>
            </a:r>
            <a:r>
              <a:rPr sz="1150" b="0" i="0" dirty="0">
                <a:solidFill>
                  <a:srgbClr val="5E6A78"/>
                </a:solidFill>
                <a:latin typeface="Aptos"/>
              </a:rPr>
              <a:t> 200 review/</a:t>
            </a:r>
            <a:r>
              <a:rPr sz="1150" b="0" i="0" dirty="0" err="1">
                <a:solidFill>
                  <a:srgbClr val="5E6A78"/>
                </a:solidFill>
                <a:latin typeface="Aptos"/>
              </a:rPr>
              <a:t>sản</a:t>
            </a:r>
            <a:r>
              <a:rPr sz="1150" b="0" i="0" dirty="0">
                <a:solidFill>
                  <a:srgbClr val="5E6A78"/>
                </a:solidFill>
                <a:latin typeface="Aptos"/>
              </a:rPr>
              <a:t> </a:t>
            </a:r>
            <a:r>
              <a:rPr sz="1150" b="0" i="0" dirty="0" err="1">
                <a:solidFill>
                  <a:srgbClr val="5E6A78"/>
                </a:solidFill>
                <a:latin typeface="Aptos"/>
              </a:rPr>
              <a:t>phẩm</a:t>
            </a:r>
            <a:endParaRPr sz="1150" b="0" i="0" dirty="0">
              <a:solidFill>
                <a:srgbClr val="5E6A78"/>
              </a:solidFill>
              <a:latin typeface="Aptos"/>
            </a:endParaRPr>
          </a:p>
        </p:txBody>
      </p:sp>
      <p:sp>
        <p:nvSpPr>
          <p:cNvPr id="21" name="Rounded Rectangle 20"/>
          <p:cNvSpPr/>
          <p:nvPr/>
        </p:nvSpPr>
        <p:spPr>
          <a:xfrm>
            <a:off x="603504" y="3067812"/>
            <a:ext cx="5577840" cy="62179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31520" y="3214116"/>
            <a:ext cx="329184" cy="329184"/>
          </a:xfrm>
          <a:prstGeom prst="roundRect">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31520" y="3223260"/>
            <a:ext cx="329184" cy="310896"/>
          </a:xfrm>
          <a:prstGeom prst="rect">
            <a:avLst/>
          </a:prstGeom>
          <a:noFill/>
        </p:spPr>
        <p:txBody>
          <a:bodyPr wrap="square" lIns="36576" tIns="36576" rIns="36576" bIns="36576" anchor="t">
            <a:noAutofit/>
          </a:bodyPr>
          <a:lstStyle/>
          <a:p>
            <a:pPr algn="ctr">
              <a:spcAft>
                <a:spcPts val="300"/>
              </a:spcAft>
            </a:pPr>
            <a:r>
              <a:rPr sz="1300" b="1" i="0">
                <a:solidFill>
                  <a:srgbClr val="FFFFFF"/>
                </a:solidFill>
                <a:latin typeface="Aptos"/>
              </a:rPr>
              <a:t>3</a:t>
            </a:r>
          </a:p>
        </p:txBody>
      </p:sp>
      <p:sp>
        <p:nvSpPr>
          <p:cNvPr id="24" name="TextBox 23"/>
          <p:cNvSpPr txBox="1"/>
          <p:nvPr/>
        </p:nvSpPr>
        <p:spPr>
          <a:xfrm>
            <a:off x="1188720" y="3104388"/>
            <a:ext cx="4937760" cy="274320"/>
          </a:xfrm>
          <a:prstGeom prst="rect">
            <a:avLst/>
          </a:prstGeom>
          <a:noFill/>
        </p:spPr>
        <p:txBody>
          <a:bodyPr wrap="square" lIns="36576" tIns="36576" rIns="36576" bIns="36576" anchor="t">
            <a:noAutofit/>
          </a:bodyPr>
          <a:lstStyle/>
          <a:p>
            <a:pPr algn="l">
              <a:spcAft>
                <a:spcPts val="300"/>
              </a:spcAft>
            </a:pPr>
            <a:r>
              <a:rPr sz="1300" b="1" i="0" dirty="0" err="1">
                <a:solidFill>
                  <a:srgbClr val="162C46"/>
                </a:solidFill>
                <a:latin typeface="Aptos"/>
              </a:rPr>
              <a:t>Gắn</a:t>
            </a:r>
            <a:r>
              <a:rPr sz="1300" b="1" i="0" dirty="0">
                <a:solidFill>
                  <a:srgbClr val="162C46"/>
                </a:solidFill>
                <a:latin typeface="Aptos"/>
              </a:rPr>
              <a:t> </a:t>
            </a:r>
            <a:r>
              <a:rPr sz="1300" b="1" i="0" dirty="0" err="1">
                <a:solidFill>
                  <a:srgbClr val="162C46"/>
                </a:solidFill>
                <a:latin typeface="Aptos"/>
              </a:rPr>
              <a:t>trọng</a:t>
            </a:r>
            <a:r>
              <a:rPr sz="1300" b="1" i="0" dirty="0">
                <a:solidFill>
                  <a:srgbClr val="162C46"/>
                </a:solidFill>
                <a:latin typeface="Aptos"/>
              </a:rPr>
              <a:t> </a:t>
            </a:r>
            <a:r>
              <a:rPr sz="1300" b="1" i="0" dirty="0" err="1">
                <a:solidFill>
                  <a:srgbClr val="162C46"/>
                </a:solidFill>
                <a:latin typeface="Aptos"/>
              </a:rPr>
              <a:t>số</a:t>
            </a:r>
            <a:endParaRPr sz="1300" b="1" i="0" dirty="0">
              <a:solidFill>
                <a:srgbClr val="162C46"/>
              </a:solidFill>
              <a:latin typeface="Aptos"/>
            </a:endParaRPr>
          </a:p>
        </p:txBody>
      </p:sp>
      <p:sp>
        <p:nvSpPr>
          <p:cNvPr id="25" name="TextBox 24"/>
          <p:cNvSpPr txBox="1"/>
          <p:nvPr/>
        </p:nvSpPr>
        <p:spPr>
          <a:xfrm>
            <a:off x="1188720" y="3369564"/>
            <a:ext cx="4937760" cy="274320"/>
          </a:xfrm>
          <a:prstGeom prst="rect">
            <a:avLst/>
          </a:prstGeom>
          <a:noFill/>
        </p:spPr>
        <p:txBody>
          <a:bodyPr wrap="square" lIns="36576" tIns="36576" rIns="36576" bIns="36576" anchor="t">
            <a:noAutofit/>
          </a:bodyPr>
          <a:lstStyle/>
          <a:p>
            <a:pPr algn="l">
              <a:spcAft>
                <a:spcPts val="300"/>
              </a:spcAft>
            </a:pPr>
            <a:r>
              <a:rPr sz="1150" b="0" i="0" dirty="0" err="1">
                <a:solidFill>
                  <a:srgbClr val="5E6A78"/>
                </a:solidFill>
                <a:latin typeface="Aptos"/>
              </a:rPr>
              <a:t>mọi</a:t>
            </a:r>
            <a:r>
              <a:rPr sz="1150" b="0" i="0" dirty="0">
                <a:solidFill>
                  <a:srgbClr val="5E6A78"/>
                </a:solidFill>
                <a:latin typeface="Aptos"/>
              </a:rPr>
              <a:t> </a:t>
            </a:r>
            <a:r>
              <a:rPr sz="1150" b="0" i="0" dirty="0" err="1">
                <a:solidFill>
                  <a:srgbClr val="5E6A78"/>
                </a:solidFill>
                <a:latin typeface="Aptos"/>
              </a:rPr>
              <a:t>ước</a:t>
            </a:r>
            <a:r>
              <a:rPr sz="1150" b="0" i="0" dirty="0">
                <a:solidFill>
                  <a:srgbClr val="5E6A78"/>
                </a:solidFill>
                <a:latin typeface="Aptos"/>
              </a:rPr>
              <a:t> </a:t>
            </a:r>
            <a:r>
              <a:rPr sz="1150" b="0" i="0" dirty="0" err="1">
                <a:solidFill>
                  <a:srgbClr val="5E6A78"/>
                </a:solidFill>
                <a:latin typeface="Aptos"/>
              </a:rPr>
              <a:t>lượng</a:t>
            </a:r>
            <a:r>
              <a:rPr sz="1150" b="0" i="0" dirty="0">
                <a:solidFill>
                  <a:srgbClr val="5E6A78"/>
                </a:solidFill>
                <a:latin typeface="Aptos"/>
              </a:rPr>
              <a:t> </a:t>
            </a:r>
            <a:r>
              <a:rPr sz="1150" b="0" i="0" dirty="0" err="1">
                <a:solidFill>
                  <a:srgbClr val="5E6A78"/>
                </a:solidFill>
                <a:latin typeface="Aptos"/>
              </a:rPr>
              <a:t>quần</a:t>
            </a:r>
            <a:r>
              <a:rPr sz="1150" b="0" i="0" dirty="0">
                <a:solidFill>
                  <a:srgbClr val="5E6A78"/>
                </a:solidFill>
                <a:latin typeface="Aptos"/>
              </a:rPr>
              <a:t> </a:t>
            </a:r>
            <a:r>
              <a:rPr sz="1150" b="0" i="0" dirty="0" err="1">
                <a:solidFill>
                  <a:srgbClr val="5E6A78"/>
                </a:solidFill>
                <a:latin typeface="Aptos"/>
              </a:rPr>
              <a:t>thể</a:t>
            </a:r>
            <a:r>
              <a:rPr sz="1150" b="0" i="0" dirty="0">
                <a:solidFill>
                  <a:srgbClr val="5E6A78"/>
                </a:solidFill>
                <a:latin typeface="Aptos"/>
              </a:rPr>
              <a:t> </a:t>
            </a:r>
            <a:r>
              <a:rPr sz="1150" b="0" i="0" dirty="0" err="1">
                <a:solidFill>
                  <a:srgbClr val="5E6A78"/>
                </a:solidFill>
                <a:latin typeface="Aptos"/>
              </a:rPr>
              <a:t>nhân</a:t>
            </a:r>
            <a:r>
              <a:rPr sz="1150" b="0" i="0" dirty="0">
                <a:solidFill>
                  <a:srgbClr val="5E6A78"/>
                </a:solidFill>
                <a:latin typeface="Aptos"/>
              </a:rPr>
              <a:t> w · </a:t>
            </a:r>
            <a:r>
              <a:rPr sz="1150" b="0" i="0" dirty="0" err="1">
                <a:solidFill>
                  <a:srgbClr val="5E6A78"/>
                </a:solidFill>
                <a:latin typeface="Aptos"/>
              </a:rPr>
              <a:t>luôn</a:t>
            </a:r>
            <a:r>
              <a:rPr sz="1150" b="0" i="0" dirty="0">
                <a:solidFill>
                  <a:srgbClr val="5E6A78"/>
                </a:solidFill>
                <a:latin typeface="Aptos"/>
              </a:rPr>
              <a:t> </a:t>
            </a:r>
            <a:r>
              <a:rPr sz="1150" b="0" i="0" dirty="0" err="1">
                <a:solidFill>
                  <a:srgbClr val="5E6A78"/>
                </a:solidFill>
                <a:latin typeface="Aptos"/>
              </a:rPr>
              <a:t>báo</a:t>
            </a:r>
            <a:r>
              <a:rPr sz="1150" b="0" i="0" dirty="0">
                <a:solidFill>
                  <a:srgbClr val="5E6A78"/>
                </a:solidFill>
                <a:latin typeface="Aptos"/>
              </a:rPr>
              <a:t> </a:t>
            </a:r>
            <a:r>
              <a:rPr sz="1150" b="0" i="0" dirty="0" err="1">
                <a:solidFill>
                  <a:srgbClr val="5E6A78"/>
                </a:solidFill>
                <a:latin typeface="Aptos"/>
              </a:rPr>
              <a:t>kèm</a:t>
            </a:r>
            <a:r>
              <a:rPr sz="1150" b="0" i="0" dirty="0">
                <a:solidFill>
                  <a:srgbClr val="5E6A78"/>
                </a:solidFill>
                <a:latin typeface="Aptos"/>
              </a:rPr>
              <a:t> </a:t>
            </a:r>
            <a:r>
              <a:rPr sz="1150" b="0" i="0" dirty="0" err="1">
                <a:solidFill>
                  <a:srgbClr val="5E6A78"/>
                </a:solidFill>
                <a:latin typeface="Aptos"/>
              </a:rPr>
              <a:t>n_eff</a:t>
            </a:r>
            <a:endParaRPr sz="1150" b="0" i="0" dirty="0">
              <a:solidFill>
                <a:srgbClr val="5E6A78"/>
              </a:solidFill>
              <a:latin typeface="Aptos"/>
            </a:endParaRPr>
          </a:p>
        </p:txBody>
      </p:sp>
      <p:sp>
        <p:nvSpPr>
          <p:cNvPr id="26" name="TextBox 25"/>
          <p:cNvSpPr txBox="1"/>
          <p:nvPr/>
        </p:nvSpPr>
        <p:spPr>
          <a:xfrm>
            <a:off x="603504" y="3927348"/>
            <a:ext cx="5669280" cy="310896"/>
          </a:xfrm>
          <a:prstGeom prst="rect">
            <a:avLst/>
          </a:prstGeom>
          <a:noFill/>
        </p:spPr>
        <p:txBody>
          <a:bodyPr wrap="square" lIns="36576" tIns="36576" rIns="36576" bIns="36576" anchor="t">
            <a:noAutofit/>
          </a:bodyPr>
          <a:lstStyle/>
          <a:p>
            <a:pPr algn="l">
              <a:spcAft>
                <a:spcPts val="300"/>
              </a:spcAft>
            </a:pPr>
            <a:r>
              <a:rPr lang="vi-VN" sz="1500" b="1" dirty="0">
                <a:solidFill>
                  <a:srgbClr val="2F639D"/>
                </a:solidFill>
                <a:latin typeface="Aptos"/>
              </a:rPr>
              <a:t>2</a:t>
            </a:r>
            <a:r>
              <a:rPr sz="1500" b="1" i="0" dirty="0">
                <a:solidFill>
                  <a:srgbClr val="2F639D"/>
                </a:solidFill>
                <a:latin typeface="Aptos"/>
              </a:rPr>
              <a:t>. KIỂM CHỨNG ĐỘC LẬP TRỌNG SỐ</a:t>
            </a:r>
          </a:p>
        </p:txBody>
      </p:sp>
      <p:grpSp>
        <p:nvGrpSpPr>
          <p:cNvPr id="43" name="Group 42">
            <a:extLst>
              <a:ext uri="{FF2B5EF4-FFF2-40B4-BE49-F238E27FC236}">
                <a16:creationId xmlns:a16="http://schemas.microsoft.com/office/drawing/2014/main" id="{DBCE5104-BF89-8524-6A62-B2F80C9B6E48}"/>
              </a:ext>
            </a:extLst>
          </p:cNvPr>
          <p:cNvGrpSpPr/>
          <p:nvPr/>
        </p:nvGrpSpPr>
        <p:grpSpPr>
          <a:xfrm>
            <a:off x="614172" y="4366677"/>
            <a:ext cx="5577840" cy="1097280"/>
            <a:chOff x="603504" y="4174236"/>
            <a:chExt cx="5577840" cy="1097280"/>
          </a:xfrm>
        </p:grpSpPr>
        <p:sp>
          <p:nvSpPr>
            <p:cNvPr id="27" name="Rounded Rectangle 26"/>
            <p:cNvSpPr/>
            <p:nvPr/>
          </p:nvSpPr>
          <p:spPr>
            <a:xfrm>
              <a:off x="603504" y="4174236"/>
              <a:ext cx="5577840" cy="1097280"/>
            </a:xfrm>
            <a:prstGeom prst="round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49808" y="4238244"/>
              <a:ext cx="2103120" cy="1005840"/>
            </a:xfrm>
            <a:prstGeom prst="rect">
              <a:avLst/>
            </a:prstGeom>
            <a:noFill/>
          </p:spPr>
          <p:txBody>
            <a:bodyPr wrap="square" lIns="36576" tIns="36576" rIns="36576" bIns="36576" anchor="t">
              <a:noAutofit/>
            </a:bodyPr>
            <a:lstStyle/>
            <a:p>
              <a:pPr algn="ctr">
                <a:spcAft>
                  <a:spcPts val="300"/>
                </a:spcAft>
              </a:pPr>
              <a:r>
                <a:rPr sz="2800" b="1" i="0">
                  <a:solidFill>
                    <a:srgbClr val="162C46"/>
                  </a:solidFill>
                  <a:latin typeface="Aptos"/>
                </a:rPr>
                <a:t>0,0091%</a:t>
              </a:r>
            </a:p>
            <a:p>
              <a:pPr algn="ctr">
                <a:spcAft>
                  <a:spcPts val="300"/>
                </a:spcAft>
              </a:pPr>
              <a:r>
                <a:rPr sz="1100" b="0" i="0">
                  <a:solidFill>
                    <a:srgbClr val="5E6A78"/>
                  </a:solidFill>
                  <a:latin typeface="Aptos"/>
                </a:rPr>
                <a:t>độ lệch</a:t>
              </a:r>
            </a:p>
          </p:txBody>
        </p:sp>
        <p:sp>
          <p:nvSpPr>
            <p:cNvPr id="29" name="TextBox 28"/>
            <p:cNvSpPr txBox="1"/>
            <p:nvPr/>
          </p:nvSpPr>
          <p:spPr>
            <a:xfrm>
              <a:off x="2788920" y="4256532"/>
              <a:ext cx="3291840" cy="1005840"/>
            </a:xfrm>
            <a:prstGeom prst="rect">
              <a:avLst/>
            </a:prstGeom>
            <a:noFill/>
          </p:spPr>
          <p:txBody>
            <a:bodyPr wrap="square" lIns="36576" tIns="36576" rIns="36576" bIns="36576" anchor="t">
              <a:noAutofit/>
            </a:bodyPr>
            <a:lstStyle/>
            <a:p>
              <a:pPr algn="l">
                <a:spcAft>
                  <a:spcPts val="200"/>
                </a:spcAft>
              </a:pPr>
              <a:r>
                <a:rPr sz="1200" b="1" i="0" dirty="0">
                  <a:solidFill>
                    <a:srgbClr val="242B33"/>
                  </a:solidFill>
                  <a:latin typeface="Aptos"/>
                </a:rPr>
                <a:t>Σ weight</a:t>
              </a:r>
              <a:r>
                <a:rPr sz="1200" b="0" i="0" dirty="0">
                  <a:solidFill>
                    <a:srgbClr val="5E6A78"/>
                  </a:solidFill>
                  <a:latin typeface="Aptos"/>
                </a:rPr>
                <a:t> (</a:t>
              </a:r>
              <a:r>
                <a:rPr sz="1200" b="0" i="0" dirty="0" err="1">
                  <a:solidFill>
                    <a:srgbClr val="5E6A78"/>
                  </a:solidFill>
                  <a:latin typeface="Aptos"/>
                </a:rPr>
                <a:t>từ</a:t>
              </a:r>
              <a:r>
                <a:rPr sz="1200" b="0" i="0" dirty="0">
                  <a:solidFill>
                    <a:srgbClr val="5E6A78"/>
                  </a:solidFill>
                  <a:latin typeface="Aptos"/>
                </a:rPr>
                <a:t> endpoint review) = 438.255</a:t>
              </a:r>
            </a:p>
            <a:p>
              <a:pPr algn="l">
                <a:spcAft>
                  <a:spcPts val="200"/>
                </a:spcAft>
              </a:pPr>
              <a:r>
                <a:rPr sz="1200" b="1" i="0" dirty="0">
                  <a:solidFill>
                    <a:srgbClr val="242B33"/>
                  </a:solidFill>
                  <a:latin typeface="Aptos"/>
                </a:rPr>
                <a:t>Σ </a:t>
              </a:r>
              <a:r>
                <a:rPr sz="1200" b="1" i="0" dirty="0" err="1">
                  <a:solidFill>
                    <a:srgbClr val="242B33"/>
                  </a:solidFill>
                  <a:latin typeface="Aptos"/>
                </a:rPr>
                <a:t>review_count</a:t>
              </a:r>
              <a:r>
                <a:rPr sz="1200" b="0" i="0" dirty="0">
                  <a:solidFill>
                    <a:srgbClr val="5E6A78"/>
                  </a:solidFill>
                  <a:latin typeface="Aptos"/>
                </a:rPr>
                <a:t> (endpoint listing) = 438.295</a:t>
              </a:r>
            </a:p>
            <a:p>
              <a:pPr algn="l">
                <a:spcAft>
                  <a:spcPts val="200"/>
                </a:spcAft>
              </a:pPr>
              <a:r>
                <a:rPr sz="1200" b="0" i="0" dirty="0">
                  <a:solidFill>
                    <a:srgbClr val="5E6A78"/>
                  </a:solidFill>
                  <a:latin typeface="Aptos"/>
                </a:rPr>
                <a:t>Hai </a:t>
              </a:r>
              <a:r>
                <a:rPr sz="1200" b="0" i="0" dirty="0" err="1">
                  <a:solidFill>
                    <a:srgbClr val="5E6A78"/>
                  </a:solidFill>
                  <a:latin typeface="Aptos"/>
                </a:rPr>
                <a:t>nguồn</a:t>
              </a:r>
              <a:r>
                <a:rPr sz="1200" b="0" i="0" dirty="0">
                  <a:solidFill>
                    <a:srgbClr val="5E6A78"/>
                  </a:solidFill>
                  <a:latin typeface="Aptos"/>
                </a:rPr>
                <a:t> </a:t>
              </a:r>
              <a:r>
                <a:rPr sz="1200" b="0" i="0" dirty="0" err="1">
                  <a:solidFill>
                    <a:srgbClr val="5E6A78"/>
                  </a:solidFill>
                  <a:latin typeface="Aptos"/>
                </a:rPr>
                <a:t>độc</a:t>
              </a:r>
              <a:r>
                <a:rPr sz="1200" b="0" i="0" dirty="0">
                  <a:solidFill>
                    <a:srgbClr val="5E6A78"/>
                  </a:solidFill>
                  <a:latin typeface="Aptos"/>
                </a:rPr>
                <a:t> </a:t>
              </a:r>
              <a:r>
                <a:rPr sz="1200" b="0" i="0" dirty="0" err="1">
                  <a:solidFill>
                    <a:srgbClr val="5E6A78"/>
                  </a:solidFill>
                  <a:latin typeface="Aptos"/>
                </a:rPr>
                <a:t>lập</a:t>
              </a:r>
              <a:r>
                <a:rPr sz="1200" b="0" i="0" dirty="0">
                  <a:solidFill>
                    <a:srgbClr val="5E6A78"/>
                  </a:solidFill>
                  <a:latin typeface="Aptos"/>
                </a:rPr>
                <a:t>, </a:t>
              </a:r>
              <a:r>
                <a:rPr sz="1200" b="0" i="0" dirty="0" err="1">
                  <a:solidFill>
                    <a:srgbClr val="5E6A78"/>
                  </a:solidFill>
                  <a:latin typeface="Aptos"/>
                </a:rPr>
                <a:t>không</a:t>
              </a:r>
              <a:r>
                <a:rPr sz="1200" b="0" i="0" dirty="0">
                  <a:solidFill>
                    <a:srgbClr val="5E6A78"/>
                  </a:solidFill>
                  <a:latin typeface="Aptos"/>
                </a:rPr>
                <a:t> </a:t>
              </a:r>
              <a:r>
                <a:rPr sz="1200" b="0" i="0" dirty="0" err="1">
                  <a:solidFill>
                    <a:srgbClr val="5E6A78"/>
                  </a:solidFill>
                  <a:latin typeface="Aptos"/>
                </a:rPr>
                <a:t>ép</a:t>
              </a:r>
              <a:r>
                <a:rPr sz="1200" b="0" i="0" dirty="0">
                  <a:solidFill>
                    <a:srgbClr val="5E6A78"/>
                  </a:solidFill>
                  <a:latin typeface="Aptos"/>
                </a:rPr>
                <a:t> </a:t>
              </a:r>
              <a:r>
                <a:rPr sz="1200" b="0" i="0" dirty="0" err="1">
                  <a:solidFill>
                    <a:srgbClr val="5E6A78"/>
                  </a:solidFill>
                  <a:latin typeface="Aptos"/>
                </a:rPr>
                <a:t>khớp</a:t>
              </a:r>
              <a:r>
                <a:rPr sz="1200" b="0" i="0" dirty="0">
                  <a:solidFill>
                    <a:srgbClr val="5E6A78"/>
                  </a:solidFill>
                  <a:latin typeface="Aptos"/>
                </a:rPr>
                <a:t>.</a:t>
              </a:r>
            </a:p>
          </p:txBody>
        </p:sp>
      </p:grpSp>
      <p:pic>
        <p:nvPicPr>
          <p:cNvPr id="30" name="Picture 29" descr="B08_rating.png"/>
          <p:cNvPicPr>
            <a:picLocks noChangeAspect="1"/>
          </p:cNvPicPr>
          <p:nvPr/>
        </p:nvPicPr>
        <p:blipFill>
          <a:blip r:embed="rId3"/>
          <a:stretch>
            <a:fillRect/>
          </a:stretch>
        </p:blipFill>
        <p:spPr>
          <a:xfrm>
            <a:off x="6242051" y="1165861"/>
            <a:ext cx="5773327" cy="3575304"/>
          </a:xfrm>
          <a:prstGeom prst="rect">
            <a:avLst/>
          </a:prstGeom>
        </p:spPr>
      </p:pic>
      <p:sp>
        <p:nvSpPr>
          <p:cNvPr id="31" name="TextBox 30"/>
          <p:cNvSpPr txBox="1"/>
          <p:nvPr/>
        </p:nvSpPr>
        <p:spPr>
          <a:xfrm>
            <a:off x="6489700" y="4817019"/>
            <a:ext cx="5400040" cy="457200"/>
          </a:xfrm>
          <a:prstGeom prst="rect">
            <a:avLst/>
          </a:prstGeom>
          <a:noFill/>
        </p:spPr>
        <p:txBody>
          <a:bodyPr wrap="square" lIns="36576" tIns="36576" rIns="36576" bIns="36576" anchor="t">
            <a:noAutofit/>
          </a:bodyPr>
          <a:lstStyle/>
          <a:p>
            <a:pPr>
              <a:spcAft>
                <a:spcPts val="300"/>
              </a:spcAft>
            </a:pPr>
            <a:r>
              <a:rPr lang="en-US" sz="1200" dirty="0">
                <a:latin typeface="Aptos"/>
              </a:rPr>
              <a:t>“Trong </a:t>
            </a:r>
            <a:r>
              <a:rPr lang="en-US" sz="1200" dirty="0" err="1">
                <a:latin typeface="Aptos"/>
              </a:rPr>
              <a:t>mẫu</a:t>
            </a:r>
            <a:r>
              <a:rPr lang="en-US" sz="1200" dirty="0">
                <a:latin typeface="Aptos"/>
              </a:rPr>
              <a:t> </a:t>
            </a:r>
            <a:r>
              <a:rPr lang="en-US" sz="1200" dirty="0" err="1">
                <a:latin typeface="Aptos"/>
              </a:rPr>
              <a:t>này</a:t>
            </a:r>
            <a:r>
              <a:rPr lang="en-US" sz="1200" dirty="0">
                <a:latin typeface="Aptos"/>
              </a:rPr>
              <a:t>, </a:t>
            </a:r>
            <a:r>
              <a:rPr lang="en-US" sz="1200" dirty="0" err="1">
                <a:latin typeface="Aptos"/>
              </a:rPr>
              <a:t>tỷ</a:t>
            </a:r>
            <a:r>
              <a:rPr lang="en-US" sz="1200" dirty="0">
                <a:latin typeface="Aptos"/>
              </a:rPr>
              <a:t> </a:t>
            </a:r>
            <a:r>
              <a:rPr lang="en-US" sz="1200" dirty="0" err="1">
                <a:latin typeface="Aptos"/>
              </a:rPr>
              <a:t>lệ</a:t>
            </a:r>
            <a:r>
              <a:rPr lang="en-US" sz="1200" dirty="0">
                <a:latin typeface="Aptos"/>
              </a:rPr>
              <a:t> review ≤3★ </a:t>
            </a:r>
            <a:r>
              <a:rPr lang="en-US" sz="1200" dirty="0" err="1">
                <a:latin typeface="Aptos"/>
              </a:rPr>
              <a:t>của</a:t>
            </a:r>
            <a:r>
              <a:rPr lang="en-US" sz="1200" dirty="0">
                <a:latin typeface="Aptos"/>
              </a:rPr>
              <a:t> </a:t>
            </a:r>
            <a:r>
              <a:rPr lang="en-US" sz="1200" dirty="0" err="1">
                <a:latin typeface="Aptos"/>
              </a:rPr>
              <a:t>mẫu</a:t>
            </a:r>
            <a:r>
              <a:rPr lang="en-US" sz="1200" dirty="0">
                <a:latin typeface="Aptos"/>
              </a:rPr>
              <a:t> </a:t>
            </a:r>
            <a:r>
              <a:rPr lang="en-US" sz="1200" dirty="0" err="1">
                <a:latin typeface="Aptos"/>
              </a:rPr>
              <a:t>thô</a:t>
            </a:r>
            <a:r>
              <a:rPr lang="en-US" sz="1200" dirty="0">
                <a:latin typeface="Aptos"/>
              </a:rPr>
              <a:t> </a:t>
            </a:r>
            <a:r>
              <a:rPr lang="en-US" sz="1200" dirty="0" err="1">
                <a:latin typeface="Aptos"/>
              </a:rPr>
              <a:t>là</a:t>
            </a:r>
            <a:r>
              <a:rPr lang="en-US" sz="1200" dirty="0">
                <a:latin typeface="Aptos"/>
              </a:rPr>
              <a:t> 8,6%, </a:t>
            </a:r>
            <a:r>
              <a:rPr lang="en-US" sz="1200" dirty="0" err="1">
                <a:latin typeface="Aptos"/>
              </a:rPr>
              <a:t>cao</a:t>
            </a:r>
            <a:r>
              <a:rPr lang="en-US" sz="1200" dirty="0">
                <a:latin typeface="Aptos"/>
              </a:rPr>
              <a:t> </a:t>
            </a:r>
            <a:r>
              <a:rPr lang="en-US" sz="1200" dirty="0" err="1">
                <a:latin typeface="Aptos"/>
              </a:rPr>
              <a:t>khoảng</a:t>
            </a:r>
            <a:r>
              <a:rPr lang="en-US" sz="1200" dirty="0">
                <a:latin typeface="Aptos"/>
              </a:rPr>
              <a:t> 2,2 </a:t>
            </a:r>
            <a:r>
              <a:rPr lang="en-US" sz="1200" dirty="0" err="1">
                <a:latin typeface="Aptos"/>
              </a:rPr>
              <a:t>lần</a:t>
            </a:r>
            <a:r>
              <a:rPr lang="en-US" sz="1200" dirty="0">
                <a:latin typeface="Aptos"/>
              </a:rPr>
              <a:t> </a:t>
            </a:r>
            <a:r>
              <a:rPr lang="en-US" sz="1200" dirty="0" err="1">
                <a:latin typeface="Aptos"/>
              </a:rPr>
              <a:t>mức</a:t>
            </a:r>
            <a:r>
              <a:rPr lang="en-US" sz="1200" dirty="0">
                <a:latin typeface="Aptos"/>
              </a:rPr>
              <a:t> 4,0% </a:t>
            </a:r>
            <a:r>
              <a:rPr lang="en-US" sz="1200" dirty="0" err="1">
                <a:latin typeface="Aptos"/>
              </a:rPr>
              <a:t>sau</a:t>
            </a:r>
            <a:r>
              <a:rPr lang="en-US" sz="1200" dirty="0">
                <a:latin typeface="Aptos"/>
              </a:rPr>
              <a:t> </a:t>
            </a:r>
            <a:r>
              <a:rPr lang="en-US" sz="1200" dirty="0" err="1">
                <a:latin typeface="Aptos"/>
              </a:rPr>
              <a:t>khi</a:t>
            </a:r>
            <a:r>
              <a:rPr lang="en-US" sz="1200" dirty="0">
                <a:latin typeface="Aptos"/>
              </a:rPr>
              <a:t> </a:t>
            </a:r>
            <a:r>
              <a:rPr lang="en-US" sz="1200" dirty="0" err="1">
                <a:latin typeface="Aptos"/>
              </a:rPr>
              <a:t>hiệu</a:t>
            </a:r>
            <a:r>
              <a:rPr lang="en-US" sz="1200" dirty="0">
                <a:latin typeface="Aptos"/>
              </a:rPr>
              <a:t> </a:t>
            </a:r>
            <a:r>
              <a:rPr lang="en-US" sz="1200" dirty="0" err="1">
                <a:latin typeface="Aptos"/>
              </a:rPr>
              <a:t>chỉnh</a:t>
            </a:r>
            <a:r>
              <a:rPr lang="en-US" sz="1200" dirty="0">
                <a:latin typeface="Aptos"/>
              </a:rPr>
              <a:t> </a:t>
            </a:r>
            <a:r>
              <a:rPr lang="en-US" sz="1200" dirty="0" err="1">
                <a:latin typeface="Aptos"/>
              </a:rPr>
              <a:t>trọng</a:t>
            </a:r>
            <a:r>
              <a:rPr lang="en-US" sz="1200" dirty="0">
                <a:latin typeface="Aptos"/>
              </a:rPr>
              <a:t> </a:t>
            </a:r>
            <a:r>
              <a:rPr lang="en-US" sz="1200" dirty="0" err="1">
                <a:latin typeface="Aptos"/>
              </a:rPr>
              <a:t>số</a:t>
            </a:r>
            <a:r>
              <a:rPr lang="en-US" sz="1200" dirty="0">
                <a:latin typeface="Aptos"/>
              </a:rPr>
              <a:t>.”</a:t>
            </a:r>
            <a:endParaRPr sz="1200" b="0" i="0" dirty="0">
              <a:solidFill>
                <a:srgbClr val="5E6A78"/>
              </a:solidFill>
              <a:latin typeface="Aptos"/>
            </a:endParaRPr>
          </a:p>
        </p:txBody>
      </p:sp>
      <p:grpSp>
        <p:nvGrpSpPr>
          <p:cNvPr id="42" name="Group 41">
            <a:extLst>
              <a:ext uri="{FF2B5EF4-FFF2-40B4-BE49-F238E27FC236}">
                <a16:creationId xmlns:a16="http://schemas.microsoft.com/office/drawing/2014/main" id="{CA480284-B723-3A72-8A3A-D251511E48BC}"/>
              </a:ext>
            </a:extLst>
          </p:cNvPr>
          <p:cNvGrpSpPr/>
          <p:nvPr/>
        </p:nvGrpSpPr>
        <p:grpSpPr>
          <a:xfrm>
            <a:off x="537464" y="5797713"/>
            <a:ext cx="11309096" cy="597753"/>
            <a:chOff x="6446520" y="5741159"/>
            <a:chExt cx="5166360" cy="559056"/>
          </a:xfrm>
        </p:grpSpPr>
        <p:sp>
          <p:nvSpPr>
            <p:cNvPr id="32" name="Rounded Rectangle 31"/>
            <p:cNvSpPr/>
            <p:nvPr/>
          </p:nvSpPr>
          <p:spPr>
            <a:xfrm>
              <a:off x="6446520" y="5741159"/>
              <a:ext cx="5166360" cy="559056"/>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583680" y="5766816"/>
              <a:ext cx="4937760" cy="496824"/>
            </a:xfrm>
            <a:prstGeom prst="rect">
              <a:avLst/>
            </a:prstGeom>
            <a:noFill/>
          </p:spPr>
          <p:txBody>
            <a:bodyPr wrap="square" lIns="36576" tIns="36576" rIns="36576" bIns="36576" anchor="t">
              <a:noAutofit/>
            </a:bodyPr>
            <a:lstStyle/>
            <a:p>
              <a:pPr algn="l">
                <a:spcAft>
                  <a:spcPts val="200"/>
                </a:spcAft>
              </a:pPr>
              <a:r>
                <a:rPr sz="1150" b="1" i="0" dirty="0" err="1">
                  <a:solidFill>
                    <a:srgbClr val="162C46"/>
                  </a:solidFill>
                  <a:latin typeface="Aptos"/>
                </a:rPr>
                <a:t>Đạo</a:t>
              </a:r>
              <a:r>
                <a:rPr sz="1150" b="1" i="0" dirty="0">
                  <a:solidFill>
                    <a:srgbClr val="162C46"/>
                  </a:solidFill>
                  <a:latin typeface="Aptos"/>
                </a:rPr>
                <a:t> </a:t>
              </a:r>
              <a:r>
                <a:rPr sz="1150" b="1" i="0" dirty="0" err="1">
                  <a:solidFill>
                    <a:srgbClr val="162C46"/>
                  </a:solidFill>
                  <a:latin typeface="Aptos"/>
                </a:rPr>
                <a:t>đức</a:t>
              </a:r>
              <a:r>
                <a:rPr sz="1150" b="1" i="0" dirty="0">
                  <a:solidFill>
                    <a:srgbClr val="162C46"/>
                  </a:solidFill>
                  <a:latin typeface="Aptos"/>
                </a:rPr>
                <a:t> </a:t>
              </a:r>
              <a:r>
                <a:rPr sz="1150" b="1" i="0" dirty="0" err="1">
                  <a:solidFill>
                    <a:srgbClr val="162C46"/>
                  </a:solidFill>
                  <a:latin typeface="Aptos"/>
                </a:rPr>
                <a:t>thu</a:t>
              </a:r>
              <a:r>
                <a:rPr sz="1150" b="1" i="0" dirty="0">
                  <a:solidFill>
                    <a:srgbClr val="162C46"/>
                  </a:solidFill>
                  <a:latin typeface="Aptos"/>
                </a:rPr>
                <a:t> </a:t>
              </a:r>
              <a:r>
                <a:rPr sz="1150" b="1" i="0" dirty="0" err="1">
                  <a:solidFill>
                    <a:srgbClr val="162C46"/>
                  </a:solidFill>
                  <a:latin typeface="Aptos"/>
                </a:rPr>
                <a:t>thập</a:t>
              </a:r>
              <a:endParaRPr sz="1150" b="1" i="0" dirty="0">
                <a:solidFill>
                  <a:srgbClr val="162C46"/>
                </a:solidFill>
                <a:latin typeface="Aptos"/>
              </a:endParaRPr>
            </a:p>
            <a:p>
              <a:pPr algn="l">
                <a:spcAft>
                  <a:spcPts val="200"/>
                </a:spcAft>
              </a:pPr>
              <a:r>
                <a:rPr sz="1150" b="0" i="0" dirty="0">
                  <a:solidFill>
                    <a:srgbClr val="5E6A78"/>
                  </a:solidFill>
                  <a:latin typeface="Aptos"/>
                </a:rPr>
                <a:t>Tôn </a:t>
              </a:r>
              <a:r>
                <a:rPr sz="1150" b="0" i="0" dirty="0" err="1">
                  <a:solidFill>
                    <a:srgbClr val="5E6A78"/>
                  </a:solidFill>
                  <a:latin typeface="Aptos"/>
                </a:rPr>
                <a:t>trọng</a:t>
              </a:r>
              <a:r>
                <a:rPr sz="1150" b="0" i="0" dirty="0">
                  <a:solidFill>
                    <a:srgbClr val="5E6A78"/>
                  </a:solidFill>
                  <a:latin typeface="Aptos"/>
                </a:rPr>
                <a:t> robots.txt, </a:t>
              </a:r>
              <a:r>
                <a:rPr sz="1150" b="0" i="0" dirty="0" err="1">
                  <a:solidFill>
                    <a:srgbClr val="5E6A78"/>
                  </a:solidFill>
                  <a:latin typeface="Aptos"/>
                </a:rPr>
                <a:t>không</a:t>
              </a:r>
              <a:r>
                <a:rPr sz="1150" b="0" i="0" dirty="0">
                  <a:solidFill>
                    <a:srgbClr val="5E6A78"/>
                  </a:solidFill>
                  <a:latin typeface="Aptos"/>
                </a:rPr>
                <a:t> </a:t>
              </a:r>
              <a:r>
                <a:rPr sz="1150" b="0" i="0" dirty="0" err="1">
                  <a:solidFill>
                    <a:srgbClr val="5E6A78"/>
                  </a:solidFill>
                  <a:latin typeface="Aptos"/>
                </a:rPr>
                <a:t>đụng</a:t>
              </a:r>
              <a:r>
                <a:rPr sz="1150" b="0" i="0" dirty="0">
                  <a:solidFill>
                    <a:srgbClr val="5E6A78"/>
                  </a:solidFill>
                  <a:latin typeface="Aptos"/>
                </a:rPr>
                <a:t> /me, /order, /customer · 1 request/giây</a:t>
              </a:r>
              <a:r>
                <a:rPr sz="1150" b="0" i="0" dirty="0">
                  <a:solidFill>
                    <a:srgbClr val="5E6A78"/>
                  </a:solidFill>
                  <a:latin typeface="Aptos"/>
                </a:rPr>
                <a:t>, </a:t>
              </a:r>
              <a:r>
                <a:rPr sz="1150" b="0" i="0" dirty="0" err="1">
                  <a:solidFill>
                    <a:srgbClr val="5E6A78"/>
                  </a:solidFill>
                  <a:latin typeface="Aptos"/>
                </a:rPr>
                <a:t>không</a:t>
              </a:r>
              <a:r>
                <a:rPr sz="1150" b="0" i="0" dirty="0">
                  <a:solidFill>
                    <a:srgbClr val="5E6A78"/>
                  </a:solidFill>
                  <a:latin typeface="Aptos"/>
                </a:rPr>
                <a:t> </a:t>
              </a:r>
              <a:r>
                <a:rPr sz="1150" b="0" i="0" dirty="0" err="1">
                  <a:solidFill>
                    <a:srgbClr val="5E6A78"/>
                  </a:solidFill>
                  <a:latin typeface="Aptos"/>
                </a:rPr>
                <a:t>chạy</a:t>
              </a:r>
              <a:r>
                <a:rPr sz="1150" b="0" i="0" dirty="0">
                  <a:solidFill>
                    <a:srgbClr val="5E6A78"/>
                  </a:solidFill>
                  <a:latin typeface="Aptos"/>
                </a:rPr>
                <a:t> song </a:t>
              </a:r>
              <a:r>
                <a:rPr sz="1150" b="0" i="0" dirty="0" err="1">
                  <a:solidFill>
                    <a:srgbClr val="5E6A78"/>
                  </a:solidFill>
                  <a:latin typeface="Aptos"/>
                </a:rPr>
                <a:t>song</a:t>
              </a:r>
              <a:r>
                <a:rPr sz="1150" b="0" i="0" dirty="0">
                  <a:solidFill>
                    <a:srgbClr val="5E6A78"/>
                  </a:solidFill>
                  <a:latin typeface="Aptos"/>
                </a:rPr>
                <a:t> · cache, </a:t>
              </a:r>
              <a:r>
                <a:rPr sz="1150" b="0" i="0" dirty="0" err="1">
                  <a:solidFill>
                    <a:srgbClr val="5E6A78"/>
                  </a:solidFill>
                  <a:latin typeface="Aptos"/>
                </a:rPr>
                <a:t>cào đúng một lần · User-Agent </a:t>
              </a:r>
              <a:r>
                <a:rPr sz="1150" b="0" i="0" dirty="0" err="1">
                  <a:solidFill>
                    <a:srgbClr val="5E6A78"/>
                  </a:solidFill>
                  <a:latin typeface="Aptos"/>
                </a:rPr>
                <a:t>khai</a:t>
              </a:r>
              <a:r>
                <a:rPr sz="1150" b="0" i="0" dirty="0">
                  <a:solidFill>
                    <a:srgbClr val="5E6A78"/>
                  </a:solidFill>
                  <a:latin typeface="Aptos"/>
                </a:rPr>
                <a:t> </a:t>
              </a:r>
              <a:r>
                <a:rPr sz="1150" b="0" i="0" dirty="0" err="1">
                  <a:solidFill>
                    <a:srgbClr val="5E6A78"/>
                  </a:solidFill>
                  <a:latin typeface="Aptos"/>
                </a:rPr>
                <a:t>rõ</a:t>
              </a:r>
              <a:r>
                <a:rPr sz="1150" b="0" i="0" dirty="0">
                  <a:solidFill>
                    <a:srgbClr val="5E6A78"/>
                  </a:solidFill>
                  <a:latin typeface="Aptos"/>
                </a:rPr>
                <a:t> </a:t>
              </a:r>
              <a:r>
                <a:rPr sz="1150" b="0" i="0" dirty="0" err="1">
                  <a:solidFill>
                    <a:srgbClr val="5E6A78"/>
                  </a:solidFill>
                  <a:latin typeface="Aptos"/>
                </a:rPr>
                <a:t>đồ</a:t>
              </a:r>
              <a:r>
                <a:rPr sz="1150" b="0" i="0" dirty="0">
                  <a:solidFill>
                    <a:srgbClr val="5E6A78"/>
                  </a:solidFill>
                  <a:latin typeface="Aptos"/>
                </a:rPr>
                <a:t> </a:t>
              </a:r>
              <a:r>
                <a:rPr sz="1150" b="0" i="0" dirty="0" err="1">
                  <a:solidFill>
                    <a:srgbClr val="5E6A78"/>
                  </a:solidFill>
                  <a:latin typeface="Aptos"/>
                </a:rPr>
                <a:t>án</a:t>
              </a:r>
              <a:r>
                <a:rPr sz="1150" b="0" i="0" dirty="0">
                  <a:solidFill>
                    <a:srgbClr val="5E6A78"/>
                  </a:solidFill>
                  <a:latin typeface="Aptos"/>
                </a:rPr>
                <a:t> </a:t>
              </a:r>
              <a:r>
                <a:rPr sz="1150" b="0" i="0" dirty="0" err="1">
                  <a:solidFill>
                    <a:srgbClr val="5E6A78"/>
                  </a:solidFill>
                  <a:latin typeface="Aptos"/>
                </a:rPr>
                <a:t>môn</a:t>
              </a:r>
              <a:r>
                <a:rPr sz="1150" b="0" i="0" dirty="0">
                  <a:solidFill>
                    <a:srgbClr val="5E6A78"/>
                  </a:solidFill>
                  <a:latin typeface="Aptos"/>
                </a:rPr>
                <a:t> </a:t>
              </a:r>
              <a:r>
                <a:rPr sz="1150" b="0" i="0" dirty="0" err="1">
                  <a:solidFill>
                    <a:srgbClr val="5E6A78"/>
                  </a:solidFill>
                  <a:latin typeface="Aptos"/>
                </a:rPr>
                <a:t>học</a:t>
              </a:r>
              <a:endParaRPr sz="1150" b="0" i="0" dirty="0">
                <a:solidFill>
                  <a:srgbClr val="5E6A78"/>
                </a:solidFill>
                <a:latin typeface="Aptos"/>
              </a:endParaRPr>
            </a:p>
          </p:txBody>
        </p:sp>
      </p:grpSp>
      <p:sp>
        <p:nvSpPr>
          <p:cNvPr id="34" name="Rounded Rectangle 33"/>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a:t>
            </a:r>
          </a:p>
        </p:txBody>
      </p:sp>
      <p:sp>
        <p:nvSpPr>
          <p:cNvPr id="35" name="Rounded Rectangle 34"/>
          <p:cNvSpPr/>
          <p:nvPr/>
        </p:nvSpPr>
        <p:spPr>
          <a:xfrm>
            <a:off x="5550408" y="6510528"/>
            <a:ext cx="1005840"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Data Collection</a:t>
            </a:r>
          </a:p>
        </p:txBody>
      </p:sp>
      <p:sp>
        <p:nvSpPr>
          <p:cNvPr id="36" name="Rounded Rectangle 35"/>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Cleaning</a:t>
            </a:r>
          </a:p>
        </p:txBody>
      </p:sp>
      <p:sp>
        <p:nvSpPr>
          <p:cNvPr id="37" name="Rounded Rectangle 36"/>
          <p:cNvSpPr/>
          <p:nvPr/>
        </p:nvSpPr>
        <p:spPr>
          <a:xfrm>
            <a:off x="7306056" y="6510528"/>
            <a:ext cx="42062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EDA</a:t>
            </a:r>
          </a:p>
        </p:txBody>
      </p:sp>
      <p:sp>
        <p:nvSpPr>
          <p:cNvPr id="38" name="Rounded Rectangle 37"/>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Features</a:t>
            </a:r>
          </a:p>
        </p:txBody>
      </p:sp>
      <p:sp>
        <p:nvSpPr>
          <p:cNvPr id="39" name="Rounded Rectangle 38"/>
          <p:cNvSpPr/>
          <p:nvPr/>
        </p:nvSpPr>
        <p:spPr>
          <a:xfrm>
            <a:off x="8494776" y="6510528"/>
            <a:ext cx="69494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Modeling</a:t>
            </a:r>
          </a:p>
        </p:txBody>
      </p:sp>
      <p:sp>
        <p:nvSpPr>
          <p:cNvPr id="40" name="Rounded Rectangle 39"/>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Evaluation</a:t>
            </a:r>
          </a:p>
        </p:txBody>
      </p:sp>
      <p:sp>
        <p:nvSpPr>
          <p:cNvPr id="41" name="Rounded Rectangle 40"/>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 Value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Rounded Rectangle 9">
            <a:extLst>
              <a:ext uri="{FF2B5EF4-FFF2-40B4-BE49-F238E27FC236}">
                <a16:creationId xmlns:a16="http://schemas.microsoft.com/office/drawing/2014/main" id="{11C4FB3E-B275-C8B9-5F1B-2EC4C8B57784}"/>
              </a:ext>
            </a:extLst>
          </p:cNvPr>
          <p:cNvSpPr/>
          <p:nvPr/>
        </p:nvSpPr>
        <p:spPr>
          <a:xfrm>
            <a:off x="5925312" y="1337007"/>
            <a:ext cx="2871215" cy="4321146"/>
          </a:xfrm>
          <a:prstGeom prst="roundRect">
            <a:avLst>
              <a:gd name="adj" fmla="val 12067"/>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 name="TextBox 1"/>
          <p:cNvSpPr txBox="1"/>
          <p:nvPr/>
        </p:nvSpPr>
        <p:spPr>
          <a:xfrm>
            <a:off x="566928" y="292608"/>
            <a:ext cx="10972800" cy="535531"/>
          </a:xfrm>
          <a:prstGeom prst="rect">
            <a:avLst/>
          </a:prstGeom>
          <a:noFill/>
        </p:spPr>
        <p:txBody>
          <a:bodyPr wrap="square" lIns="36576" tIns="36576" rIns="36576" bIns="36576" anchor="t">
            <a:spAutoFit/>
          </a:bodyPr>
          <a:lstStyle/>
          <a:p>
            <a:pPr algn="l"/>
            <a:r>
              <a:rPr sz="3000" b="1" dirty="0">
                <a:solidFill>
                  <a:srgbClr val="162C46"/>
                </a:solidFill>
                <a:latin typeface="Aptos Display"/>
              </a:rPr>
              <a:t>LÀM SẠCH &amp; XỬ LÝ DỮ LIỆU</a:t>
            </a:r>
          </a:p>
        </p:txBody>
      </p:sp>
      <p:cxnSp>
        <p:nvCxnSpPr>
          <p:cNvPr id="3" name="Connector 2"/>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658368" y="1325880"/>
            <a:ext cx="2331720" cy="4343400"/>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6" name="Rounded Rectangle 5"/>
          <p:cNvSpPr/>
          <p:nvPr/>
        </p:nvSpPr>
        <p:spPr>
          <a:xfrm>
            <a:off x="822959" y="1508760"/>
            <a:ext cx="457200" cy="292608"/>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7" name="TextBox 6"/>
          <p:cNvSpPr txBox="1"/>
          <p:nvPr/>
        </p:nvSpPr>
        <p:spPr>
          <a:xfrm>
            <a:off x="859536" y="1495020"/>
            <a:ext cx="384048" cy="320088"/>
          </a:xfrm>
          <a:prstGeom prst="rect">
            <a:avLst/>
          </a:prstGeom>
          <a:noFill/>
        </p:spPr>
        <p:txBody>
          <a:bodyPr wrap="square" lIns="36576" tIns="36576" rIns="36576" bIns="36576" anchor="ctr">
            <a:spAutoFit/>
          </a:bodyPr>
          <a:lstStyle/>
          <a:p>
            <a:pPr algn="ctr"/>
            <a:r>
              <a:rPr sz="1600" b="1">
                <a:solidFill>
                  <a:srgbClr val="2F639D"/>
                </a:solidFill>
                <a:latin typeface="Aptos"/>
              </a:rPr>
              <a:t>01</a:t>
            </a:r>
          </a:p>
        </p:txBody>
      </p:sp>
      <p:sp>
        <p:nvSpPr>
          <p:cNvPr id="8" name="TextBox 7"/>
          <p:cNvSpPr txBox="1"/>
          <p:nvPr/>
        </p:nvSpPr>
        <p:spPr>
          <a:xfrm>
            <a:off x="822959" y="1920240"/>
            <a:ext cx="2002536" cy="566928"/>
          </a:xfrm>
          <a:prstGeom prst="rect">
            <a:avLst/>
          </a:prstGeom>
          <a:noFill/>
        </p:spPr>
        <p:txBody>
          <a:bodyPr wrap="square" lIns="36576" tIns="36576" rIns="36576" bIns="36576" anchor="t">
            <a:spAutoFit/>
          </a:bodyPr>
          <a:lstStyle/>
          <a:p>
            <a:pPr algn="l"/>
            <a:r>
              <a:rPr sz="1600" b="1">
                <a:solidFill>
                  <a:srgbClr val="162C46"/>
                </a:solidFill>
                <a:latin typeface="Aptos"/>
              </a:rPr>
              <a:t>CHUẨN HÓA THỜI GIAN</a:t>
            </a:r>
          </a:p>
        </p:txBody>
      </p:sp>
      <p:sp>
        <p:nvSpPr>
          <p:cNvPr id="9" name="TextBox 8"/>
          <p:cNvSpPr txBox="1"/>
          <p:nvPr/>
        </p:nvSpPr>
        <p:spPr>
          <a:xfrm>
            <a:off x="822959" y="2651760"/>
            <a:ext cx="2002536" cy="1550168"/>
          </a:xfrm>
          <a:prstGeom prst="rect">
            <a:avLst/>
          </a:prstGeom>
          <a:noFill/>
        </p:spPr>
        <p:txBody>
          <a:bodyPr wrap="square" lIns="36576" tIns="18288" rIns="18288" bIns="18288">
            <a:spAutoFit/>
          </a:bodyPr>
          <a:lstStyle/>
          <a:p>
            <a:pPr>
              <a:spcAft>
                <a:spcPts val="1100"/>
              </a:spcAft>
              <a:defRPr sz="1220">
                <a:solidFill>
                  <a:srgbClr val="5E6A78"/>
                </a:solidFill>
                <a:latin typeface="Aptos"/>
              </a:defRPr>
            </a:pPr>
            <a:r>
              <a:rPr sz="1600" dirty="0"/>
              <a:t>• </a:t>
            </a:r>
            <a:r>
              <a:rPr sz="1600" dirty="0" err="1"/>
              <a:t>Chuẩn</a:t>
            </a:r>
            <a:r>
              <a:rPr sz="1600" dirty="0"/>
              <a:t> </a:t>
            </a:r>
            <a:r>
              <a:rPr sz="1600" dirty="0" err="1"/>
              <a:t>hóa</a:t>
            </a:r>
            <a:r>
              <a:rPr sz="1600" dirty="0"/>
              <a:t> </a:t>
            </a:r>
            <a:r>
              <a:rPr sz="1600" dirty="0" err="1"/>
              <a:t>các</a:t>
            </a:r>
            <a:r>
              <a:rPr sz="1600" dirty="0"/>
              <a:t> </a:t>
            </a:r>
            <a:r>
              <a:rPr sz="1600" dirty="0" err="1"/>
              <a:t>trường</a:t>
            </a:r>
            <a:r>
              <a:rPr sz="1600" dirty="0"/>
              <a:t> timestamp</a:t>
            </a:r>
          </a:p>
          <a:p>
            <a:pPr>
              <a:spcAft>
                <a:spcPts val="1100"/>
              </a:spcAft>
              <a:defRPr sz="1220">
                <a:solidFill>
                  <a:srgbClr val="5E6A78"/>
                </a:solidFill>
                <a:latin typeface="Aptos"/>
              </a:defRPr>
            </a:pPr>
            <a:r>
              <a:rPr sz="1600" dirty="0"/>
              <a:t>• </a:t>
            </a:r>
            <a:r>
              <a:rPr sz="1600" dirty="0" err="1"/>
              <a:t>Đồng</a:t>
            </a:r>
            <a:r>
              <a:rPr sz="1600" dirty="0"/>
              <a:t> </a:t>
            </a:r>
            <a:r>
              <a:rPr sz="1600" dirty="0" err="1"/>
              <a:t>nhất</a:t>
            </a:r>
            <a:r>
              <a:rPr sz="1600" dirty="0"/>
              <a:t> </a:t>
            </a:r>
            <a:r>
              <a:rPr sz="1600" dirty="0" err="1"/>
              <a:t>múi</a:t>
            </a:r>
            <a:r>
              <a:rPr sz="1600" dirty="0"/>
              <a:t> </a:t>
            </a:r>
            <a:r>
              <a:rPr sz="1600" dirty="0" err="1"/>
              <a:t>giờ</a:t>
            </a:r>
            <a:endParaRPr sz="1600" dirty="0"/>
          </a:p>
          <a:p>
            <a:pPr>
              <a:spcAft>
                <a:spcPts val="1100"/>
              </a:spcAft>
              <a:defRPr sz="1220">
                <a:solidFill>
                  <a:srgbClr val="5E6A78"/>
                </a:solidFill>
                <a:latin typeface="Aptos"/>
              </a:defRPr>
            </a:pPr>
            <a:r>
              <a:rPr sz="1600" dirty="0"/>
              <a:t>• </a:t>
            </a:r>
            <a:r>
              <a:rPr sz="1600" dirty="0" err="1"/>
              <a:t>Kiểm</a:t>
            </a:r>
            <a:r>
              <a:rPr sz="1600" dirty="0"/>
              <a:t> </a:t>
            </a:r>
            <a:r>
              <a:rPr sz="1600" dirty="0" err="1"/>
              <a:t>tra</a:t>
            </a:r>
            <a:r>
              <a:rPr sz="1600" dirty="0"/>
              <a:t> </a:t>
            </a:r>
            <a:r>
              <a:rPr sz="1600" dirty="0" err="1"/>
              <a:t>thứ</a:t>
            </a:r>
            <a:r>
              <a:rPr sz="1600" dirty="0"/>
              <a:t> </a:t>
            </a:r>
            <a:r>
              <a:rPr sz="1600" dirty="0" err="1"/>
              <a:t>tự</a:t>
            </a:r>
            <a:r>
              <a:rPr sz="1600" dirty="0"/>
              <a:t> </a:t>
            </a:r>
            <a:r>
              <a:rPr sz="1600" dirty="0" err="1"/>
              <a:t>thời</a:t>
            </a:r>
            <a:r>
              <a:rPr sz="1600" dirty="0"/>
              <a:t> </a:t>
            </a:r>
            <a:r>
              <a:rPr sz="1600" dirty="0" err="1"/>
              <a:t>gian</a:t>
            </a:r>
            <a:r>
              <a:rPr sz="1600" dirty="0"/>
              <a:t> </a:t>
            </a:r>
            <a:r>
              <a:rPr sz="1600" dirty="0" err="1"/>
              <a:t>giữa</a:t>
            </a:r>
            <a:r>
              <a:rPr sz="1600" dirty="0"/>
              <a:t> </a:t>
            </a:r>
            <a:r>
              <a:rPr sz="1600" dirty="0" err="1"/>
              <a:t>các</a:t>
            </a:r>
            <a:r>
              <a:rPr sz="1600" dirty="0"/>
              <a:t> </a:t>
            </a:r>
            <a:r>
              <a:rPr sz="1600" dirty="0" err="1"/>
              <a:t>sự</a:t>
            </a:r>
            <a:r>
              <a:rPr sz="1600" dirty="0"/>
              <a:t> </a:t>
            </a:r>
            <a:r>
              <a:rPr sz="1600" dirty="0" err="1"/>
              <a:t>kiện</a:t>
            </a:r>
            <a:endParaRPr sz="1600" dirty="0"/>
          </a:p>
        </p:txBody>
      </p:sp>
      <p:sp>
        <p:nvSpPr>
          <p:cNvPr id="10" name="Rounded Rectangle 9"/>
          <p:cNvSpPr/>
          <p:nvPr/>
        </p:nvSpPr>
        <p:spPr>
          <a:xfrm>
            <a:off x="3246120" y="1325880"/>
            <a:ext cx="2331720" cy="4343400"/>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1" name="Rounded Rectangle 10"/>
          <p:cNvSpPr/>
          <p:nvPr/>
        </p:nvSpPr>
        <p:spPr>
          <a:xfrm>
            <a:off x="3410712" y="1508760"/>
            <a:ext cx="457200" cy="292608"/>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2" name="TextBox 11"/>
          <p:cNvSpPr txBox="1"/>
          <p:nvPr/>
        </p:nvSpPr>
        <p:spPr>
          <a:xfrm>
            <a:off x="3447288" y="1495020"/>
            <a:ext cx="384048" cy="320088"/>
          </a:xfrm>
          <a:prstGeom prst="rect">
            <a:avLst/>
          </a:prstGeom>
          <a:noFill/>
        </p:spPr>
        <p:txBody>
          <a:bodyPr wrap="square" lIns="36576" tIns="36576" rIns="36576" bIns="36576" anchor="ctr">
            <a:spAutoFit/>
          </a:bodyPr>
          <a:lstStyle/>
          <a:p>
            <a:pPr algn="ctr"/>
            <a:r>
              <a:rPr sz="1600" b="1">
                <a:solidFill>
                  <a:srgbClr val="2F639D"/>
                </a:solidFill>
                <a:latin typeface="Aptos"/>
              </a:rPr>
              <a:t>02</a:t>
            </a:r>
          </a:p>
        </p:txBody>
      </p:sp>
      <p:sp>
        <p:nvSpPr>
          <p:cNvPr id="13" name="TextBox 12"/>
          <p:cNvSpPr txBox="1"/>
          <p:nvPr/>
        </p:nvSpPr>
        <p:spPr>
          <a:xfrm>
            <a:off x="3410712" y="1920240"/>
            <a:ext cx="2002536" cy="566928"/>
          </a:xfrm>
          <a:prstGeom prst="rect">
            <a:avLst/>
          </a:prstGeom>
          <a:noFill/>
        </p:spPr>
        <p:txBody>
          <a:bodyPr wrap="square" lIns="36576" tIns="36576" rIns="36576" bIns="36576" anchor="t">
            <a:spAutoFit/>
          </a:bodyPr>
          <a:lstStyle/>
          <a:p>
            <a:pPr algn="l"/>
            <a:r>
              <a:rPr sz="1600" b="1" dirty="0">
                <a:solidFill>
                  <a:srgbClr val="162C46"/>
                </a:solidFill>
                <a:latin typeface="Aptos"/>
              </a:rPr>
              <a:t>KIỂM TRA &amp; LÀM SẠCH</a:t>
            </a:r>
          </a:p>
        </p:txBody>
      </p:sp>
      <p:sp>
        <p:nvSpPr>
          <p:cNvPr id="14" name="TextBox 13"/>
          <p:cNvSpPr txBox="1"/>
          <p:nvPr/>
        </p:nvSpPr>
        <p:spPr>
          <a:xfrm>
            <a:off x="3410712" y="2651760"/>
            <a:ext cx="2002536" cy="1796389"/>
          </a:xfrm>
          <a:prstGeom prst="rect">
            <a:avLst/>
          </a:prstGeom>
          <a:noFill/>
        </p:spPr>
        <p:txBody>
          <a:bodyPr wrap="square" lIns="36576" tIns="18288" rIns="18288" bIns="18288">
            <a:spAutoFit/>
          </a:bodyPr>
          <a:lstStyle/>
          <a:p>
            <a:pPr>
              <a:spcAft>
                <a:spcPts val="1100"/>
              </a:spcAft>
              <a:defRPr sz="1220">
                <a:solidFill>
                  <a:srgbClr val="5E6A78"/>
                </a:solidFill>
                <a:latin typeface="Aptos"/>
              </a:defRPr>
            </a:pPr>
            <a:r>
              <a:rPr sz="1600" dirty="0"/>
              <a:t>• </a:t>
            </a:r>
            <a:r>
              <a:rPr sz="1600" dirty="0" err="1"/>
              <a:t>Xử</a:t>
            </a:r>
            <a:r>
              <a:rPr sz="1600" dirty="0"/>
              <a:t> </a:t>
            </a:r>
            <a:r>
              <a:rPr sz="1600" dirty="0" err="1"/>
              <a:t>lý</a:t>
            </a:r>
            <a:r>
              <a:rPr sz="1600" dirty="0"/>
              <a:t> </a:t>
            </a:r>
            <a:r>
              <a:rPr sz="1600" dirty="0" err="1"/>
              <a:t>giá</a:t>
            </a:r>
            <a:r>
              <a:rPr sz="1600" dirty="0"/>
              <a:t> </a:t>
            </a:r>
            <a:r>
              <a:rPr sz="1600" dirty="0" err="1"/>
              <a:t>trị</a:t>
            </a:r>
            <a:r>
              <a:rPr sz="1600" dirty="0"/>
              <a:t> </a:t>
            </a:r>
            <a:r>
              <a:rPr sz="1600" dirty="0" err="1"/>
              <a:t>thiếu</a:t>
            </a:r>
            <a:r>
              <a:rPr sz="1600" dirty="0"/>
              <a:t> </a:t>
            </a:r>
            <a:r>
              <a:rPr sz="1600" dirty="0" err="1"/>
              <a:t>và</a:t>
            </a:r>
            <a:r>
              <a:rPr sz="1600" dirty="0"/>
              <a:t> </a:t>
            </a:r>
            <a:r>
              <a:rPr sz="1600" dirty="0" err="1"/>
              <a:t>bản</a:t>
            </a:r>
            <a:r>
              <a:rPr sz="1600" dirty="0"/>
              <a:t> </a:t>
            </a:r>
            <a:r>
              <a:rPr sz="1600" dirty="0" err="1"/>
              <a:t>ghi</a:t>
            </a:r>
            <a:r>
              <a:rPr sz="1600" dirty="0"/>
              <a:t> </a:t>
            </a:r>
            <a:r>
              <a:rPr sz="1600" dirty="0" err="1"/>
              <a:t>không</a:t>
            </a:r>
            <a:r>
              <a:rPr sz="1600" dirty="0"/>
              <a:t> </a:t>
            </a:r>
            <a:r>
              <a:rPr sz="1600" dirty="0" err="1"/>
              <a:t>hợp</a:t>
            </a:r>
            <a:r>
              <a:rPr sz="1600" dirty="0"/>
              <a:t> </a:t>
            </a:r>
            <a:r>
              <a:rPr sz="1600" dirty="0" err="1"/>
              <a:t>lệ</a:t>
            </a:r>
            <a:endParaRPr sz="1600" dirty="0"/>
          </a:p>
          <a:p>
            <a:pPr>
              <a:spcAft>
                <a:spcPts val="1100"/>
              </a:spcAft>
              <a:defRPr sz="1220">
                <a:solidFill>
                  <a:srgbClr val="5E6A78"/>
                </a:solidFill>
                <a:latin typeface="Aptos"/>
              </a:defRPr>
            </a:pPr>
            <a:r>
              <a:rPr sz="1600" dirty="0"/>
              <a:t>• </a:t>
            </a:r>
            <a:r>
              <a:rPr sz="1600" dirty="0" err="1"/>
              <a:t>Kiểm</a:t>
            </a:r>
            <a:r>
              <a:rPr sz="1600" dirty="0"/>
              <a:t> </a:t>
            </a:r>
            <a:r>
              <a:rPr sz="1600" dirty="0" err="1"/>
              <a:t>tra</a:t>
            </a:r>
            <a:r>
              <a:rPr sz="1600" dirty="0"/>
              <a:t> Lead Time </a:t>
            </a:r>
            <a:r>
              <a:rPr sz="1600" dirty="0" err="1"/>
              <a:t>bất</a:t>
            </a:r>
            <a:r>
              <a:rPr sz="1600" dirty="0"/>
              <a:t> </a:t>
            </a:r>
            <a:r>
              <a:rPr sz="1600" dirty="0" err="1"/>
              <a:t>thường</a:t>
            </a:r>
            <a:endParaRPr sz="1600" dirty="0"/>
          </a:p>
          <a:p>
            <a:pPr>
              <a:spcAft>
                <a:spcPts val="1100"/>
              </a:spcAft>
              <a:defRPr sz="1220">
                <a:solidFill>
                  <a:srgbClr val="5E6A78"/>
                </a:solidFill>
                <a:latin typeface="Aptos"/>
              </a:defRPr>
            </a:pPr>
            <a:r>
              <a:rPr sz="1600" dirty="0"/>
              <a:t>• </a:t>
            </a:r>
            <a:r>
              <a:rPr sz="1600" dirty="0" err="1"/>
              <a:t>Giới</a:t>
            </a:r>
            <a:r>
              <a:rPr sz="1600" dirty="0"/>
              <a:t> </a:t>
            </a:r>
            <a:r>
              <a:rPr sz="1600" dirty="0" err="1"/>
              <a:t>hạn</a:t>
            </a:r>
            <a:r>
              <a:rPr sz="1600" dirty="0"/>
              <a:t> Lead Time </a:t>
            </a:r>
            <a:r>
              <a:rPr sz="1600" dirty="0" err="1"/>
              <a:t>hợp</a:t>
            </a:r>
            <a:r>
              <a:rPr sz="1600" dirty="0"/>
              <a:t> </a:t>
            </a:r>
            <a:r>
              <a:rPr sz="1600" dirty="0" err="1"/>
              <a:t>lý</a:t>
            </a:r>
            <a:r>
              <a:rPr sz="1600" dirty="0"/>
              <a:t>: 0–90 </a:t>
            </a:r>
            <a:r>
              <a:rPr sz="1600" dirty="0" err="1"/>
              <a:t>ngày</a:t>
            </a:r>
            <a:endParaRPr sz="1600" dirty="0"/>
          </a:p>
        </p:txBody>
      </p:sp>
      <p:sp>
        <p:nvSpPr>
          <p:cNvPr id="15" name="Rounded Rectangle 14"/>
          <p:cNvSpPr/>
          <p:nvPr/>
        </p:nvSpPr>
        <p:spPr>
          <a:xfrm>
            <a:off x="9144000" y="1325880"/>
            <a:ext cx="2331720" cy="4343400"/>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6" name="Rounded Rectangle 15"/>
          <p:cNvSpPr/>
          <p:nvPr/>
        </p:nvSpPr>
        <p:spPr>
          <a:xfrm>
            <a:off x="9308592" y="1508760"/>
            <a:ext cx="457200" cy="292608"/>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7" name="TextBox 16"/>
          <p:cNvSpPr txBox="1"/>
          <p:nvPr/>
        </p:nvSpPr>
        <p:spPr>
          <a:xfrm>
            <a:off x="9345167" y="1495020"/>
            <a:ext cx="384048" cy="320088"/>
          </a:xfrm>
          <a:prstGeom prst="rect">
            <a:avLst/>
          </a:prstGeom>
          <a:noFill/>
        </p:spPr>
        <p:txBody>
          <a:bodyPr wrap="square" lIns="36576" tIns="36576" rIns="36576" bIns="36576" anchor="ctr">
            <a:spAutoFit/>
          </a:bodyPr>
          <a:lstStyle/>
          <a:p>
            <a:pPr algn="ctr"/>
            <a:r>
              <a:rPr sz="1600" b="1">
                <a:solidFill>
                  <a:srgbClr val="2F639D"/>
                </a:solidFill>
                <a:latin typeface="Aptos"/>
              </a:rPr>
              <a:t>04</a:t>
            </a:r>
          </a:p>
        </p:txBody>
      </p:sp>
      <p:sp>
        <p:nvSpPr>
          <p:cNvPr id="18" name="TextBox 17"/>
          <p:cNvSpPr txBox="1"/>
          <p:nvPr/>
        </p:nvSpPr>
        <p:spPr>
          <a:xfrm>
            <a:off x="9308592" y="1920240"/>
            <a:ext cx="2002536" cy="566928"/>
          </a:xfrm>
          <a:prstGeom prst="rect">
            <a:avLst/>
          </a:prstGeom>
          <a:noFill/>
        </p:spPr>
        <p:txBody>
          <a:bodyPr wrap="square" lIns="36576" tIns="36576" rIns="36576" bIns="36576" anchor="t">
            <a:spAutoFit/>
          </a:bodyPr>
          <a:lstStyle/>
          <a:p>
            <a:pPr algn="l"/>
            <a:r>
              <a:rPr sz="1600" b="1">
                <a:solidFill>
                  <a:srgbClr val="162C46"/>
                </a:solidFill>
                <a:latin typeface="Aptos"/>
              </a:rPr>
              <a:t>KIỂM TRA CHẤT LƯỢNG</a:t>
            </a:r>
          </a:p>
        </p:txBody>
      </p:sp>
      <p:sp>
        <p:nvSpPr>
          <p:cNvPr id="19" name="TextBox 18"/>
          <p:cNvSpPr txBox="1"/>
          <p:nvPr/>
        </p:nvSpPr>
        <p:spPr>
          <a:xfrm>
            <a:off x="9308592" y="2651760"/>
            <a:ext cx="2002536" cy="2042610"/>
          </a:xfrm>
          <a:prstGeom prst="rect">
            <a:avLst/>
          </a:prstGeom>
          <a:noFill/>
        </p:spPr>
        <p:txBody>
          <a:bodyPr wrap="square" lIns="36576" tIns="18288" rIns="18288" bIns="18288">
            <a:spAutoFit/>
          </a:bodyPr>
          <a:lstStyle/>
          <a:p>
            <a:pPr>
              <a:spcAft>
                <a:spcPts val="1100"/>
              </a:spcAft>
              <a:defRPr sz="1220">
                <a:solidFill>
                  <a:srgbClr val="5E6A78"/>
                </a:solidFill>
                <a:latin typeface="Aptos"/>
              </a:defRPr>
            </a:pPr>
            <a:r>
              <a:rPr sz="1600"/>
              <a:t>• Kiểm tra phân bố và tính hợp lệ sau xử lý</a:t>
            </a:r>
          </a:p>
          <a:p>
            <a:pPr>
              <a:spcAft>
                <a:spcPts val="1100"/>
              </a:spcAft>
              <a:defRPr sz="1220">
                <a:solidFill>
                  <a:srgbClr val="5E6A78"/>
                </a:solidFill>
                <a:latin typeface="Aptos"/>
              </a:defRPr>
            </a:pPr>
            <a:r>
              <a:rPr sz="1600"/>
              <a:t>• Theo dõi missing Customer Delivery Status</a:t>
            </a:r>
          </a:p>
          <a:p>
            <a:pPr>
              <a:spcAft>
                <a:spcPts val="1100"/>
              </a:spcAft>
              <a:defRPr sz="1220">
                <a:solidFill>
                  <a:srgbClr val="5E6A78"/>
                </a:solidFill>
                <a:latin typeface="Aptos"/>
              </a:defRPr>
            </a:pPr>
            <a:r>
              <a:rPr sz="1600"/>
              <a:t>• Chuẩn bị dữ liệu cho EDA &amp; Modeling</a:t>
            </a:r>
          </a:p>
        </p:txBody>
      </p:sp>
      <p:sp>
        <p:nvSpPr>
          <p:cNvPr id="23" name="TextBox 22"/>
          <p:cNvSpPr txBox="1"/>
          <p:nvPr/>
        </p:nvSpPr>
        <p:spPr>
          <a:xfrm>
            <a:off x="6016751" y="1915692"/>
            <a:ext cx="2651760" cy="320088"/>
          </a:xfrm>
          <a:prstGeom prst="rect">
            <a:avLst/>
          </a:prstGeom>
          <a:noFill/>
        </p:spPr>
        <p:txBody>
          <a:bodyPr wrap="square" lIns="36576" tIns="36576" rIns="36576" bIns="36576" anchor="t">
            <a:spAutoFit/>
          </a:bodyPr>
          <a:lstStyle/>
          <a:p>
            <a:pPr algn="l"/>
            <a:r>
              <a:rPr sz="1600" b="1" dirty="0">
                <a:solidFill>
                  <a:srgbClr val="162C46"/>
                </a:solidFill>
                <a:latin typeface="Aptos"/>
              </a:rPr>
              <a:t>XÂY DỰNG BIẾN PHÂN TÍCH</a:t>
            </a:r>
          </a:p>
        </p:txBody>
      </p:sp>
      <p:sp>
        <p:nvSpPr>
          <p:cNvPr id="24" name="TextBox 23"/>
          <p:cNvSpPr txBox="1"/>
          <p:nvPr/>
        </p:nvSpPr>
        <p:spPr>
          <a:xfrm>
            <a:off x="6016752" y="2272308"/>
            <a:ext cx="2468880" cy="320088"/>
          </a:xfrm>
          <a:prstGeom prst="rect">
            <a:avLst/>
          </a:prstGeom>
          <a:noFill/>
        </p:spPr>
        <p:txBody>
          <a:bodyPr wrap="square" lIns="36576" tIns="36576" rIns="36576" bIns="36576" anchor="t">
            <a:spAutoFit/>
          </a:bodyPr>
          <a:lstStyle/>
          <a:p>
            <a:pPr algn="l"/>
            <a:r>
              <a:rPr sz="1600" b="1" dirty="0">
                <a:solidFill>
                  <a:srgbClr val="2F639D"/>
                </a:solidFill>
                <a:latin typeface="Aptos"/>
              </a:rPr>
              <a:t>Lead Time</a:t>
            </a:r>
          </a:p>
        </p:txBody>
      </p:sp>
      <p:sp>
        <p:nvSpPr>
          <p:cNvPr id="25" name="TextBox 24"/>
          <p:cNvSpPr txBox="1"/>
          <p:nvPr/>
        </p:nvSpPr>
        <p:spPr>
          <a:xfrm>
            <a:off x="6016752" y="2564916"/>
            <a:ext cx="2514600" cy="566309"/>
          </a:xfrm>
          <a:prstGeom prst="rect">
            <a:avLst/>
          </a:prstGeom>
          <a:noFill/>
        </p:spPr>
        <p:txBody>
          <a:bodyPr wrap="square" lIns="36576" tIns="36576" rIns="36576" bIns="36576" anchor="t">
            <a:spAutoFit/>
          </a:bodyPr>
          <a:lstStyle/>
          <a:p>
            <a:pPr algn="l"/>
            <a:r>
              <a:rPr sz="1600" b="0">
                <a:solidFill>
                  <a:srgbClr val="242B33"/>
                </a:solidFill>
                <a:latin typeface="Aptos"/>
              </a:rPr>
              <a:t>Khoảng thời gian giao hàng thực tế.</a:t>
            </a:r>
          </a:p>
        </p:txBody>
      </p:sp>
      <p:sp>
        <p:nvSpPr>
          <p:cNvPr id="26" name="TextBox 25"/>
          <p:cNvSpPr txBox="1"/>
          <p:nvPr/>
        </p:nvSpPr>
        <p:spPr>
          <a:xfrm>
            <a:off x="6016752" y="3076980"/>
            <a:ext cx="2468880" cy="320088"/>
          </a:xfrm>
          <a:prstGeom prst="rect">
            <a:avLst/>
          </a:prstGeom>
          <a:noFill/>
        </p:spPr>
        <p:txBody>
          <a:bodyPr wrap="square" lIns="36576" tIns="36576" rIns="36576" bIns="36576" anchor="t">
            <a:spAutoFit/>
          </a:bodyPr>
          <a:lstStyle/>
          <a:p>
            <a:pPr algn="l"/>
            <a:r>
              <a:rPr sz="1600" b="1">
                <a:solidFill>
                  <a:srgbClr val="2F639D"/>
                </a:solidFill>
                <a:latin typeface="Aptos"/>
              </a:rPr>
              <a:t>SLA Status</a:t>
            </a:r>
          </a:p>
        </p:txBody>
      </p:sp>
      <p:sp>
        <p:nvSpPr>
          <p:cNvPr id="27" name="TextBox 26"/>
          <p:cNvSpPr txBox="1"/>
          <p:nvPr/>
        </p:nvSpPr>
        <p:spPr>
          <a:xfrm>
            <a:off x="6016752" y="3369588"/>
            <a:ext cx="2514600" cy="566309"/>
          </a:xfrm>
          <a:prstGeom prst="rect">
            <a:avLst/>
          </a:prstGeom>
          <a:noFill/>
        </p:spPr>
        <p:txBody>
          <a:bodyPr wrap="square" lIns="36576" tIns="36576" rIns="36576" bIns="36576" anchor="t">
            <a:spAutoFit/>
          </a:bodyPr>
          <a:lstStyle/>
          <a:p>
            <a:pPr algn="l"/>
            <a:r>
              <a:rPr sz="1600" b="0" dirty="0">
                <a:solidFill>
                  <a:srgbClr val="242B33"/>
                </a:solidFill>
                <a:latin typeface="Aptos"/>
              </a:rPr>
              <a:t>Within SLA / SLA Breach </a:t>
            </a:r>
            <a:r>
              <a:rPr sz="1600" b="0" dirty="0" err="1">
                <a:solidFill>
                  <a:srgbClr val="242B33"/>
                </a:solidFill>
                <a:latin typeface="Aptos"/>
              </a:rPr>
              <a:t>với</a:t>
            </a:r>
            <a:r>
              <a:rPr sz="1600" b="0" dirty="0">
                <a:solidFill>
                  <a:srgbClr val="242B33"/>
                </a:solidFill>
                <a:latin typeface="Aptos"/>
              </a:rPr>
              <a:t> </a:t>
            </a:r>
            <a:r>
              <a:rPr sz="1600" b="0" dirty="0" err="1">
                <a:solidFill>
                  <a:srgbClr val="242B33"/>
                </a:solidFill>
                <a:latin typeface="Aptos"/>
              </a:rPr>
              <a:t>ngưỡng</a:t>
            </a:r>
            <a:r>
              <a:rPr sz="1600" b="0" dirty="0">
                <a:solidFill>
                  <a:srgbClr val="242B33"/>
                </a:solidFill>
                <a:latin typeface="Aptos"/>
              </a:rPr>
              <a:t> 5 </a:t>
            </a:r>
            <a:r>
              <a:rPr sz="1600" b="0" dirty="0" err="1">
                <a:solidFill>
                  <a:srgbClr val="242B33"/>
                </a:solidFill>
                <a:latin typeface="Aptos"/>
              </a:rPr>
              <a:t>ngày</a:t>
            </a:r>
            <a:r>
              <a:rPr sz="1600" b="0" dirty="0">
                <a:solidFill>
                  <a:srgbClr val="242B33"/>
                </a:solidFill>
                <a:latin typeface="Aptos"/>
              </a:rPr>
              <a:t>.</a:t>
            </a:r>
          </a:p>
        </p:txBody>
      </p:sp>
      <p:sp>
        <p:nvSpPr>
          <p:cNvPr id="28" name="TextBox 27"/>
          <p:cNvSpPr txBox="1"/>
          <p:nvPr/>
        </p:nvSpPr>
        <p:spPr>
          <a:xfrm>
            <a:off x="6016752" y="3881652"/>
            <a:ext cx="2468880" cy="320088"/>
          </a:xfrm>
          <a:prstGeom prst="rect">
            <a:avLst/>
          </a:prstGeom>
          <a:noFill/>
        </p:spPr>
        <p:txBody>
          <a:bodyPr wrap="square" lIns="36576" tIns="36576" rIns="36576" bIns="36576" anchor="t">
            <a:spAutoFit/>
          </a:bodyPr>
          <a:lstStyle/>
          <a:p>
            <a:pPr algn="l"/>
            <a:r>
              <a:rPr sz="1600" b="1">
                <a:solidFill>
                  <a:srgbClr val="2F639D"/>
                </a:solidFill>
                <a:latin typeface="Aptos"/>
              </a:rPr>
              <a:t>Customer Delivery Status</a:t>
            </a:r>
          </a:p>
        </p:txBody>
      </p:sp>
      <p:sp>
        <p:nvSpPr>
          <p:cNvPr id="29" name="TextBox 28"/>
          <p:cNvSpPr txBox="1"/>
          <p:nvPr/>
        </p:nvSpPr>
        <p:spPr>
          <a:xfrm>
            <a:off x="6016752" y="4174260"/>
            <a:ext cx="2514600" cy="566309"/>
          </a:xfrm>
          <a:prstGeom prst="rect">
            <a:avLst/>
          </a:prstGeom>
          <a:noFill/>
        </p:spPr>
        <p:txBody>
          <a:bodyPr wrap="square" lIns="36576" tIns="36576" rIns="36576" bIns="36576" anchor="t">
            <a:spAutoFit/>
          </a:bodyPr>
          <a:lstStyle/>
          <a:p>
            <a:pPr algn="l"/>
            <a:r>
              <a:rPr sz="1600" b="0">
                <a:solidFill>
                  <a:srgbClr val="242B33"/>
                </a:solidFill>
                <a:latin typeface="Aptos"/>
              </a:rPr>
              <a:t>Chuẩn hóa phản hồi của khách hàng về giao hàng.</a:t>
            </a:r>
          </a:p>
        </p:txBody>
      </p:sp>
      <p:sp>
        <p:nvSpPr>
          <p:cNvPr id="30" name="TextBox 29"/>
          <p:cNvSpPr txBox="1"/>
          <p:nvPr/>
        </p:nvSpPr>
        <p:spPr>
          <a:xfrm>
            <a:off x="6016752" y="4686324"/>
            <a:ext cx="2468880" cy="320088"/>
          </a:xfrm>
          <a:prstGeom prst="rect">
            <a:avLst/>
          </a:prstGeom>
          <a:noFill/>
        </p:spPr>
        <p:txBody>
          <a:bodyPr wrap="square" lIns="36576" tIns="36576" rIns="36576" bIns="36576" anchor="t">
            <a:spAutoFit/>
          </a:bodyPr>
          <a:lstStyle/>
          <a:p>
            <a:pPr algn="l"/>
            <a:r>
              <a:rPr sz="1600" b="1">
                <a:solidFill>
                  <a:srgbClr val="2F639D"/>
                </a:solidFill>
                <a:latin typeface="Aptos"/>
              </a:rPr>
              <a:t>Low Rating</a:t>
            </a:r>
          </a:p>
        </p:txBody>
      </p:sp>
      <p:sp>
        <p:nvSpPr>
          <p:cNvPr id="31" name="TextBox 30"/>
          <p:cNvSpPr txBox="1"/>
          <p:nvPr/>
        </p:nvSpPr>
        <p:spPr>
          <a:xfrm>
            <a:off x="6016752" y="4978932"/>
            <a:ext cx="2514600" cy="566309"/>
          </a:xfrm>
          <a:prstGeom prst="rect">
            <a:avLst/>
          </a:prstGeom>
          <a:noFill/>
        </p:spPr>
        <p:txBody>
          <a:bodyPr wrap="square" lIns="36576" tIns="36576" rIns="36576" bIns="36576" anchor="t">
            <a:spAutoFit/>
          </a:bodyPr>
          <a:lstStyle/>
          <a:p>
            <a:pPr algn="l"/>
            <a:r>
              <a:rPr sz="1600" b="0">
                <a:solidFill>
                  <a:srgbClr val="242B33"/>
                </a:solidFill>
                <a:latin typeface="Aptos"/>
              </a:rPr>
              <a:t>Đánh giá thấp với điều kiện Rating ≤ 3★.</a:t>
            </a:r>
          </a:p>
        </p:txBody>
      </p:sp>
      <p:sp>
        <p:nvSpPr>
          <p:cNvPr id="32" name="TextBox 31"/>
          <p:cNvSpPr txBox="1"/>
          <p:nvPr/>
        </p:nvSpPr>
        <p:spPr>
          <a:xfrm>
            <a:off x="594360" y="6565392"/>
            <a:ext cx="4023360" cy="164592"/>
          </a:xfrm>
          <a:prstGeom prst="rect">
            <a:avLst/>
          </a:prstGeom>
          <a:noFill/>
        </p:spPr>
        <p:txBody>
          <a:bodyPr wrap="square" lIns="36576" tIns="36576" rIns="36576" bIns="36576" anchor="t">
            <a:spAutoFit/>
          </a:bodyPr>
          <a:lstStyle/>
          <a:p>
            <a:pPr algn="l"/>
            <a:r>
              <a:rPr sz="850" b="0">
                <a:solidFill>
                  <a:srgbClr val="5E6A78"/>
                </a:solidFill>
                <a:latin typeface="Aptos"/>
              </a:rPr>
              <a:t>Cơ sở Khoa học Dữ liệu  •  SLA &amp; Customer Experience</a:t>
            </a:r>
          </a:p>
        </p:txBody>
      </p:sp>
      <p:sp>
        <p:nvSpPr>
          <p:cNvPr id="33" name="TextBox 32"/>
          <p:cNvSpPr txBox="1"/>
          <p:nvPr/>
        </p:nvSpPr>
        <p:spPr>
          <a:xfrm>
            <a:off x="11201400" y="6567055"/>
            <a:ext cx="365760" cy="166255"/>
          </a:xfrm>
          <a:prstGeom prst="rect">
            <a:avLst/>
          </a:prstGeom>
          <a:noFill/>
        </p:spPr>
        <p:txBody>
          <a:bodyPr wrap="square" lIns="36576" tIns="36576" rIns="36576" bIns="36576" anchor="t">
            <a:spAutoFit/>
          </a:bodyPr>
          <a:lstStyle/>
          <a:p>
            <a:pPr algn="r"/>
            <a:r>
              <a:rPr sz="850" b="0">
                <a:solidFill>
                  <a:srgbClr val="5E6A78"/>
                </a:solidFill>
                <a:latin typeface="Aptos"/>
              </a:rPr>
              <a:t>7</a:t>
            </a:r>
          </a:p>
        </p:txBody>
      </p:sp>
      <p:sp>
        <p:nvSpPr>
          <p:cNvPr id="34" name="Rounded Rectangle 33"/>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a:t>
            </a:r>
          </a:p>
        </p:txBody>
      </p:sp>
      <p:sp>
        <p:nvSpPr>
          <p:cNvPr id="35" name="Rounded Rectangle 34"/>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Data Collection</a:t>
            </a:r>
          </a:p>
        </p:txBody>
      </p:sp>
      <p:sp>
        <p:nvSpPr>
          <p:cNvPr id="36" name="Rounded Rectangle 35"/>
          <p:cNvSpPr/>
          <p:nvPr/>
        </p:nvSpPr>
        <p:spPr>
          <a:xfrm>
            <a:off x="6601968" y="6510528"/>
            <a:ext cx="658368"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Cleaning</a:t>
            </a:r>
          </a:p>
        </p:txBody>
      </p:sp>
      <p:sp>
        <p:nvSpPr>
          <p:cNvPr id="37" name="Rounded Rectangle 36"/>
          <p:cNvSpPr/>
          <p:nvPr/>
        </p:nvSpPr>
        <p:spPr>
          <a:xfrm>
            <a:off x="7306056" y="6510528"/>
            <a:ext cx="42062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EDA</a:t>
            </a:r>
          </a:p>
        </p:txBody>
      </p:sp>
      <p:sp>
        <p:nvSpPr>
          <p:cNvPr id="38" name="Rounded Rectangle 37"/>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Features</a:t>
            </a:r>
          </a:p>
        </p:txBody>
      </p:sp>
      <p:sp>
        <p:nvSpPr>
          <p:cNvPr id="39" name="Rounded Rectangle 38"/>
          <p:cNvSpPr/>
          <p:nvPr/>
        </p:nvSpPr>
        <p:spPr>
          <a:xfrm>
            <a:off x="8494776" y="6510528"/>
            <a:ext cx="69494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Modeling</a:t>
            </a:r>
          </a:p>
        </p:txBody>
      </p:sp>
      <p:sp>
        <p:nvSpPr>
          <p:cNvPr id="40" name="Rounded Rectangle 39"/>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Evaluation</a:t>
            </a:r>
          </a:p>
        </p:txBody>
      </p:sp>
      <p:sp>
        <p:nvSpPr>
          <p:cNvPr id="41" name="Rounded Rectangle 40"/>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 Value</a:t>
            </a:r>
          </a:p>
        </p:txBody>
      </p:sp>
      <p:sp>
        <p:nvSpPr>
          <p:cNvPr id="43" name="Rounded Rectangle 10">
            <a:extLst>
              <a:ext uri="{FF2B5EF4-FFF2-40B4-BE49-F238E27FC236}">
                <a16:creationId xmlns:a16="http://schemas.microsoft.com/office/drawing/2014/main" id="{A214B92B-ACF8-F9F8-C93A-E8C86A414410}"/>
              </a:ext>
            </a:extLst>
          </p:cNvPr>
          <p:cNvSpPr/>
          <p:nvPr/>
        </p:nvSpPr>
        <p:spPr>
          <a:xfrm>
            <a:off x="6016752" y="1495116"/>
            <a:ext cx="457200" cy="292608"/>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44" name="TextBox 43">
            <a:extLst>
              <a:ext uri="{FF2B5EF4-FFF2-40B4-BE49-F238E27FC236}">
                <a16:creationId xmlns:a16="http://schemas.microsoft.com/office/drawing/2014/main" id="{78DBE745-A7F4-3DB1-FFB4-736E399D3CC3}"/>
              </a:ext>
            </a:extLst>
          </p:cNvPr>
          <p:cNvSpPr txBox="1"/>
          <p:nvPr/>
        </p:nvSpPr>
        <p:spPr>
          <a:xfrm>
            <a:off x="6053328" y="1481376"/>
            <a:ext cx="384048" cy="320088"/>
          </a:xfrm>
          <a:prstGeom prst="rect">
            <a:avLst/>
          </a:prstGeom>
          <a:noFill/>
        </p:spPr>
        <p:txBody>
          <a:bodyPr wrap="square" lIns="36576" tIns="36576" rIns="36576" bIns="36576" anchor="ctr">
            <a:spAutoFit/>
          </a:bodyPr>
          <a:lstStyle/>
          <a:p>
            <a:pPr algn="ctr"/>
            <a:r>
              <a:rPr lang="vi-VN" sz="1600" b="1" dirty="0">
                <a:solidFill>
                  <a:srgbClr val="2F639D"/>
                </a:solidFill>
                <a:latin typeface="Aptos"/>
              </a:rPr>
              <a:t>03</a:t>
            </a:r>
            <a:endParaRPr sz="1600" b="1" dirty="0">
              <a:solidFill>
                <a:srgbClr val="2F639D"/>
              </a:solidFill>
              <a:latin typeface="Apto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265176"/>
            <a:ext cx="10424160" cy="566928"/>
          </a:xfrm>
          <a:prstGeom prst="rect">
            <a:avLst/>
          </a:prstGeom>
          <a:noFill/>
        </p:spPr>
        <p:txBody>
          <a:bodyPr wrap="square" lIns="36576" tIns="36576" rIns="36576" bIns="36576" anchor="t">
            <a:noAutofit/>
          </a:bodyPr>
          <a:lstStyle/>
          <a:p>
            <a:pPr algn="l">
              <a:spcAft>
                <a:spcPts val="300"/>
              </a:spcAft>
            </a:pPr>
            <a:r>
              <a:rPr sz="2400" b="1" i="0">
                <a:solidFill>
                  <a:srgbClr val="162C46"/>
                </a:solidFill>
                <a:latin typeface="Aptos Display"/>
              </a:rPr>
              <a:t>CLEANING — HAI LỖI IM LẶNG TỰ BẮT ĐƯỢC</a:t>
            </a:r>
          </a:p>
        </p:txBody>
      </p:sp>
      <p:cxnSp>
        <p:nvCxnSpPr>
          <p:cNvPr id="3" name="Connector 2"/>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583680"/>
            <a:ext cx="4023360" cy="182880"/>
          </a:xfrm>
          <a:prstGeom prst="rect">
            <a:avLst/>
          </a:prstGeom>
          <a:noFill/>
        </p:spPr>
        <p:txBody>
          <a:bodyPr wrap="square" lIns="36576" tIns="36576" rIns="36576" bIns="36576" anchor="t">
            <a:noAutofit/>
          </a:bodyPr>
          <a:lstStyle/>
          <a:p>
            <a:pPr algn="l">
              <a:spcAft>
                <a:spcPts val="300"/>
              </a:spcAft>
            </a:pPr>
            <a:r>
              <a:rPr sz="850" b="0" i="0">
                <a:solidFill>
                  <a:srgbClr val="5E6A78"/>
                </a:solidFill>
                <a:latin typeface="Aptos"/>
              </a:rPr>
              <a:t>Cơ sở Khoa học Dữ liệu  •  SLA &amp; Customer Experience</a:t>
            </a:r>
          </a:p>
        </p:txBody>
      </p:sp>
      <p:sp>
        <p:nvSpPr>
          <p:cNvPr id="6" name="TextBox 5"/>
          <p:cNvSpPr txBox="1"/>
          <p:nvPr/>
        </p:nvSpPr>
        <p:spPr>
          <a:xfrm>
            <a:off x="11201400" y="6567055"/>
            <a:ext cx="365760" cy="166255"/>
          </a:xfrm>
          <a:prstGeom prst="rect">
            <a:avLst/>
          </a:prstGeom>
          <a:noFill/>
        </p:spPr>
        <p:txBody>
          <a:bodyPr wrap="square" lIns="36576" tIns="36576" rIns="36576" bIns="36576" anchor="t">
            <a:noAutofit/>
          </a:bodyPr>
          <a:lstStyle/>
          <a:p>
            <a:pPr algn="l">
              <a:spcAft>
                <a:spcPts val="300"/>
              </a:spcAft>
            </a:pPr>
            <a:r>
              <a:rPr sz="850" b="0" i="0">
                <a:solidFill>
                  <a:srgbClr val="5E6A78"/>
                </a:solidFill>
                <a:latin typeface="Aptos"/>
              </a:rPr>
              <a:t>8</a:t>
            </a:r>
          </a:p>
        </p:txBody>
      </p:sp>
      <p:sp>
        <p:nvSpPr>
          <p:cNvPr id="7" name="TextBox 6"/>
          <p:cNvSpPr txBox="1"/>
          <p:nvPr/>
        </p:nvSpPr>
        <p:spPr>
          <a:xfrm>
            <a:off x="343350" y="1036909"/>
            <a:ext cx="5303520" cy="310896"/>
          </a:xfrm>
          <a:prstGeom prst="rect">
            <a:avLst/>
          </a:prstGeom>
          <a:noFill/>
        </p:spPr>
        <p:txBody>
          <a:bodyPr wrap="square" lIns="36576" tIns="36576" rIns="36576" bIns="36576" anchor="t">
            <a:noAutofit/>
          </a:bodyPr>
          <a:lstStyle/>
          <a:p>
            <a:pPr algn="l">
              <a:spcAft>
                <a:spcPts val="300"/>
              </a:spcAft>
            </a:pPr>
            <a:r>
              <a:rPr lang="vi-VN" sz="1500" b="1" dirty="0">
                <a:solidFill>
                  <a:srgbClr val="2F639D"/>
                </a:solidFill>
                <a:latin typeface="Aptos"/>
              </a:rPr>
              <a:t>1.</a:t>
            </a:r>
            <a:r>
              <a:rPr sz="1500" b="1" i="0" dirty="0">
                <a:solidFill>
                  <a:srgbClr val="2F639D"/>
                </a:solidFill>
                <a:latin typeface="Aptos"/>
              </a:rPr>
              <a:t> MỘT API, HAI ĐỒNG HỒ</a:t>
            </a:r>
          </a:p>
        </p:txBody>
      </p:sp>
      <p:sp>
        <p:nvSpPr>
          <p:cNvPr id="8" name="Rounded Rectangle 7"/>
          <p:cNvSpPr/>
          <p:nvPr/>
        </p:nvSpPr>
        <p:spPr>
          <a:xfrm>
            <a:off x="343350" y="1366093"/>
            <a:ext cx="5257800" cy="2331720"/>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9654" y="1430101"/>
            <a:ext cx="5029200" cy="2240280"/>
          </a:xfrm>
          <a:prstGeom prst="rect">
            <a:avLst/>
          </a:prstGeom>
          <a:noFill/>
        </p:spPr>
        <p:txBody>
          <a:bodyPr wrap="square" lIns="36576" tIns="36576" rIns="36576" bIns="36576" anchor="t">
            <a:noAutofit/>
          </a:bodyPr>
          <a:lstStyle/>
          <a:p>
            <a:pPr algn="l">
              <a:spcAft>
                <a:spcPts val="400"/>
              </a:spcAft>
            </a:pPr>
            <a:r>
              <a:rPr sz="1400" b="1" i="0" dirty="0" err="1">
                <a:solidFill>
                  <a:srgbClr val="242B33"/>
                </a:solidFill>
                <a:latin typeface="Courier New"/>
              </a:rPr>
              <a:t>purchased_at</a:t>
            </a:r>
            <a:r>
              <a:rPr sz="1400" b="0" i="0" dirty="0">
                <a:solidFill>
                  <a:srgbClr val="5E6A78"/>
                </a:solidFill>
                <a:latin typeface="Aptos"/>
              </a:rPr>
              <a:t> = epoch UTC</a:t>
            </a:r>
          </a:p>
          <a:p>
            <a:pPr algn="l">
              <a:spcAft>
                <a:spcPts val="400"/>
              </a:spcAft>
            </a:pPr>
            <a:r>
              <a:rPr sz="1400" b="1" i="0" dirty="0" err="1">
                <a:solidFill>
                  <a:srgbClr val="242B33"/>
                </a:solidFill>
                <a:latin typeface="Courier New"/>
              </a:rPr>
              <a:t>delivery_date</a:t>
            </a:r>
            <a:r>
              <a:rPr sz="1400" b="0" i="0" dirty="0">
                <a:solidFill>
                  <a:srgbClr val="5E6A78"/>
                </a:solidFill>
                <a:latin typeface="Aptos"/>
              </a:rPr>
              <a:t> = </a:t>
            </a:r>
            <a:r>
              <a:rPr sz="1400" b="0" i="0" dirty="0" err="1">
                <a:solidFill>
                  <a:srgbClr val="5E6A78"/>
                </a:solidFill>
                <a:latin typeface="Aptos"/>
              </a:rPr>
              <a:t>chuỗi</a:t>
            </a:r>
            <a:r>
              <a:rPr sz="1400" b="0" i="0" dirty="0">
                <a:solidFill>
                  <a:srgbClr val="5E6A78"/>
                </a:solidFill>
                <a:latin typeface="Aptos"/>
              </a:rPr>
              <a:t> </a:t>
            </a:r>
            <a:r>
              <a:rPr sz="1400" b="0" i="0" dirty="0" err="1">
                <a:solidFill>
                  <a:srgbClr val="5E6A78"/>
                </a:solidFill>
                <a:latin typeface="Aptos"/>
              </a:rPr>
              <a:t>giờ</a:t>
            </a:r>
            <a:r>
              <a:rPr sz="1400" b="0" i="0" dirty="0">
                <a:solidFill>
                  <a:srgbClr val="5E6A78"/>
                </a:solidFill>
                <a:latin typeface="Aptos"/>
              </a:rPr>
              <a:t> Việt Nam</a:t>
            </a:r>
          </a:p>
          <a:p>
            <a:pPr algn="l">
              <a:spcAft>
                <a:spcPts val="400"/>
              </a:spcAft>
            </a:pPr>
            <a:r>
              <a:rPr sz="1400" b="0" i="0" dirty="0" err="1">
                <a:solidFill>
                  <a:srgbClr val="5E6A78"/>
                </a:solidFill>
                <a:latin typeface="Aptos"/>
              </a:rPr>
              <a:t>Trừ</a:t>
            </a:r>
            <a:r>
              <a:rPr sz="1400" b="0" i="0" dirty="0">
                <a:solidFill>
                  <a:srgbClr val="5E6A78"/>
                </a:solidFill>
                <a:latin typeface="Aptos"/>
              </a:rPr>
              <a:t> </a:t>
            </a:r>
            <a:r>
              <a:rPr sz="1400" b="0" i="0" dirty="0" err="1">
                <a:solidFill>
                  <a:srgbClr val="5E6A78"/>
                </a:solidFill>
                <a:latin typeface="Aptos"/>
              </a:rPr>
              <a:t>thẳng</a:t>
            </a:r>
            <a:r>
              <a:rPr sz="1400" b="0" i="0" dirty="0">
                <a:solidFill>
                  <a:srgbClr val="5E6A78"/>
                </a:solidFill>
                <a:latin typeface="Aptos"/>
              </a:rPr>
              <a:t> → </a:t>
            </a:r>
            <a:r>
              <a:rPr sz="1400" b="1" i="0" dirty="0" err="1">
                <a:solidFill>
                  <a:srgbClr val="B14242"/>
                </a:solidFill>
                <a:latin typeface="Aptos"/>
              </a:rPr>
              <a:t>mọi</a:t>
            </a:r>
            <a:r>
              <a:rPr sz="1400" b="1" i="0" dirty="0">
                <a:solidFill>
                  <a:srgbClr val="B14242"/>
                </a:solidFill>
                <a:latin typeface="Aptos"/>
              </a:rPr>
              <a:t> lead time </a:t>
            </a:r>
            <a:r>
              <a:rPr sz="1400" b="1" i="0" dirty="0" err="1">
                <a:solidFill>
                  <a:srgbClr val="B14242"/>
                </a:solidFill>
                <a:latin typeface="Aptos"/>
              </a:rPr>
              <a:t>dư</a:t>
            </a:r>
            <a:r>
              <a:rPr sz="1400" b="1" i="0" dirty="0">
                <a:solidFill>
                  <a:srgbClr val="B14242"/>
                </a:solidFill>
                <a:latin typeface="Aptos"/>
              </a:rPr>
              <a:t> </a:t>
            </a:r>
            <a:r>
              <a:rPr sz="1400" b="1" i="0" dirty="0" err="1">
                <a:solidFill>
                  <a:srgbClr val="B14242"/>
                </a:solidFill>
                <a:latin typeface="Aptos"/>
              </a:rPr>
              <a:t>đúng</a:t>
            </a:r>
            <a:r>
              <a:rPr sz="1400" b="1" i="0" dirty="0">
                <a:solidFill>
                  <a:srgbClr val="B14242"/>
                </a:solidFill>
                <a:latin typeface="Aptos"/>
              </a:rPr>
              <a:t> 7 </a:t>
            </a:r>
            <a:r>
              <a:rPr sz="1400" b="1" i="0" dirty="0" err="1">
                <a:solidFill>
                  <a:srgbClr val="B14242"/>
                </a:solidFill>
                <a:latin typeface="Aptos"/>
              </a:rPr>
              <a:t>giờ</a:t>
            </a:r>
            <a:endParaRPr sz="1400" b="1" i="0" dirty="0">
              <a:solidFill>
                <a:srgbClr val="B14242"/>
              </a:solidFill>
              <a:latin typeface="Aptos"/>
            </a:endParaRPr>
          </a:p>
          <a:p>
            <a:pPr algn="l">
              <a:spcAft>
                <a:spcPts val="400"/>
              </a:spcAft>
            </a:pPr>
            <a:r>
              <a:rPr sz="1400" b="1" i="0" dirty="0" err="1">
                <a:solidFill>
                  <a:srgbClr val="162C46"/>
                </a:solidFill>
                <a:latin typeface="Aptos"/>
              </a:rPr>
              <a:t>Đo</a:t>
            </a:r>
            <a:r>
              <a:rPr sz="1400" b="1" i="0" dirty="0">
                <a:solidFill>
                  <a:srgbClr val="162C46"/>
                </a:solidFill>
                <a:latin typeface="Aptos"/>
              </a:rPr>
              <a:t>, </a:t>
            </a:r>
            <a:r>
              <a:rPr sz="1400" b="1" i="0" dirty="0" err="1">
                <a:solidFill>
                  <a:srgbClr val="162C46"/>
                </a:solidFill>
                <a:latin typeface="Aptos"/>
              </a:rPr>
              <a:t>không</a:t>
            </a:r>
            <a:r>
              <a:rPr sz="1400" b="1" i="0" dirty="0">
                <a:solidFill>
                  <a:srgbClr val="162C46"/>
                </a:solidFill>
                <a:latin typeface="Aptos"/>
              </a:rPr>
              <a:t> </a:t>
            </a:r>
            <a:r>
              <a:rPr sz="1400" b="1" i="0" dirty="0" err="1">
                <a:solidFill>
                  <a:srgbClr val="162C46"/>
                </a:solidFill>
                <a:latin typeface="Aptos"/>
              </a:rPr>
              <a:t>đoán</a:t>
            </a:r>
            <a:r>
              <a:rPr sz="1400" b="1" i="0" dirty="0">
                <a:solidFill>
                  <a:srgbClr val="162C46"/>
                </a:solidFill>
                <a:latin typeface="Aptos"/>
              </a:rPr>
              <a:t>: </a:t>
            </a:r>
            <a:r>
              <a:rPr sz="1400" b="0" i="0" dirty="0" err="1">
                <a:solidFill>
                  <a:srgbClr val="5E6A78"/>
                </a:solidFill>
                <a:latin typeface="Aptos"/>
              </a:rPr>
              <a:t>created_at</a:t>
            </a:r>
            <a:r>
              <a:rPr sz="1400" b="0" i="0" dirty="0">
                <a:solidFill>
                  <a:srgbClr val="5E6A78"/>
                </a:solidFill>
                <a:latin typeface="Aptos"/>
              </a:rPr>
              <a:t> − </a:t>
            </a:r>
            <a:r>
              <a:rPr sz="1400" b="0" i="0" dirty="0" err="1">
                <a:solidFill>
                  <a:srgbClr val="5E6A78"/>
                </a:solidFill>
                <a:latin typeface="Aptos"/>
              </a:rPr>
              <a:t>review_created_date</a:t>
            </a:r>
            <a:r>
              <a:rPr sz="1400" b="0" i="0" dirty="0">
                <a:solidFill>
                  <a:srgbClr val="5E6A78"/>
                </a:solidFill>
                <a:latin typeface="Aptos"/>
              </a:rPr>
              <a:t> (</a:t>
            </a:r>
            <a:r>
              <a:rPr sz="1400" b="0" i="0" dirty="0" err="1">
                <a:solidFill>
                  <a:srgbClr val="5E6A78"/>
                </a:solidFill>
                <a:latin typeface="Aptos"/>
              </a:rPr>
              <a:t>cùng</a:t>
            </a:r>
            <a:r>
              <a:rPr sz="1400" b="0" i="0" dirty="0">
                <a:solidFill>
                  <a:srgbClr val="5E6A78"/>
                </a:solidFill>
                <a:latin typeface="Aptos"/>
              </a:rPr>
              <a:t> </a:t>
            </a:r>
            <a:r>
              <a:rPr sz="1400" b="0" i="0" dirty="0" err="1">
                <a:solidFill>
                  <a:srgbClr val="5E6A78"/>
                </a:solidFill>
                <a:latin typeface="Aptos"/>
              </a:rPr>
              <a:t>một</a:t>
            </a:r>
            <a:r>
              <a:rPr sz="1400" b="0" i="0" dirty="0">
                <a:solidFill>
                  <a:srgbClr val="5E6A78"/>
                </a:solidFill>
                <a:latin typeface="Aptos"/>
              </a:rPr>
              <a:t> </a:t>
            </a:r>
            <a:r>
              <a:rPr sz="1400" b="0" i="0" dirty="0" err="1">
                <a:solidFill>
                  <a:srgbClr val="5E6A78"/>
                </a:solidFill>
                <a:latin typeface="Aptos"/>
              </a:rPr>
              <a:t>sự</a:t>
            </a:r>
            <a:r>
              <a:rPr sz="1400" b="0" i="0" dirty="0">
                <a:solidFill>
                  <a:srgbClr val="5E6A78"/>
                </a:solidFill>
                <a:latin typeface="Aptos"/>
              </a:rPr>
              <a:t> </a:t>
            </a:r>
            <a:r>
              <a:rPr sz="1400" b="0" i="0" dirty="0" err="1">
                <a:solidFill>
                  <a:srgbClr val="5E6A78"/>
                </a:solidFill>
                <a:latin typeface="Aptos"/>
              </a:rPr>
              <a:t>kiện</a:t>
            </a:r>
            <a:r>
              <a:rPr sz="1400" b="0" i="0" dirty="0">
                <a:solidFill>
                  <a:srgbClr val="5E6A78"/>
                </a:solidFill>
                <a:latin typeface="Aptos"/>
              </a:rPr>
              <a:t>) </a:t>
            </a:r>
            <a:r>
              <a:rPr sz="1400" b="0" i="0" dirty="0" err="1">
                <a:solidFill>
                  <a:srgbClr val="5E6A78"/>
                </a:solidFill>
                <a:latin typeface="Aptos"/>
              </a:rPr>
              <a:t>trên</a:t>
            </a:r>
            <a:r>
              <a:rPr sz="1400" b="0" i="0" dirty="0">
                <a:solidFill>
                  <a:srgbClr val="5E6A78"/>
                </a:solidFill>
                <a:latin typeface="Aptos"/>
              </a:rPr>
              <a:t> 200.307 review = </a:t>
            </a:r>
            <a:r>
              <a:rPr sz="1400" b="1" i="0" dirty="0">
                <a:solidFill>
                  <a:srgbClr val="162C46"/>
                </a:solidFill>
                <a:latin typeface="Aptos"/>
              </a:rPr>
              <a:t>7,0000 h, SD = 0</a:t>
            </a:r>
          </a:p>
          <a:p>
            <a:pPr algn="l">
              <a:spcAft>
                <a:spcPts val="400"/>
              </a:spcAft>
            </a:pPr>
            <a:r>
              <a:rPr sz="1400" b="1" i="0" dirty="0" err="1">
                <a:solidFill>
                  <a:srgbClr val="162C46"/>
                </a:solidFill>
                <a:latin typeface="Aptos"/>
              </a:rPr>
              <a:t>Tác</a:t>
            </a:r>
            <a:r>
              <a:rPr sz="1400" b="1" i="0" dirty="0">
                <a:solidFill>
                  <a:srgbClr val="162C46"/>
                </a:solidFill>
                <a:latin typeface="Aptos"/>
              </a:rPr>
              <a:t> </a:t>
            </a:r>
            <a:r>
              <a:rPr sz="1400" b="1" i="0" dirty="0" err="1">
                <a:solidFill>
                  <a:srgbClr val="162C46"/>
                </a:solidFill>
                <a:latin typeface="Aptos"/>
              </a:rPr>
              <a:t>động</a:t>
            </a:r>
            <a:r>
              <a:rPr sz="1400" b="1" i="0" dirty="0">
                <a:solidFill>
                  <a:srgbClr val="162C46"/>
                </a:solidFill>
                <a:latin typeface="Aptos"/>
              </a:rPr>
              <a:t>: </a:t>
            </a:r>
            <a:r>
              <a:rPr sz="1400" b="0" i="0" dirty="0" err="1">
                <a:solidFill>
                  <a:srgbClr val="5E6A78"/>
                </a:solidFill>
                <a:latin typeface="Aptos"/>
              </a:rPr>
              <a:t>trung</a:t>
            </a:r>
            <a:r>
              <a:rPr sz="1400" b="0" i="0" dirty="0">
                <a:solidFill>
                  <a:srgbClr val="5E6A78"/>
                </a:solidFill>
                <a:latin typeface="Aptos"/>
              </a:rPr>
              <a:t> </a:t>
            </a:r>
            <a:r>
              <a:rPr sz="1400" b="0" i="0" dirty="0" err="1">
                <a:solidFill>
                  <a:srgbClr val="5E6A78"/>
                </a:solidFill>
                <a:latin typeface="Aptos"/>
              </a:rPr>
              <a:t>vị</a:t>
            </a:r>
            <a:r>
              <a:rPr sz="1400" b="0" i="0" dirty="0">
                <a:solidFill>
                  <a:srgbClr val="5E6A78"/>
                </a:solidFill>
                <a:latin typeface="Aptos"/>
              </a:rPr>
              <a:t> 1,55 → 1,26 </a:t>
            </a:r>
            <a:r>
              <a:rPr sz="1400" b="0" i="0" dirty="0" err="1">
                <a:solidFill>
                  <a:srgbClr val="5E6A78"/>
                </a:solidFill>
                <a:latin typeface="Aptos"/>
              </a:rPr>
              <a:t>ngày</a:t>
            </a:r>
            <a:r>
              <a:rPr sz="1400" b="0" i="0" dirty="0">
                <a:solidFill>
                  <a:srgbClr val="5E6A78"/>
                </a:solidFill>
                <a:latin typeface="Aptos"/>
              </a:rPr>
              <a:t> · </a:t>
            </a:r>
            <a:r>
              <a:rPr sz="1400" b="0" i="0" dirty="0" err="1">
                <a:solidFill>
                  <a:srgbClr val="5E6A78"/>
                </a:solidFill>
                <a:latin typeface="Aptos"/>
              </a:rPr>
              <a:t>vượt</a:t>
            </a:r>
            <a:r>
              <a:rPr sz="1400" b="0" i="0" dirty="0">
                <a:solidFill>
                  <a:srgbClr val="5E6A78"/>
                </a:solidFill>
                <a:latin typeface="Aptos"/>
              </a:rPr>
              <a:t> SLA 8,45% → 7,12%</a:t>
            </a:r>
          </a:p>
          <a:p>
            <a:pPr algn="l">
              <a:spcAft>
                <a:spcPts val="400"/>
              </a:spcAft>
            </a:pPr>
            <a:r>
              <a:rPr sz="1400" b="1" i="0" dirty="0" err="1">
                <a:solidFill>
                  <a:srgbClr val="162C46"/>
                </a:solidFill>
                <a:latin typeface="Aptos"/>
              </a:rPr>
              <a:t>Khoá</a:t>
            </a:r>
            <a:r>
              <a:rPr sz="1400" b="1" i="0" dirty="0">
                <a:solidFill>
                  <a:srgbClr val="162C46"/>
                </a:solidFill>
                <a:latin typeface="Aptos"/>
              </a:rPr>
              <a:t> </a:t>
            </a:r>
            <a:r>
              <a:rPr sz="1400" b="1" i="0" dirty="0" err="1">
                <a:solidFill>
                  <a:srgbClr val="162C46"/>
                </a:solidFill>
                <a:latin typeface="Aptos"/>
              </a:rPr>
              <a:t>bằng</a:t>
            </a:r>
            <a:r>
              <a:rPr sz="1400" b="1" i="0" dirty="0">
                <a:solidFill>
                  <a:srgbClr val="162C46"/>
                </a:solidFill>
                <a:latin typeface="Aptos"/>
              </a:rPr>
              <a:t> test: </a:t>
            </a:r>
            <a:r>
              <a:rPr sz="1400" b="0" i="0" dirty="0" err="1">
                <a:solidFill>
                  <a:srgbClr val="5E6A78"/>
                </a:solidFill>
                <a:latin typeface="Aptos"/>
              </a:rPr>
              <a:t>đặt</a:t>
            </a:r>
            <a:r>
              <a:rPr sz="1400" b="0" i="0" dirty="0">
                <a:solidFill>
                  <a:srgbClr val="5E6A78"/>
                </a:solidFill>
                <a:latin typeface="Aptos"/>
              </a:rPr>
              <a:t> &amp; </a:t>
            </a:r>
            <a:r>
              <a:rPr sz="1400" b="0" i="0" dirty="0" err="1">
                <a:solidFill>
                  <a:srgbClr val="5E6A78"/>
                </a:solidFill>
                <a:latin typeface="Aptos"/>
              </a:rPr>
              <a:t>giao</a:t>
            </a:r>
            <a:r>
              <a:rPr sz="1400" b="0" i="0" dirty="0">
                <a:solidFill>
                  <a:srgbClr val="5E6A78"/>
                </a:solidFill>
                <a:latin typeface="Aptos"/>
              </a:rPr>
              <a:t> </a:t>
            </a:r>
            <a:r>
              <a:rPr sz="1400" b="0" i="0" dirty="0" err="1">
                <a:solidFill>
                  <a:srgbClr val="5E6A78"/>
                </a:solidFill>
                <a:latin typeface="Aptos"/>
              </a:rPr>
              <a:t>cùng</a:t>
            </a:r>
            <a:r>
              <a:rPr sz="1400" b="0" i="0" dirty="0">
                <a:solidFill>
                  <a:srgbClr val="5E6A78"/>
                </a:solidFill>
                <a:latin typeface="Aptos"/>
              </a:rPr>
              <a:t> </a:t>
            </a:r>
            <a:r>
              <a:rPr sz="1400" b="0" i="0" dirty="0" err="1">
                <a:solidFill>
                  <a:srgbClr val="5E6A78"/>
                </a:solidFill>
                <a:latin typeface="Aptos"/>
              </a:rPr>
              <a:t>lúc</a:t>
            </a:r>
            <a:r>
              <a:rPr sz="1400" b="0" i="0" dirty="0">
                <a:solidFill>
                  <a:srgbClr val="5E6A78"/>
                </a:solidFill>
                <a:latin typeface="Aptos"/>
              </a:rPr>
              <a:t> ⇒ </a:t>
            </a:r>
            <a:r>
              <a:rPr sz="1400" b="0" i="0" dirty="0" err="1">
                <a:solidFill>
                  <a:srgbClr val="5E6A78"/>
                </a:solidFill>
                <a:latin typeface="Aptos"/>
              </a:rPr>
              <a:t>lead_days</a:t>
            </a:r>
            <a:r>
              <a:rPr sz="1400" b="0" i="0" dirty="0">
                <a:solidFill>
                  <a:srgbClr val="5E6A78"/>
                </a:solidFill>
                <a:latin typeface="Aptos"/>
              </a:rPr>
              <a:t> = 0</a:t>
            </a:r>
          </a:p>
        </p:txBody>
      </p:sp>
      <p:sp>
        <p:nvSpPr>
          <p:cNvPr id="10" name="TextBox 9"/>
          <p:cNvSpPr txBox="1"/>
          <p:nvPr/>
        </p:nvSpPr>
        <p:spPr>
          <a:xfrm>
            <a:off x="343350" y="3807541"/>
            <a:ext cx="5303520" cy="310896"/>
          </a:xfrm>
          <a:prstGeom prst="rect">
            <a:avLst/>
          </a:prstGeom>
          <a:noFill/>
        </p:spPr>
        <p:txBody>
          <a:bodyPr wrap="square" lIns="36576" tIns="36576" rIns="36576" bIns="36576" anchor="t">
            <a:noAutofit/>
          </a:bodyPr>
          <a:lstStyle/>
          <a:p>
            <a:pPr algn="l">
              <a:spcAft>
                <a:spcPts val="300"/>
              </a:spcAft>
            </a:pPr>
            <a:r>
              <a:rPr lang="vi-VN" sz="1500" b="1" dirty="0">
                <a:solidFill>
                  <a:srgbClr val="2F639D"/>
                </a:solidFill>
                <a:latin typeface="Aptos"/>
              </a:rPr>
              <a:t>2.</a:t>
            </a:r>
            <a:r>
              <a:rPr sz="1500" b="1" i="0" dirty="0">
                <a:solidFill>
                  <a:srgbClr val="2F639D"/>
                </a:solidFill>
                <a:latin typeface="Aptos"/>
              </a:rPr>
              <a:t> 1.799 DÒNG LEAD_DAYS ÂM (0,88%)</a:t>
            </a:r>
          </a:p>
        </p:txBody>
      </p:sp>
      <p:sp>
        <p:nvSpPr>
          <p:cNvPr id="11" name="Rounded Rectangle 10"/>
          <p:cNvSpPr/>
          <p:nvPr/>
        </p:nvSpPr>
        <p:spPr>
          <a:xfrm>
            <a:off x="343350" y="4136725"/>
            <a:ext cx="5257800" cy="1481328"/>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9654" y="4191589"/>
            <a:ext cx="5029200" cy="1417320"/>
          </a:xfrm>
          <a:prstGeom prst="rect">
            <a:avLst/>
          </a:prstGeom>
          <a:noFill/>
        </p:spPr>
        <p:txBody>
          <a:bodyPr wrap="square" lIns="36576" tIns="36576" rIns="36576" bIns="36576" anchor="t">
            <a:noAutofit/>
          </a:bodyPr>
          <a:lstStyle/>
          <a:p>
            <a:pPr algn="l">
              <a:spcAft>
                <a:spcPts val="400"/>
              </a:spcAft>
            </a:pPr>
            <a:r>
              <a:rPr sz="1400" b="1" i="0" dirty="0">
                <a:solidFill>
                  <a:srgbClr val="162C46"/>
                </a:solidFill>
                <a:latin typeface="Aptos"/>
              </a:rPr>
              <a:t>Nguyên </a:t>
            </a:r>
            <a:r>
              <a:rPr sz="1400" b="1" i="0" dirty="0" err="1">
                <a:solidFill>
                  <a:srgbClr val="162C46"/>
                </a:solidFill>
                <a:latin typeface="Aptos"/>
              </a:rPr>
              <a:t>nhân</a:t>
            </a:r>
            <a:r>
              <a:rPr sz="1400" b="1" i="0" dirty="0">
                <a:solidFill>
                  <a:srgbClr val="162C46"/>
                </a:solidFill>
                <a:latin typeface="Aptos"/>
              </a:rPr>
              <a:t>: </a:t>
            </a:r>
            <a:r>
              <a:rPr sz="1400" b="0" i="0" dirty="0" err="1">
                <a:solidFill>
                  <a:srgbClr val="5E6A78"/>
                </a:solidFill>
                <a:latin typeface="Aptos"/>
              </a:rPr>
              <a:t>purchased_at</a:t>
            </a:r>
            <a:r>
              <a:rPr sz="1400" b="0" i="0" dirty="0">
                <a:solidFill>
                  <a:srgbClr val="5E6A78"/>
                </a:solidFill>
                <a:latin typeface="Aptos"/>
              </a:rPr>
              <a:t> </a:t>
            </a:r>
            <a:r>
              <a:rPr sz="1400" b="0" i="0" dirty="0" err="1">
                <a:solidFill>
                  <a:srgbClr val="5E6A78"/>
                </a:solidFill>
                <a:latin typeface="Aptos"/>
              </a:rPr>
              <a:t>ghi</a:t>
            </a:r>
            <a:r>
              <a:rPr sz="1400" b="0" i="0" dirty="0">
                <a:solidFill>
                  <a:srgbClr val="5E6A78"/>
                </a:solidFill>
                <a:latin typeface="Aptos"/>
              </a:rPr>
              <a:t> </a:t>
            </a:r>
            <a:r>
              <a:rPr sz="1400" b="0" i="0" dirty="0" err="1">
                <a:solidFill>
                  <a:srgbClr val="5E6A78"/>
                </a:solidFill>
                <a:latin typeface="Aptos"/>
              </a:rPr>
              <a:t>lần</a:t>
            </a:r>
            <a:r>
              <a:rPr sz="1400" b="0" i="0" dirty="0">
                <a:solidFill>
                  <a:srgbClr val="5E6A78"/>
                </a:solidFill>
                <a:latin typeface="Aptos"/>
              </a:rPr>
              <a:t> </a:t>
            </a:r>
            <a:r>
              <a:rPr sz="1400" b="0" i="0" dirty="0" err="1">
                <a:solidFill>
                  <a:srgbClr val="5E6A78"/>
                </a:solidFill>
                <a:latin typeface="Aptos"/>
              </a:rPr>
              <a:t>mua</a:t>
            </a:r>
            <a:r>
              <a:rPr sz="1400" b="0" i="0" dirty="0">
                <a:solidFill>
                  <a:srgbClr val="5E6A78"/>
                </a:solidFill>
                <a:latin typeface="Aptos"/>
              </a:rPr>
              <a:t> </a:t>
            </a:r>
            <a:r>
              <a:rPr sz="1400" b="0" i="0" dirty="0" err="1">
                <a:solidFill>
                  <a:srgbClr val="5E6A78"/>
                </a:solidFill>
                <a:latin typeface="Aptos"/>
              </a:rPr>
              <a:t>gần</a:t>
            </a:r>
            <a:r>
              <a:rPr sz="1400" b="0" i="0" dirty="0">
                <a:solidFill>
                  <a:srgbClr val="5E6A78"/>
                </a:solidFill>
                <a:latin typeface="Aptos"/>
              </a:rPr>
              <a:t> </a:t>
            </a:r>
            <a:r>
              <a:rPr sz="1400" b="0" i="0" dirty="0" err="1">
                <a:solidFill>
                  <a:srgbClr val="5E6A78"/>
                </a:solidFill>
                <a:latin typeface="Aptos"/>
              </a:rPr>
              <a:t>nhất</a:t>
            </a:r>
            <a:r>
              <a:rPr sz="1400" b="0" i="0" dirty="0">
                <a:solidFill>
                  <a:srgbClr val="5E6A78"/>
                </a:solidFill>
                <a:latin typeface="Aptos"/>
              </a:rPr>
              <a:t> — 93,4% </a:t>
            </a:r>
            <a:r>
              <a:rPr sz="1400" b="0" i="0" dirty="0" err="1">
                <a:solidFill>
                  <a:srgbClr val="5E6A78"/>
                </a:solidFill>
                <a:latin typeface="Aptos"/>
              </a:rPr>
              <a:t>dòng</a:t>
            </a:r>
            <a:r>
              <a:rPr sz="1400" b="0" i="0" dirty="0">
                <a:solidFill>
                  <a:srgbClr val="5E6A78"/>
                </a:solidFill>
                <a:latin typeface="Aptos"/>
              </a:rPr>
              <a:t> </a:t>
            </a:r>
            <a:r>
              <a:rPr sz="1400" b="0" i="0" dirty="0" err="1">
                <a:solidFill>
                  <a:srgbClr val="5E6A78"/>
                </a:solidFill>
                <a:latin typeface="Aptos"/>
              </a:rPr>
              <a:t>âm</a:t>
            </a:r>
            <a:r>
              <a:rPr sz="1400" b="0" i="0" dirty="0">
                <a:solidFill>
                  <a:srgbClr val="5E6A78"/>
                </a:solidFill>
                <a:latin typeface="Aptos"/>
              </a:rPr>
              <a:t> </a:t>
            </a:r>
            <a:r>
              <a:rPr sz="1400" b="0" i="0" dirty="0" err="1">
                <a:solidFill>
                  <a:srgbClr val="5E6A78"/>
                </a:solidFill>
                <a:latin typeface="Aptos"/>
              </a:rPr>
              <a:t>có</a:t>
            </a:r>
            <a:r>
              <a:rPr sz="1400" b="0" i="0" dirty="0">
                <a:solidFill>
                  <a:srgbClr val="5E6A78"/>
                </a:solidFill>
                <a:latin typeface="Aptos"/>
              </a:rPr>
              <a:t> </a:t>
            </a:r>
            <a:r>
              <a:rPr sz="1400" b="0" i="0" dirty="0" err="1">
                <a:solidFill>
                  <a:srgbClr val="5E6A78"/>
                </a:solidFill>
                <a:latin typeface="Aptos"/>
              </a:rPr>
              <a:t>ngày</a:t>
            </a:r>
            <a:r>
              <a:rPr sz="1400" b="0" i="0" dirty="0">
                <a:solidFill>
                  <a:srgbClr val="5E6A78"/>
                </a:solidFill>
                <a:latin typeface="Aptos"/>
              </a:rPr>
              <a:t> </a:t>
            </a:r>
            <a:r>
              <a:rPr sz="1400" b="0" i="0" dirty="0" err="1">
                <a:solidFill>
                  <a:srgbClr val="5E6A78"/>
                </a:solidFill>
                <a:latin typeface="Aptos"/>
              </a:rPr>
              <a:t>đặt</a:t>
            </a:r>
            <a:r>
              <a:rPr sz="1400" b="0" i="0" dirty="0">
                <a:solidFill>
                  <a:srgbClr val="5E6A78"/>
                </a:solidFill>
                <a:latin typeface="Aptos"/>
              </a:rPr>
              <a:t> SAU </a:t>
            </a:r>
            <a:r>
              <a:rPr sz="1400" b="0" i="0" dirty="0" err="1">
                <a:solidFill>
                  <a:srgbClr val="5E6A78"/>
                </a:solidFill>
                <a:latin typeface="Aptos"/>
              </a:rPr>
              <a:t>ngày</a:t>
            </a:r>
            <a:r>
              <a:rPr sz="1400" b="0" i="0" dirty="0">
                <a:solidFill>
                  <a:srgbClr val="5E6A78"/>
                </a:solidFill>
                <a:latin typeface="Aptos"/>
              </a:rPr>
              <a:t> </a:t>
            </a:r>
            <a:r>
              <a:rPr sz="1400" b="0" i="0" dirty="0" err="1">
                <a:solidFill>
                  <a:srgbClr val="5E6A78"/>
                </a:solidFill>
                <a:latin typeface="Aptos"/>
              </a:rPr>
              <a:t>viết</a:t>
            </a:r>
            <a:r>
              <a:rPr sz="1400" b="0" i="0" dirty="0">
                <a:solidFill>
                  <a:srgbClr val="5E6A78"/>
                </a:solidFill>
                <a:latin typeface="Aptos"/>
              </a:rPr>
              <a:t> review</a:t>
            </a:r>
          </a:p>
          <a:p>
            <a:pPr algn="l">
              <a:spcAft>
                <a:spcPts val="400"/>
              </a:spcAft>
            </a:pPr>
            <a:r>
              <a:rPr sz="1400" b="1" i="0" dirty="0" err="1">
                <a:solidFill>
                  <a:srgbClr val="162C46"/>
                </a:solidFill>
                <a:latin typeface="Aptos"/>
              </a:rPr>
              <a:t>Xử</a:t>
            </a:r>
            <a:r>
              <a:rPr sz="1400" b="1" i="0" dirty="0">
                <a:solidFill>
                  <a:srgbClr val="162C46"/>
                </a:solidFill>
                <a:latin typeface="Aptos"/>
              </a:rPr>
              <a:t> </a:t>
            </a:r>
            <a:r>
              <a:rPr sz="1400" b="1" i="0" dirty="0" err="1">
                <a:solidFill>
                  <a:srgbClr val="162C46"/>
                </a:solidFill>
                <a:latin typeface="Aptos"/>
              </a:rPr>
              <a:t>lý</a:t>
            </a:r>
            <a:r>
              <a:rPr sz="1400" b="1" i="0" dirty="0">
                <a:solidFill>
                  <a:srgbClr val="162C46"/>
                </a:solidFill>
                <a:latin typeface="Aptos"/>
              </a:rPr>
              <a:t>: </a:t>
            </a:r>
            <a:r>
              <a:rPr sz="1400" b="0" i="0" dirty="0" err="1">
                <a:solidFill>
                  <a:srgbClr val="5E6A78"/>
                </a:solidFill>
                <a:latin typeface="Aptos"/>
              </a:rPr>
              <a:t>gắn</a:t>
            </a:r>
            <a:r>
              <a:rPr sz="1400" b="0" i="0" dirty="0">
                <a:solidFill>
                  <a:srgbClr val="5E6A78"/>
                </a:solidFill>
                <a:latin typeface="Aptos"/>
              </a:rPr>
              <a:t> </a:t>
            </a:r>
            <a:r>
              <a:rPr sz="1400" b="0" i="0" dirty="0" err="1">
                <a:solidFill>
                  <a:srgbClr val="5E6A78"/>
                </a:solidFill>
                <a:latin typeface="Aptos"/>
              </a:rPr>
              <a:t>cờ</a:t>
            </a:r>
            <a:r>
              <a:rPr sz="1400" b="0" i="0" dirty="0">
                <a:solidFill>
                  <a:srgbClr val="5E6A78"/>
                </a:solidFill>
                <a:latin typeface="Aptos"/>
              </a:rPr>
              <a:t> </a:t>
            </a:r>
            <a:r>
              <a:rPr sz="1400" b="0" i="0" dirty="0" err="1">
                <a:solidFill>
                  <a:srgbClr val="5E6A78"/>
                </a:solidFill>
                <a:latin typeface="Aptos"/>
              </a:rPr>
              <a:t>quality_flag</a:t>
            </a:r>
            <a:r>
              <a:rPr sz="1400" b="0" i="0" dirty="0">
                <a:solidFill>
                  <a:srgbClr val="5E6A78"/>
                </a:solidFill>
                <a:latin typeface="Aptos"/>
              </a:rPr>
              <a:t>, </a:t>
            </a:r>
            <a:r>
              <a:rPr sz="1400" b="0" i="0" dirty="0" err="1">
                <a:solidFill>
                  <a:srgbClr val="5E6A78"/>
                </a:solidFill>
                <a:latin typeface="Aptos"/>
              </a:rPr>
              <a:t>không</a:t>
            </a:r>
            <a:r>
              <a:rPr sz="1400" b="0" i="0" dirty="0">
                <a:solidFill>
                  <a:srgbClr val="5E6A78"/>
                </a:solidFill>
                <a:latin typeface="Aptos"/>
              </a:rPr>
              <a:t> </a:t>
            </a:r>
            <a:r>
              <a:rPr sz="1400" b="0" i="0" dirty="0" err="1">
                <a:solidFill>
                  <a:srgbClr val="5E6A78"/>
                </a:solidFill>
                <a:latin typeface="Aptos"/>
              </a:rPr>
              <a:t>xoá</a:t>
            </a:r>
            <a:r>
              <a:rPr sz="1400" b="0" i="0" dirty="0">
                <a:solidFill>
                  <a:srgbClr val="5E6A78"/>
                </a:solidFill>
                <a:latin typeface="Aptos"/>
              </a:rPr>
              <a:t> </a:t>
            </a:r>
            <a:r>
              <a:rPr sz="1400" b="0" i="0" dirty="0" err="1">
                <a:solidFill>
                  <a:srgbClr val="5E6A78"/>
                </a:solidFill>
                <a:latin typeface="Aptos"/>
              </a:rPr>
              <a:t>im</a:t>
            </a:r>
            <a:r>
              <a:rPr sz="1400" b="0" i="0" dirty="0">
                <a:solidFill>
                  <a:srgbClr val="5E6A78"/>
                </a:solidFill>
                <a:latin typeface="Aptos"/>
              </a:rPr>
              <a:t> </a:t>
            </a:r>
            <a:r>
              <a:rPr sz="1400" b="0" i="0" dirty="0" err="1">
                <a:solidFill>
                  <a:srgbClr val="5E6A78"/>
                </a:solidFill>
                <a:latin typeface="Aptos"/>
              </a:rPr>
              <a:t>lặng</a:t>
            </a:r>
            <a:endParaRPr sz="1400" b="0" i="0" dirty="0">
              <a:solidFill>
                <a:srgbClr val="5E6A78"/>
              </a:solidFill>
              <a:latin typeface="Aptos"/>
            </a:endParaRPr>
          </a:p>
          <a:p>
            <a:pPr algn="l">
              <a:spcAft>
                <a:spcPts val="400"/>
              </a:spcAft>
            </a:pPr>
            <a:r>
              <a:rPr sz="1400" b="1" i="0" dirty="0" err="1">
                <a:solidFill>
                  <a:srgbClr val="162C46"/>
                </a:solidFill>
                <a:latin typeface="Aptos"/>
              </a:rPr>
              <a:t>Loại</a:t>
            </a:r>
            <a:r>
              <a:rPr sz="1400" b="1" i="0" dirty="0">
                <a:solidFill>
                  <a:srgbClr val="162C46"/>
                </a:solidFill>
                <a:latin typeface="Aptos"/>
              </a:rPr>
              <a:t> </a:t>
            </a:r>
            <a:r>
              <a:rPr sz="1400" b="1" i="0" dirty="0" err="1">
                <a:solidFill>
                  <a:srgbClr val="162C46"/>
                </a:solidFill>
                <a:latin typeface="Aptos"/>
              </a:rPr>
              <a:t>ra</a:t>
            </a:r>
            <a:r>
              <a:rPr sz="1400" b="1" i="0" dirty="0">
                <a:solidFill>
                  <a:srgbClr val="162C46"/>
                </a:solidFill>
                <a:latin typeface="Aptos"/>
              </a:rPr>
              <a:t> </a:t>
            </a:r>
            <a:r>
              <a:rPr sz="1400" b="1" i="0" dirty="0" err="1">
                <a:solidFill>
                  <a:srgbClr val="162C46"/>
                </a:solidFill>
                <a:latin typeface="Aptos"/>
              </a:rPr>
              <a:t>có</a:t>
            </a:r>
            <a:r>
              <a:rPr sz="1400" b="1" i="0" dirty="0">
                <a:solidFill>
                  <a:srgbClr val="162C46"/>
                </a:solidFill>
                <a:latin typeface="Aptos"/>
              </a:rPr>
              <a:t> </a:t>
            </a:r>
            <a:r>
              <a:rPr sz="1400" b="1" i="0" dirty="0" err="1">
                <a:solidFill>
                  <a:srgbClr val="162C46"/>
                </a:solidFill>
                <a:latin typeface="Aptos"/>
              </a:rPr>
              <a:t>lệch</a:t>
            </a:r>
            <a:r>
              <a:rPr sz="1400" b="1" i="0" dirty="0">
                <a:solidFill>
                  <a:srgbClr val="162C46"/>
                </a:solidFill>
                <a:latin typeface="Aptos"/>
              </a:rPr>
              <a:t> </a:t>
            </a:r>
            <a:r>
              <a:rPr sz="1400" b="1" i="0" dirty="0" err="1">
                <a:solidFill>
                  <a:srgbClr val="162C46"/>
                </a:solidFill>
                <a:latin typeface="Aptos"/>
              </a:rPr>
              <a:t>không</a:t>
            </a:r>
            <a:r>
              <a:rPr sz="1400" b="1" i="0" dirty="0">
                <a:solidFill>
                  <a:srgbClr val="162C46"/>
                </a:solidFill>
                <a:latin typeface="Aptos"/>
              </a:rPr>
              <a:t>? </a:t>
            </a:r>
            <a:r>
              <a:rPr sz="1400" b="0" i="0" dirty="0" err="1">
                <a:solidFill>
                  <a:srgbClr val="5E6A78"/>
                </a:solidFill>
                <a:latin typeface="Aptos"/>
              </a:rPr>
              <a:t>đếm</a:t>
            </a:r>
            <a:r>
              <a:rPr sz="1400" b="0" i="0" dirty="0">
                <a:solidFill>
                  <a:srgbClr val="5E6A78"/>
                </a:solidFill>
                <a:latin typeface="Aptos"/>
              </a:rPr>
              <a:t> </a:t>
            </a:r>
            <a:r>
              <a:rPr sz="1400" b="0" i="0" dirty="0" err="1">
                <a:solidFill>
                  <a:srgbClr val="5E6A78"/>
                </a:solidFill>
                <a:latin typeface="Aptos"/>
              </a:rPr>
              <a:t>thô</a:t>
            </a:r>
            <a:r>
              <a:rPr sz="1400" b="0" i="0" dirty="0">
                <a:solidFill>
                  <a:srgbClr val="5E6A78"/>
                </a:solidFill>
                <a:latin typeface="Aptos"/>
              </a:rPr>
              <a:t> </a:t>
            </a:r>
            <a:r>
              <a:rPr sz="1400" b="0" i="0" dirty="0" err="1">
                <a:solidFill>
                  <a:srgbClr val="5E6A78"/>
                </a:solidFill>
                <a:latin typeface="Aptos"/>
              </a:rPr>
              <a:t>nói</a:t>
            </a:r>
            <a:r>
              <a:rPr sz="1400" b="0" i="0" dirty="0">
                <a:solidFill>
                  <a:srgbClr val="5E6A78"/>
                </a:solidFill>
                <a:latin typeface="Aptos"/>
              </a:rPr>
              <a:t> </a:t>
            </a:r>
            <a:r>
              <a:rPr sz="1400" b="0" i="0" dirty="0" err="1">
                <a:solidFill>
                  <a:srgbClr val="5E6A78"/>
                </a:solidFill>
                <a:latin typeface="Aptos"/>
              </a:rPr>
              <a:t>có</a:t>
            </a:r>
            <a:r>
              <a:rPr sz="1400" b="0" i="0" dirty="0">
                <a:solidFill>
                  <a:srgbClr val="5E6A78"/>
                </a:solidFill>
                <a:latin typeface="Aptos"/>
              </a:rPr>
              <a:t> (1★: 6,9% vs 3,1%); </a:t>
            </a:r>
            <a:r>
              <a:rPr sz="1400" b="0" i="0" dirty="0" err="1">
                <a:solidFill>
                  <a:srgbClr val="5E6A78"/>
                </a:solidFill>
                <a:latin typeface="Aptos"/>
              </a:rPr>
              <a:t>có</a:t>
            </a:r>
            <a:r>
              <a:rPr sz="1400" b="0" i="0" dirty="0">
                <a:solidFill>
                  <a:srgbClr val="5E6A78"/>
                </a:solidFill>
                <a:latin typeface="Aptos"/>
              </a:rPr>
              <a:t> </a:t>
            </a:r>
            <a:r>
              <a:rPr sz="1400" b="0" i="0" dirty="0" err="1">
                <a:solidFill>
                  <a:srgbClr val="5E6A78"/>
                </a:solidFill>
                <a:latin typeface="Aptos"/>
              </a:rPr>
              <a:t>trọng</a:t>
            </a:r>
            <a:r>
              <a:rPr sz="1400" b="0" i="0" dirty="0">
                <a:solidFill>
                  <a:srgbClr val="5E6A78"/>
                </a:solidFill>
                <a:latin typeface="Aptos"/>
              </a:rPr>
              <a:t> </a:t>
            </a:r>
            <a:r>
              <a:rPr sz="1400" b="0" i="0" dirty="0" err="1">
                <a:solidFill>
                  <a:srgbClr val="5E6A78"/>
                </a:solidFill>
                <a:latin typeface="Aptos"/>
              </a:rPr>
              <a:t>số</a:t>
            </a:r>
            <a:r>
              <a:rPr sz="1400" b="0" i="0" dirty="0">
                <a:solidFill>
                  <a:srgbClr val="5E6A78"/>
                </a:solidFill>
                <a:latin typeface="Aptos"/>
              </a:rPr>
              <a:t> </a:t>
            </a:r>
            <a:r>
              <a:rPr sz="1400" b="0" i="0" dirty="0" err="1">
                <a:solidFill>
                  <a:srgbClr val="5E6A78"/>
                </a:solidFill>
                <a:latin typeface="Aptos"/>
              </a:rPr>
              <a:t>thì</a:t>
            </a:r>
            <a:r>
              <a:rPr sz="1400" b="0" i="0" dirty="0">
                <a:solidFill>
                  <a:srgbClr val="5E6A78"/>
                </a:solidFill>
                <a:latin typeface="Aptos"/>
              </a:rPr>
              <a:t> </a:t>
            </a:r>
            <a:r>
              <a:rPr sz="1400" b="0" i="0" dirty="0" err="1">
                <a:solidFill>
                  <a:srgbClr val="5E6A78"/>
                </a:solidFill>
                <a:latin typeface="Aptos"/>
              </a:rPr>
              <a:t>không</a:t>
            </a:r>
            <a:r>
              <a:rPr sz="1400" b="0" i="0" dirty="0">
                <a:solidFill>
                  <a:srgbClr val="5E6A78"/>
                </a:solidFill>
                <a:latin typeface="Aptos"/>
              </a:rPr>
              <a:t> (rating 4,770 vs 4,781)</a:t>
            </a:r>
          </a:p>
        </p:txBody>
      </p:sp>
      <p:pic>
        <p:nvPicPr>
          <p:cNvPr id="13" name="Picture 12" descr="A02_hai_dong_ho.png"/>
          <p:cNvPicPr>
            <a:picLocks noChangeAspect="1"/>
          </p:cNvPicPr>
          <p:nvPr/>
        </p:nvPicPr>
        <p:blipFill>
          <a:blip r:embed="rId3"/>
          <a:stretch>
            <a:fillRect/>
          </a:stretch>
        </p:blipFill>
        <p:spPr>
          <a:xfrm>
            <a:off x="5694599" y="1221779"/>
            <a:ext cx="6290719" cy="2367190"/>
          </a:xfrm>
          <a:prstGeom prst="rect">
            <a:avLst/>
          </a:prstGeom>
        </p:spPr>
      </p:pic>
      <p:sp>
        <p:nvSpPr>
          <p:cNvPr id="14" name="TextBox 13"/>
          <p:cNvSpPr txBox="1"/>
          <p:nvPr/>
        </p:nvSpPr>
        <p:spPr>
          <a:xfrm>
            <a:off x="5905353" y="3625545"/>
            <a:ext cx="5486400" cy="310896"/>
          </a:xfrm>
          <a:prstGeom prst="rect">
            <a:avLst/>
          </a:prstGeom>
          <a:noFill/>
        </p:spPr>
        <p:txBody>
          <a:bodyPr wrap="square" lIns="36576" tIns="36576" rIns="36576" bIns="36576" anchor="t">
            <a:noAutofit/>
          </a:bodyPr>
          <a:lstStyle/>
          <a:p>
            <a:pPr algn="l">
              <a:spcAft>
                <a:spcPts val="300"/>
              </a:spcAft>
            </a:pPr>
            <a:r>
              <a:rPr sz="1500" b="1" i="0" dirty="0">
                <a:solidFill>
                  <a:srgbClr val="2F639D"/>
                </a:solidFill>
                <a:latin typeface="Aptos"/>
              </a:rPr>
              <a:t>DATA CONTRACT — GẮN CỜ, KHÔNG XOÁ</a:t>
            </a:r>
          </a:p>
        </p:txBody>
      </p:sp>
      <p:graphicFrame>
        <p:nvGraphicFramePr>
          <p:cNvPr id="15" name="Table 14"/>
          <p:cNvGraphicFramePr>
            <a:graphicFrameLocks noGrp="1"/>
          </p:cNvGraphicFramePr>
          <p:nvPr>
            <p:extLst>
              <p:ext uri="{D42A27DB-BD31-4B8C-83A1-F6EECF244321}">
                <p14:modId xmlns:p14="http://schemas.microsoft.com/office/powerpoint/2010/main" val="1741030046"/>
              </p:ext>
            </p:extLst>
          </p:nvPr>
        </p:nvGraphicFramePr>
        <p:xfrm>
          <a:off x="5905353" y="3973017"/>
          <a:ext cx="5532120" cy="1645920"/>
        </p:xfrm>
        <a:graphic>
          <a:graphicData uri="http://schemas.openxmlformats.org/drawingml/2006/table">
            <a:tbl>
              <a:tblPr firstRow="1">
                <a:tableStyleId>{5C22544A-7EE6-4342-B048-85BDC9FD1C3A}</a:tableStyleId>
              </a:tblPr>
              <a:tblGrid>
                <a:gridCol w="31546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274320">
                <a:tc>
                  <a:txBody>
                    <a:bodyPr/>
                    <a:lstStyle/>
                    <a:p>
                      <a:pPr algn="l"/>
                      <a:r>
                        <a:rPr sz="1150" b="1" i="0">
                          <a:solidFill>
                            <a:srgbClr val="FFFFFF"/>
                          </a:solidFill>
                          <a:latin typeface="Aptos"/>
                        </a:rPr>
                        <a:t>quality_flag</a:t>
                      </a:r>
                    </a:p>
                  </a:txBody>
                  <a:tcPr marL="54864" marR="54864" marT="27432" marB="27432" anchor="ctr">
                    <a:solidFill>
                      <a:srgbClr val="162C46"/>
                    </a:solidFill>
                  </a:tcPr>
                </a:tc>
                <a:tc>
                  <a:txBody>
                    <a:bodyPr/>
                    <a:lstStyle/>
                    <a:p>
                      <a:pPr algn="l"/>
                      <a:r>
                        <a:rPr sz="1150" b="1" i="0">
                          <a:solidFill>
                            <a:srgbClr val="FFFFFF"/>
                          </a:solidFill>
                          <a:latin typeface="Aptos"/>
                        </a:rPr>
                        <a:t>n</a:t>
                      </a:r>
                    </a:p>
                  </a:txBody>
                  <a:tcPr marL="54864" marR="54864" marT="27432" marB="27432" anchor="ctr">
                    <a:solidFill>
                      <a:srgbClr val="162C46"/>
                    </a:solidFill>
                  </a:tcPr>
                </a:tc>
                <a:tc>
                  <a:txBody>
                    <a:bodyPr/>
                    <a:lstStyle/>
                    <a:p>
                      <a:pPr algn="l"/>
                      <a:r>
                        <a:rPr sz="1150" b="1" i="0">
                          <a:solidFill>
                            <a:srgbClr val="FFFFFF"/>
                          </a:solidFill>
                          <a:latin typeface="Aptos"/>
                        </a:rPr>
                        <a:t>%</a:t>
                      </a:r>
                    </a:p>
                  </a:txBody>
                  <a:tcPr marL="54864" marR="54864" marT="27432" marB="27432" anchor="ctr">
                    <a:solidFill>
                      <a:srgbClr val="162C46"/>
                    </a:solidFill>
                  </a:tcPr>
                </a:tc>
                <a:extLst>
                  <a:ext uri="{0D108BD9-81ED-4DB2-BD59-A6C34878D82A}">
                    <a16:rowId xmlns:a16="http://schemas.microsoft.com/office/drawing/2014/main" val="10000"/>
                  </a:ext>
                </a:extLst>
              </a:tr>
              <a:tr h="274320">
                <a:tc>
                  <a:txBody>
                    <a:bodyPr/>
                    <a:lstStyle/>
                    <a:p>
                      <a:pPr algn="l"/>
                      <a:r>
                        <a:rPr sz="1150" b="1" i="0" dirty="0">
                          <a:solidFill>
                            <a:srgbClr val="242B33"/>
                          </a:solidFill>
                          <a:latin typeface="Aptos"/>
                        </a:rPr>
                        <a:t>ok — </a:t>
                      </a:r>
                      <a:r>
                        <a:rPr sz="1150" b="1" i="0" dirty="0" err="1">
                          <a:solidFill>
                            <a:srgbClr val="242B33"/>
                          </a:solidFill>
                          <a:latin typeface="Aptos"/>
                        </a:rPr>
                        <a:t>phân</a:t>
                      </a:r>
                      <a:r>
                        <a:rPr sz="1150" b="1" i="0" dirty="0">
                          <a:solidFill>
                            <a:srgbClr val="242B33"/>
                          </a:solidFill>
                          <a:latin typeface="Aptos"/>
                        </a:rPr>
                        <a:t> </a:t>
                      </a:r>
                      <a:r>
                        <a:rPr sz="1150" b="1" i="0" dirty="0" err="1">
                          <a:solidFill>
                            <a:srgbClr val="242B33"/>
                          </a:solidFill>
                          <a:latin typeface="Aptos"/>
                        </a:rPr>
                        <a:t>tích</a:t>
                      </a:r>
                      <a:r>
                        <a:rPr sz="1150" b="1" i="0" dirty="0">
                          <a:solidFill>
                            <a:srgbClr val="242B33"/>
                          </a:solidFill>
                          <a:latin typeface="Aptos"/>
                        </a:rPr>
                        <a:t> </a:t>
                      </a:r>
                      <a:r>
                        <a:rPr sz="1150" b="1" i="0" dirty="0" err="1">
                          <a:solidFill>
                            <a:srgbClr val="242B33"/>
                          </a:solidFill>
                          <a:latin typeface="Aptos"/>
                        </a:rPr>
                        <a:t>được</a:t>
                      </a:r>
                      <a:endParaRPr sz="1150" b="1" i="0" dirty="0">
                        <a:solidFill>
                          <a:srgbClr val="242B33"/>
                        </a:solidFill>
                        <a:latin typeface="Aptos"/>
                      </a:endParaRPr>
                    </a:p>
                  </a:txBody>
                  <a:tcPr marL="54864" marR="54864" marT="27432" marB="27432" anchor="ctr">
                    <a:solidFill>
                      <a:srgbClr val="E3ECF6"/>
                    </a:solidFill>
                  </a:tcPr>
                </a:tc>
                <a:tc>
                  <a:txBody>
                    <a:bodyPr/>
                    <a:lstStyle/>
                    <a:p>
                      <a:pPr algn="r"/>
                      <a:r>
                        <a:rPr sz="1150" b="1" i="0">
                          <a:solidFill>
                            <a:srgbClr val="242B33"/>
                          </a:solidFill>
                          <a:latin typeface="Aptos"/>
                        </a:rPr>
                        <a:t>198.355</a:t>
                      </a:r>
                    </a:p>
                  </a:txBody>
                  <a:tcPr marL="54864" marR="54864" marT="27432" marB="27432" anchor="ctr">
                    <a:solidFill>
                      <a:srgbClr val="E3ECF6"/>
                    </a:solidFill>
                  </a:tcPr>
                </a:tc>
                <a:tc>
                  <a:txBody>
                    <a:bodyPr/>
                    <a:lstStyle/>
                    <a:p>
                      <a:pPr algn="r"/>
                      <a:r>
                        <a:rPr sz="1150" b="1" i="0">
                          <a:solidFill>
                            <a:srgbClr val="242B33"/>
                          </a:solidFill>
                          <a:latin typeface="Aptos"/>
                        </a:rPr>
                        <a:t>97,47%</a:t>
                      </a:r>
                    </a:p>
                  </a:txBody>
                  <a:tcPr marL="54864" marR="54864" marT="27432" marB="27432" anchor="ctr">
                    <a:solidFill>
                      <a:srgbClr val="E3ECF6"/>
                    </a:solidFill>
                  </a:tcPr>
                </a:tc>
                <a:extLst>
                  <a:ext uri="{0D108BD9-81ED-4DB2-BD59-A6C34878D82A}">
                    <a16:rowId xmlns:a16="http://schemas.microsoft.com/office/drawing/2014/main" val="10001"/>
                  </a:ext>
                </a:extLst>
              </a:tr>
              <a:tr h="274320">
                <a:tc>
                  <a:txBody>
                    <a:bodyPr/>
                    <a:lstStyle/>
                    <a:p>
                      <a:pPr algn="l"/>
                      <a:r>
                        <a:rPr sz="1150" b="0" i="0">
                          <a:solidFill>
                            <a:srgbClr val="242B33"/>
                          </a:solidFill>
                          <a:latin typeface="Aptos"/>
                        </a:rPr>
                        <a:t>thiếu delivery_date</a:t>
                      </a:r>
                    </a:p>
                  </a:txBody>
                  <a:tcPr marL="54864" marR="54864" marT="27432" marB="27432" anchor="ctr">
                    <a:solidFill>
                      <a:srgbClr val="F6F9FC"/>
                    </a:solidFill>
                  </a:tcPr>
                </a:tc>
                <a:tc>
                  <a:txBody>
                    <a:bodyPr/>
                    <a:lstStyle/>
                    <a:p>
                      <a:pPr algn="r"/>
                      <a:r>
                        <a:rPr sz="1150" b="0" i="0">
                          <a:solidFill>
                            <a:srgbClr val="242B33"/>
                          </a:solidFill>
                          <a:latin typeface="Aptos"/>
                        </a:rPr>
                        <a:t>3.064</a:t>
                      </a:r>
                    </a:p>
                  </a:txBody>
                  <a:tcPr marL="54864" marR="54864" marT="27432" marB="27432" anchor="ctr">
                    <a:solidFill>
                      <a:srgbClr val="F6F9FC"/>
                    </a:solidFill>
                  </a:tcPr>
                </a:tc>
                <a:tc>
                  <a:txBody>
                    <a:bodyPr/>
                    <a:lstStyle/>
                    <a:p>
                      <a:pPr algn="r"/>
                      <a:r>
                        <a:rPr sz="1150" b="0" i="0">
                          <a:solidFill>
                            <a:srgbClr val="242B33"/>
                          </a:solidFill>
                          <a:latin typeface="Aptos"/>
                        </a:rPr>
                        <a:t>1,51%</a:t>
                      </a:r>
                    </a:p>
                  </a:txBody>
                  <a:tcPr marL="54864" marR="54864" marT="27432" marB="27432" anchor="ctr">
                    <a:solidFill>
                      <a:srgbClr val="F6F9FC"/>
                    </a:solidFill>
                  </a:tcPr>
                </a:tc>
                <a:extLst>
                  <a:ext uri="{0D108BD9-81ED-4DB2-BD59-A6C34878D82A}">
                    <a16:rowId xmlns:a16="http://schemas.microsoft.com/office/drawing/2014/main" val="10002"/>
                  </a:ext>
                </a:extLst>
              </a:tr>
              <a:tr h="274320">
                <a:tc>
                  <a:txBody>
                    <a:bodyPr/>
                    <a:lstStyle/>
                    <a:p>
                      <a:pPr algn="l"/>
                      <a:r>
                        <a:rPr sz="1150" b="0" i="0">
                          <a:solidFill>
                            <a:srgbClr val="242B33"/>
                          </a:solidFill>
                          <a:latin typeface="Aptos"/>
                        </a:rPr>
                        <a:t>lead_days âm</a:t>
                      </a:r>
                    </a:p>
                  </a:txBody>
                  <a:tcPr marL="54864" marR="54864" marT="27432" marB="27432" anchor="ctr">
                    <a:solidFill>
                      <a:srgbClr val="FFFFFF"/>
                    </a:solidFill>
                  </a:tcPr>
                </a:tc>
                <a:tc>
                  <a:txBody>
                    <a:bodyPr/>
                    <a:lstStyle/>
                    <a:p>
                      <a:pPr algn="r"/>
                      <a:r>
                        <a:rPr sz="1150" b="0" i="0">
                          <a:solidFill>
                            <a:srgbClr val="242B33"/>
                          </a:solidFill>
                          <a:latin typeface="Aptos"/>
                        </a:rPr>
                        <a:t>1.799</a:t>
                      </a:r>
                    </a:p>
                  </a:txBody>
                  <a:tcPr marL="54864" marR="54864" marT="27432" marB="27432" anchor="ctr">
                    <a:solidFill>
                      <a:srgbClr val="FFFFFF"/>
                    </a:solidFill>
                  </a:tcPr>
                </a:tc>
                <a:tc>
                  <a:txBody>
                    <a:bodyPr/>
                    <a:lstStyle/>
                    <a:p>
                      <a:pPr algn="r"/>
                      <a:r>
                        <a:rPr sz="1150" b="0" i="0">
                          <a:solidFill>
                            <a:srgbClr val="242B33"/>
                          </a:solidFill>
                          <a:latin typeface="Aptos"/>
                        </a:rPr>
                        <a:t>0,88%</a:t>
                      </a:r>
                    </a:p>
                  </a:txBody>
                  <a:tcPr marL="54864" marR="54864" marT="27432" marB="27432" anchor="ctr">
                    <a:solidFill>
                      <a:srgbClr val="FFFFFF"/>
                    </a:solidFill>
                  </a:tcPr>
                </a:tc>
                <a:extLst>
                  <a:ext uri="{0D108BD9-81ED-4DB2-BD59-A6C34878D82A}">
                    <a16:rowId xmlns:a16="http://schemas.microsoft.com/office/drawing/2014/main" val="10003"/>
                  </a:ext>
                </a:extLst>
              </a:tr>
              <a:tr h="274320">
                <a:tc>
                  <a:txBody>
                    <a:bodyPr/>
                    <a:lstStyle/>
                    <a:p>
                      <a:pPr algn="l"/>
                      <a:r>
                        <a:rPr sz="1150" b="0" i="0">
                          <a:solidFill>
                            <a:srgbClr val="242B33"/>
                          </a:solidFill>
                          <a:latin typeface="Aptos"/>
                        </a:rPr>
                        <a:t>thiếu purchased_at</a:t>
                      </a:r>
                    </a:p>
                  </a:txBody>
                  <a:tcPr marL="54864" marR="54864" marT="27432" marB="27432" anchor="ctr">
                    <a:solidFill>
                      <a:srgbClr val="F6F9FC"/>
                    </a:solidFill>
                  </a:tcPr>
                </a:tc>
                <a:tc>
                  <a:txBody>
                    <a:bodyPr/>
                    <a:lstStyle/>
                    <a:p>
                      <a:pPr algn="r"/>
                      <a:r>
                        <a:rPr sz="1150" b="0" i="0">
                          <a:solidFill>
                            <a:srgbClr val="242B33"/>
                          </a:solidFill>
                          <a:latin typeface="Aptos"/>
                        </a:rPr>
                        <a:t>280</a:t>
                      </a:r>
                    </a:p>
                  </a:txBody>
                  <a:tcPr marL="54864" marR="54864" marT="27432" marB="27432" anchor="ctr">
                    <a:solidFill>
                      <a:srgbClr val="F6F9FC"/>
                    </a:solidFill>
                  </a:tcPr>
                </a:tc>
                <a:tc>
                  <a:txBody>
                    <a:bodyPr/>
                    <a:lstStyle/>
                    <a:p>
                      <a:pPr algn="r"/>
                      <a:r>
                        <a:rPr sz="1150" b="0" i="0">
                          <a:solidFill>
                            <a:srgbClr val="242B33"/>
                          </a:solidFill>
                          <a:latin typeface="Aptos"/>
                        </a:rPr>
                        <a:t>0,14%</a:t>
                      </a:r>
                    </a:p>
                  </a:txBody>
                  <a:tcPr marL="54864" marR="54864" marT="27432" marB="27432" anchor="ctr">
                    <a:solidFill>
                      <a:srgbClr val="F6F9FC"/>
                    </a:solidFill>
                  </a:tcPr>
                </a:tc>
                <a:extLst>
                  <a:ext uri="{0D108BD9-81ED-4DB2-BD59-A6C34878D82A}">
                    <a16:rowId xmlns:a16="http://schemas.microsoft.com/office/drawing/2014/main" val="10004"/>
                  </a:ext>
                </a:extLst>
              </a:tr>
              <a:tr h="274320">
                <a:tc>
                  <a:txBody>
                    <a:bodyPr/>
                    <a:lstStyle/>
                    <a:p>
                      <a:pPr algn="l"/>
                      <a:r>
                        <a:rPr sz="1150" b="0" i="0" dirty="0" err="1">
                          <a:solidFill>
                            <a:srgbClr val="242B33"/>
                          </a:solidFill>
                          <a:latin typeface="Aptos"/>
                        </a:rPr>
                        <a:t>lead_days</a:t>
                      </a:r>
                      <a:r>
                        <a:rPr sz="1150" b="0" i="0" dirty="0">
                          <a:solidFill>
                            <a:srgbClr val="242B33"/>
                          </a:solidFill>
                          <a:latin typeface="Aptos"/>
                        </a:rPr>
                        <a:t> &gt; 90 </a:t>
                      </a:r>
                      <a:r>
                        <a:rPr sz="1150" b="0" i="0" dirty="0" err="1">
                          <a:solidFill>
                            <a:srgbClr val="242B33"/>
                          </a:solidFill>
                          <a:latin typeface="Aptos"/>
                        </a:rPr>
                        <a:t>ngày</a:t>
                      </a:r>
                      <a:endParaRPr sz="1150" b="0" i="0" dirty="0">
                        <a:solidFill>
                          <a:srgbClr val="242B33"/>
                        </a:solidFill>
                        <a:latin typeface="Aptos"/>
                      </a:endParaRPr>
                    </a:p>
                  </a:txBody>
                  <a:tcPr marL="54864" marR="54864" marT="27432" marB="27432" anchor="ctr">
                    <a:solidFill>
                      <a:srgbClr val="FFFFFF"/>
                    </a:solidFill>
                  </a:tcPr>
                </a:tc>
                <a:tc>
                  <a:txBody>
                    <a:bodyPr/>
                    <a:lstStyle/>
                    <a:p>
                      <a:pPr algn="r"/>
                      <a:r>
                        <a:rPr sz="1150" b="0" i="0">
                          <a:solidFill>
                            <a:srgbClr val="242B33"/>
                          </a:solidFill>
                          <a:latin typeface="Aptos"/>
                        </a:rPr>
                        <a:t>12</a:t>
                      </a:r>
                    </a:p>
                  </a:txBody>
                  <a:tcPr marL="54864" marR="54864" marT="27432" marB="27432" anchor="ctr">
                    <a:solidFill>
                      <a:srgbClr val="FFFFFF"/>
                    </a:solidFill>
                  </a:tcPr>
                </a:tc>
                <a:tc>
                  <a:txBody>
                    <a:bodyPr/>
                    <a:lstStyle/>
                    <a:p>
                      <a:pPr algn="r"/>
                      <a:r>
                        <a:rPr sz="1150" b="0" i="0" dirty="0">
                          <a:solidFill>
                            <a:srgbClr val="242B33"/>
                          </a:solidFill>
                          <a:latin typeface="Aptos"/>
                        </a:rPr>
                        <a:t>0,01%</a:t>
                      </a:r>
                    </a:p>
                  </a:txBody>
                  <a:tcPr marL="54864" marR="54864"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16" name="Rounded Rectangle 15"/>
          <p:cNvSpPr/>
          <p:nvPr/>
        </p:nvSpPr>
        <p:spPr>
          <a:xfrm>
            <a:off x="603504" y="5883229"/>
            <a:ext cx="11009376" cy="548640"/>
          </a:xfrm>
          <a:prstGeom prst="roundRect">
            <a:avLst>
              <a:gd name="adj" fmla="val 18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400" b="1" i="0" dirty="0">
                <a:solidFill>
                  <a:srgbClr val="FFFFFF"/>
                </a:solidFill>
                <a:latin typeface="Aptos"/>
              </a:rPr>
              <a:t>22/22 </a:t>
            </a:r>
            <a:r>
              <a:rPr sz="1400" b="1" i="0" dirty="0" err="1">
                <a:solidFill>
                  <a:srgbClr val="FFFFFF"/>
                </a:solidFill>
                <a:latin typeface="Aptos"/>
              </a:rPr>
              <a:t>phép</a:t>
            </a:r>
            <a:r>
              <a:rPr sz="1400" b="1" i="0" dirty="0">
                <a:solidFill>
                  <a:srgbClr val="FFFFFF"/>
                </a:solidFill>
                <a:latin typeface="Aptos"/>
              </a:rPr>
              <a:t> </a:t>
            </a:r>
            <a:r>
              <a:rPr sz="1400" b="1" i="0" dirty="0" err="1">
                <a:solidFill>
                  <a:srgbClr val="FFFFFF"/>
                </a:solidFill>
                <a:latin typeface="Aptos"/>
              </a:rPr>
              <a:t>kiểm</a:t>
            </a:r>
            <a:r>
              <a:rPr sz="1400" b="1" i="0" dirty="0">
                <a:solidFill>
                  <a:srgbClr val="FFFFFF"/>
                </a:solidFill>
                <a:latin typeface="Aptos"/>
              </a:rPr>
              <a:t> data contract </a:t>
            </a:r>
            <a:r>
              <a:rPr sz="1400" b="1" i="0" dirty="0" err="1">
                <a:solidFill>
                  <a:srgbClr val="FFFFFF"/>
                </a:solidFill>
                <a:latin typeface="Aptos"/>
              </a:rPr>
              <a:t>đạt</a:t>
            </a:r>
            <a:r>
              <a:rPr sz="1300" b="0" i="0" dirty="0">
                <a:solidFill>
                  <a:srgbClr val="FFFFFF"/>
                </a:solidFill>
                <a:latin typeface="Aptos"/>
              </a:rPr>
              <a:t>  ·  </a:t>
            </a:r>
            <a:r>
              <a:rPr sz="1300" b="0" i="0" dirty="0" err="1">
                <a:solidFill>
                  <a:srgbClr val="FFFFFF"/>
                </a:solidFill>
                <a:latin typeface="Aptos"/>
              </a:rPr>
              <a:t>mọi</a:t>
            </a:r>
            <a:r>
              <a:rPr sz="1300" b="0" i="0" dirty="0">
                <a:solidFill>
                  <a:srgbClr val="FFFFFF"/>
                </a:solidFill>
                <a:latin typeface="Aptos"/>
              </a:rPr>
              <a:t> </a:t>
            </a:r>
            <a:r>
              <a:rPr sz="1300" b="0" i="0" dirty="0" err="1">
                <a:solidFill>
                  <a:srgbClr val="FFFFFF"/>
                </a:solidFill>
                <a:latin typeface="Aptos"/>
              </a:rPr>
              <a:t>dòng</a:t>
            </a:r>
            <a:r>
              <a:rPr sz="1300" b="0" i="0" dirty="0">
                <a:solidFill>
                  <a:srgbClr val="FFFFFF"/>
                </a:solidFill>
                <a:latin typeface="Aptos"/>
              </a:rPr>
              <a:t> </a:t>
            </a:r>
            <a:r>
              <a:rPr sz="1300" b="0" i="0" dirty="0" err="1">
                <a:solidFill>
                  <a:srgbClr val="FFFFFF"/>
                </a:solidFill>
                <a:latin typeface="Aptos"/>
              </a:rPr>
              <a:t>lỗi</a:t>
            </a:r>
            <a:r>
              <a:rPr sz="1300" b="0" i="0" dirty="0">
                <a:solidFill>
                  <a:srgbClr val="FFFFFF"/>
                </a:solidFill>
                <a:latin typeface="Aptos"/>
              </a:rPr>
              <a:t> </a:t>
            </a:r>
            <a:r>
              <a:rPr sz="1300" b="0" i="0" dirty="0" err="1">
                <a:solidFill>
                  <a:srgbClr val="FFFFFF"/>
                </a:solidFill>
                <a:latin typeface="Aptos"/>
              </a:rPr>
              <a:t>đều</a:t>
            </a:r>
            <a:r>
              <a:rPr sz="1300" b="0" i="0" dirty="0">
                <a:solidFill>
                  <a:srgbClr val="FFFFFF"/>
                </a:solidFill>
                <a:latin typeface="Aptos"/>
              </a:rPr>
              <a:t> </a:t>
            </a:r>
            <a:r>
              <a:rPr sz="1300" b="0" i="0" dirty="0" err="1">
                <a:solidFill>
                  <a:srgbClr val="FFFFFF"/>
                </a:solidFill>
                <a:latin typeface="Aptos"/>
              </a:rPr>
              <a:t>đếm</a:t>
            </a:r>
            <a:r>
              <a:rPr sz="1300" b="0" i="0" dirty="0">
                <a:solidFill>
                  <a:srgbClr val="FFFFFF"/>
                </a:solidFill>
                <a:latin typeface="Aptos"/>
              </a:rPr>
              <a:t> </a:t>
            </a:r>
            <a:r>
              <a:rPr sz="1300" b="0" i="0" dirty="0" err="1">
                <a:solidFill>
                  <a:srgbClr val="FFFFFF"/>
                </a:solidFill>
                <a:latin typeface="Aptos"/>
              </a:rPr>
              <a:t>được</a:t>
            </a:r>
            <a:r>
              <a:rPr sz="1300" b="0" i="0" dirty="0">
                <a:solidFill>
                  <a:srgbClr val="FFFFFF"/>
                </a:solidFill>
                <a:latin typeface="Aptos"/>
              </a:rPr>
              <a:t>, </a:t>
            </a:r>
            <a:r>
              <a:rPr sz="1300" b="0" i="0" dirty="0" err="1">
                <a:solidFill>
                  <a:srgbClr val="FFFFFF"/>
                </a:solidFill>
                <a:latin typeface="Aptos"/>
              </a:rPr>
              <a:t>báo</a:t>
            </a:r>
            <a:r>
              <a:rPr sz="1300" b="0" i="0" dirty="0">
                <a:solidFill>
                  <a:srgbClr val="FFFFFF"/>
                </a:solidFill>
                <a:latin typeface="Aptos"/>
              </a:rPr>
              <a:t> </a:t>
            </a:r>
            <a:r>
              <a:rPr sz="1300" b="0" i="0" dirty="0" err="1">
                <a:solidFill>
                  <a:srgbClr val="FFFFFF"/>
                </a:solidFill>
                <a:latin typeface="Aptos"/>
              </a:rPr>
              <a:t>cáo</a:t>
            </a:r>
            <a:r>
              <a:rPr sz="1300" b="0" i="0" dirty="0">
                <a:solidFill>
                  <a:srgbClr val="FFFFFF"/>
                </a:solidFill>
                <a:latin typeface="Aptos"/>
              </a:rPr>
              <a:t> </a:t>
            </a:r>
            <a:r>
              <a:rPr sz="1300" b="0" i="0" dirty="0" err="1">
                <a:solidFill>
                  <a:srgbClr val="FFFFFF"/>
                </a:solidFill>
                <a:latin typeface="Aptos"/>
              </a:rPr>
              <a:t>được</a:t>
            </a:r>
            <a:r>
              <a:rPr sz="1300" b="0" i="0" dirty="0">
                <a:solidFill>
                  <a:srgbClr val="FFFFFF"/>
                </a:solidFill>
                <a:latin typeface="Aptos"/>
              </a:rPr>
              <a:t> — </a:t>
            </a:r>
            <a:r>
              <a:rPr sz="1300" b="0" i="0" dirty="0" err="1">
                <a:solidFill>
                  <a:srgbClr val="FFFFFF"/>
                </a:solidFill>
                <a:latin typeface="Aptos"/>
              </a:rPr>
              <a:t>không</a:t>
            </a:r>
            <a:r>
              <a:rPr sz="1300" b="0" i="0" dirty="0">
                <a:solidFill>
                  <a:srgbClr val="FFFFFF"/>
                </a:solidFill>
                <a:latin typeface="Aptos"/>
              </a:rPr>
              <a:t> </a:t>
            </a:r>
            <a:r>
              <a:rPr sz="1300" b="0" i="0" dirty="0" err="1">
                <a:solidFill>
                  <a:srgbClr val="FFFFFF"/>
                </a:solidFill>
                <a:latin typeface="Aptos"/>
              </a:rPr>
              <a:t>dropna</a:t>
            </a:r>
            <a:r>
              <a:rPr sz="1300" b="0" i="0" dirty="0">
                <a:solidFill>
                  <a:srgbClr val="FFFFFF"/>
                </a:solidFill>
                <a:latin typeface="Aptos"/>
              </a:rPr>
              <a:t>() </a:t>
            </a:r>
            <a:r>
              <a:rPr sz="1300" b="0" i="0" dirty="0" err="1">
                <a:solidFill>
                  <a:srgbClr val="FFFFFF"/>
                </a:solidFill>
                <a:latin typeface="Aptos"/>
              </a:rPr>
              <a:t>trong</a:t>
            </a:r>
            <a:r>
              <a:rPr sz="1300" b="0" i="0" dirty="0">
                <a:solidFill>
                  <a:srgbClr val="FFFFFF"/>
                </a:solidFill>
                <a:latin typeface="Aptos"/>
              </a:rPr>
              <a:t> </a:t>
            </a:r>
            <a:r>
              <a:rPr sz="1300" b="0" i="0" dirty="0" err="1">
                <a:solidFill>
                  <a:srgbClr val="FFFFFF"/>
                </a:solidFill>
                <a:latin typeface="Aptos"/>
              </a:rPr>
              <a:t>im</a:t>
            </a:r>
            <a:r>
              <a:rPr sz="1300" b="0" i="0" dirty="0">
                <a:solidFill>
                  <a:srgbClr val="FFFFFF"/>
                </a:solidFill>
                <a:latin typeface="Aptos"/>
              </a:rPr>
              <a:t> </a:t>
            </a:r>
            <a:r>
              <a:rPr sz="1300" b="0" i="0" dirty="0" err="1">
                <a:solidFill>
                  <a:srgbClr val="FFFFFF"/>
                </a:solidFill>
                <a:latin typeface="Aptos"/>
              </a:rPr>
              <a:t>lặng</a:t>
            </a:r>
            <a:endParaRPr sz="1300" b="0" i="0" dirty="0">
              <a:solidFill>
                <a:srgbClr val="FFFFFF"/>
              </a:solidFill>
              <a:latin typeface="Aptos"/>
            </a:endParaRPr>
          </a:p>
        </p:txBody>
      </p:sp>
      <p:sp>
        <p:nvSpPr>
          <p:cNvPr id="17" name="Rounded Rectangle 16"/>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a:t>
            </a:r>
          </a:p>
        </p:txBody>
      </p:sp>
      <p:sp>
        <p:nvSpPr>
          <p:cNvPr id="18" name="Rounded Rectangle 17"/>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Data Collection</a:t>
            </a:r>
          </a:p>
        </p:txBody>
      </p:sp>
      <p:sp>
        <p:nvSpPr>
          <p:cNvPr id="19" name="Rounded Rectangle 18"/>
          <p:cNvSpPr/>
          <p:nvPr/>
        </p:nvSpPr>
        <p:spPr>
          <a:xfrm>
            <a:off x="6601968" y="6510528"/>
            <a:ext cx="658368"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Cleaning</a:t>
            </a:r>
          </a:p>
        </p:txBody>
      </p:sp>
      <p:sp>
        <p:nvSpPr>
          <p:cNvPr id="20" name="Rounded Rectangle 19"/>
          <p:cNvSpPr/>
          <p:nvPr/>
        </p:nvSpPr>
        <p:spPr>
          <a:xfrm>
            <a:off x="7306056" y="6510528"/>
            <a:ext cx="42062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EDA</a:t>
            </a:r>
          </a:p>
        </p:txBody>
      </p:sp>
      <p:sp>
        <p:nvSpPr>
          <p:cNvPr id="21" name="Rounded Rectangle 20"/>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Features</a:t>
            </a:r>
          </a:p>
        </p:txBody>
      </p:sp>
      <p:sp>
        <p:nvSpPr>
          <p:cNvPr id="22" name="Rounded Rectangle 21"/>
          <p:cNvSpPr/>
          <p:nvPr/>
        </p:nvSpPr>
        <p:spPr>
          <a:xfrm>
            <a:off x="8494776" y="6510528"/>
            <a:ext cx="69494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Modeling</a:t>
            </a:r>
          </a:p>
        </p:txBody>
      </p:sp>
      <p:sp>
        <p:nvSpPr>
          <p:cNvPr id="23" name="Rounded Rectangle 22"/>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Evaluation</a:t>
            </a:r>
          </a:p>
        </p:txBody>
      </p:sp>
      <p:sp>
        <p:nvSpPr>
          <p:cNvPr id="24" name="Rounded Rectangle 23"/>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 Value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 name="Picture 27" descr="B06_slide.png"/>
          <p:cNvPicPr>
            <a:picLocks noChangeAspect="1"/>
          </p:cNvPicPr>
          <p:nvPr/>
        </p:nvPicPr>
        <p:blipFill>
          <a:blip r:embed="rId4"/>
          <a:stretch>
            <a:fillRect/>
          </a:stretch>
        </p:blipFill>
        <p:spPr>
          <a:xfrm>
            <a:off x="332509" y="3798916"/>
            <a:ext cx="5559384" cy="2685011"/>
          </a:xfrm>
          <a:prstGeom prst="rect">
            <a:avLst/>
          </a:prstGeom>
        </p:spPr>
      </p:pic>
      <p:sp>
        <p:nvSpPr>
          <p:cNvPr id="2" name="TextBox 1"/>
          <p:cNvSpPr txBox="1"/>
          <p:nvPr/>
        </p:nvSpPr>
        <p:spPr>
          <a:xfrm>
            <a:off x="566928" y="292608"/>
            <a:ext cx="10972800" cy="535531"/>
          </a:xfrm>
          <a:prstGeom prst="rect">
            <a:avLst/>
          </a:prstGeom>
          <a:noFill/>
        </p:spPr>
        <p:txBody>
          <a:bodyPr wrap="square" lIns="36576" tIns="36576" rIns="36576" bIns="36576" anchor="t">
            <a:spAutoFit/>
          </a:bodyPr>
          <a:lstStyle/>
          <a:p>
            <a:pPr algn="l"/>
            <a:r>
              <a:rPr sz="3000" b="1" dirty="0">
                <a:solidFill>
                  <a:srgbClr val="162C46"/>
                </a:solidFill>
                <a:latin typeface="Aptos Display"/>
              </a:rPr>
              <a:t>EDA — LEAD TIME THỰC TẾ SO VỚI NGƯỠNG SLA</a:t>
            </a:r>
          </a:p>
        </p:txBody>
      </p:sp>
      <p:cxnSp>
        <p:nvCxnSpPr>
          <p:cNvPr id="3" name="Connector 2"/>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pic>
        <p:nvPicPr>
          <p:cNvPr id="39" name="Picture 4" descr="B04_slide.png"/>
          <p:cNvPicPr>
            <a:picLocks noChangeAspect="1"/>
          </p:cNvPicPr>
          <p:nvPr/>
        </p:nvPicPr>
        <p:blipFill>
          <a:blip r:embed="rId5"/>
          <a:stretch>
            <a:fillRect/>
          </a:stretch>
        </p:blipFill>
        <p:spPr>
          <a:xfrm>
            <a:off x="332509" y="914400"/>
            <a:ext cx="6317673" cy="2830457"/>
          </a:xfrm>
          <a:prstGeom prst="rect">
            <a:avLst/>
          </a:prstGeom>
        </p:spPr>
      </p:pic>
      <p:sp>
        <p:nvSpPr>
          <p:cNvPr id="6" name="TextBox 5"/>
          <p:cNvSpPr txBox="1"/>
          <p:nvPr/>
        </p:nvSpPr>
        <p:spPr>
          <a:xfrm>
            <a:off x="6739128" y="1093772"/>
            <a:ext cx="1828800" cy="320088"/>
          </a:xfrm>
          <a:prstGeom prst="rect">
            <a:avLst/>
          </a:prstGeom>
          <a:noFill/>
        </p:spPr>
        <p:txBody>
          <a:bodyPr wrap="square" lIns="36576" tIns="36576" rIns="36576" bIns="36576" anchor="t">
            <a:spAutoFit/>
          </a:bodyPr>
          <a:lstStyle/>
          <a:p>
            <a:pPr algn="l"/>
            <a:r>
              <a:rPr sz="1600" b="1" dirty="0">
                <a:solidFill>
                  <a:srgbClr val="2F639D"/>
                </a:solidFill>
                <a:latin typeface="Aptos"/>
              </a:rPr>
              <a:t>KẾT QUẢ CHÍNH</a:t>
            </a:r>
          </a:p>
        </p:txBody>
      </p:sp>
      <p:sp>
        <p:nvSpPr>
          <p:cNvPr id="7" name="TextBox 6"/>
          <p:cNvSpPr txBox="1"/>
          <p:nvPr/>
        </p:nvSpPr>
        <p:spPr>
          <a:xfrm>
            <a:off x="6739128" y="1432100"/>
            <a:ext cx="4800600" cy="548640"/>
          </a:xfrm>
          <a:prstGeom prst="rect">
            <a:avLst/>
          </a:prstGeom>
          <a:noFill/>
        </p:spPr>
        <p:txBody>
          <a:bodyPr wrap="square" lIns="45720" tIns="27432" rIns="45720" bIns="27432">
            <a:spAutoFit/>
          </a:bodyPr>
          <a:lstStyle/>
          <a:p>
            <a:pPr algn="l"/>
            <a:r>
              <a:rPr sz="1600" b="1" dirty="0" err="1">
                <a:solidFill>
                  <a:srgbClr val="162C46"/>
                </a:solidFill>
                <a:latin typeface="Aptos"/>
              </a:rPr>
              <a:t>Phần</a:t>
            </a:r>
            <a:r>
              <a:rPr sz="1600" b="1" dirty="0">
                <a:solidFill>
                  <a:srgbClr val="162C46"/>
                </a:solidFill>
                <a:latin typeface="Aptos"/>
              </a:rPr>
              <a:t> </a:t>
            </a:r>
            <a:r>
              <a:rPr sz="1600" b="1" dirty="0" err="1">
                <a:solidFill>
                  <a:srgbClr val="162C46"/>
                </a:solidFill>
                <a:latin typeface="Aptos"/>
              </a:rPr>
              <a:t>lớn</a:t>
            </a:r>
            <a:r>
              <a:rPr sz="1600" b="1" dirty="0">
                <a:solidFill>
                  <a:srgbClr val="162C46"/>
                </a:solidFill>
                <a:latin typeface="Aptos"/>
              </a:rPr>
              <a:t> </a:t>
            </a:r>
            <a:r>
              <a:rPr sz="1600" b="1" dirty="0" err="1">
                <a:solidFill>
                  <a:srgbClr val="162C46"/>
                </a:solidFill>
                <a:latin typeface="Aptos"/>
              </a:rPr>
              <a:t>đơn</a:t>
            </a:r>
            <a:r>
              <a:rPr sz="1600" b="1" dirty="0">
                <a:solidFill>
                  <a:srgbClr val="162C46"/>
                </a:solidFill>
                <a:latin typeface="Aptos"/>
              </a:rPr>
              <a:t> </a:t>
            </a:r>
            <a:r>
              <a:rPr sz="1600" b="1" dirty="0" err="1">
                <a:solidFill>
                  <a:srgbClr val="162C46"/>
                </a:solidFill>
                <a:latin typeface="Aptos"/>
              </a:rPr>
              <a:t>hàng</a:t>
            </a:r>
            <a:r>
              <a:rPr sz="1600" b="1" dirty="0">
                <a:solidFill>
                  <a:srgbClr val="162C46"/>
                </a:solidFill>
                <a:latin typeface="Aptos"/>
              </a:rPr>
              <a:t> </a:t>
            </a:r>
            <a:r>
              <a:rPr sz="1600" b="1" dirty="0" err="1">
                <a:solidFill>
                  <a:srgbClr val="162C46"/>
                </a:solidFill>
                <a:latin typeface="Aptos"/>
              </a:rPr>
              <a:t>được</a:t>
            </a:r>
            <a:r>
              <a:rPr sz="1600" b="1" dirty="0">
                <a:solidFill>
                  <a:srgbClr val="162C46"/>
                </a:solidFill>
                <a:latin typeface="Aptos"/>
              </a:rPr>
              <a:t> </a:t>
            </a:r>
            <a:r>
              <a:rPr sz="1600" b="1" dirty="0" err="1">
                <a:solidFill>
                  <a:srgbClr val="162C46"/>
                </a:solidFill>
                <a:latin typeface="Aptos"/>
              </a:rPr>
              <a:t>giao</a:t>
            </a:r>
            <a:r>
              <a:rPr sz="1600" b="1" dirty="0">
                <a:solidFill>
                  <a:srgbClr val="162C46"/>
                </a:solidFill>
                <a:latin typeface="Aptos"/>
              </a:rPr>
              <a:t> </a:t>
            </a:r>
            <a:r>
              <a:rPr sz="1600" b="1" dirty="0" err="1">
                <a:solidFill>
                  <a:srgbClr val="162C46"/>
                </a:solidFill>
                <a:latin typeface="Aptos"/>
              </a:rPr>
              <a:t>sớm</a:t>
            </a:r>
            <a:r>
              <a:rPr sz="1600" b="1" dirty="0">
                <a:solidFill>
                  <a:srgbClr val="162C46"/>
                </a:solidFill>
                <a:latin typeface="Aptos"/>
              </a:rPr>
              <a:t> </a:t>
            </a:r>
            <a:r>
              <a:rPr sz="1600" b="1" dirty="0" err="1">
                <a:solidFill>
                  <a:srgbClr val="162C46"/>
                </a:solidFill>
                <a:latin typeface="Aptos"/>
              </a:rPr>
              <a:t>hơn</a:t>
            </a:r>
            <a:r>
              <a:rPr sz="1600" b="1" dirty="0">
                <a:solidFill>
                  <a:srgbClr val="162C46"/>
                </a:solidFill>
                <a:latin typeface="Aptos"/>
              </a:rPr>
              <a:t> </a:t>
            </a:r>
            <a:r>
              <a:rPr sz="1600" b="1" dirty="0" err="1">
                <a:solidFill>
                  <a:srgbClr val="162C46"/>
                </a:solidFill>
                <a:latin typeface="Aptos"/>
              </a:rPr>
              <a:t>ngưỡng</a:t>
            </a:r>
            <a:r>
              <a:rPr sz="1600" b="1" dirty="0">
                <a:solidFill>
                  <a:srgbClr val="162C46"/>
                </a:solidFill>
                <a:latin typeface="Aptos"/>
              </a:rPr>
              <a:t> SLA 5 </a:t>
            </a:r>
            <a:r>
              <a:rPr sz="1600" b="1" dirty="0" err="1">
                <a:solidFill>
                  <a:srgbClr val="162C46"/>
                </a:solidFill>
                <a:latin typeface="Aptos"/>
              </a:rPr>
              <a:t>ngày</a:t>
            </a:r>
            <a:r>
              <a:rPr sz="1600" b="1" dirty="0">
                <a:solidFill>
                  <a:srgbClr val="162C46"/>
                </a:solidFill>
                <a:latin typeface="Aptos"/>
              </a:rPr>
              <a:t>.</a:t>
            </a:r>
          </a:p>
        </p:txBody>
      </p:sp>
      <p:sp>
        <p:nvSpPr>
          <p:cNvPr id="8" name="TextBox 7"/>
          <p:cNvSpPr txBox="1"/>
          <p:nvPr/>
        </p:nvSpPr>
        <p:spPr>
          <a:xfrm>
            <a:off x="6739128" y="2072180"/>
            <a:ext cx="4663440" cy="1227003"/>
          </a:xfrm>
          <a:prstGeom prst="rect">
            <a:avLst/>
          </a:prstGeom>
          <a:noFill/>
        </p:spPr>
        <p:txBody>
          <a:bodyPr wrap="square" lIns="36576" tIns="18288" rIns="18288" bIns="18288">
            <a:spAutoFit/>
          </a:bodyPr>
          <a:lstStyle/>
          <a:p>
            <a:pPr>
              <a:spcAft>
                <a:spcPts val="800"/>
              </a:spcAft>
              <a:defRPr sz="1320">
                <a:solidFill>
                  <a:srgbClr val="242B33"/>
                </a:solidFill>
                <a:latin typeface="Aptos"/>
              </a:defRPr>
            </a:pPr>
            <a:r>
              <a:rPr sz="1600" dirty="0"/>
              <a:t>• Median Lead Time: 1,26 </a:t>
            </a:r>
            <a:r>
              <a:rPr sz="1600" dirty="0" err="1"/>
              <a:t>ngày</a:t>
            </a:r>
            <a:endParaRPr sz="1600" dirty="0"/>
          </a:p>
          <a:p>
            <a:pPr>
              <a:spcAft>
                <a:spcPts val="800"/>
              </a:spcAft>
              <a:defRPr sz="1320">
                <a:solidFill>
                  <a:srgbClr val="242B33"/>
                </a:solidFill>
                <a:latin typeface="Aptos"/>
              </a:defRPr>
            </a:pPr>
            <a:r>
              <a:rPr sz="1600" dirty="0"/>
              <a:t>• Median ≈ 25% </a:t>
            </a:r>
            <a:r>
              <a:rPr sz="1600" dirty="0" err="1"/>
              <a:t>ngưỡng</a:t>
            </a:r>
            <a:r>
              <a:rPr sz="1600" dirty="0"/>
              <a:t> SLA 5 </a:t>
            </a:r>
            <a:r>
              <a:rPr sz="1600" dirty="0" err="1"/>
              <a:t>ngày</a:t>
            </a:r>
            <a:endParaRPr sz="1600" dirty="0"/>
          </a:p>
          <a:p>
            <a:pPr>
              <a:spcAft>
                <a:spcPts val="800"/>
              </a:spcAft>
              <a:defRPr sz="1320">
                <a:solidFill>
                  <a:srgbClr val="242B33"/>
                </a:solidFill>
                <a:latin typeface="Aptos"/>
              </a:defRPr>
            </a:pPr>
            <a:r>
              <a:rPr sz="1600" dirty="0"/>
              <a:t>• </a:t>
            </a:r>
            <a:r>
              <a:rPr sz="1600" dirty="0" err="1"/>
              <a:t>Phân</a:t>
            </a:r>
            <a:r>
              <a:rPr sz="1600" dirty="0"/>
              <a:t> </a:t>
            </a:r>
            <a:r>
              <a:rPr sz="1600" dirty="0" err="1"/>
              <a:t>phối</a:t>
            </a:r>
            <a:r>
              <a:rPr sz="1600" dirty="0"/>
              <a:t> </a:t>
            </a:r>
            <a:r>
              <a:rPr sz="1600" dirty="0" err="1"/>
              <a:t>có</a:t>
            </a:r>
            <a:r>
              <a:rPr sz="1600" dirty="0"/>
              <a:t> </a:t>
            </a:r>
            <a:r>
              <a:rPr sz="1600" dirty="0" err="1"/>
              <a:t>đuôi</a:t>
            </a:r>
            <a:r>
              <a:rPr sz="1600" dirty="0"/>
              <a:t> </a:t>
            </a:r>
            <a:r>
              <a:rPr sz="1600" dirty="0" err="1"/>
              <a:t>phải</a:t>
            </a:r>
            <a:r>
              <a:rPr sz="1600" dirty="0"/>
              <a:t> </a:t>
            </a:r>
            <a:r>
              <a:rPr sz="1600" dirty="0" err="1"/>
              <a:t>dài</a:t>
            </a:r>
            <a:r>
              <a:rPr sz="1600" dirty="0"/>
              <a:t>: </a:t>
            </a:r>
            <a:r>
              <a:rPr sz="1600" dirty="0" err="1"/>
              <a:t>vẫn</a:t>
            </a:r>
            <a:r>
              <a:rPr sz="1600" dirty="0"/>
              <a:t> </a:t>
            </a:r>
            <a:r>
              <a:rPr sz="1600" dirty="0" err="1"/>
              <a:t>tồn</a:t>
            </a:r>
            <a:r>
              <a:rPr sz="1600" dirty="0"/>
              <a:t> </a:t>
            </a:r>
            <a:r>
              <a:rPr sz="1600" dirty="0" err="1"/>
              <a:t>tại</a:t>
            </a:r>
            <a:r>
              <a:rPr sz="1600" dirty="0"/>
              <a:t> </a:t>
            </a:r>
            <a:r>
              <a:rPr sz="1600" dirty="0" err="1"/>
              <a:t>nhóm</a:t>
            </a:r>
            <a:r>
              <a:rPr sz="1600" dirty="0"/>
              <a:t> </a:t>
            </a:r>
            <a:r>
              <a:rPr sz="1600" dirty="0" err="1"/>
              <a:t>giao</a:t>
            </a:r>
            <a:r>
              <a:rPr sz="1600" dirty="0"/>
              <a:t> </a:t>
            </a:r>
            <a:r>
              <a:rPr sz="1600" dirty="0" err="1"/>
              <a:t>rất</a:t>
            </a:r>
            <a:r>
              <a:rPr sz="1600" dirty="0"/>
              <a:t> </a:t>
            </a:r>
            <a:r>
              <a:rPr sz="1600" dirty="0" err="1"/>
              <a:t>chậm</a:t>
            </a:r>
            <a:endParaRPr sz="1600" dirty="0"/>
          </a:p>
        </p:txBody>
      </p:sp>
      <p:sp>
        <p:nvSpPr>
          <p:cNvPr id="9" name="TextBox 8"/>
          <p:cNvSpPr txBox="1"/>
          <p:nvPr/>
        </p:nvSpPr>
        <p:spPr>
          <a:xfrm>
            <a:off x="6739127" y="3599227"/>
            <a:ext cx="2965311" cy="320088"/>
          </a:xfrm>
          <a:prstGeom prst="rect">
            <a:avLst/>
          </a:prstGeom>
          <a:noFill/>
        </p:spPr>
        <p:txBody>
          <a:bodyPr wrap="square" lIns="36576" tIns="36576" rIns="36576" bIns="36576" anchor="t">
            <a:spAutoFit/>
          </a:bodyPr>
          <a:lstStyle/>
          <a:p>
            <a:pPr algn="l"/>
            <a:r>
              <a:rPr sz="1600" b="1" dirty="0">
                <a:solidFill>
                  <a:srgbClr val="2F639D"/>
                </a:solidFill>
                <a:latin typeface="Aptos"/>
              </a:rPr>
              <a:t>CÁC QUANTILE Q</a:t>
            </a:r>
            <a:r>
              <a:rPr lang="en-US" sz="1600" b="1" dirty="0">
                <a:solidFill>
                  <a:srgbClr val="2F639D"/>
                </a:solidFill>
                <a:latin typeface="Aptos"/>
              </a:rPr>
              <a:t>UAN</a:t>
            </a:r>
            <a:r>
              <a:rPr sz="1600" b="1" dirty="0">
                <a:solidFill>
                  <a:srgbClr val="2F639D"/>
                </a:solidFill>
                <a:latin typeface="Aptos"/>
              </a:rPr>
              <a:t> TRỌNG</a:t>
            </a:r>
          </a:p>
        </p:txBody>
      </p:sp>
      <p:sp>
        <p:nvSpPr>
          <p:cNvPr id="10" name="Rounded Rectangle 9"/>
          <p:cNvSpPr/>
          <p:nvPr/>
        </p:nvSpPr>
        <p:spPr>
          <a:xfrm>
            <a:off x="6739128" y="3928412"/>
            <a:ext cx="987552" cy="713232"/>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1" name="TextBox 10"/>
          <p:cNvSpPr txBox="1"/>
          <p:nvPr/>
        </p:nvSpPr>
        <p:spPr>
          <a:xfrm>
            <a:off x="6784848" y="4019852"/>
            <a:ext cx="896112" cy="320088"/>
          </a:xfrm>
          <a:prstGeom prst="rect">
            <a:avLst/>
          </a:prstGeom>
          <a:noFill/>
        </p:spPr>
        <p:txBody>
          <a:bodyPr wrap="square" lIns="36576" tIns="36576" rIns="36576" bIns="36576" anchor="t">
            <a:spAutoFit/>
          </a:bodyPr>
          <a:lstStyle/>
          <a:p>
            <a:pPr algn="ctr"/>
            <a:r>
              <a:rPr sz="1600" b="1">
                <a:solidFill>
                  <a:srgbClr val="5E6A78"/>
                </a:solidFill>
                <a:latin typeface="Aptos"/>
              </a:rPr>
              <a:t>p50</a:t>
            </a:r>
          </a:p>
        </p:txBody>
      </p:sp>
      <p:sp>
        <p:nvSpPr>
          <p:cNvPr id="12" name="TextBox 11"/>
          <p:cNvSpPr txBox="1"/>
          <p:nvPr/>
        </p:nvSpPr>
        <p:spPr>
          <a:xfrm>
            <a:off x="6784848" y="4239308"/>
            <a:ext cx="896112" cy="320088"/>
          </a:xfrm>
          <a:prstGeom prst="rect">
            <a:avLst/>
          </a:prstGeom>
          <a:noFill/>
        </p:spPr>
        <p:txBody>
          <a:bodyPr wrap="square" lIns="36576" tIns="36576" rIns="36576" bIns="36576" anchor="t">
            <a:spAutoFit/>
          </a:bodyPr>
          <a:lstStyle/>
          <a:p>
            <a:pPr algn="ctr"/>
            <a:r>
              <a:rPr sz="1600" b="1">
                <a:solidFill>
                  <a:srgbClr val="2F639D"/>
                </a:solidFill>
                <a:latin typeface="Aptos"/>
              </a:rPr>
              <a:t>1,26</a:t>
            </a:r>
          </a:p>
        </p:txBody>
      </p:sp>
      <p:sp>
        <p:nvSpPr>
          <p:cNvPr id="13" name="Rounded Rectangle 12"/>
          <p:cNvSpPr/>
          <p:nvPr/>
        </p:nvSpPr>
        <p:spPr>
          <a:xfrm>
            <a:off x="7909560" y="3928412"/>
            <a:ext cx="987552" cy="713232"/>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4" name="TextBox 13"/>
          <p:cNvSpPr txBox="1"/>
          <p:nvPr/>
        </p:nvSpPr>
        <p:spPr>
          <a:xfrm>
            <a:off x="7955280" y="4019852"/>
            <a:ext cx="896112" cy="320088"/>
          </a:xfrm>
          <a:prstGeom prst="rect">
            <a:avLst/>
          </a:prstGeom>
          <a:noFill/>
        </p:spPr>
        <p:txBody>
          <a:bodyPr wrap="square" lIns="36576" tIns="36576" rIns="36576" bIns="36576" anchor="t">
            <a:spAutoFit/>
          </a:bodyPr>
          <a:lstStyle/>
          <a:p>
            <a:pPr algn="ctr"/>
            <a:r>
              <a:rPr sz="1600" b="1">
                <a:solidFill>
                  <a:srgbClr val="5E6A78"/>
                </a:solidFill>
                <a:latin typeface="Aptos"/>
              </a:rPr>
              <a:t>p90</a:t>
            </a:r>
          </a:p>
        </p:txBody>
      </p:sp>
      <p:sp>
        <p:nvSpPr>
          <p:cNvPr id="15" name="TextBox 14"/>
          <p:cNvSpPr txBox="1"/>
          <p:nvPr/>
        </p:nvSpPr>
        <p:spPr>
          <a:xfrm>
            <a:off x="7955280" y="4239308"/>
            <a:ext cx="896112" cy="320088"/>
          </a:xfrm>
          <a:prstGeom prst="rect">
            <a:avLst/>
          </a:prstGeom>
          <a:noFill/>
        </p:spPr>
        <p:txBody>
          <a:bodyPr wrap="square" lIns="36576" tIns="36576" rIns="36576" bIns="36576" anchor="t">
            <a:spAutoFit/>
          </a:bodyPr>
          <a:lstStyle/>
          <a:p>
            <a:pPr algn="ctr"/>
            <a:r>
              <a:rPr sz="1600" b="1">
                <a:solidFill>
                  <a:srgbClr val="2F639D"/>
                </a:solidFill>
                <a:latin typeface="Aptos"/>
              </a:rPr>
              <a:t>4,33</a:t>
            </a:r>
          </a:p>
        </p:txBody>
      </p:sp>
      <p:sp>
        <p:nvSpPr>
          <p:cNvPr id="16" name="Rounded Rectangle 15"/>
          <p:cNvSpPr/>
          <p:nvPr/>
        </p:nvSpPr>
        <p:spPr>
          <a:xfrm>
            <a:off x="9079992" y="3928412"/>
            <a:ext cx="987552" cy="713232"/>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7" name="TextBox 16"/>
          <p:cNvSpPr txBox="1"/>
          <p:nvPr/>
        </p:nvSpPr>
        <p:spPr>
          <a:xfrm>
            <a:off x="9125712" y="4019852"/>
            <a:ext cx="896112" cy="320088"/>
          </a:xfrm>
          <a:prstGeom prst="rect">
            <a:avLst/>
          </a:prstGeom>
          <a:noFill/>
        </p:spPr>
        <p:txBody>
          <a:bodyPr wrap="square" lIns="36576" tIns="36576" rIns="36576" bIns="36576" anchor="t">
            <a:spAutoFit/>
          </a:bodyPr>
          <a:lstStyle/>
          <a:p>
            <a:pPr algn="ctr"/>
            <a:r>
              <a:rPr sz="1600" b="1">
                <a:solidFill>
                  <a:srgbClr val="5E6A78"/>
                </a:solidFill>
                <a:latin typeface="Aptos"/>
              </a:rPr>
              <a:t>p95</a:t>
            </a:r>
          </a:p>
        </p:txBody>
      </p:sp>
      <p:sp>
        <p:nvSpPr>
          <p:cNvPr id="18" name="TextBox 17"/>
          <p:cNvSpPr txBox="1"/>
          <p:nvPr/>
        </p:nvSpPr>
        <p:spPr>
          <a:xfrm>
            <a:off x="9125712" y="4239308"/>
            <a:ext cx="896112" cy="320088"/>
          </a:xfrm>
          <a:prstGeom prst="rect">
            <a:avLst/>
          </a:prstGeom>
          <a:noFill/>
        </p:spPr>
        <p:txBody>
          <a:bodyPr wrap="square" lIns="36576" tIns="36576" rIns="36576" bIns="36576" anchor="t">
            <a:spAutoFit/>
          </a:bodyPr>
          <a:lstStyle/>
          <a:p>
            <a:pPr algn="ctr"/>
            <a:r>
              <a:rPr sz="1600" b="1">
                <a:solidFill>
                  <a:srgbClr val="2F639D"/>
                </a:solidFill>
                <a:latin typeface="Aptos"/>
              </a:rPr>
              <a:t>5,92</a:t>
            </a:r>
          </a:p>
        </p:txBody>
      </p:sp>
      <p:sp>
        <p:nvSpPr>
          <p:cNvPr id="19" name="Rounded Rectangle 18"/>
          <p:cNvSpPr/>
          <p:nvPr/>
        </p:nvSpPr>
        <p:spPr>
          <a:xfrm>
            <a:off x="10250424" y="3928412"/>
            <a:ext cx="987552" cy="713232"/>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0" name="TextBox 19"/>
          <p:cNvSpPr txBox="1"/>
          <p:nvPr/>
        </p:nvSpPr>
        <p:spPr>
          <a:xfrm>
            <a:off x="10296144" y="4019852"/>
            <a:ext cx="896112" cy="320088"/>
          </a:xfrm>
          <a:prstGeom prst="rect">
            <a:avLst/>
          </a:prstGeom>
          <a:noFill/>
        </p:spPr>
        <p:txBody>
          <a:bodyPr wrap="square" lIns="36576" tIns="36576" rIns="36576" bIns="36576" anchor="t">
            <a:spAutoFit/>
          </a:bodyPr>
          <a:lstStyle/>
          <a:p>
            <a:pPr algn="ctr"/>
            <a:r>
              <a:rPr sz="1600" b="1">
                <a:solidFill>
                  <a:srgbClr val="5E6A78"/>
                </a:solidFill>
                <a:latin typeface="Aptos"/>
              </a:rPr>
              <a:t>p99</a:t>
            </a:r>
          </a:p>
        </p:txBody>
      </p:sp>
      <p:sp>
        <p:nvSpPr>
          <p:cNvPr id="21" name="TextBox 20"/>
          <p:cNvSpPr txBox="1"/>
          <p:nvPr/>
        </p:nvSpPr>
        <p:spPr>
          <a:xfrm>
            <a:off x="10296144" y="4239308"/>
            <a:ext cx="896112" cy="320088"/>
          </a:xfrm>
          <a:prstGeom prst="rect">
            <a:avLst/>
          </a:prstGeom>
          <a:noFill/>
        </p:spPr>
        <p:txBody>
          <a:bodyPr wrap="square" lIns="36576" tIns="36576" rIns="36576" bIns="36576" anchor="t">
            <a:spAutoFit/>
          </a:bodyPr>
          <a:lstStyle/>
          <a:p>
            <a:pPr algn="ctr"/>
            <a:r>
              <a:rPr sz="1600" b="1">
                <a:solidFill>
                  <a:srgbClr val="2F639D"/>
                </a:solidFill>
                <a:latin typeface="Aptos"/>
              </a:rPr>
              <a:t>18,62</a:t>
            </a:r>
          </a:p>
        </p:txBody>
      </p:sp>
      <p:sp>
        <p:nvSpPr>
          <p:cNvPr id="22" name="TextBox 21"/>
          <p:cNvSpPr txBox="1"/>
          <p:nvPr/>
        </p:nvSpPr>
        <p:spPr>
          <a:xfrm>
            <a:off x="8321040" y="4688378"/>
            <a:ext cx="1338349" cy="266007"/>
          </a:xfrm>
          <a:prstGeom prst="rect">
            <a:avLst/>
          </a:prstGeom>
          <a:noFill/>
        </p:spPr>
        <p:txBody>
          <a:bodyPr wrap="none" lIns="36576" tIns="36576" rIns="36576" bIns="36576" anchor="t">
            <a:spAutoFit/>
          </a:bodyPr>
          <a:lstStyle/>
          <a:p>
            <a:pPr algn="ctr"/>
            <a:r>
              <a:rPr sz="1600" b="1">
                <a:solidFill>
                  <a:srgbClr val="B14242"/>
                </a:solidFill>
                <a:latin typeface="Aptos"/>
              </a:rPr>
              <a:t>SLA = 5 ngày</a:t>
            </a:r>
          </a:p>
        </p:txBody>
      </p:sp>
      <p:cxnSp>
        <p:nvCxnSpPr>
          <p:cNvPr id="23" name="Connector 22"/>
          <p:cNvCxnSpPr/>
          <p:nvPr/>
        </p:nvCxnSpPr>
        <p:spPr>
          <a:xfrm>
            <a:off x="8990215" y="3890356"/>
            <a:ext cx="0" cy="814648"/>
          </a:xfrm>
          <a:prstGeom prst="line">
            <a:avLst/>
          </a:prstGeom>
          <a:ln w="19050">
            <a:solidFill>
              <a:srgbClr val="B14242"/>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744860" y="5232212"/>
            <a:ext cx="4800600" cy="1175411"/>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6" name="TextBox 25"/>
          <p:cNvSpPr txBox="1"/>
          <p:nvPr/>
        </p:nvSpPr>
        <p:spPr>
          <a:xfrm>
            <a:off x="6880655" y="5287053"/>
            <a:ext cx="1752100" cy="320088"/>
          </a:xfrm>
          <a:prstGeom prst="rect">
            <a:avLst/>
          </a:prstGeom>
          <a:noFill/>
        </p:spPr>
        <p:txBody>
          <a:bodyPr wrap="square" lIns="36576" tIns="36576" rIns="36576" bIns="36576" anchor="t">
            <a:spAutoFit/>
          </a:bodyPr>
          <a:lstStyle/>
          <a:p>
            <a:pPr algn="l"/>
            <a:r>
              <a:rPr sz="1600" b="1" dirty="0">
                <a:solidFill>
                  <a:srgbClr val="2F639D"/>
                </a:solidFill>
                <a:latin typeface="Aptos"/>
              </a:rPr>
              <a:t>KẾT QUẢ EDA</a:t>
            </a:r>
          </a:p>
        </p:txBody>
      </p:sp>
      <p:sp>
        <p:nvSpPr>
          <p:cNvPr id="27" name="TextBox 26"/>
          <p:cNvSpPr txBox="1"/>
          <p:nvPr/>
        </p:nvSpPr>
        <p:spPr>
          <a:xfrm>
            <a:off x="6880655" y="5542995"/>
            <a:ext cx="4606119" cy="566309"/>
          </a:xfrm>
          <a:prstGeom prst="rect">
            <a:avLst/>
          </a:prstGeom>
          <a:noFill/>
        </p:spPr>
        <p:txBody>
          <a:bodyPr wrap="square" lIns="36576" tIns="36576" rIns="36576" bIns="36576" anchor="t">
            <a:spAutoFit/>
          </a:bodyPr>
          <a:lstStyle/>
          <a:p>
            <a:pPr algn="l"/>
            <a:r>
              <a:rPr sz="1600" b="0" dirty="0">
                <a:solidFill>
                  <a:srgbClr val="242B33"/>
                </a:solidFill>
                <a:latin typeface="Aptos"/>
              </a:rPr>
              <a:t>Lead Time </a:t>
            </a:r>
            <a:r>
              <a:rPr sz="1600" b="0" dirty="0" err="1">
                <a:solidFill>
                  <a:srgbClr val="242B33"/>
                </a:solidFill>
                <a:latin typeface="Aptos"/>
              </a:rPr>
              <a:t>điển</a:t>
            </a:r>
            <a:r>
              <a:rPr sz="1600" b="0" dirty="0">
                <a:solidFill>
                  <a:srgbClr val="242B33"/>
                </a:solidFill>
                <a:latin typeface="Aptos"/>
              </a:rPr>
              <a:t> </a:t>
            </a:r>
            <a:r>
              <a:rPr sz="1600" b="0" dirty="0" err="1">
                <a:solidFill>
                  <a:srgbClr val="242B33"/>
                </a:solidFill>
                <a:latin typeface="Aptos"/>
              </a:rPr>
              <a:t>hình</a:t>
            </a:r>
            <a:r>
              <a:rPr sz="1600" b="0" dirty="0">
                <a:solidFill>
                  <a:srgbClr val="242B33"/>
                </a:solidFill>
                <a:latin typeface="Aptos"/>
              </a:rPr>
              <a:t> </a:t>
            </a:r>
            <a:r>
              <a:rPr sz="1600" b="0" dirty="0" err="1">
                <a:solidFill>
                  <a:srgbClr val="242B33"/>
                </a:solidFill>
                <a:latin typeface="Aptos"/>
              </a:rPr>
              <a:t>thấp</a:t>
            </a:r>
            <a:r>
              <a:rPr sz="1600" b="0" dirty="0">
                <a:solidFill>
                  <a:srgbClr val="242B33"/>
                </a:solidFill>
                <a:latin typeface="Aptos"/>
              </a:rPr>
              <a:t> </a:t>
            </a:r>
            <a:r>
              <a:rPr sz="1600" b="0" dirty="0" err="1">
                <a:solidFill>
                  <a:srgbClr val="242B33"/>
                </a:solidFill>
                <a:latin typeface="Aptos"/>
              </a:rPr>
              <a:t>hơn</a:t>
            </a:r>
            <a:r>
              <a:rPr sz="1600" b="0" dirty="0">
                <a:solidFill>
                  <a:srgbClr val="242B33"/>
                </a:solidFill>
                <a:latin typeface="Aptos"/>
              </a:rPr>
              <a:t> </a:t>
            </a:r>
            <a:r>
              <a:rPr sz="1600" b="0" dirty="0" err="1">
                <a:solidFill>
                  <a:srgbClr val="242B33"/>
                </a:solidFill>
                <a:latin typeface="Aptos"/>
              </a:rPr>
              <a:t>nhiều</a:t>
            </a:r>
            <a:r>
              <a:rPr sz="1600" b="0" dirty="0">
                <a:solidFill>
                  <a:srgbClr val="242B33"/>
                </a:solidFill>
                <a:latin typeface="Aptos"/>
              </a:rPr>
              <a:t> so </a:t>
            </a:r>
            <a:r>
              <a:rPr sz="1600" b="0" dirty="0" err="1">
                <a:solidFill>
                  <a:srgbClr val="242B33"/>
                </a:solidFill>
                <a:latin typeface="Aptos"/>
              </a:rPr>
              <a:t>với</a:t>
            </a:r>
            <a:r>
              <a:rPr sz="1600" b="0" dirty="0">
                <a:solidFill>
                  <a:srgbClr val="242B33"/>
                </a:solidFill>
                <a:latin typeface="Aptos"/>
              </a:rPr>
              <a:t> SLA 5 </a:t>
            </a:r>
            <a:r>
              <a:rPr sz="1600" b="0" dirty="0" err="1">
                <a:solidFill>
                  <a:srgbClr val="242B33"/>
                </a:solidFill>
                <a:latin typeface="Aptos"/>
              </a:rPr>
              <a:t>ngày</a:t>
            </a:r>
            <a:r>
              <a:rPr sz="1600" b="0" dirty="0">
                <a:solidFill>
                  <a:srgbClr val="242B33"/>
                </a:solidFill>
                <a:latin typeface="Aptos"/>
              </a:rPr>
              <a:t>, </a:t>
            </a:r>
            <a:r>
              <a:rPr sz="1600" b="0" dirty="0" err="1">
                <a:solidFill>
                  <a:srgbClr val="242B33"/>
                </a:solidFill>
                <a:latin typeface="Aptos"/>
              </a:rPr>
              <a:t>nhưng</a:t>
            </a:r>
            <a:r>
              <a:rPr sz="1600" b="0" dirty="0">
                <a:solidFill>
                  <a:srgbClr val="242B33"/>
                </a:solidFill>
                <a:latin typeface="Aptos"/>
              </a:rPr>
              <a:t> </a:t>
            </a:r>
            <a:r>
              <a:rPr sz="1600" b="0" dirty="0" err="1">
                <a:solidFill>
                  <a:srgbClr val="242B33"/>
                </a:solidFill>
                <a:latin typeface="Aptos"/>
              </a:rPr>
              <a:t>phân</a:t>
            </a:r>
            <a:r>
              <a:rPr sz="1600" b="0" dirty="0">
                <a:solidFill>
                  <a:srgbClr val="242B33"/>
                </a:solidFill>
                <a:latin typeface="Aptos"/>
              </a:rPr>
              <a:t> </a:t>
            </a:r>
            <a:r>
              <a:rPr sz="1600" b="0" dirty="0" err="1">
                <a:solidFill>
                  <a:srgbClr val="242B33"/>
                </a:solidFill>
                <a:latin typeface="Aptos"/>
              </a:rPr>
              <a:t>phối</a:t>
            </a:r>
            <a:r>
              <a:rPr sz="1600" b="0" dirty="0">
                <a:solidFill>
                  <a:srgbClr val="242B33"/>
                </a:solidFill>
                <a:latin typeface="Aptos"/>
              </a:rPr>
              <a:t> </a:t>
            </a:r>
            <a:r>
              <a:rPr sz="1600" b="0" dirty="0" err="1">
                <a:solidFill>
                  <a:srgbClr val="242B33"/>
                </a:solidFill>
                <a:latin typeface="Aptos"/>
              </a:rPr>
              <a:t>có</a:t>
            </a:r>
            <a:r>
              <a:rPr sz="1600" b="0" dirty="0">
                <a:solidFill>
                  <a:srgbClr val="242B33"/>
                </a:solidFill>
                <a:latin typeface="Aptos"/>
              </a:rPr>
              <a:t> </a:t>
            </a:r>
            <a:r>
              <a:rPr sz="1600" b="0" dirty="0" err="1">
                <a:solidFill>
                  <a:srgbClr val="242B33"/>
                </a:solidFill>
                <a:latin typeface="Aptos"/>
              </a:rPr>
              <a:t>đuôi</a:t>
            </a:r>
            <a:r>
              <a:rPr sz="1600" b="0" dirty="0">
                <a:solidFill>
                  <a:srgbClr val="242B33"/>
                </a:solidFill>
                <a:latin typeface="Aptos"/>
              </a:rPr>
              <a:t> </a:t>
            </a:r>
            <a:r>
              <a:rPr sz="1600" b="0" dirty="0" err="1">
                <a:solidFill>
                  <a:srgbClr val="242B33"/>
                </a:solidFill>
                <a:latin typeface="Aptos"/>
              </a:rPr>
              <a:t>dài</a:t>
            </a:r>
            <a:endParaRPr sz="1600" b="0" dirty="0">
              <a:solidFill>
                <a:srgbClr val="242B33"/>
              </a:solidFill>
              <a:latin typeface="Aptos"/>
            </a:endParaRPr>
          </a:p>
        </p:txBody>
      </p:sp>
      <p:sp>
        <p:nvSpPr>
          <p:cNvPr id="29" name="TextBox 28"/>
          <p:cNvSpPr txBox="1"/>
          <p:nvPr/>
        </p:nvSpPr>
        <p:spPr>
          <a:xfrm>
            <a:off x="11201400" y="6567055"/>
            <a:ext cx="365760" cy="166255"/>
          </a:xfrm>
          <a:prstGeom prst="rect">
            <a:avLst/>
          </a:prstGeom>
          <a:noFill/>
        </p:spPr>
        <p:txBody>
          <a:bodyPr wrap="square" lIns="36576" tIns="36576" rIns="36576" bIns="36576" anchor="t">
            <a:spAutoFit/>
          </a:bodyPr>
          <a:lstStyle/>
          <a:p>
            <a:pPr algn="r"/>
            <a:r>
              <a:rPr sz="850" b="0">
                <a:solidFill>
                  <a:srgbClr val="5E6A78"/>
                </a:solidFill>
                <a:latin typeface="Aptos"/>
              </a:rPr>
              <a:t>9</a:t>
            </a:r>
          </a:p>
        </p:txBody>
      </p:sp>
      <p:sp>
        <p:nvSpPr>
          <p:cNvPr id="31" name="Rounded Rectangle 30"/>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a:t>
            </a:r>
          </a:p>
        </p:txBody>
      </p:sp>
      <p:sp>
        <p:nvSpPr>
          <p:cNvPr id="32" name="Rounded Rectangle 31"/>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Data Collection</a:t>
            </a:r>
          </a:p>
        </p:txBody>
      </p:sp>
      <p:sp>
        <p:nvSpPr>
          <p:cNvPr id="33" name="Rounded Rectangle 32"/>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Cleaning</a:t>
            </a:r>
          </a:p>
        </p:txBody>
      </p:sp>
      <p:sp>
        <p:nvSpPr>
          <p:cNvPr id="34" name="Rounded Rectangle 33"/>
          <p:cNvSpPr/>
          <p:nvPr/>
        </p:nvSpPr>
        <p:spPr>
          <a:xfrm>
            <a:off x="7306056" y="6510528"/>
            <a:ext cx="420624"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EDA</a:t>
            </a:r>
          </a:p>
        </p:txBody>
      </p:sp>
      <p:sp>
        <p:nvSpPr>
          <p:cNvPr id="35" name="Rounded Rectangle 34"/>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Features</a:t>
            </a:r>
          </a:p>
        </p:txBody>
      </p:sp>
      <p:sp>
        <p:nvSpPr>
          <p:cNvPr id="36" name="Rounded Rectangle 35"/>
          <p:cNvSpPr/>
          <p:nvPr/>
        </p:nvSpPr>
        <p:spPr>
          <a:xfrm>
            <a:off x="8494776" y="6510528"/>
            <a:ext cx="69494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Modeling</a:t>
            </a:r>
          </a:p>
        </p:txBody>
      </p:sp>
      <p:sp>
        <p:nvSpPr>
          <p:cNvPr id="37" name="Rounded Rectangle 36"/>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Evaluation</a:t>
            </a:r>
          </a:p>
        </p:txBody>
      </p:sp>
      <p:sp>
        <p:nvSpPr>
          <p:cNvPr id="38" name="Rounded Rectangle 37"/>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 Value</a:t>
            </a:r>
          </a:p>
        </p:txBody>
      </p:sp>
      <p:sp>
        <p:nvSpPr>
          <p:cNvPr id="41" name="Footer"/>
          <p:cNvSpPr txBox="1"/>
          <p:nvPr/>
        </p:nvSpPr>
        <p:spPr>
          <a:xfrm>
            <a:off x="594360" y="6565392"/>
            <a:ext cx="4023360" cy="164592"/>
          </a:xfrm>
          <a:prstGeom prst="rect">
            <a:avLst/>
          </a:prstGeom>
          <a:noFill/>
        </p:spPr>
        <p:txBody>
          <a:bodyPr wrap="square" lIns="36576" tIns="36576" rIns="36576" bIns="36576" anchor="t">
            <a:spAutoFit/>
          </a:bodyPr>
          <a:lstStyle/>
          <a:p>
            <a:pPr algn="l"/>
            <a:r>
              <a:rPr sz="850" b="0">
                <a:solidFill>
                  <a:srgbClr val="5E6A78"/>
                </a:solidFill>
                <a:latin typeface="Aptos"/>
              </a:rPr>
              <a:t>Cơ sở Khoa học Dữ liệu  •  SLA &amp; Customer Experience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32DD0-8EFC-E186-340B-FB7E7FE7D54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D9AC7A3-BDB0-03AA-72EA-AB46B7DA8245}"/>
              </a:ext>
            </a:extLst>
          </p:cNvPr>
          <p:cNvSpPr txBox="1"/>
          <p:nvPr/>
        </p:nvSpPr>
        <p:spPr>
          <a:xfrm>
            <a:off x="566928" y="292608"/>
            <a:ext cx="10972800" cy="535531"/>
          </a:xfrm>
          <a:prstGeom prst="rect">
            <a:avLst/>
          </a:prstGeom>
          <a:noFill/>
        </p:spPr>
        <p:txBody>
          <a:bodyPr wrap="square" lIns="36576" tIns="36576" rIns="36576" bIns="36576" anchor="t">
            <a:spAutoFit/>
          </a:bodyPr>
          <a:lstStyle/>
          <a:p>
            <a:pPr algn="l"/>
            <a:r>
              <a:rPr sz="3000" b="1" dirty="0">
                <a:solidFill>
                  <a:srgbClr val="162C46"/>
                </a:solidFill>
                <a:latin typeface="Aptos Display"/>
              </a:rPr>
              <a:t>EDA — TỶ LỆ VƯỢT SLA THEO NĂM</a:t>
            </a:r>
          </a:p>
        </p:txBody>
      </p:sp>
      <p:cxnSp>
        <p:nvCxnSpPr>
          <p:cNvPr id="3" name="Connector 2">
            <a:extLst>
              <a:ext uri="{FF2B5EF4-FFF2-40B4-BE49-F238E27FC236}">
                <a16:creationId xmlns:a16="http://schemas.microsoft.com/office/drawing/2014/main" id="{C7774009-5550-A73D-A732-164DDA0B8998}"/>
              </a:ext>
            </a:extLst>
          </p:cNvPr>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277E937D-1D6A-9BBE-C5AA-7CE881E3F853}"/>
              </a:ext>
            </a:extLst>
          </p:cNvPr>
          <p:cNvSpPr txBox="1"/>
          <p:nvPr/>
        </p:nvSpPr>
        <p:spPr>
          <a:xfrm>
            <a:off x="7481455" y="1123896"/>
            <a:ext cx="1828800" cy="320088"/>
          </a:xfrm>
          <a:prstGeom prst="rect">
            <a:avLst/>
          </a:prstGeom>
          <a:noFill/>
        </p:spPr>
        <p:txBody>
          <a:bodyPr wrap="square" lIns="36576" tIns="36576" rIns="36576" bIns="36576" anchor="t">
            <a:spAutoFit/>
          </a:bodyPr>
          <a:lstStyle/>
          <a:p>
            <a:pPr algn="l"/>
            <a:r>
              <a:rPr sz="1600" b="1" dirty="0">
                <a:solidFill>
                  <a:srgbClr val="2F639D"/>
                </a:solidFill>
                <a:latin typeface="Aptos"/>
              </a:rPr>
              <a:t>KẾT QUẢ CHÍNH</a:t>
            </a:r>
          </a:p>
        </p:txBody>
      </p:sp>
      <p:sp>
        <p:nvSpPr>
          <p:cNvPr id="29" name="TextBox 28">
            <a:extLst>
              <a:ext uri="{FF2B5EF4-FFF2-40B4-BE49-F238E27FC236}">
                <a16:creationId xmlns:a16="http://schemas.microsoft.com/office/drawing/2014/main" id="{FF9C5D30-CB9E-F2A8-1F38-50EA1C7CEE91}"/>
              </a:ext>
            </a:extLst>
          </p:cNvPr>
          <p:cNvSpPr txBox="1"/>
          <p:nvPr/>
        </p:nvSpPr>
        <p:spPr>
          <a:xfrm>
            <a:off x="11201400" y="6567055"/>
            <a:ext cx="365760" cy="166255"/>
          </a:xfrm>
          <a:prstGeom prst="rect">
            <a:avLst/>
          </a:prstGeom>
          <a:noFill/>
        </p:spPr>
        <p:txBody>
          <a:bodyPr wrap="square" lIns="36576" tIns="36576" rIns="36576" bIns="36576" anchor="t">
            <a:spAutoFit/>
          </a:bodyPr>
          <a:lstStyle/>
          <a:p>
            <a:pPr algn="r"/>
            <a:r>
              <a:rPr sz="850" b="0">
                <a:solidFill>
                  <a:srgbClr val="5E6A78"/>
                </a:solidFill>
                <a:latin typeface="Aptos"/>
              </a:rPr>
              <a:t>10</a:t>
            </a:r>
          </a:p>
        </p:txBody>
      </p:sp>
      <p:sp>
        <p:nvSpPr>
          <p:cNvPr id="31" name="Rounded Rectangle 30">
            <a:extLst>
              <a:ext uri="{FF2B5EF4-FFF2-40B4-BE49-F238E27FC236}">
                <a16:creationId xmlns:a16="http://schemas.microsoft.com/office/drawing/2014/main" id="{40ED930B-CCCE-824B-B48D-3C49524AA3DF}"/>
              </a:ext>
            </a:extLst>
          </p:cNvPr>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a:t>
            </a:r>
          </a:p>
        </p:txBody>
      </p:sp>
      <p:sp>
        <p:nvSpPr>
          <p:cNvPr id="32" name="Rounded Rectangle 31">
            <a:extLst>
              <a:ext uri="{FF2B5EF4-FFF2-40B4-BE49-F238E27FC236}">
                <a16:creationId xmlns:a16="http://schemas.microsoft.com/office/drawing/2014/main" id="{403CF95D-7A43-BF5D-FBB8-39C5D24F1316}"/>
              </a:ext>
            </a:extLst>
          </p:cNvPr>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Data Collection</a:t>
            </a:r>
          </a:p>
        </p:txBody>
      </p:sp>
      <p:sp>
        <p:nvSpPr>
          <p:cNvPr id="33" name="Rounded Rectangle 32">
            <a:extLst>
              <a:ext uri="{FF2B5EF4-FFF2-40B4-BE49-F238E27FC236}">
                <a16:creationId xmlns:a16="http://schemas.microsoft.com/office/drawing/2014/main" id="{05431451-499E-176B-DCCB-ECF874CB740D}"/>
              </a:ext>
            </a:extLst>
          </p:cNvPr>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Cleaning</a:t>
            </a:r>
          </a:p>
        </p:txBody>
      </p:sp>
      <p:sp>
        <p:nvSpPr>
          <p:cNvPr id="34" name="Rounded Rectangle 33">
            <a:extLst>
              <a:ext uri="{FF2B5EF4-FFF2-40B4-BE49-F238E27FC236}">
                <a16:creationId xmlns:a16="http://schemas.microsoft.com/office/drawing/2014/main" id="{268A14DC-AE02-B78B-0CAA-CF12E917DDAE}"/>
              </a:ext>
            </a:extLst>
          </p:cNvPr>
          <p:cNvSpPr/>
          <p:nvPr/>
        </p:nvSpPr>
        <p:spPr>
          <a:xfrm>
            <a:off x="7306056" y="6510528"/>
            <a:ext cx="420624"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EDA</a:t>
            </a:r>
          </a:p>
        </p:txBody>
      </p:sp>
      <p:sp>
        <p:nvSpPr>
          <p:cNvPr id="35" name="Rounded Rectangle 34">
            <a:extLst>
              <a:ext uri="{FF2B5EF4-FFF2-40B4-BE49-F238E27FC236}">
                <a16:creationId xmlns:a16="http://schemas.microsoft.com/office/drawing/2014/main" id="{AFA180CC-4246-D46C-DFA8-949FEA98EF6E}"/>
              </a:ext>
            </a:extLst>
          </p:cNvPr>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Features</a:t>
            </a:r>
          </a:p>
        </p:txBody>
      </p:sp>
      <p:sp>
        <p:nvSpPr>
          <p:cNvPr id="36" name="Rounded Rectangle 35">
            <a:extLst>
              <a:ext uri="{FF2B5EF4-FFF2-40B4-BE49-F238E27FC236}">
                <a16:creationId xmlns:a16="http://schemas.microsoft.com/office/drawing/2014/main" id="{D2D7EE58-6CA7-53C6-D205-A6105E5CF13E}"/>
              </a:ext>
            </a:extLst>
          </p:cNvPr>
          <p:cNvSpPr/>
          <p:nvPr/>
        </p:nvSpPr>
        <p:spPr>
          <a:xfrm>
            <a:off x="8494776" y="6510528"/>
            <a:ext cx="69494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Modeling</a:t>
            </a:r>
          </a:p>
        </p:txBody>
      </p:sp>
      <p:sp>
        <p:nvSpPr>
          <p:cNvPr id="37" name="Rounded Rectangle 36">
            <a:extLst>
              <a:ext uri="{FF2B5EF4-FFF2-40B4-BE49-F238E27FC236}">
                <a16:creationId xmlns:a16="http://schemas.microsoft.com/office/drawing/2014/main" id="{E5152F92-A300-B876-0D33-9749D7AA8744}"/>
              </a:ext>
            </a:extLst>
          </p:cNvPr>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Evaluation</a:t>
            </a:r>
          </a:p>
        </p:txBody>
      </p:sp>
      <p:sp>
        <p:nvSpPr>
          <p:cNvPr id="38" name="Rounded Rectangle 37">
            <a:extLst>
              <a:ext uri="{FF2B5EF4-FFF2-40B4-BE49-F238E27FC236}">
                <a16:creationId xmlns:a16="http://schemas.microsoft.com/office/drawing/2014/main" id="{F29BB0A1-9BDA-517A-F6D4-EF0A3C415239}"/>
              </a:ext>
            </a:extLst>
          </p:cNvPr>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 Value</a:t>
            </a:r>
          </a:p>
        </p:txBody>
      </p:sp>
      <p:pic>
        <p:nvPicPr>
          <p:cNvPr id="30" name="Picture 29">
            <a:extLst>
              <a:ext uri="{FF2B5EF4-FFF2-40B4-BE49-F238E27FC236}">
                <a16:creationId xmlns:a16="http://schemas.microsoft.com/office/drawing/2014/main" id="{5180560A-C167-1BE8-C308-C940B707FD00}"/>
              </a:ext>
            </a:extLst>
          </p:cNvPr>
          <p:cNvPicPr>
            <a:picLocks noChangeAspect="1"/>
          </p:cNvPicPr>
          <p:nvPr/>
        </p:nvPicPr>
        <p:blipFill>
          <a:blip r:embed="rId3"/>
          <a:stretch>
            <a:fillRect/>
          </a:stretch>
        </p:blipFill>
        <p:spPr>
          <a:xfrm>
            <a:off x="249382" y="1580438"/>
            <a:ext cx="7152191" cy="3993548"/>
          </a:xfrm>
          <a:prstGeom prst="rect">
            <a:avLst/>
          </a:prstGeom>
        </p:spPr>
      </p:pic>
      <p:sp>
        <p:nvSpPr>
          <p:cNvPr id="40" name="TextBox 39">
            <a:extLst>
              <a:ext uri="{FF2B5EF4-FFF2-40B4-BE49-F238E27FC236}">
                <a16:creationId xmlns:a16="http://schemas.microsoft.com/office/drawing/2014/main" id="{82A3193D-8D3A-9EB3-8514-BA3F5402DBEB}"/>
              </a:ext>
            </a:extLst>
          </p:cNvPr>
          <p:cNvSpPr txBox="1"/>
          <p:nvPr/>
        </p:nvSpPr>
        <p:spPr>
          <a:xfrm>
            <a:off x="7481455" y="1627618"/>
            <a:ext cx="4131425" cy="3139321"/>
          </a:xfrm>
          <a:prstGeom prst="rect">
            <a:avLst/>
          </a:prstGeom>
          <a:noFill/>
        </p:spPr>
        <p:txBody>
          <a:bodyPr wrap="square">
            <a:spAutoFit/>
          </a:bodyPr>
          <a:lstStyle/>
          <a:p>
            <a:pPr marL="182880" lvl="0" indent="-182880">
              <a:buFont typeface="Courier New" panose="02070309020205020404" pitchFamily="49" charset="0"/>
              <a:buChar char="o"/>
            </a:pPr>
            <a:r>
              <a:rPr lang="en-US" dirty="0" err="1">
                <a:latin typeface="Aptos" panose="020B0004020202020204" pitchFamily="34" charset="0"/>
              </a:rPr>
              <a:t>Tỷ</a:t>
            </a:r>
            <a:r>
              <a:rPr lang="en-US" dirty="0">
                <a:latin typeface="Aptos" panose="020B0004020202020204" pitchFamily="34" charset="0"/>
              </a:rPr>
              <a:t> </a:t>
            </a:r>
            <a:r>
              <a:rPr lang="en-US" dirty="0" err="1">
                <a:latin typeface="Aptos" panose="020B0004020202020204" pitchFamily="34" charset="0"/>
              </a:rPr>
              <a:t>lệ</a:t>
            </a:r>
            <a:r>
              <a:rPr lang="en-US" dirty="0">
                <a:latin typeface="Aptos" panose="020B0004020202020204" pitchFamily="34" charset="0"/>
              </a:rPr>
              <a:t> SLA Breach </a:t>
            </a:r>
            <a:r>
              <a:rPr lang="en-US" dirty="0" err="1">
                <a:latin typeface="Aptos" panose="020B0004020202020204" pitchFamily="34" charset="0"/>
              </a:rPr>
              <a:t>thay</a:t>
            </a:r>
            <a:r>
              <a:rPr lang="en-US" dirty="0">
                <a:latin typeface="Aptos" panose="020B0004020202020204" pitchFamily="34" charset="0"/>
              </a:rPr>
              <a:t> </a:t>
            </a:r>
            <a:r>
              <a:rPr lang="en-US" dirty="0" err="1">
                <a:latin typeface="Aptos" panose="020B0004020202020204" pitchFamily="34" charset="0"/>
              </a:rPr>
              <a:t>đổi</a:t>
            </a:r>
            <a:r>
              <a:rPr lang="en-US" dirty="0">
                <a:latin typeface="Aptos" panose="020B0004020202020204" pitchFamily="34" charset="0"/>
              </a:rPr>
              <a:t> </a:t>
            </a:r>
            <a:r>
              <a:rPr lang="en-US" dirty="0" err="1">
                <a:latin typeface="Aptos" panose="020B0004020202020204" pitchFamily="34" charset="0"/>
              </a:rPr>
              <a:t>đáng</a:t>
            </a:r>
            <a:r>
              <a:rPr lang="en-US" dirty="0">
                <a:latin typeface="Aptos" panose="020B0004020202020204" pitchFamily="34" charset="0"/>
              </a:rPr>
              <a:t> </a:t>
            </a:r>
            <a:r>
              <a:rPr lang="en-US" dirty="0" err="1">
                <a:latin typeface="Aptos" panose="020B0004020202020204" pitchFamily="34" charset="0"/>
              </a:rPr>
              <a:t>kể</a:t>
            </a:r>
            <a:r>
              <a:rPr lang="en-US" dirty="0">
                <a:latin typeface="Aptos" panose="020B0004020202020204" pitchFamily="34" charset="0"/>
              </a:rPr>
              <a:t> </a:t>
            </a:r>
            <a:r>
              <a:rPr lang="en-US" dirty="0" err="1">
                <a:latin typeface="Aptos" panose="020B0004020202020204" pitchFamily="34" charset="0"/>
              </a:rPr>
              <a:t>theo</a:t>
            </a:r>
            <a:r>
              <a:rPr lang="en-US" dirty="0">
                <a:latin typeface="Aptos" panose="020B0004020202020204" pitchFamily="34" charset="0"/>
              </a:rPr>
              <a:t> </a:t>
            </a:r>
            <a:r>
              <a:rPr lang="en-US" dirty="0" err="1">
                <a:latin typeface="Aptos" panose="020B0004020202020204" pitchFamily="34" charset="0"/>
              </a:rPr>
              <a:t>từng</a:t>
            </a:r>
            <a:r>
              <a:rPr lang="en-US" dirty="0">
                <a:latin typeface="Aptos" panose="020B0004020202020204" pitchFamily="34" charset="0"/>
              </a:rPr>
              <a:t> </a:t>
            </a:r>
            <a:r>
              <a:rPr lang="en-US" dirty="0" err="1">
                <a:latin typeface="Aptos" panose="020B0004020202020204" pitchFamily="34" charset="0"/>
              </a:rPr>
              <a:t>năm</a:t>
            </a:r>
            <a:endParaRPr lang="vi-VN" dirty="0">
              <a:latin typeface="Aptos" panose="020B0004020202020204" pitchFamily="34" charset="0"/>
            </a:endParaRPr>
          </a:p>
          <a:p>
            <a:pPr marL="182880" lvl="0" indent="-182880">
              <a:buFont typeface="Courier New" panose="02070309020205020404" pitchFamily="49" charset="0"/>
              <a:buChar char="o"/>
            </a:pPr>
            <a:endParaRPr lang="en-US" dirty="0">
              <a:latin typeface="Aptos" panose="020B0004020202020204" pitchFamily="34" charset="0"/>
            </a:endParaRPr>
          </a:p>
          <a:p>
            <a:pPr marL="182880" lvl="0" indent="-182880">
              <a:buFont typeface="Courier New" panose="02070309020205020404" pitchFamily="49" charset="0"/>
              <a:buChar char="o"/>
            </a:pPr>
            <a:r>
              <a:rPr lang="en-US" dirty="0">
                <a:latin typeface="Aptos" panose="020B0004020202020204" pitchFamily="34" charset="0"/>
              </a:rPr>
              <a:t>Năm 2021 vọt lên 16,7% (n = 52.584, giai đoạn giãn cách) — năm 2020 chỉ 6,0%</a:t>
            </a:r>
            <a:endParaRPr lang="vi-VN" dirty="0">
              <a:latin typeface="Aptos" panose="020B0004020202020204" pitchFamily="34" charset="0"/>
            </a:endParaRPr>
          </a:p>
          <a:p>
            <a:pPr marL="182880" lvl="0" indent="-182880">
              <a:buFont typeface="Courier New" panose="02070309020205020404" pitchFamily="49" charset="0"/>
              <a:buChar char="o"/>
            </a:pPr>
            <a:endParaRPr lang="en-US" dirty="0">
              <a:latin typeface="Aptos" panose="020B0004020202020204" pitchFamily="34" charset="0"/>
            </a:endParaRPr>
          </a:p>
          <a:p>
            <a:pPr marL="182880" lvl="0" indent="-182880">
              <a:buFont typeface="Courier New" panose="02070309020205020404" pitchFamily="49" charset="0"/>
              <a:buChar char="o"/>
            </a:pPr>
            <a:r>
              <a:rPr lang="en-US" dirty="0">
                <a:latin typeface="Aptos" panose="020B0004020202020204" pitchFamily="34" charset="0"/>
              </a:rPr>
              <a:t>Sau </a:t>
            </a:r>
            <a:r>
              <a:rPr lang="en-US" dirty="0" err="1">
                <a:latin typeface="Aptos" panose="020B0004020202020204" pitchFamily="34" charset="0"/>
              </a:rPr>
              <a:t>đó</a:t>
            </a:r>
            <a:r>
              <a:rPr lang="en-US" dirty="0">
                <a:latin typeface="Aptos" panose="020B0004020202020204" pitchFamily="34" charset="0"/>
              </a:rPr>
              <a:t> </a:t>
            </a:r>
            <a:r>
              <a:rPr lang="en-US" dirty="0" err="1">
                <a:latin typeface="Aptos" panose="020B0004020202020204" pitchFamily="34" charset="0"/>
              </a:rPr>
              <a:t>tỷ</a:t>
            </a:r>
            <a:r>
              <a:rPr lang="en-US" dirty="0">
                <a:latin typeface="Aptos" panose="020B0004020202020204" pitchFamily="34" charset="0"/>
              </a:rPr>
              <a:t> </a:t>
            </a:r>
            <a:r>
              <a:rPr lang="en-US" dirty="0" err="1">
                <a:latin typeface="Aptos" panose="020B0004020202020204" pitchFamily="34" charset="0"/>
              </a:rPr>
              <a:t>lệ</a:t>
            </a:r>
            <a:r>
              <a:rPr lang="en-US" dirty="0">
                <a:latin typeface="Aptos" panose="020B0004020202020204" pitchFamily="34" charset="0"/>
              </a:rPr>
              <a:t> </a:t>
            </a:r>
            <a:r>
              <a:rPr lang="en-US" dirty="0" err="1">
                <a:latin typeface="Aptos" panose="020B0004020202020204" pitchFamily="34" charset="0"/>
              </a:rPr>
              <a:t>giảm</a:t>
            </a:r>
            <a:r>
              <a:rPr lang="en-US" dirty="0">
                <a:latin typeface="Aptos" panose="020B0004020202020204" pitchFamily="34" charset="0"/>
              </a:rPr>
              <a:t> </a:t>
            </a:r>
            <a:r>
              <a:rPr lang="en-US" dirty="0" err="1">
                <a:latin typeface="Aptos" panose="020B0004020202020204" pitchFamily="34" charset="0"/>
              </a:rPr>
              <a:t>rõ</a:t>
            </a:r>
            <a:r>
              <a:rPr lang="en-US" dirty="0">
                <a:latin typeface="Aptos" panose="020B0004020202020204" pitchFamily="34" charset="0"/>
              </a:rPr>
              <a:t> </a:t>
            </a:r>
            <a:r>
              <a:rPr lang="en-US" dirty="0" err="1">
                <a:latin typeface="Aptos" panose="020B0004020202020204" pitchFamily="34" charset="0"/>
              </a:rPr>
              <a:t>rệt</a:t>
            </a:r>
            <a:r>
              <a:rPr lang="en-US" dirty="0">
                <a:latin typeface="Aptos" panose="020B0004020202020204" pitchFamily="34" charset="0"/>
              </a:rPr>
              <a:t>: 2022: 4,6% → 2023: 2,1% → 2024: 1,4%</a:t>
            </a:r>
            <a:endParaRPr lang="vi-VN" dirty="0">
              <a:latin typeface="Aptos" panose="020B0004020202020204" pitchFamily="34" charset="0"/>
            </a:endParaRPr>
          </a:p>
          <a:p>
            <a:pPr lvl="0"/>
            <a:endParaRPr lang="en-US" dirty="0">
              <a:latin typeface="Aptos" panose="020B0004020202020204" pitchFamily="34" charset="0"/>
            </a:endParaRPr>
          </a:p>
          <a:p>
            <a:pPr marL="182880" lvl="0" indent="-182880">
              <a:buFont typeface="Courier New" panose="02070309020205020404" pitchFamily="49" charset="0"/>
              <a:buChar char="o"/>
            </a:pPr>
            <a:r>
              <a:rPr lang="en-US" dirty="0">
                <a:latin typeface="Aptos" panose="020B0004020202020204" pitchFamily="34" charset="0"/>
              </a:rPr>
              <a:t>Các </a:t>
            </a:r>
            <a:r>
              <a:rPr lang="en-US" dirty="0" err="1">
                <a:latin typeface="Aptos" panose="020B0004020202020204" pitchFamily="34" charset="0"/>
              </a:rPr>
              <a:t>năm</a:t>
            </a:r>
            <a:r>
              <a:rPr lang="en-US" dirty="0">
                <a:latin typeface="Aptos" panose="020B0004020202020204" pitchFamily="34" charset="0"/>
              </a:rPr>
              <a:t> </a:t>
            </a:r>
            <a:r>
              <a:rPr lang="en-US" dirty="0" err="1">
                <a:latin typeface="Aptos" panose="020B0004020202020204" pitchFamily="34" charset="0"/>
              </a:rPr>
              <a:t>đầu</a:t>
            </a:r>
            <a:r>
              <a:rPr lang="en-US" dirty="0">
                <a:latin typeface="Aptos" panose="020B0004020202020204" pitchFamily="34" charset="0"/>
              </a:rPr>
              <a:t> </a:t>
            </a:r>
            <a:r>
              <a:rPr lang="en-US" dirty="0" err="1">
                <a:latin typeface="Aptos" panose="020B0004020202020204" pitchFamily="34" charset="0"/>
              </a:rPr>
              <a:t>có</a:t>
            </a:r>
            <a:r>
              <a:rPr lang="en-US" dirty="0">
                <a:latin typeface="Aptos" panose="020B0004020202020204" pitchFamily="34" charset="0"/>
              </a:rPr>
              <a:t> </a:t>
            </a:r>
            <a:r>
              <a:rPr lang="en-US" dirty="0" err="1">
                <a:latin typeface="Aptos" panose="020B0004020202020204" pitchFamily="34" charset="0"/>
              </a:rPr>
              <a:t>kích</a:t>
            </a:r>
            <a:r>
              <a:rPr lang="en-US" dirty="0">
                <a:latin typeface="Aptos" panose="020B0004020202020204" pitchFamily="34" charset="0"/>
              </a:rPr>
              <a:t> </a:t>
            </a:r>
            <a:r>
              <a:rPr lang="en-US" dirty="0" err="1">
                <a:latin typeface="Aptos" panose="020B0004020202020204" pitchFamily="34" charset="0"/>
              </a:rPr>
              <a:t>thước</a:t>
            </a:r>
            <a:r>
              <a:rPr lang="en-US" dirty="0">
                <a:latin typeface="Aptos" panose="020B0004020202020204" pitchFamily="34" charset="0"/>
              </a:rPr>
              <a:t> </a:t>
            </a:r>
            <a:r>
              <a:rPr lang="en-US" dirty="0" err="1">
                <a:latin typeface="Aptos" panose="020B0004020202020204" pitchFamily="34" charset="0"/>
              </a:rPr>
              <a:t>mẫu</a:t>
            </a:r>
            <a:r>
              <a:rPr lang="en-US" dirty="0">
                <a:latin typeface="Aptos" panose="020B0004020202020204" pitchFamily="34" charset="0"/>
              </a:rPr>
              <a:t> </a:t>
            </a:r>
            <a:r>
              <a:rPr lang="en-US" dirty="0" err="1">
                <a:latin typeface="Aptos" panose="020B0004020202020204" pitchFamily="34" charset="0"/>
              </a:rPr>
              <a:t>rất</a:t>
            </a:r>
            <a:r>
              <a:rPr lang="en-US" dirty="0">
                <a:latin typeface="Aptos" panose="020B0004020202020204" pitchFamily="34" charset="0"/>
              </a:rPr>
              <a:t> </a:t>
            </a:r>
            <a:r>
              <a:rPr lang="en-US" dirty="0" err="1">
                <a:latin typeface="Aptos" panose="020B0004020202020204" pitchFamily="34" charset="0"/>
              </a:rPr>
              <a:t>nhỏ</a:t>
            </a:r>
            <a:r>
              <a:rPr lang="en-US" dirty="0">
                <a:latin typeface="Aptos" panose="020B0004020202020204" pitchFamily="34" charset="0"/>
              </a:rPr>
              <a:t>, </a:t>
            </a:r>
            <a:r>
              <a:rPr lang="en-US" dirty="0" err="1">
                <a:latin typeface="Aptos" panose="020B0004020202020204" pitchFamily="34" charset="0"/>
              </a:rPr>
              <a:t>nên</a:t>
            </a:r>
            <a:r>
              <a:rPr lang="en-US" dirty="0">
                <a:latin typeface="Aptos" panose="020B0004020202020204" pitchFamily="34" charset="0"/>
              </a:rPr>
              <a:t> </a:t>
            </a:r>
            <a:r>
              <a:rPr lang="en-US" dirty="0" err="1">
                <a:latin typeface="Aptos" panose="020B0004020202020204" pitchFamily="34" charset="0"/>
              </a:rPr>
              <a:t>tỷ</a:t>
            </a:r>
            <a:r>
              <a:rPr lang="en-US" dirty="0">
                <a:latin typeface="Aptos" panose="020B0004020202020204" pitchFamily="34" charset="0"/>
              </a:rPr>
              <a:t> </a:t>
            </a:r>
            <a:r>
              <a:rPr lang="en-US" dirty="0" err="1">
                <a:latin typeface="Aptos" panose="020B0004020202020204" pitchFamily="34" charset="0"/>
              </a:rPr>
              <a:t>lệ</a:t>
            </a:r>
            <a:r>
              <a:rPr lang="en-US" dirty="0">
                <a:latin typeface="Aptos" panose="020B0004020202020204" pitchFamily="34" charset="0"/>
              </a:rPr>
              <a:t> </a:t>
            </a:r>
            <a:r>
              <a:rPr lang="en-US" dirty="0" err="1">
                <a:latin typeface="Aptos" panose="020B0004020202020204" pitchFamily="34" charset="0"/>
              </a:rPr>
              <a:t>cao</a:t>
            </a:r>
            <a:r>
              <a:rPr lang="en-US" dirty="0">
                <a:latin typeface="Aptos" panose="020B0004020202020204" pitchFamily="34" charset="0"/>
              </a:rPr>
              <a:t> ở 2015–2017 </a:t>
            </a:r>
            <a:r>
              <a:rPr lang="en-US" dirty="0" err="1">
                <a:latin typeface="Aptos" panose="020B0004020202020204" pitchFamily="34" charset="0"/>
              </a:rPr>
              <a:t>không</a:t>
            </a:r>
            <a:r>
              <a:rPr lang="en-US" dirty="0">
                <a:latin typeface="Aptos" panose="020B0004020202020204" pitchFamily="34" charset="0"/>
              </a:rPr>
              <a:t> </a:t>
            </a:r>
            <a:r>
              <a:rPr lang="en-US" dirty="0" err="1">
                <a:latin typeface="Aptos" panose="020B0004020202020204" pitchFamily="34" charset="0"/>
              </a:rPr>
              <a:t>nên</a:t>
            </a:r>
            <a:r>
              <a:rPr lang="en-US" dirty="0">
                <a:latin typeface="Aptos" panose="020B0004020202020204" pitchFamily="34" charset="0"/>
              </a:rPr>
              <a:t> </a:t>
            </a:r>
            <a:r>
              <a:rPr lang="en-US" dirty="0" err="1">
                <a:latin typeface="Aptos" panose="020B0004020202020204" pitchFamily="34" charset="0"/>
              </a:rPr>
              <a:t>dùng</a:t>
            </a:r>
            <a:r>
              <a:rPr lang="en-US" dirty="0">
                <a:latin typeface="Aptos" panose="020B0004020202020204" pitchFamily="34" charset="0"/>
              </a:rPr>
              <a:t> </a:t>
            </a:r>
            <a:r>
              <a:rPr lang="en-US" dirty="0" err="1">
                <a:latin typeface="Aptos" panose="020B0004020202020204" pitchFamily="34" charset="0"/>
              </a:rPr>
              <a:t>để</a:t>
            </a:r>
            <a:r>
              <a:rPr lang="en-US" dirty="0">
                <a:latin typeface="Aptos" panose="020B0004020202020204" pitchFamily="34" charset="0"/>
              </a:rPr>
              <a:t> </a:t>
            </a:r>
            <a:r>
              <a:rPr lang="en-US" dirty="0" err="1">
                <a:latin typeface="Aptos" panose="020B0004020202020204" pitchFamily="34" charset="0"/>
              </a:rPr>
              <a:t>kết</a:t>
            </a:r>
            <a:r>
              <a:rPr lang="en-US" dirty="0">
                <a:latin typeface="Aptos" panose="020B0004020202020204" pitchFamily="34" charset="0"/>
              </a:rPr>
              <a:t> </a:t>
            </a:r>
            <a:r>
              <a:rPr lang="en-US" dirty="0" err="1">
                <a:latin typeface="Aptos" panose="020B0004020202020204" pitchFamily="34" charset="0"/>
              </a:rPr>
              <a:t>luận</a:t>
            </a:r>
            <a:r>
              <a:rPr lang="en-US" dirty="0">
                <a:latin typeface="Aptos" panose="020B0004020202020204" pitchFamily="34" charset="0"/>
              </a:rPr>
              <a:t> xu </a:t>
            </a:r>
            <a:r>
              <a:rPr lang="en-US" dirty="0" err="1">
                <a:latin typeface="Aptos" panose="020B0004020202020204" pitchFamily="34" charset="0"/>
              </a:rPr>
              <a:t>hướng</a:t>
            </a:r>
            <a:r>
              <a:rPr lang="en-US" dirty="0">
                <a:latin typeface="Aptos" panose="020B0004020202020204" pitchFamily="34" charset="0"/>
              </a:rPr>
              <a:t>.</a:t>
            </a:r>
          </a:p>
        </p:txBody>
      </p:sp>
      <p:sp>
        <p:nvSpPr>
          <p:cNvPr id="41" name="Footer"/>
          <p:cNvSpPr txBox="1"/>
          <p:nvPr/>
        </p:nvSpPr>
        <p:spPr>
          <a:xfrm>
            <a:off x="594360" y="6565392"/>
            <a:ext cx="4023360" cy="164592"/>
          </a:xfrm>
          <a:prstGeom prst="rect">
            <a:avLst/>
          </a:prstGeom>
          <a:noFill/>
        </p:spPr>
        <p:txBody>
          <a:bodyPr wrap="square" lIns="36576" tIns="36576" rIns="36576" bIns="36576" anchor="t">
            <a:spAutoFit/>
          </a:bodyPr>
          <a:lstStyle/>
          <a:p>
            <a:pPr algn="l"/>
            <a:r>
              <a:rPr sz="850" b="0">
                <a:solidFill>
                  <a:srgbClr val="5E6A78"/>
                </a:solidFill>
                <a:latin typeface="Aptos"/>
              </a:rPr>
              <a:t>Cơ sở Khoa học Dữ liệu  •  SLA &amp; Customer Experience</a:t>
            </a:r>
          </a:p>
        </p:txBody>
      </p:sp>
    </p:spTree>
    <p:extLst>
      <p:ext uri="{BB962C8B-B14F-4D97-AF65-F5344CB8AC3E}">
        <p14:creationId xmlns:p14="http://schemas.microsoft.com/office/powerpoint/2010/main" val="14390080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292608"/>
            <a:ext cx="10972800" cy="535531"/>
          </a:xfrm>
          <a:prstGeom prst="rect">
            <a:avLst/>
          </a:prstGeom>
          <a:noFill/>
        </p:spPr>
        <p:txBody>
          <a:bodyPr wrap="square" lIns="36576" tIns="36576" rIns="36576" bIns="36576" anchor="t">
            <a:spAutoFit/>
          </a:bodyPr>
          <a:lstStyle/>
          <a:p>
            <a:pPr algn="l"/>
            <a:r>
              <a:rPr sz="3000" b="1" dirty="0">
                <a:solidFill>
                  <a:srgbClr val="162C46"/>
                </a:solidFill>
                <a:latin typeface="Aptos Display"/>
              </a:rPr>
              <a:t>EDA —</a:t>
            </a:r>
            <a:r>
              <a:rPr lang="en-US" sz="3000" b="1" dirty="0">
                <a:solidFill>
                  <a:srgbClr val="162C46"/>
                </a:solidFill>
                <a:latin typeface="Aptos Display"/>
              </a:rPr>
              <a:t> </a:t>
            </a:r>
            <a:r>
              <a:rPr lang="vi-VN" sz="3000" b="1" dirty="0">
                <a:solidFill>
                  <a:srgbClr val="162C46"/>
                </a:solidFill>
                <a:latin typeface="Aptos Display"/>
              </a:rPr>
              <a:t>THỜI GIAN GIAO HÀNG VÀ SỰ HÀI LÒNG</a:t>
            </a:r>
            <a:endParaRPr sz="3000" b="1" dirty="0">
              <a:solidFill>
                <a:srgbClr val="162C46"/>
              </a:solidFill>
              <a:latin typeface="Aptos Display"/>
            </a:endParaRPr>
          </a:p>
        </p:txBody>
      </p:sp>
      <p:cxnSp>
        <p:nvCxnSpPr>
          <p:cNvPr id="3" name="Connector 2"/>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94360" y="6565392"/>
            <a:ext cx="4023360" cy="164592"/>
          </a:xfrm>
          <a:prstGeom prst="rect">
            <a:avLst/>
          </a:prstGeom>
          <a:noFill/>
        </p:spPr>
        <p:txBody>
          <a:bodyPr wrap="square" lIns="36576" tIns="36576" rIns="36576" bIns="36576" anchor="t">
            <a:spAutoFit/>
          </a:bodyPr>
          <a:lstStyle/>
          <a:p>
            <a:pPr algn="l"/>
            <a:r>
              <a:rPr sz="850" b="0">
                <a:solidFill>
                  <a:srgbClr val="5E6A78"/>
                </a:solidFill>
                <a:latin typeface="Aptos"/>
              </a:rPr>
              <a:t>Cơ sở Khoa học Dữ liệu  •  SLA &amp; Customer Experience</a:t>
            </a:r>
          </a:p>
        </p:txBody>
      </p:sp>
      <p:sp>
        <p:nvSpPr>
          <p:cNvPr id="21" name="TextBox 20"/>
          <p:cNvSpPr txBox="1"/>
          <p:nvPr/>
        </p:nvSpPr>
        <p:spPr>
          <a:xfrm>
            <a:off x="11201400" y="6567055"/>
            <a:ext cx="365760" cy="166255"/>
          </a:xfrm>
          <a:prstGeom prst="rect">
            <a:avLst/>
          </a:prstGeom>
          <a:noFill/>
        </p:spPr>
        <p:txBody>
          <a:bodyPr wrap="square" lIns="36576" tIns="36576" rIns="36576" bIns="36576" anchor="t">
            <a:spAutoFit/>
          </a:bodyPr>
          <a:lstStyle/>
          <a:p>
            <a:pPr algn="r"/>
            <a:r>
              <a:rPr sz="850" b="0">
                <a:solidFill>
                  <a:srgbClr val="5E6A78"/>
                </a:solidFill>
                <a:latin typeface="Aptos"/>
              </a:rPr>
              <a:t>11</a:t>
            </a:r>
          </a:p>
        </p:txBody>
      </p:sp>
      <p:sp>
        <p:nvSpPr>
          <p:cNvPr id="22" name="Rounded Rectangle 21"/>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a:t>
            </a:r>
          </a:p>
        </p:txBody>
      </p:sp>
      <p:sp>
        <p:nvSpPr>
          <p:cNvPr id="23" name="Rounded Rectangle 22"/>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Data Collection</a:t>
            </a:r>
          </a:p>
        </p:txBody>
      </p:sp>
      <p:sp>
        <p:nvSpPr>
          <p:cNvPr id="24" name="Rounded Rectangle 23"/>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Cleaning</a:t>
            </a:r>
          </a:p>
        </p:txBody>
      </p:sp>
      <p:sp>
        <p:nvSpPr>
          <p:cNvPr id="25" name="Rounded Rectangle 24"/>
          <p:cNvSpPr/>
          <p:nvPr/>
        </p:nvSpPr>
        <p:spPr>
          <a:xfrm>
            <a:off x="7306056" y="6510528"/>
            <a:ext cx="420624"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EDA</a:t>
            </a:r>
          </a:p>
        </p:txBody>
      </p:sp>
      <p:sp>
        <p:nvSpPr>
          <p:cNvPr id="26" name="Rounded Rectangle 25"/>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Features</a:t>
            </a:r>
          </a:p>
        </p:txBody>
      </p:sp>
      <p:sp>
        <p:nvSpPr>
          <p:cNvPr id="27" name="Rounded Rectangle 26"/>
          <p:cNvSpPr/>
          <p:nvPr/>
        </p:nvSpPr>
        <p:spPr>
          <a:xfrm>
            <a:off x="8494776" y="6510528"/>
            <a:ext cx="69494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Modeling</a:t>
            </a:r>
          </a:p>
        </p:txBody>
      </p:sp>
      <p:sp>
        <p:nvSpPr>
          <p:cNvPr id="28" name="Rounded Rectangle 27"/>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Evaluation</a:t>
            </a:r>
          </a:p>
        </p:txBody>
      </p:sp>
      <p:sp>
        <p:nvSpPr>
          <p:cNvPr id="29" name="Rounded Rectangle 28"/>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 Value</a:t>
            </a:r>
          </a:p>
        </p:txBody>
      </p:sp>
      <p:pic>
        <p:nvPicPr>
          <p:cNvPr id="31" name="Picture 30">
            <a:extLst>
              <a:ext uri="{FF2B5EF4-FFF2-40B4-BE49-F238E27FC236}">
                <a16:creationId xmlns:a16="http://schemas.microsoft.com/office/drawing/2014/main" id="{11D308C4-D110-2DFE-6CDD-73375CFC070A}"/>
              </a:ext>
            </a:extLst>
          </p:cNvPr>
          <p:cNvPicPr>
            <a:picLocks noChangeAspect="1"/>
          </p:cNvPicPr>
          <p:nvPr/>
        </p:nvPicPr>
        <p:blipFill>
          <a:blip r:embed="rId2"/>
          <a:stretch>
            <a:fillRect/>
          </a:stretch>
        </p:blipFill>
        <p:spPr>
          <a:xfrm>
            <a:off x="246535" y="1376408"/>
            <a:ext cx="6190400" cy="3453262"/>
          </a:xfrm>
          <a:prstGeom prst="rect">
            <a:avLst/>
          </a:prstGeom>
        </p:spPr>
      </p:pic>
      <p:sp>
        <p:nvSpPr>
          <p:cNvPr id="33" name="TextBox 32">
            <a:extLst>
              <a:ext uri="{FF2B5EF4-FFF2-40B4-BE49-F238E27FC236}">
                <a16:creationId xmlns:a16="http://schemas.microsoft.com/office/drawing/2014/main" id="{FAA41C8E-A5D3-BC24-0AC5-5FD1AB3A5BF3}"/>
              </a:ext>
            </a:extLst>
          </p:cNvPr>
          <p:cNvSpPr txBox="1"/>
          <p:nvPr/>
        </p:nvSpPr>
        <p:spPr>
          <a:xfrm>
            <a:off x="6601968" y="1546167"/>
            <a:ext cx="5012575" cy="1754326"/>
          </a:xfrm>
          <a:prstGeom prst="rect">
            <a:avLst/>
          </a:prstGeom>
          <a:noFill/>
        </p:spPr>
        <p:txBody>
          <a:bodyPr wrap="square">
            <a:spAutoFit/>
          </a:bodyPr>
          <a:lstStyle/>
          <a:p>
            <a:pPr marL="342900" lvl="0" indent="-342900">
              <a:spcAft>
                <a:spcPts val="800"/>
              </a:spcAft>
              <a:buFont typeface="Arial" panose="020B0604020202020204" pitchFamily="34" charset="0"/>
              <a:buChar char="•"/>
            </a:pPr>
            <a:r>
              <a:rPr lang="en-US" dirty="0">
                <a:latin typeface="Aptos" panose="020B0004020202020204" pitchFamily="34" charset="0"/>
              </a:rPr>
              <a:t>Rating </a:t>
            </a:r>
            <a:r>
              <a:rPr lang="en-US" dirty="0" err="1">
                <a:latin typeface="Aptos" panose="020B0004020202020204" pitchFamily="34" charset="0"/>
              </a:rPr>
              <a:t>trung</a:t>
            </a:r>
            <a:r>
              <a:rPr lang="en-US" dirty="0">
                <a:latin typeface="Aptos" panose="020B0004020202020204" pitchFamily="34" charset="0"/>
              </a:rPr>
              <a:t> </a:t>
            </a:r>
            <a:r>
              <a:rPr lang="en-US" dirty="0" err="1">
                <a:latin typeface="Aptos" panose="020B0004020202020204" pitchFamily="34" charset="0"/>
              </a:rPr>
              <a:t>bình</a:t>
            </a:r>
            <a:r>
              <a:rPr lang="en-US" dirty="0">
                <a:latin typeface="Aptos" panose="020B0004020202020204" pitchFamily="34" charset="0"/>
              </a:rPr>
              <a:t> </a:t>
            </a:r>
            <a:r>
              <a:rPr lang="en-US" dirty="0" err="1">
                <a:latin typeface="Aptos" panose="020B0004020202020204" pitchFamily="34" charset="0"/>
              </a:rPr>
              <a:t>có</a:t>
            </a:r>
            <a:r>
              <a:rPr lang="en-US" dirty="0">
                <a:latin typeface="Aptos" panose="020B0004020202020204" pitchFamily="34" charset="0"/>
              </a:rPr>
              <a:t> xu </a:t>
            </a:r>
            <a:r>
              <a:rPr lang="en-US" dirty="0" err="1">
                <a:latin typeface="Aptos" panose="020B0004020202020204" pitchFamily="34" charset="0"/>
              </a:rPr>
              <a:t>hướng</a:t>
            </a:r>
            <a:r>
              <a:rPr lang="en-US" dirty="0">
                <a:latin typeface="Aptos" panose="020B0004020202020204" pitchFamily="34" charset="0"/>
              </a:rPr>
              <a:t> </a:t>
            </a:r>
            <a:r>
              <a:rPr lang="en-US" dirty="0" err="1">
                <a:latin typeface="Aptos" panose="020B0004020202020204" pitchFamily="34" charset="0"/>
              </a:rPr>
              <a:t>giảm</a:t>
            </a:r>
            <a:r>
              <a:rPr lang="en-US" dirty="0">
                <a:latin typeface="Aptos" panose="020B0004020202020204" pitchFamily="34" charset="0"/>
              </a:rPr>
              <a:t> </a:t>
            </a:r>
            <a:r>
              <a:rPr lang="en-US" dirty="0" err="1">
                <a:latin typeface="Aptos" panose="020B0004020202020204" pitchFamily="34" charset="0"/>
              </a:rPr>
              <a:t>khi</a:t>
            </a:r>
            <a:r>
              <a:rPr lang="en-US" dirty="0">
                <a:latin typeface="Aptos" panose="020B0004020202020204" pitchFamily="34" charset="0"/>
              </a:rPr>
              <a:t> </a:t>
            </a:r>
            <a:r>
              <a:rPr lang="en-US" dirty="0" err="1">
                <a:latin typeface="Aptos" panose="020B0004020202020204" pitchFamily="34" charset="0"/>
              </a:rPr>
              <a:t>thời</a:t>
            </a:r>
            <a:r>
              <a:rPr lang="en-US" dirty="0">
                <a:latin typeface="Aptos" panose="020B0004020202020204" pitchFamily="34" charset="0"/>
              </a:rPr>
              <a:t> </a:t>
            </a:r>
            <a:r>
              <a:rPr lang="en-US" dirty="0" err="1">
                <a:latin typeface="Aptos" panose="020B0004020202020204" pitchFamily="34" charset="0"/>
              </a:rPr>
              <a:t>gian</a:t>
            </a:r>
            <a:r>
              <a:rPr lang="en-US" dirty="0">
                <a:latin typeface="Aptos" panose="020B0004020202020204" pitchFamily="34" charset="0"/>
              </a:rPr>
              <a:t> </a:t>
            </a:r>
            <a:r>
              <a:rPr lang="en-US" dirty="0" err="1">
                <a:latin typeface="Aptos" panose="020B0004020202020204" pitchFamily="34" charset="0"/>
              </a:rPr>
              <a:t>giao</a:t>
            </a:r>
            <a:r>
              <a:rPr lang="en-US" dirty="0">
                <a:latin typeface="Aptos" panose="020B0004020202020204" pitchFamily="34" charset="0"/>
              </a:rPr>
              <a:t> </a:t>
            </a:r>
            <a:r>
              <a:rPr lang="en-US" dirty="0" err="1">
                <a:latin typeface="Aptos" panose="020B0004020202020204" pitchFamily="34" charset="0"/>
              </a:rPr>
              <a:t>hàng</a:t>
            </a:r>
            <a:r>
              <a:rPr lang="en-US" dirty="0">
                <a:latin typeface="Aptos" panose="020B0004020202020204" pitchFamily="34" charset="0"/>
              </a:rPr>
              <a:t> </a:t>
            </a:r>
            <a:r>
              <a:rPr lang="en-US" dirty="0" err="1">
                <a:latin typeface="Aptos" panose="020B0004020202020204" pitchFamily="34" charset="0"/>
              </a:rPr>
              <a:t>tăng</a:t>
            </a:r>
            <a:r>
              <a:rPr lang="en-US" dirty="0">
                <a:latin typeface="Aptos" panose="020B0004020202020204" pitchFamily="34" charset="0"/>
              </a:rPr>
              <a:t>. </a:t>
            </a:r>
          </a:p>
          <a:p>
            <a:pPr marL="342900" lvl="0" indent="-342900">
              <a:spcAft>
                <a:spcPts val="800"/>
              </a:spcAft>
              <a:buFont typeface="Arial" panose="020B0604020202020204" pitchFamily="34" charset="0"/>
              <a:buChar char="•"/>
            </a:pPr>
            <a:r>
              <a:rPr lang="en-US" dirty="0" err="1">
                <a:latin typeface="Aptos" panose="020B0004020202020204" pitchFamily="34" charset="0"/>
              </a:rPr>
              <a:t>Nhóm</a:t>
            </a:r>
            <a:r>
              <a:rPr lang="en-US" dirty="0">
                <a:latin typeface="Aptos" panose="020B0004020202020204" pitchFamily="34" charset="0"/>
              </a:rPr>
              <a:t> </a:t>
            </a:r>
            <a:r>
              <a:rPr lang="en-US" dirty="0" err="1">
                <a:latin typeface="Aptos" panose="020B0004020202020204" pitchFamily="34" charset="0"/>
              </a:rPr>
              <a:t>giao</a:t>
            </a:r>
            <a:r>
              <a:rPr lang="en-US" dirty="0">
                <a:latin typeface="Aptos" panose="020B0004020202020204" pitchFamily="34" charset="0"/>
              </a:rPr>
              <a:t> </a:t>
            </a:r>
            <a:r>
              <a:rPr lang="en-US" dirty="0" err="1">
                <a:latin typeface="Aptos" panose="020B0004020202020204" pitchFamily="34" charset="0"/>
              </a:rPr>
              <a:t>trong</a:t>
            </a:r>
            <a:r>
              <a:rPr lang="en-US" dirty="0">
                <a:latin typeface="Aptos" panose="020B0004020202020204" pitchFamily="34" charset="0"/>
              </a:rPr>
              <a:t> 0–1 </a:t>
            </a:r>
            <a:r>
              <a:rPr lang="en-US" dirty="0" err="1">
                <a:latin typeface="Aptos" panose="020B0004020202020204" pitchFamily="34" charset="0"/>
              </a:rPr>
              <a:t>ngày</a:t>
            </a:r>
            <a:r>
              <a:rPr lang="en-US" dirty="0">
                <a:latin typeface="Aptos" panose="020B0004020202020204" pitchFamily="34" charset="0"/>
              </a:rPr>
              <a:t> </a:t>
            </a:r>
            <a:r>
              <a:rPr lang="en-US" dirty="0" err="1">
                <a:latin typeface="Aptos" panose="020B0004020202020204" pitchFamily="34" charset="0"/>
              </a:rPr>
              <a:t>có</a:t>
            </a:r>
            <a:r>
              <a:rPr lang="en-US" dirty="0">
                <a:latin typeface="Aptos" panose="020B0004020202020204" pitchFamily="34" charset="0"/>
              </a:rPr>
              <a:t> rating </a:t>
            </a:r>
            <a:r>
              <a:rPr lang="en-US" dirty="0" err="1">
                <a:latin typeface="Aptos" panose="020B0004020202020204" pitchFamily="34" charset="0"/>
              </a:rPr>
              <a:t>trung</a:t>
            </a:r>
            <a:r>
              <a:rPr lang="en-US" dirty="0">
                <a:latin typeface="Aptos" panose="020B0004020202020204" pitchFamily="34" charset="0"/>
              </a:rPr>
              <a:t> </a:t>
            </a:r>
            <a:r>
              <a:rPr lang="en-US" dirty="0" err="1">
                <a:latin typeface="Aptos" panose="020B0004020202020204" pitchFamily="34" charset="0"/>
              </a:rPr>
              <a:t>bình</a:t>
            </a:r>
            <a:r>
              <a:rPr lang="en-US" dirty="0">
                <a:latin typeface="Aptos" panose="020B0004020202020204" pitchFamily="34" charset="0"/>
              </a:rPr>
              <a:t> </a:t>
            </a:r>
            <a:r>
              <a:rPr lang="en-US" dirty="0" err="1">
                <a:latin typeface="Aptos" panose="020B0004020202020204" pitchFamily="34" charset="0"/>
              </a:rPr>
              <a:t>cao</a:t>
            </a:r>
            <a:r>
              <a:rPr lang="en-US" dirty="0">
                <a:latin typeface="Aptos" panose="020B0004020202020204" pitchFamily="34" charset="0"/>
              </a:rPr>
              <a:t> </a:t>
            </a:r>
            <a:r>
              <a:rPr lang="en-US" dirty="0" err="1">
                <a:latin typeface="Aptos" panose="020B0004020202020204" pitchFamily="34" charset="0"/>
              </a:rPr>
              <a:t>nhất</a:t>
            </a:r>
            <a:r>
              <a:rPr lang="en-US" dirty="0">
                <a:latin typeface="Aptos" panose="020B0004020202020204" pitchFamily="34" charset="0"/>
              </a:rPr>
              <a:t>: 4,</a:t>
            </a:r>
            <a:r>
              <a:rPr lang="vi-VN" dirty="0">
                <a:latin typeface="Aptos" panose="020B0004020202020204" pitchFamily="34" charset="0"/>
              </a:rPr>
              <a:t>85, </a:t>
            </a:r>
            <a:r>
              <a:rPr lang="en-US" dirty="0" err="1"/>
              <a:t>trong</a:t>
            </a:r>
            <a:r>
              <a:rPr lang="en-US" dirty="0"/>
              <a:t> </a:t>
            </a:r>
            <a:r>
              <a:rPr lang="en-US" dirty="0" err="1"/>
              <a:t>khi</a:t>
            </a:r>
            <a:r>
              <a:rPr lang="en-US" dirty="0"/>
              <a:t> </a:t>
            </a:r>
            <a:r>
              <a:rPr lang="en-US" dirty="0" err="1"/>
              <a:t>nhóm</a:t>
            </a:r>
            <a:r>
              <a:rPr lang="en-US" dirty="0"/>
              <a:t> </a:t>
            </a:r>
            <a:r>
              <a:rPr lang="en-US" dirty="0" err="1"/>
              <a:t>trên</a:t>
            </a:r>
            <a:r>
              <a:rPr lang="en-US" dirty="0"/>
              <a:t> 10 </a:t>
            </a:r>
            <a:r>
              <a:rPr lang="en-US" dirty="0" err="1"/>
              <a:t>ngày</a:t>
            </a:r>
            <a:r>
              <a:rPr lang="en-US" dirty="0"/>
              <a:t> </a:t>
            </a:r>
            <a:r>
              <a:rPr lang="en-US" dirty="0" err="1"/>
              <a:t>có</a:t>
            </a:r>
            <a:r>
              <a:rPr lang="en-US" dirty="0"/>
              <a:t> rating 4,57</a:t>
            </a:r>
            <a:endParaRPr lang="en-US" dirty="0">
              <a:latin typeface="Aptos" panose="020B0004020202020204" pitchFamily="34" charset="0"/>
            </a:endParaRPr>
          </a:p>
        </p:txBody>
      </p:sp>
      <p:sp>
        <p:nvSpPr>
          <p:cNvPr id="35" name="TextBox 34">
            <a:extLst>
              <a:ext uri="{FF2B5EF4-FFF2-40B4-BE49-F238E27FC236}">
                <a16:creationId xmlns:a16="http://schemas.microsoft.com/office/drawing/2014/main" id="{B316D04A-3D16-8626-8302-9954129723AB}"/>
              </a:ext>
            </a:extLst>
          </p:cNvPr>
          <p:cNvSpPr txBox="1"/>
          <p:nvPr/>
        </p:nvSpPr>
        <p:spPr>
          <a:xfrm>
            <a:off x="7013448" y="1216364"/>
            <a:ext cx="1828800" cy="320088"/>
          </a:xfrm>
          <a:prstGeom prst="rect">
            <a:avLst/>
          </a:prstGeom>
          <a:noFill/>
        </p:spPr>
        <p:txBody>
          <a:bodyPr wrap="square" lIns="36576" tIns="36576" rIns="36576" bIns="36576" anchor="t">
            <a:spAutoFit/>
          </a:bodyPr>
          <a:lstStyle/>
          <a:p>
            <a:pPr algn="l"/>
            <a:r>
              <a:rPr sz="1600" b="1" dirty="0">
                <a:solidFill>
                  <a:srgbClr val="2F639D"/>
                </a:solidFill>
                <a:latin typeface="Aptos"/>
              </a:rPr>
              <a:t>KẾT QUẢ CHÍNH</a:t>
            </a:r>
          </a:p>
        </p:txBody>
      </p:sp>
      <p:sp>
        <p:nvSpPr>
          <p:cNvPr id="39" name="Rounded Rectangle 24">
            <a:extLst>
              <a:ext uri="{FF2B5EF4-FFF2-40B4-BE49-F238E27FC236}">
                <a16:creationId xmlns:a16="http://schemas.microsoft.com/office/drawing/2014/main" id="{87DDF193-E346-5F76-2BE1-1B3F9B278CAC}"/>
              </a:ext>
            </a:extLst>
          </p:cNvPr>
          <p:cNvSpPr/>
          <p:nvPr/>
        </p:nvSpPr>
        <p:spPr>
          <a:xfrm>
            <a:off x="6880655" y="3794352"/>
            <a:ext cx="4800600" cy="1175411"/>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41" name="TextBox 40">
            <a:extLst>
              <a:ext uri="{FF2B5EF4-FFF2-40B4-BE49-F238E27FC236}">
                <a16:creationId xmlns:a16="http://schemas.microsoft.com/office/drawing/2014/main" id="{0C477D1E-62B7-E04B-7ABF-91C266F5331A}"/>
              </a:ext>
            </a:extLst>
          </p:cNvPr>
          <p:cNvSpPr txBox="1"/>
          <p:nvPr/>
        </p:nvSpPr>
        <p:spPr>
          <a:xfrm>
            <a:off x="7016450" y="3849193"/>
            <a:ext cx="1752100" cy="320088"/>
          </a:xfrm>
          <a:prstGeom prst="rect">
            <a:avLst/>
          </a:prstGeom>
          <a:noFill/>
        </p:spPr>
        <p:txBody>
          <a:bodyPr wrap="square" lIns="36576" tIns="36576" rIns="36576" bIns="36576" anchor="t">
            <a:spAutoFit/>
          </a:bodyPr>
          <a:lstStyle/>
          <a:p>
            <a:pPr algn="l"/>
            <a:r>
              <a:rPr sz="1600" b="1" dirty="0">
                <a:solidFill>
                  <a:srgbClr val="2F639D"/>
                </a:solidFill>
                <a:latin typeface="Aptos"/>
              </a:rPr>
              <a:t>KẾT QUẢ EDA</a:t>
            </a:r>
          </a:p>
        </p:txBody>
      </p:sp>
      <p:sp>
        <p:nvSpPr>
          <p:cNvPr id="37" name="TextBox 36">
            <a:extLst>
              <a:ext uri="{FF2B5EF4-FFF2-40B4-BE49-F238E27FC236}">
                <a16:creationId xmlns:a16="http://schemas.microsoft.com/office/drawing/2014/main" id="{1841856A-CF8C-41D7-AB0F-E1A899AF97E7}"/>
              </a:ext>
            </a:extLst>
          </p:cNvPr>
          <p:cNvSpPr txBox="1"/>
          <p:nvPr/>
        </p:nvSpPr>
        <p:spPr>
          <a:xfrm>
            <a:off x="6975143" y="4149268"/>
            <a:ext cx="4611624" cy="646331"/>
          </a:xfrm>
          <a:prstGeom prst="rect">
            <a:avLst/>
          </a:prstGeom>
          <a:noFill/>
        </p:spPr>
        <p:txBody>
          <a:bodyPr wrap="square">
            <a:spAutoFit/>
          </a:bodyPr>
          <a:lstStyle/>
          <a:p>
            <a:r>
              <a:rPr lang="en-US" dirty="0" err="1"/>
              <a:t>Kết</a:t>
            </a:r>
            <a:r>
              <a:rPr lang="en-US" dirty="0"/>
              <a:t> </a:t>
            </a:r>
            <a:r>
              <a:rPr lang="en-US" dirty="0" err="1"/>
              <a:t>quả</a:t>
            </a:r>
            <a:r>
              <a:rPr lang="en-US" dirty="0"/>
              <a:t> </a:t>
            </a:r>
            <a:r>
              <a:rPr lang="en-US" dirty="0" err="1"/>
              <a:t>cho</a:t>
            </a:r>
            <a:r>
              <a:rPr lang="en-US" dirty="0"/>
              <a:t> </a:t>
            </a:r>
            <a:r>
              <a:rPr lang="en-US" dirty="0" err="1"/>
              <a:t>thấy</a:t>
            </a:r>
            <a:r>
              <a:rPr lang="en-US" dirty="0"/>
              <a:t> </a:t>
            </a:r>
            <a:r>
              <a:rPr lang="en-US" dirty="0" err="1"/>
              <a:t>thời</a:t>
            </a:r>
            <a:r>
              <a:rPr lang="en-US" dirty="0"/>
              <a:t> </a:t>
            </a:r>
            <a:r>
              <a:rPr lang="en-US" dirty="0" err="1"/>
              <a:t>gian</a:t>
            </a:r>
            <a:r>
              <a:rPr lang="en-US" dirty="0"/>
              <a:t> </a:t>
            </a:r>
            <a:r>
              <a:rPr lang="en-US" dirty="0" err="1"/>
              <a:t>giao</a:t>
            </a:r>
            <a:r>
              <a:rPr lang="en-US" dirty="0"/>
              <a:t> </a:t>
            </a:r>
            <a:r>
              <a:rPr lang="en-US" dirty="0" err="1"/>
              <a:t>hàng</a:t>
            </a:r>
            <a:r>
              <a:rPr lang="en-US" dirty="0"/>
              <a:t> </a:t>
            </a:r>
            <a:r>
              <a:rPr lang="en-US" dirty="0" err="1"/>
              <a:t>dài</a:t>
            </a:r>
            <a:r>
              <a:rPr lang="en-US" dirty="0"/>
              <a:t> </a:t>
            </a:r>
            <a:r>
              <a:rPr lang="en-US" dirty="0" err="1"/>
              <a:t>hơn</a:t>
            </a:r>
            <a:r>
              <a:rPr lang="en-US" dirty="0"/>
              <a:t> </a:t>
            </a:r>
            <a:r>
              <a:rPr lang="en-US" dirty="0" err="1"/>
              <a:t>đi</a:t>
            </a:r>
            <a:r>
              <a:rPr lang="en-US" dirty="0"/>
              <a:t> </a:t>
            </a:r>
            <a:r>
              <a:rPr lang="en-US" dirty="0" err="1"/>
              <a:t>kèm</a:t>
            </a:r>
            <a:r>
              <a:rPr lang="en-US" dirty="0"/>
              <a:t> </a:t>
            </a:r>
            <a:r>
              <a:rPr lang="en-US" dirty="0" err="1"/>
              <a:t>với</a:t>
            </a:r>
            <a:r>
              <a:rPr lang="en-US" dirty="0"/>
              <a:t> </a:t>
            </a:r>
            <a:r>
              <a:rPr lang="en-US" dirty="0" err="1"/>
              <a:t>mức</a:t>
            </a:r>
            <a:r>
              <a:rPr lang="en-US" dirty="0"/>
              <a:t> </a:t>
            </a:r>
            <a:r>
              <a:rPr lang="en-US" dirty="0" err="1"/>
              <a:t>độ</a:t>
            </a:r>
            <a:r>
              <a:rPr lang="en-US" dirty="0"/>
              <a:t> </a:t>
            </a:r>
            <a:r>
              <a:rPr lang="en-US" dirty="0" err="1"/>
              <a:t>hài</a:t>
            </a:r>
            <a:r>
              <a:rPr lang="en-US" dirty="0"/>
              <a:t> </a:t>
            </a:r>
            <a:r>
              <a:rPr lang="en-US" dirty="0" err="1"/>
              <a:t>lòng</a:t>
            </a:r>
            <a:r>
              <a:rPr lang="en-US" dirty="0"/>
              <a:t> </a:t>
            </a:r>
            <a:r>
              <a:rPr lang="en-US" dirty="0" err="1"/>
              <a:t>thấp</a:t>
            </a:r>
            <a:r>
              <a:rPr lang="en-US" dirty="0"/>
              <a:t> </a:t>
            </a:r>
            <a:r>
              <a:rPr lang="en-US" dirty="0" err="1"/>
              <a:t>hơn</a:t>
            </a:r>
            <a:r>
              <a:rPr lang="en-US" dirty="0"/>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7398C-3600-2669-5248-6644522A4C5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D23654-34F8-08D9-418E-EB95A2C52785}"/>
              </a:ext>
            </a:extLst>
          </p:cNvPr>
          <p:cNvSpPr txBox="1"/>
          <p:nvPr/>
        </p:nvSpPr>
        <p:spPr>
          <a:xfrm>
            <a:off x="566928" y="292608"/>
            <a:ext cx="10972800" cy="535531"/>
          </a:xfrm>
          <a:prstGeom prst="rect">
            <a:avLst/>
          </a:prstGeom>
          <a:noFill/>
        </p:spPr>
        <p:txBody>
          <a:bodyPr wrap="square" lIns="36576" tIns="36576" rIns="36576" bIns="36576" anchor="t">
            <a:spAutoFit/>
          </a:bodyPr>
          <a:lstStyle/>
          <a:p>
            <a:r>
              <a:rPr sz="3000" b="1" dirty="0">
                <a:solidFill>
                  <a:srgbClr val="162C46"/>
                </a:solidFill>
                <a:latin typeface="Aptos Display"/>
              </a:rPr>
              <a:t>EDA —</a:t>
            </a:r>
            <a:r>
              <a:rPr lang="en-US" sz="3000" b="1" dirty="0">
                <a:solidFill>
                  <a:srgbClr val="162C46"/>
                </a:solidFill>
                <a:latin typeface="Aptos Display"/>
              </a:rPr>
              <a:t> </a:t>
            </a:r>
            <a:r>
              <a:rPr lang="vi-VN" sz="3000" b="1" dirty="0">
                <a:solidFill>
                  <a:srgbClr val="162C46"/>
                </a:solidFill>
                <a:latin typeface="Aptos Display"/>
              </a:rPr>
              <a:t>SLA VS. CẢM NHẬN CỦA KHÁCH HÀNG</a:t>
            </a:r>
            <a:endParaRPr sz="3000" b="1" dirty="0">
              <a:solidFill>
                <a:srgbClr val="162C46"/>
              </a:solidFill>
              <a:latin typeface="Aptos Display"/>
            </a:endParaRPr>
          </a:p>
        </p:txBody>
      </p:sp>
      <p:cxnSp>
        <p:nvCxnSpPr>
          <p:cNvPr id="3" name="Connector 2">
            <a:extLst>
              <a:ext uri="{FF2B5EF4-FFF2-40B4-BE49-F238E27FC236}">
                <a16:creationId xmlns:a16="http://schemas.microsoft.com/office/drawing/2014/main" id="{6049A21F-B5BD-CB9B-1DEB-6F19D7840FE9}"/>
              </a:ext>
            </a:extLst>
          </p:cNvPr>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grpSp>
        <p:nvGrpSpPr>
          <p:cNvPr id="31" name="Group 30">
            <a:extLst>
              <a:ext uri="{FF2B5EF4-FFF2-40B4-BE49-F238E27FC236}">
                <a16:creationId xmlns:a16="http://schemas.microsoft.com/office/drawing/2014/main" id="{ABFDE8E4-F090-C6C7-090C-62F8088B76CD}"/>
              </a:ext>
            </a:extLst>
          </p:cNvPr>
          <p:cNvGrpSpPr/>
          <p:nvPr/>
        </p:nvGrpSpPr>
        <p:grpSpPr>
          <a:xfrm>
            <a:off x="594360" y="1038451"/>
            <a:ext cx="2743200" cy="868680"/>
            <a:chOff x="475488" y="1088338"/>
            <a:chExt cx="2743200" cy="868680"/>
          </a:xfrm>
        </p:grpSpPr>
        <p:sp>
          <p:nvSpPr>
            <p:cNvPr id="5" name="Rounded Rectangle 4">
              <a:extLst>
                <a:ext uri="{FF2B5EF4-FFF2-40B4-BE49-F238E27FC236}">
                  <a16:creationId xmlns:a16="http://schemas.microsoft.com/office/drawing/2014/main" id="{71FA4A53-D1CC-299D-D1F9-3615D58BAC79}"/>
                </a:ext>
              </a:extLst>
            </p:cNvPr>
            <p:cNvSpPr/>
            <p:nvPr/>
          </p:nvSpPr>
          <p:spPr>
            <a:xfrm>
              <a:off x="475488" y="1088338"/>
              <a:ext cx="2743200" cy="868680"/>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6" name="TextBox 5">
              <a:extLst>
                <a:ext uri="{FF2B5EF4-FFF2-40B4-BE49-F238E27FC236}">
                  <a16:creationId xmlns:a16="http://schemas.microsoft.com/office/drawing/2014/main" id="{034AF011-141C-44F5-DCEB-9DB5373D8E6B}"/>
                </a:ext>
              </a:extLst>
            </p:cNvPr>
            <p:cNvSpPr txBox="1"/>
            <p:nvPr/>
          </p:nvSpPr>
          <p:spPr>
            <a:xfrm>
              <a:off x="475488" y="1189351"/>
              <a:ext cx="2743200" cy="320088"/>
            </a:xfrm>
            <a:prstGeom prst="rect">
              <a:avLst/>
            </a:prstGeom>
            <a:noFill/>
          </p:spPr>
          <p:txBody>
            <a:bodyPr wrap="square" lIns="36576" tIns="36576" rIns="36576" bIns="36576" anchor="t">
              <a:spAutoFit/>
            </a:bodyPr>
            <a:lstStyle/>
            <a:p>
              <a:pPr algn="ctr"/>
              <a:r>
                <a:rPr sz="1600" b="1" dirty="0">
                  <a:solidFill>
                    <a:srgbClr val="162C46"/>
                  </a:solidFill>
                  <a:latin typeface="Aptos"/>
                </a:rPr>
                <a:t>GÓC NHÌN DOANH NGHIỆP</a:t>
              </a:r>
            </a:p>
          </p:txBody>
        </p:sp>
        <p:sp>
          <p:nvSpPr>
            <p:cNvPr id="7" name="TextBox 6">
              <a:extLst>
                <a:ext uri="{FF2B5EF4-FFF2-40B4-BE49-F238E27FC236}">
                  <a16:creationId xmlns:a16="http://schemas.microsoft.com/office/drawing/2014/main" id="{28B4A35A-090F-5D06-FFFD-17CBD2682CC0}"/>
                </a:ext>
              </a:extLst>
            </p:cNvPr>
            <p:cNvSpPr txBox="1"/>
            <p:nvPr/>
          </p:nvSpPr>
          <p:spPr>
            <a:xfrm>
              <a:off x="566927" y="1510763"/>
              <a:ext cx="2565233" cy="320088"/>
            </a:xfrm>
            <a:prstGeom prst="rect">
              <a:avLst/>
            </a:prstGeom>
            <a:noFill/>
          </p:spPr>
          <p:txBody>
            <a:bodyPr wrap="square" lIns="36576" tIns="36576" rIns="36576" bIns="36576" anchor="t">
              <a:spAutoFit/>
            </a:bodyPr>
            <a:lstStyle/>
            <a:p>
              <a:pPr algn="ctr"/>
              <a:r>
                <a:rPr sz="1600" b="0" dirty="0">
                  <a:solidFill>
                    <a:srgbClr val="5E6A78"/>
                  </a:solidFill>
                  <a:latin typeface="Aptos"/>
                </a:rPr>
                <a:t>SLA Status · Within / Breach</a:t>
              </a:r>
            </a:p>
          </p:txBody>
        </p:sp>
      </p:grpSp>
      <p:grpSp>
        <p:nvGrpSpPr>
          <p:cNvPr id="30" name="Group 29">
            <a:extLst>
              <a:ext uri="{FF2B5EF4-FFF2-40B4-BE49-F238E27FC236}">
                <a16:creationId xmlns:a16="http://schemas.microsoft.com/office/drawing/2014/main" id="{D7F80928-A234-7ECE-0F17-527C1372AC8D}"/>
              </a:ext>
            </a:extLst>
          </p:cNvPr>
          <p:cNvGrpSpPr/>
          <p:nvPr/>
        </p:nvGrpSpPr>
        <p:grpSpPr>
          <a:xfrm>
            <a:off x="9064751" y="1018254"/>
            <a:ext cx="2743200" cy="901632"/>
            <a:chOff x="9110472" y="1170432"/>
            <a:chExt cx="2743200" cy="901632"/>
          </a:xfrm>
        </p:grpSpPr>
        <p:sp>
          <p:nvSpPr>
            <p:cNvPr id="8" name="Rounded Rectangle 7">
              <a:extLst>
                <a:ext uri="{FF2B5EF4-FFF2-40B4-BE49-F238E27FC236}">
                  <a16:creationId xmlns:a16="http://schemas.microsoft.com/office/drawing/2014/main" id="{570A0D16-577C-AD03-04C6-1CB69DAB0BE3}"/>
                </a:ext>
              </a:extLst>
            </p:cNvPr>
            <p:cNvSpPr/>
            <p:nvPr/>
          </p:nvSpPr>
          <p:spPr>
            <a:xfrm>
              <a:off x="9110472" y="1170432"/>
              <a:ext cx="2743200" cy="868680"/>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9" name="TextBox 8">
              <a:extLst>
                <a:ext uri="{FF2B5EF4-FFF2-40B4-BE49-F238E27FC236}">
                  <a16:creationId xmlns:a16="http://schemas.microsoft.com/office/drawing/2014/main" id="{6F76A9CD-C457-7B7B-C79D-DBF0811CEB5F}"/>
                </a:ext>
              </a:extLst>
            </p:cNvPr>
            <p:cNvSpPr txBox="1"/>
            <p:nvPr/>
          </p:nvSpPr>
          <p:spPr>
            <a:xfrm>
              <a:off x="9201912" y="1216735"/>
              <a:ext cx="2560320" cy="320088"/>
            </a:xfrm>
            <a:prstGeom prst="rect">
              <a:avLst/>
            </a:prstGeom>
            <a:noFill/>
          </p:spPr>
          <p:txBody>
            <a:bodyPr wrap="square" lIns="36576" tIns="36576" rIns="36576" bIns="36576" anchor="t">
              <a:spAutoFit/>
            </a:bodyPr>
            <a:lstStyle/>
            <a:p>
              <a:pPr algn="ctr"/>
              <a:r>
                <a:rPr sz="1600" b="1" dirty="0">
                  <a:solidFill>
                    <a:srgbClr val="162C46"/>
                  </a:solidFill>
                  <a:latin typeface="Aptos"/>
                </a:rPr>
                <a:t>GÓC NHÌN KHÁCH HÀNG</a:t>
              </a:r>
            </a:p>
          </p:txBody>
        </p:sp>
        <p:sp>
          <p:nvSpPr>
            <p:cNvPr id="10" name="TextBox 9">
              <a:extLst>
                <a:ext uri="{FF2B5EF4-FFF2-40B4-BE49-F238E27FC236}">
                  <a16:creationId xmlns:a16="http://schemas.microsoft.com/office/drawing/2014/main" id="{CA91F541-F820-D2F1-C70B-016EF85BBC60}"/>
                </a:ext>
              </a:extLst>
            </p:cNvPr>
            <p:cNvSpPr txBox="1"/>
            <p:nvPr/>
          </p:nvSpPr>
          <p:spPr>
            <a:xfrm>
              <a:off x="9110472" y="1505755"/>
              <a:ext cx="2743200" cy="566309"/>
            </a:xfrm>
            <a:prstGeom prst="rect">
              <a:avLst/>
            </a:prstGeom>
            <a:noFill/>
          </p:spPr>
          <p:txBody>
            <a:bodyPr wrap="square" lIns="36576" tIns="36576" rIns="36576" bIns="36576" anchor="t">
              <a:spAutoFit/>
            </a:bodyPr>
            <a:lstStyle/>
            <a:p>
              <a:pPr algn="ctr"/>
              <a:r>
                <a:rPr sz="1600" b="0" dirty="0">
                  <a:solidFill>
                    <a:srgbClr val="5E6A78"/>
                  </a:solidFill>
                  <a:latin typeface="Aptos"/>
                </a:rPr>
                <a:t>Customer Delivery · On-time / Late</a:t>
              </a:r>
            </a:p>
          </p:txBody>
        </p:sp>
      </p:grpSp>
      <p:sp>
        <p:nvSpPr>
          <p:cNvPr id="11" name="TextBox 10">
            <a:extLst>
              <a:ext uri="{FF2B5EF4-FFF2-40B4-BE49-F238E27FC236}">
                <a16:creationId xmlns:a16="http://schemas.microsoft.com/office/drawing/2014/main" id="{EC090FAF-E44E-7224-9860-C1E3A7A84814}"/>
              </a:ext>
            </a:extLst>
          </p:cNvPr>
          <p:cNvSpPr txBox="1"/>
          <p:nvPr/>
        </p:nvSpPr>
        <p:spPr>
          <a:xfrm>
            <a:off x="3747515" y="1062805"/>
            <a:ext cx="5056632" cy="812530"/>
          </a:xfrm>
          <a:prstGeom prst="leftRightArrowCallout">
            <a:avLst>
              <a:gd name="adj1" fmla="val 25000"/>
              <a:gd name="adj2" fmla="val 34681"/>
              <a:gd name="adj3" fmla="val 25000"/>
              <a:gd name="adj4" fmla="val 87102"/>
            </a:avLst>
          </a:prstGeom>
          <a:solidFill>
            <a:srgbClr val="162C46"/>
          </a:solidFill>
        </p:spPr>
        <p:txBody>
          <a:bodyPr wrap="square" lIns="36576" tIns="36576" rIns="36576" bIns="36576" anchor="t">
            <a:spAutoFit/>
          </a:bodyPr>
          <a:lstStyle/>
          <a:p>
            <a:pPr algn="ctr"/>
            <a:endParaRPr lang="vi-VN" sz="1600" b="1" dirty="0">
              <a:solidFill>
                <a:schemeClr val="bg1"/>
              </a:solidFill>
              <a:latin typeface="Aptos"/>
            </a:endParaRPr>
          </a:p>
          <a:p>
            <a:pPr algn="ctr"/>
            <a:r>
              <a:rPr sz="1600" b="1" dirty="0">
                <a:solidFill>
                  <a:schemeClr val="bg1"/>
                </a:solidFill>
                <a:latin typeface="Aptos"/>
              </a:rPr>
              <a:t>Hai </a:t>
            </a:r>
            <a:r>
              <a:rPr sz="1600" b="1" dirty="0" err="1">
                <a:solidFill>
                  <a:schemeClr val="bg1"/>
                </a:solidFill>
                <a:latin typeface="Aptos"/>
              </a:rPr>
              <a:t>cách</a:t>
            </a:r>
            <a:r>
              <a:rPr sz="1600" b="1" dirty="0">
                <a:solidFill>
                  <a:schemeClr val="bg1"/>
                </a:solidFill>
                <a:latin typeface="Aptos"/>
              </a:rPr>
              <a:t> </a:t>
            </a:r>
            <a:r>
              <a:rPr sz="1600" b="1" dirty="0" err="1">
                <a:solidFill>
                  <a:schemeClr val="bg1"/>
                </a:solidFill>
                <a:latin typeface="Aptos"/>
              </a:rPr>
              <a:t>đánh</a:t>
            </a:r>
            <a:r>
              <a:rPr sz="1600" b="1" dirty="0">
                <a:solidFill>
                  <a:schemeClr val="bg1"/>
                </a:solidFill>
                <a:latin typeface="Aptos"/>
              </a:rPr>
              <a:t> </a:t>
            </a:r>
            <a:r>
              <a:rPr sz="1600" b="1" dirty="0" err="1">
                <a:solidFill>
                  <a:schemeClr val="bg1"/>
                </a:solidFill>
                <a:latin typeface="Aptos"/>
              </a:rPr>
              <a:t>giá</a:t>
            </a:r>
            <a:r>
              <a:rPr sz="1600" b="1" dirty="0">
                <a:solidFill>
                  <a:schemeClr val="bg1"/>
                </a:solidFill>
                <a:latin typeface="Aptos"/>
              </a:rPr>
              <a:t> </a:t>
            </a:r>
            <a:r>
              <a:rPr sz="1600" b="1" dirty="0" err="1">
                <a:solidFill>
                  <a:schemeClr val="bg1"/>
                </a:solidFill>
                <a:latin typeface="Aptos"/>
              </a:rPr>
              <a:t>có</a:t>
            </a:r>
            <a:r>
              <a:rPr sz="1600" b="1" dirty="0">
                <a:solidFill>
                  <a:schemeClr val="bg1"/>
                </a:solidFill>
                <a:latin typeface="Aptos"/>
              </a:rPr>
              <a:t> </a:t>
            </a:r>
            <a:r>
              <a:rPr sz="1600" b="1" dirty="0" err="1">
                <a:solidFill>
                  <a:schemeClr val="bg1"/>
                </a:solidFill>
                <a:latin typeface="Aptos"/>
              </a:rPr>
              <a:t>thực</a:t>
            </a:r>
            <a:r>
              <a:rPr sz="1600" b="1" dirty="0">
                <a:solidFill>
                  <a:schemeClr val="bg1"/>
                </a:solidFill>
                <a:latin typeface="Aptos"/>
              </a:rPr>
              <a:t> </a:t>
            </a:r>
            <a:r>
              <a:rPr sz="1600" b="1" dirty="0" err="1">
                <a:solidFill>
                  <a:schemeClr val="bg1"/>
                </a:solidFill>
                <a:latin typeface="Aptos"/>
              </a:rPr>
              <a:t>sự</a:t>
            </a:r>
            <a:r>
              <a:rPr sz="1600" b="1" dirty="0">
                <a:solidFill>
                  <a:schemeClr val="bg1"/>
                </a:solidFill>
                <a:latin typeface="Aptos"/>
              </a:rPr>
              <a:t> </a:t>
            </a:r>
            <a:r>
              <a:rPr sz="1600" b="1" dirty="0" err="1">
                <a:solidFill>
                  <a:schemeClr val="bg1"/>
                </a:solidFill>
                <a:latin typeface="Aptos"/>
              </a:rPr>
              <a:t>đồng</a:t>
            </a:r>
            <a:r>
              <a:rPr sz="1600" b="1" dirty="0">
                <a:solidFill>
                  <a:schemeClr val="bg1"/>
                </a:solidFill>
                <a:latin typeface="Aptos"/>
              </a:rPr>
              <a:t> </a:t>
            </a:r>
            <a:r>
              <a:rPr sz="1600" b="1" dirty="0" err="1">
                <a:solidFill>
                  <a:schemeClr val="bg1"/>
                </a:solidFill>
                <a:latin typeface="Aptos"/>
              </a:rPr>
              <a:t>nhất</a:t>
            </a:r>
            <a:r>
              <a:rPr sz="1600" b="1" dirty="0">
                <a:solidFill>
                  <a:schemeClr val="bg1"/>
                </a:solidFill>
                <a:latin typeface="Aptos"/>
              </a:rPr>
              <a:t>?</a:t>
            </a:r>
            <a:endParaRPr lang="vi-VN" sz="1600" b="1" dirty="0">
              <a:solidFill>
                <a:schemeClr val="bg1"/>
              </a:solidFill>
              <a:latin typeface="Aptos"/>
            </a:endParaRPr>
          </a:p>
          <a:p>
            <a:pPr algn="ctr"/>
            <a:endParaRPr sz="1600" b="1" dirty="0">
              <a:solidFill>
                <a:schemeClr val="bg1"/>
              </a:solidFill>
              <a:latin typeface="Aptos"/>
            </a:endParaRPr>
          </a:p>
        </p:txBody>
      </p:sp>
      <p:pic>
        <p:nvPicPr>
          <p:cNvPr id="34" name="Picture 11" descr="B10_slide.png"/>
          <p:cNvPicPr>
            <a:picLocks noChangeAspect="1"/>
          </p:cNvPicPr>
          <p:nvPr/>
        </p:nvPicPr>
        <p:blipFill>
          <a:blip r:embed="rId4"/>
          <a:stretch>
            <a:fillRect/>
          </a:stretch>
        </p:blipFill>
        <p:spPr>
          <a:xfrm>
            <a:off x="2643447" y="1936865"/>
            <a:ext cx="6362055" cy="3075709"/>
          </a:xfrm>
          <a:prstGeom prst="rect">
            <a:avLst/>
          </a:prstGeom>
        </p:spPr>
      </p:pic>
      <p:grpSp>
        <p:nvGrpSpPr>
          <p:cNvPr id="32" name="Group 31">
            <a:extLst>
              <a:ext uri="{FF2B5EF4-FFF2-40B4-BE49-F238E27FC236}">
                <a16:creationId xmlns:a16="http://schemas.microsoft.com/office/drawing/2014/main" id="{B819E1E4-89BE-0D83-7BC9-0B77120DB560}"/>
              </a:ext>
            </a:extLst>
          </p:cNvPr>
          <p:cNvGrpSpPr/>
          <p:nvPr/>
        </p:nvGrpSpPr>
        <p:grpSpPr>
          <a:xfrm>
            <a:off x="527516" y="5100078"/>
            <a:ext cx="5074921" cy="868680"/>
            <a:chOff x="566928" y="4919472"/>
            <a:chExt cx="5074921" cy="868680"/>
          </a:xfrm>
        </p:grpSpPr>
        <p:sp>
          <p:nvSpPr>
            <p:cNvPr id="13" name="Rounded Rectangle 12">
              <a:extLst>
                <a:ext uri="{FF2B5EF4-FFF2-40B4-BE49-F238E27FC236}">
                  <a16:creationId xmlns:a16="http://schemas.microsoft.com/office/drawing/2014/main" id="{9B7F660B-F8A4-6F49-8DD9-5A0E9F3DA5A1}"/>
                </a:ext>
              </a:extLst>
            </p:cNvPr>
            <p:cNvSpPr/>
            <p:nvPr/>
          </p:nvSpPr>
          <p:spPr>
            <a:xfrm>
              <a:off x="566928" y="4919472"/>
              <a:ext cx="5074920" cy="868680"/>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4" name="TextBox 13">
              <a:extLst>
                <a:ext uri="{FF2B5EF4-FFF2-40B4-BE49-F238E27FC236}">
                  <a16:creationId xmlns:a16="http://schemas.microsoft.com/office/drawing/2014/main" id="{5322AF89-5F6F-C89E-72F7-5B532F861A24}"/>
                </a:ext>
              </a:extLst>
            </p:cNvPr>
            <p:cNvSpPr txBox="1"/>
            <p:nvPr/>
          </p:nvSpPr>
          <p:spPr>
            <a:xfrm>
              <a:off x="566928" y="4949130"/>
              <a:ext cx="4480560" cy="320088"/>
            </a:xfrm>
            <a:prstGeom prst="rect">
              <a:avLst/>
            </a:prstGeom>
            <a:noFill/>
          </p:spPr>
          <p:txBody>
            <a:bodyPr wrap="square" lIns="45720" tIns="36576" rIns="36576" bIns="36576" anchor="t">
              <a:spAutoFit/>
            </a:bodyPr>
            <a:lstStyle/>
            <a:p>
              <a:pPr algn="l"/>
              <a:r>
                <a:rPr lang="vi-VN" sz="1600" b="1" dirty="0">
                  <a:solidFill>
                    <a:srgbClr val="162C46"/>
                  </a:solidFill>
                  <a:latin typeface="Aptos"/>
                </a:rPr>
                <a:t>1. WITHIN SLA NHƯNG KHÁCH BÁO TRỄ</a:t>
              </a:r>
            </a:p>
          </p:txBody>
        </p:sp>
        <p:sp>
          <p:nvSpPr>
            <p:cNvPr id="15" name="TextBox 14">
              <a:extLst>
                <a:ext uri="{FF2B5EF4-FFF2-40B4-BE49-F238E27FC236}">
                  <a16:creationId xmlns:a16="http://schemas.microsoft.com/office/drawing/2014/main" id="{8F1515BF-3C11-D74C-6D12-51A428647DDC}"/>
                </a:ext>
              </a:extLst>
            </p:cNvPr>
            <p:cNvSpPr txBox="1"/>
            <p:nvPr/>
          </p:nvSpPr>
          <p:spPr>
            <a:xfrm>
              <a:off x="566928" y="5221820"/>
              <a:ext cx="5074921" cy="547842"/>
            </a:xfrm>
            <a:prstGeom prst="rect">
              <a:avLst/>
            </a:prstGeom>
            <a:noFill/>
          </p:spPr>
          <p:txBody>
            <a:bodyPr wrap="square" lIns="45720" tIns="27432" rIns="45720" bIns="27432">
              <a:spAutoFit/>
            </a:bodyPr>
            <a:lstStyle/>
            <a:p>
              <a:pPr algn="l"/>
              <a:r>
                <a:rPr sz="1600" b="1" dirty="0">
                  <a:solidFill>
                    <a:srgbClr val="B14242"/>
                  </a:solidFill>
                  <a:latin typeface="Aptos"/>
                </a:rPr>
                <a:t>252 reviews</a:t>
              </a:r>
              <a:r>
                <a:rPr sz="1600" b="0" dirty="0">
                  <a:solidFill>
                    <a:srgbClr val="242B33"/>
                  </a:solidFill>
                  <a:latin typeface="Aptos"/>
                </a:rPr>
                <a:t> — </a:t>
              </a:r>
              <a:r>
                <a:rPr sz="1600" b="0" dirty="0" err="1">
                  <a:solidFill>
                    <a:srgbClr val="242B33"/>
                  </a:solidFill>
                  <a:latin typeface="Aptos"/>
                </a:rPr>
                <a:t>đạt</a:t>
              </a:r>
              <a:r>
                <a:rPr sz="1600" b="0" dirty="0">
                  <a:solidFill>
                    <a:srgbClr val="242B33"/>
                  </a:solidFill>
                  <a:latin typeface="Aptos"/>
                </a:rPr>
                <a:t> SLA </a:t>
              </a:r>
              <a:r>
                <a:rPr sz="1600" b="0" dirty="0" err="1">
                  <a:solidFill>
                    <a:srgbClr val="242B33"/>
                  </a:solidFill>
                  <a:latin typeface="Aptos"/>
                </a:rPr>
                <a:t>không</a:t>
              </a:r>
              <a:r>
                <a:rPr sz="1600" b="0" dirty="0">
                  <a:solidFill>
                    <a:srgbClr val="242B33"/>
                  </a:solidFill>
                  <a:latin typeface="Aptos"/>
                </a:rPr>
                <a:t> </a:t>
              </a:r>
              <a:r>
                <a:rPr sz="1600" b="0" dirty="0" err="1">
                  <a:solidFill>
                    <a:srgbClr val="242B33"/>
                  </a:solidFill>
                  <a:latin typeface="Aptos"/>
                </a:rPr>
                <a:t>đảm</a:t>
              </a:r>
              <a:r>
                <a:rPr sz="1600" b="0" dirty="0">
                  <a:solidFill>
                    <a:srgbClr val="242B33"/>
                  </a:solidFill>
                  <a:latin typeface="Aptos"/>
                </a:rPr>
                <a:t> </a:t>
              </a:r>
              <a:r>
                <a:rPr sz="1600" b="0" dirty="0" err="1">
                  <a:solidFill>
                    <a:srgbClr val="242B33"/>
                  </a:solidFill>
                  <a:latin typeface="Aptos"/>
                </a:rPr>
                <a:t>bảo</a:t>
              </a:r>
              <a:r>
                <a:rPr sz="1600" b="0" dirty="0">
                  <a:solidFill>
                    <a:srgbClr val="242B33"/>
                  </a:solidFill>
                  <a:latin typeface="Aptos"/>
                </a:rPr>
                <a:t> </a:t>
              </a:r>
              <a:r>
                <a:rPr sz="1600" b="0" dirty="0" err="1">
                  <a:solidFill>
                    <a:srgbClr val="242B33"/>
                  </a:solidFill>
                  <a:latin typeface="Aptos"/>
                </a:rPr>
                <a:t>khách</a:t>
              </a:r>
              <a:r>
                <a:rPr sz="1600" b="0" dirty="0">
                  <a:solidFill>
                    <a:srgbClr val="242B33"/>
                  </a:solidFill>
                  <a:latin typeface="Aptos"/>
                </a:rPr>
                <a:t> </a:t>
              </a:r>
              <a:r>
                <a:rPr sz="1600" b="0" dirty="0" err="1">
                  <a:solidFill>
                    <a:srgbClr val="242B33"/>
                  </a:solidFill>
                  <a:latin typeface="Aptos"/>
                </a:rPr>
                <a:t>cảm</a:t>
              </a:r>
              <a:r>
                <a:rPr sz="1600" b="0" dirty="0">
                  <a:solidFill>
                    <a:srgbClr val="242B33"/>
                  </a:solidFill>
                  <a:latin typeface="Aptos"/>
                </a:rPr>
                <a:t> </a:t>
              </a:r>
              <a:r>
                <a:rPr sz="1600" b="0" dirty="0" err="1">
                  <a:solidFill>
                    <a:srgbClr val="242B33"/>
                  </a:solidFill>
                  <a:latin typeface="Aptos"/>
                </a:rPr>
                <a:t>nhận</a:t>
              </a:r>
              <a:r>
                <a:rPr sz="1600" b="0" dirty="0">
                  <a:solidFill>
                    <a:srgbClr val="242B33"/>
                  </a:solidFill>
                  <a:latin typeface="Aptos"/>
                </a:rPr>
                <a:t> </a:t>
              </a:r>
              <a:r>
                <a:rPr sz="1600" b="0" dirty="0" err="1">
                  <a:solidFill>
                    <a:srgbClr val="242B33"/>
                  </a:solidFill>
                  <a:latin typeface="Aptos"/>
                </a:rPr>
                <a:t>đúng</a:t>
              </a:r>
              <a:r>
                <a:rPr sz="1600" b="0" dirty="0">
                  <a:solidFill>
                    <a:srgbClr val="242B33"/>
                  </a:solidFill>
                  <a:latin typeface="Aptos"/>
                </a:rPr>
                <a:t> </a:t>
              </a:r>
              <a:r>
                <a:rPr sz="1600" b="0" dirty="0" err="1">
                  <a:solidFill>
                    <a:srgbClr val="242B33"/>
                  </a:solidFill>
                  <a:latin typeface="Aptos"/>
                </a:rPr>
                <a:t>hẹn</a:t>
              </a:r>
              <a:r>
                <a:rPr sz="1600" b="0" dirty="0">
                  <a:solidFill>
                    <a:srgbClr val="242B33"/>
                  </a:solidFill>
                  <a:latin typeface="Aptos"/>
                </a:rPr>
                <a:t>.</a:t>
              </a:r>
            </a:p>
          </p:txBody>
        </p:sp>
      </p:grpSp>
      <p:grpSp>
        <p:nvGrpSpPr>
          <p:cNvPr id="33" name="Group 32">
            <a:extLst>
              <a:ext uri="{FF2B5EF4-FFF2-40B4-BE49-F238E27FC236}">
                <a16:creationId xmlns:a16="http://schemas.microsoft.com/office/drawing/2014/main" id="{0C1B6B80-E241-56DB-4B6D-151345037670}"/>
              </a:ext>
            </a:extLst>
          </p:cNvPr>
          <p:cNvGrpSpPr/>
          <p:nvPr/>
        </p:nvGrpSpPr>
        <p:grpSpPr>
          <a:xfrm>
            <a:off x="6275831" y="5096149"/>
            <a:ext cx="5577841" cy="868680"/>
            <a:chOff x="6275831" y="4919472"/>
            <a:chExt cx="5577841" cy="868680"/>
          </a:xfrm>
        </p:grpSpPr>
        <p:sp>
          <p:nvSpPr>
            <p:cNvPr id="16" name="Rounded Rectangle 15">
              <a:extLst>
                <a:ext uri="{FF2B5EF4-FFF2-40B4-BE49-F238E27FC236}">
                  <a16:creationId xmlns:a16="http://schemas.microsoft.com/office/drawing/2014/main" id="{CD1A5672-FC27-E4E1-9577-DC08DE4575B0}"/>
                </a:ext>
              </a:extLst>
            </p:cNvPr>
            <p:cNvSpPr/>
            <p:nvPr/>
          </p:nvSpPr>
          <p:spPr>
            <a:xfrm>
              <a:off x="6275832" y="4919472"/>
              <a:ext cx="5577840" cy="868680"/>
            </a:xfrm>
            <a:prstGeom prst="roundRect">
              <a:avLst/>
            </a:prstGeom>
            <a:solidFill>
              <a:srgbClr val="F6F9FC"/>
            </a:solidFill>
            <a:ln w="12700">
              <a:solidFill>
                <a:srgbClr val="F6F9F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7" name="TextBox 16">
              <a:extLst>
                <a:ext uri="{FF2B5EF4-FFF2-40B4-BE49-F238E27FC236}">
                  <a16:creationId xmlns:a16="http://schemas.microsoft.com/office/drawing/2014/main" id="{39FCA096-E64B-1599-9DCE-73A30AE5626C}"/>
                </a:ext>
              </a:extLst>
            </p:cNvPr>
            <p:cNvSpPr txBox="1"/>
            <p:nvPr/>
          </p:nvSpPr>
          <p:spPr>
            <a:xfrm>
              <a:off x="6275831" y="4949130"/>
              <a:ext cx="4983480" cy="320088"/>
            </a:xfrm>
            <a:prstGeom prst="rect">
              <a:avLst/>
            </a:prstGeom>
            <a:noFill/>
          </p:spPr>
          <p:txBody>
            <a:bodyPr wrap="square" lIns="45720" tIns="36576" rIns="36576" bIns="36576" anchor="t">
              <a:spAutoFit/>
            </a:bodyPr>
            <a:lstStyle/>
            <a:p>
              <a:pPr algn="l"/>
              <a:r>
                <a:rPr lang="vi-VN" sz="1600" b="1" dirty="0">
                  <a:solidFill>
                    <a:srgbClr val="162C46"/>
                  </a:solidFill>
                  <a:latin typeface="Aptos"/>
                </a:rPr>
                <a:t>2. SLA BREACH NHƯNG KHÁCH BÁO ĐÚNG HẸN</a:t>
              </a:r>
            </a:p>
          </p:txBody>
        </p:sp>
        <p:sp>
          <p:nvSpPr>
            <p:cNvPr id="18" name="TextBox 17">
              <a:extLst>
                <a:ext uri="{FF2B5EF4-FFF2-40B4-BE49-F238E27FC236}">
                  <a16:creationId xmlns:a16="http://schemas.microsoft.com/office/drawing/2014/main" id="{AEFE2128-D883-27CC-E78C-1EAE6DC67076}"/>
                </a:ext>
              </a:extLst>
            </p:cNvPr>
            <p:cNvSpPr txBox="1"/>
            <p:nvPr/>
          </p:nvSpPr>
          <p:spPr>
            <a:xfrm>
              <a:off x="6275831" y="5221820"/>
              <a:ext cx="5577841" cy="547842"/>
            </a:xfrm>
            <a:prstGeom prst="rect">
              <a:avLst/>
            </a:prstGeom>
            <a:noFill/>
          </p:spPr>
          <p:txBody>
            <a:bodyPr wrap="square" lIns="45720" tIns="27432" rIns="45720" bIns="27432">
              <a:spAutoFit/>
            </a:bodyPr>
            <a:lstStyle/>
            <a:p>
              <a:pPr algn="l"/>
              <a:r>
                <a:rPr sz="1600" b="1" dirty="0">
                  <a:solidFill>
                    <a:srgbClr val="BE7D2F"/>
                  </a:solidFill>
                  <a:latin typeface="Aptos"/>
                </a:rPr>
                <a:t>339 reviews</a:t>
              </a:r>
              <a:r>
                <a:rPr sz="1600" b="0" dirty="0">
                  <a:solidFill>
                    <a:srgbClr val="242B33"/>
                  </a:solidFill>
                  <a:latin typeface="Aptos"/>
                </a:rPr>
                <a:t> — </a:t>
              </a:r>
              <a:r>
                <a:rPr sz="1600" b="0" dirty="0" err="1">
                  <a:solidFill>
                    <a:srgbClr val="242B33"/>
                  </a:solidFill>
                  <a:latin typeface="Aptos"/>
                </a:rPr>
                <a:t>vượt</a:t>
              </a:r>
              <a:r>
                <a:rPr sz="1600" b="0" dirty="0">
                  <a:solidFill>
                    <a:srgbClr val="242B33"/>
                  </a:solidFill>
                  <a:latin typeface="Aptos"/>
                </a:rPr>
                <a:t> SLA </a:t>
              </a:r>
              <a:r>
                <a:rPr sz="1600" b="0" dirty="0" err="1">
                  <a:solidFill>
                    <a:srgbClr val="242B33"/>
                  </a:solidFill>
                  <a:latin typeface="Aptos"/>
                </a:rPr>
                <a:t>không</a:t>
              </a:r>
              <a:r>
                <a:rPr sz="1600" b="0" dirty="0">
                  <a:solidFill>
                    <a:srgbClr val="242B33"/>
                  </a:solidFill>
                  <a:latin typeface="Aptos"/>
                </a:rPr>
                <a:t> </a:t>
              </a:r>
              <a:r>
                <a:rPr sz="1600" b="0" dirty="0" err="1">
                  <a:solidFill>
                    <a:srgbClr val="242B33"/>
                  </a:solidFill>
                  <a:latin typeface="Aptos"/>
                </a:rPr>
                <a:t>phải</a:t>
              </a:r>
              <a:r>
                <a:rPr sz="1600" b="0" dirty="0">
                  <a:solidFill>
                    <a:srgbClr val="242B33"/>
                  </a:solidFill>
                  <a:latin typeface="Aptos"/>
                </a:rPr>
                <a:t> </a:t>
              </a:r>
              <a:r>
                <a:rPr sz="1600" b="0" dirty="0" err="1">
                  <a:solidFill>
                    <a:srgbClr val="242B33"/>
                  </a:solidFill>
                  <a:latin typeface="Aptos"/>
                </a:rPr>
                <a:t>lúc</a:t>
              </a:r>
              <a:r>
                <a:rPr sz="1600" b="0" dirty="0">
                  <a:solidFill>
                    <a:srgbClr val="242B33"/>
                  </a:solidFill>
                  <a:latin typeface="Aptos"/>
                </a:rPr>
                <a:t> </a:t>
              </a:r>
              <a:r>
                <a:rPr sz="1600" b="0" dirty="0" err="1">
                  <a:solidFill>
                    <a:srgbClr val="242B33"/>
                  </a:solidFill>
                  <a:latin typeface="Aptos"/>
                </a:rPr>
                <a:t>nào</a:t>
              </a:r>
              <a:r>
                <a:rPr sz="1600" b="0" dirty="0">
                  <a:solidFill>
                    <a:srgbClr val="242B33"/>
                  </a:solidFill>
                  <a:latin typeface="Aptos"/>
                </a:rPr>
                <a:t> </a:t>
              </a:r>
              <a:r>
                <a:rPr sz="1600" b="0" dirty="0" err="1">
                  <a:solidFill>
                    <a:srgbClr val="242B33"/>
                  </a:solidFill>
                  <a:latin typeface="Aptos"/>
                </a:rPr>
                <a:t>cũng</a:t>
              </a:r>
              <a:r>
                <a:rPr sz="1600" b="0" dirty="0">
                  <a:solidFill>
                    <a:srgbClr val="242B33"/>
                  </a:solidFill>
                  <a:latin typeface="Aptos"/>
                </a:rPr>
                <a:t> </a:t>
              </a:r>
              <a:r>
                <a:rPr sz="1600" b="0" dirty="0" err="1">
                  <a:solidFill>
                    <a:srgbClr val="242B33"/>
                  </a:solidFill>
                  <a:latin typeface="Aptos"/>
                </a:rPr>
                <a:t>được</a:t>
              </a:r>
              <a:r>
                <a:rPr sz="1600" b="0" dirty="0">
                  <a:solidFill>
                    <a:srgbClr val="242B33"/>
                  </a:solidFill>
                  <a:latin typeface="Aptos"/>
                </a:rPr>
                <a:t> </a:t>
              </a:r>
              <a:r>
                <a:rPr sz="1600" b="0" dirty="0" err="1">
                  <a:solidFill>
                    <a:srgbClr val="242B33"/>
                  </a:solidFill>
                  <a:latin typeface="Aptos"/>
                </a:rPr>
                <a:t>cảm</a:t>
              </a:r>
              <a:r>
                <a:rPr sz="1600" b="0" dirty="0">
                  <a:solidFill>
                    <a:srgbClr val="242B33"/>
                  </a:solidFill>
                  <a:latin typeface="Aptos"/>
                </a:rPr>
                <a:t> </a:t>
              </a:r>
              <a:r>
                <a:rPr sz="1600" b="0" dirty="0" err="1">
                  <a:solidFill>
                    <a:srgbClr val="242B33"/>
                  </a:solidFill>
                  <a:latin typeface="Aptos"/>
                </a:rPr>
                <a:t>nhận</a:t>
              </a:r>
              <a:r>
                <a:rPr sz="1600" b="0" dirty="0">
                  <a:solidFill>
                    <a:srgbClr val="242B33"/>
                  </a:solidFill>
                  <a:latin typeface="Aptos"/>
                </a:rPr>
                <a:t> </a:t>
              </a:r>
              <a:r>
                <a:rPr sz="1600" b="0" dirty="0" err="1">
                  <a:solidFill>
                    <a:srgbClr val="242B33"/>
                  </a:solidFill>
                  <a:latin typeface="Aptos"/>
                </a:rPr>
                <a:t>là</a:t>
              </a:r>
              <a:r>
                <a:rPr sz="1600" b="0" dirty="0">
                  <a:solidFill>
                    <a:srgbClr val="242B33"/>
                  </a:solidFill>
                  <a:latin typeface="Aptos"/>
                </a:rPr>
                <a:t> </a:t>
              </a:r>
              <a:r>
                <a:rPr sz="1600" b="0" dirty="0" err="1">
                  <a:solidFill>
                    <a:srgbClr val="242B33"/>
                  </a:solidFill>
                  <a:latin typeface="Aptos"/>
                </a:rPr>
                <a:t>trễ</a:t>
              </a:r>
              <a:r>
                <a:rPr sz="1600" b="0" dirty="0">
                  <a:solidFill>
                    <a:srgbClr val="242B33"/>
                  </a:solidFill>
                  <a:latin typeface="Aptos"/>
                </a:rPr>
                <a:t>.</a:t>
              </a:r>
            </a:p>
          </p:txBody>
        </p:sp>
      </p:grpSp>
      <p:sp>
        <p:nvSpPr>
          <p:cNvPr id="19" name="TextBox 18">
            <a:extLst>
              <a:ext uri="{FF2B5EF4-FFF2-40B4-BE49-F238E27FC236}">
                <a16:creationId xmlns:a16="http://schemas.microsoft.com/office/drawing/2014/main" id="{978CAF88-1860-211C-A1B7-8141703AB564}"/>
              </a:ext>
            </a:extLst>
          </p:cNvPr>
          <p:cNvSpPr txBox="1"/>
          <p:nvPr/>
        </p:nvSpPr>
        <p:spPr>
          <a:xfrm>
            <a:off x="794300" y="6149364"/>
            <a:ext cx="7775675" cy="320088"/>
          </a:xfrm>
          <a:prstGeom prst="rect">
            <a:avLst/>
          </a:prstGeom>
          <a:noFill/>
        </p:spPr>
        <p:txBody>
          <a:bodyPr wrap="square" lIns="36576" tIns="36576" rIns="36576" bIns="36576" anchor="t">
            <a:spAutoFit/>
          </a:bodyPr>
          <a:lstStyle/>
          <a:p>
            <a:pPr algn="l"/>
            <a:r>
              <a:rPr sz="1600" b="0" dirty="0">
                <a:solidFill>
                  <a:srgbClr val="5E6A78"/>
                </a:solidFill>
                <a:latin typeface="Aptos"/>
              </a:rPr>
              <a:t>n = 15.816 reviews </a:t>
            </a:r>
            <a:r>
              <a:rPr sz="1600" b="0" dirty="0" err="1">
                <a:solidFill>
                  <a:srgbClr val="5E6A78"/>
                </a:solidFill>
                <a:latin typeface="Aptos"/>
              </a:rPr>
              <a:t>có</a:t>
            </a:r>
            <a:r>
              <a:rPr sz="1600" b="0" dirty="0">
                <a:solidFill>
                  <a:srgbClr val="5E6A78"/>
                </a:solidFill>
                <a:latin typeface="Aptos"/>
              </a:rPr>
              <a:t> </a:t>
            </a:r>
            <a:r>
              <a:rPr sz="1600" b="0" dirty="0" err="1">
                <a:solidFill>
                  <a:srgbClr val="5E6A78"/>
                </a:solidFill>
                <a:latin typeface="Aptos"/>
              </a:rPr>
              <a:t>đủ</a:t>
            </a:r>
            <a:r>
              <a:rPr sz="1600" b="0" dirty="0">
                <a:solidFill>
                  <a:srgbClr val="5E6A78"/>
                </a:solidFill>
                <a:latin typeface="Aptos"/>
              </a:rPr>
              <a:t> </a:t>
            </a:r>
            <a:r>
              <a:rPr sz="1600" b="0" dirty="0" err="1">
                <a:solidFill>
                  <a:srgbClr val="5E6A78"/>
                </a:solidFill>
                <a:latin typeface="Aptos"/>
              </a:rPr>
              <a:t>thông</a:t>
            </a:r>
            <a:r>
              <a:rPr sz="1600" b="0" dirty="0">
                <a:solidFill>
                  <a:srgbClr val="5E6A78"/>
                </a:solidFill>
                <a:latin typeface="Aptos"/>
              </a:rPr>
              <a:t> tin </a:t>
            </a:r>
            <a:r>
              <a:rPr sz="1600" b="0" dirty="0" err="1">
                <a:solidFill>
                  <a:srgbClr val="5E6A78"/>
                </a:solidFill>
                <a:latin typeface="Aptos"/>
              </a:rPr>
              <a:t>đối</a:t>
            </a:r>
            <a:r>
              <a:rPr sz="1600" b="0" dirty="0">
                <a:solidFill>
                  <a:srgbClr val="5E6A78"/>
                </a:solidFill>
                <a:latin typeface="Aptos"/>
              </a:rPr>
              <a:t> </a:t>
            </a:r>
            <a:r>
              <a:rPr sz="1600" b="0" dirty="0" err="1">
                <a:solidFill>
                  <a:srgbClr val="5E6A78"/>
                </a:solidFill>
                <a:latin typeface="Aptos"/>
              </a:rPr>
              <a:t>chiếu</a:t>
            </a:r>
            <a:r>
              <a:rPr sz="1600" b="0" dirty="0">
                <a:solidFill>
                  <a:srgbClr val="5E6A78"/>
                </a:solidFill>
                <a:latin typeface="Aptos"/>
              </a:rPr>
              <a:t> · Ma </a:t>
            </a:r>
            <a:r>
              <a:rPr sz="1600" b="0" dirty="0" err="1">
                <a:solidFill>
                  <a:srgbClr val="5E6A78"/>
                </a:solidFill>
                <a:latin typeface="Aptos"/>
              </a:rPr>
              <a:t>trận</a:t>
            </a:r>
            <a:r>
              <a:rPr sz="1600" b="0" dirty="0">
                <a:solidFill>
                  <a:srgbClr val="5E6A78"/>
                </a:solidFill>
                <a:latin typeface="Aptos"/>
              </a:rPr>
              <a:t> </a:t>
            </a:r>
            <a:r>
              <a:rPr sz="1600" b="0" dirty="0" err="1">
                <a:solidFill>
                  <a:srgbClr val="5E6A78"/>
                </a:solidFill>
                <a:latin typeface="Aptos"/>
              </a:rPr>
              <a:t>sử</a:t>
            </a:r>
            <a:r>
              <a:rPr sz="1600" b="0" dirty="0">
                <a:solidFill>
                  <a:srgbClr val="5E6A78"/>
                </a:solidFill>
                <a:latin typeface="Aptos"/>
              </a:rPr>
              <a:t> </a:t>
            </a:r>
            <a:r>
              <a:rPr sz="1600" b="0" dirty="0" err="1">
                <a:solidFill>
                  <a:srgbClr val="5E6A78"/>
                </a:solidFill>
                <a:latin typeface="Aptos"/>
              </a:rPr>
              <a:t>dụng</a:t>
            </a:r>
            <a:r>
              <a:rPr sz="1600" b="0" dirty="0">
                <a:solidFill>
                  <a:srgbClr val="5E6A78"/>
                </a:solidFill>
                <a:latin typeface="Aptos"/>
              </a:rPr>
              <a:t> raw counts.</a:t>
            </a:r>
          </a:p>
        </p:txBody>
      </p:sp>
      <p:sp>
        <p:nvSpPr>
          <p:cNvPr id="20" name="TextBox 19">
            <a:extLst>
              <a:ext uri="{FF2B5EF4-FFF2-40B4-BE49-F238E27FC236}">
                <a16:creationId xmlns:a16="http://schemas.microsoft.com/office/drawing/2014/main" id="{403BF4C7-E42F-A29C-CA36-4ED12EFE12D8}"/>
              </a:ext>
            </a:extLst>
          </p:cNvPr>
          <p:cNvSpPr txBox="1"/>
          <p:nvPr/>
        </p:nvSpPr>
        <p:spPr>
          <a:xfrm>
            <a:off x="594360" y="6565392"/>
            <a:ext cx="4023360" cy="164592"/>
          </a:xfrm>
          <a:prstGeom prst="rect">
            <a:avLst/>
          </a:prstGeom>
          <a:noFill/>
        </p:spPr>
        <p:txBody>
          <a:bodyPr wrap="square" lIns="36576" tIns="36576" rIns="36576" bIns="36576" anchor="t">
            <a:spAutoFit/>
          </a:bodyPr>
          <a:lstStyle/>
          <a:p>
            <a:pPr algn="l"/>
            <a:r>
              <a:rPr sz="850" b="0">
                <a:solidFill>
                  <a:srgbClr val="5E6A78"/>
                </a:solidFill>
                <a:latin typeface="Aptos"/>
              </a:rPr>
              <a:t>Cơ sở Khoa học Dữ liệu  •  SLA &amp; Customer Experience</a:t>
            </a:r>
          </a:p>
        </p:txBody>
      </p:sp>
      <p:sp>
        <p:nvSpPr>
          <p:cNvPr id="21" name="TextBox 20">
            <a:extLst>
              <a:ext uri="{FF2B5EF4-FFF2-40B4-BE49-F238E27FC236}">
                <a16:creationId xmlns:a16="http://schemas.microsoft.com/office/drawing/2014/main" id="{0FC13DE7-5D3D-ADA1-08CC-E696E4A2BCE4}"/>
              </a:ext>
            </a:extLst>
          </p:cNvPr>
          <p:cNvSpPr txBox="1"/>
          <p:nvPr/>
        </p:nvSpPr>
        <p:spPr>
          <a:xfrm>
            <a:off x="11201400" y="6567055"/>
            <a:ext cx="365760" cy="166255"/>
          </a:xfrm>
          <a:prstGeom prst="rect">
            <a:avLst/>
          </a:prstGeom>
          <a:noFill/>
        </p:spPr>
        <p:txBody>
          <a:bodyPr wrap="square" lIns="36576" tIns="36576" rIns="36576" bIns="36576" anchor="t">
            <a:spAutoFit/>
          </a:bodyPr>
          <a:lstStyle/>
          <a:p>
            <a:pPr algn="r"/>
            <a:r>
              <a:rPr sz="850" b="0">
                <a:solidFill>
                  <a:srgbClr val="5E6A78"/>
                </a:solidFill>
                <a:latin typeface="Aptos"/>
              </a:rPr>
              <a:t>12</a:t>
            </a:r>
          </a:p>
        </p:txBody>
      </p:sp>
      <p:sp>
        <p:nvSpPr>
          <p:cNvPr id="22" name="Rounded Rectangle 21">
            <a:extLst>
              <a:ext uri="{FF2B5EF4-FFF2-40B4-BE49-F238E27FC236}">
                <a16:creationId xmlns:a16="http://schemas.microsoft.com/office/drawing/2014/main" id="{47913294-0D91-B4C1-1760-F294F5FA4B76}"/>
              </a:ext>
            </a:extLst>
          </p:cNvPr>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a:t>
            </a:r>
          </a:p>
        </p:txBody>
      </p:sp>
      <p:sp>
        <p:nvSpPr>
          <p:cNvPr id="23" name="Rounded Rectangle 22">
            <a:extLst>
              <a:ext uri="{FF2B5EF4-FFF2-40B4-BE49-F238E27FC236}">
                <a16:creationId xmlns:a16="http://schemas.microsoft.com/office/drawing/2014/main" id="{5680F2A8-625B-1CBA-AC91-308811DDF51A}"/>
              </a:ext>
            </a:extLst>
          </p:cNvPr>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Data Collection</a:t>
            </a:r>
          </a:p>
        </p:txBody>
      </p:sp>
      <p:sp>
        <p:nvSpPr>
          <p:cNvPr id="24" name="Rounded Rectangle 23">
            <a:extLst>
              <a:ext uri="{FF2B5EF4-FFF2-40B4-BE49-F238E27FC236}">
                <a16:creationId xmlns:a16="http://schemas.microsoft.com/office/drawing/2014/main" id="{5A040DEA-E75B-0364-763C-E0CC6505555A}"/>
              </a:ext>
            </a:extLst>
          </p:cNvPr>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Cleaning</a:t>
            </a:r>
          </a:p>
        </p:txBody>
      </p:sp>
      <p:sp>
        <p:nvSpPr>
          <p:cNvPr id="25" name="Rounded Rectangle 24">
            <a:extLst>
              <a:ext uri="{FF2B5EF4-FFF2-40B4-BE49-F238E27FC236}">
                <a16:creationId xmlns:a16="http://schemas.microsoft.com/office/drawing/2014/main" id="{A645FB59-F5EF-9C6C-C187-6B12E7131935}"/>
              </a:ext>
            </a:extLst>
          </p:cNvPr>
          <p:cNvSpPr/>
          <p:nvPr/>
        </p:nvSpPr>
        <p:spPr>
          <a:xfrm>
            <a:off x="7306056" y="6510528"/>
            <a:ext cx="420624"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EDA</a:t>
            </a:r>
          </a:p>
        </p:txBody>
      </p:sp>
      <p:sp>
        <p:nvSpPr>
          <p:cNvPr id="26" name="Rounded Rectangle 25">
            <a:extLst>
              <a:ext uri="{FF2B5EF4-FFF2-40B4-BE49-F238E27FC236}">
                <a16:creationId xmlns:a16="http://schemas.microsoft.com/office/drawing/2014/main" id="{B2274366-ED1F-0F3F-D3AD-F7F56F6BCD72}"/>
              </a:ext>
            </a:extLst>
          </p:cNvPr>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Features</a:t>
            </a:r>
          </a:p>
        </p:txBody>
      </p:sp>
      <p:sp>
        <p:nvSpPr>
          <p:cNvPr id="27" name="Rounded Rectangle 26">
            <a:extLst>
              <a:ext uri="{FF2B5EF4-FFF2-40B4-BE49-F238E27FC236}">
                <a16:creationId xmlns:a16="http://schemas.microsoft.com/office/drawing/2014/main" id="{06C9C7FA-0070-4079-6CC3-E97693560076}"/>
              </a:ext>
            </a:extLst>
          </p:cNvPr>
          <p:cNvSpPr/>
          <p:nvPr/>
        </p:nvSpPr>
        <p:spPr>
          <a:xfrm>
            <a:off x="8494776" y="6510528"/>
            <a:ext cx="69494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Modeling</a:t>
            </a:r>
          </a:p>
        </p:txBody>
      </p:sp>
      <p:sp>
        <p:nvSpPr>
          <p:cNvPr id="28" name="Rounded Rectangle 27">
            <a:extLst>
              <a:ext uri="{FF2B5EF4-FFF2-40B4-BE49-F238E27FC236}">
                <a16:creationId xmlns:a16="http://schemas.microsoft.com/office/drawing/2014/main" id="{D1E8FED2-B97A-FB31-42EB-F6996A2FACAC}"/>
              </a:ext>
            </a:extLst>
          </p:cNvPr>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Evaluation</a:t>
            </a:r>
          </a:p>
        </p:txBody>
      </p:sp>
      <p:sp>
        <p:nvSpPr>
          <p:cNvPr id="29" name="Rounded Rectangle 28">
            <a:extLst>
              <a:ext uri="{FF2B5EF4-FFF2-40B4-BE49-F238E27FC236}">
                <a16:creationId xmlns:a16="http://schemas.microsoft.com/office/drawing/2014/main" id="{3FDD543E-2ED8-FC2B-5685-84C757420B68}"/>
              </a:ext>
            </a:extLst>
          </p:cNvPr>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 Value</a:t>
            </a:r>
          </a:p>
        </p:txBody>
      </p:sp>
    </p:spTree>
    <p:extLst>
      <p:ext uri="{BB962C8B-B14F-4D97-AF65-F5344CB8AC3E}">
        <p14:creationId xmlns:p14="http://schemas.microsoft.com/office/powerpoint/2010/main" val="23236441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D0D1BC-5467-BA73-CB57-8D43609A20A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CFD0201-8F0A-FF76-841E-6E710AF8CBC4}"/>
              </a:ext>
            </a:extLst>
          </p:cNvPr>
          <p:cNvSpPr txBox="1"/>
          <p:nvPr/>
        </p:nvSpPr>
        <p:spPr>
          <a:xfrm>
            <a:off x="566928" y="292608"/>
            <a:ext cx="10972800" cy="535531"/>
          </a:xfrm>
          <a:prstGeom prst="rect">
            <a:avLst/>
          </a:prstGeom>
          <a:noFill/>
        </p:spPr>
        <p:txBody>
          <a:bodyPr wrap="square" lIns="36576" tIns="36576" rIns="36576" bIns="36576" anchor="t">
            <a:spAutoFit/>
          </a:bodyPr>
          <a:lstStyle/>
          <a:p>
            <a:r>
              <a:rPr sz="3000" b="1" dirty="0">
                <a:solidFill>
                  <a:srgbClr val="162C46"/>
                </a:solidFill>
                <a:latin typeface="Aptos Display"/>
              </a:rPr>
              <a:t>EDA —</a:t>
            </a:r>
            <a:r>
              <a:rPr lang="en-US" sz="3000" b="1" dirty="0">
                <a:solidFill>
                  <a:srgbClr val="162C46"/>
                </a:solidFill>
                <a:latin typeface="Aptos Display"/>
              </a:rPr>
              <a:t> </a:t>
            </a:r>
            <a:r>
              <a:rPr lang="vi-VN" sz="3000" b="1" dirty="0">
                <a:solidFill>
                  <a:srgbClr val="162C46"/>
                </a:solidFill>
                <a:latin typeface="Aptos Display"/>
              </a:rPr>
              <a:t>NHÃN KHÁCH CHỈ CÓ TỪ 2023</a:t>
            </a:r>
            <a:endParaRPr sz="3000" b="1" dirty="0">
              <a:solidFill>
                <a:srgbClr val="162C46"/>
              </a:solidFill>
              <a:latin typeface="Aptos Display"/>
            </a:endParaRPr>
          </a:p>
        </p:txBody>
      </p:sp>
      <p:cxnSp>
        <p:nvCxnSpPr>
          <p:cNvPr id="3" name="Connector 2">
            <a:extLst>
              <a:ext uri="{FF2B5EF4-FFF2-40B4-BE49-F238E27FC236}">
                <a16:creationId xmlns:a16="http://schemas.microsoft.com/office/drawing/2014/main" id="{144D6CAE-B908-EB2E-FE74-2BBA186BA14E}"/>
              </a:ext>
            </a:extLst>
          </p:cNvPr>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B3D925A7-567F-9897-2DC7-F0E587263F35}"/>
              </a:ext>
            </a:extLst>
          </p:cNvPr>
          <p:cNvSpPr txBox="1"/>
          <p:nvPr/>
        </p:nvSpPr>
        <p:spPr>
          <a:xfrm>
            <a:off x="594360" y="6565392"/>
            <a:ext cx="4023360" cy="164592"/>
          </a:xfrm>
          <a:prstGeom prst="rect">
            <a:avLst/>
          </a:prstGeom>
          <a:noFill/>
        </p:spPr>
        <p:txBody>
          <a:bodyPr wrap="square" lIns="36576" tIns="36576" rIns="36576" bIns="36576" anchor="t">
            <a:spAutoFit/>
          </a:bodyPr>
          <a:lstStyle/>
          <a:p>
            <a:pPr algn="l"/>
            <a:r>
              <a:rPr sz="850" b="0">
                <a:solidFill>
                  <a:srgbClr val="5E6A78"/>
                </a:solidFill>
                <a:latin typeface="Aptos"/>
              </a:rPr>
              <a:t>Cơ sở Khoa học Dữ liệu  •  SLA &amp; Customer Experience</a:t>
            </a:r>
          </a:p>
        </p:txBody>
      </p:sp>
      <p:sp>
        <p:nvSpPr>
          <p:cNvPr id="21" name="TextBox 20">
            <a:extLst>
              <a:ext uri="{FF2B5EF4-FFF2-40B4-BE49-F238E27FC236}">
                <a16:creationId xmlns:a16="http://schemas.microsoft.com/office/drawing/2014/main" id="{C72B16C5-2206-735F-EE68-5E5BD7C3A75C}"/>
              </a:ext>
            </a:extLst>
          </p:cNvPr>
          <p:cNvSpPr txBox="1"/>
          <p:nvPr/>
        </p:nvSpPr>
        <p:spPr>
          <a:xfrm>
            <a:off x="11201400" y="6567055"/>
            <a:ext cx="365760" cy="166255"/>
          </a:xfrm>
          <a:prstGeom prst="rect">
            <a:avLst/>
          </a:prstGeom>
          <a:noFill/>
        </p:spPr>
        <p:txBody>
          <a:bodyPr wrap="square" lIns="36576" tIns="36576" rIns="36576" bIns="36576" anchor="t">
            <a:spAutoFit/>
          </a:bodyPr>
          <a:lstStyle/>
          <a:p>
            <a:pPr algn="r"/>
            <a:r>
              <a:rPr sz="850" b="0">
                <a:solidFill>
                  <a:srgbClr val="5E6A78"/>
                </a:solidFill>
                <a:latin typeface="Aptos"/>
              </a:rPr>
              <a:t>13</a:t>
            </a:r>
          </a:p>
        </p:txBody>
      </p:sp>
      <p:sp>
        <p:nvSpPr>
          <p:cNvPr id="22" name="Rounded Rectangle 21">
            <a:extLst>
              <a:ext uri="{FF2B5EF4-FFF2-40B4-BE49-F238E27FC236}">
                <a16:creationId xmlns:a16="http://schemas.microsoft.com/office/drawing/2014/main" id="{4B397A85-7598-0046-B01F-E00506A93623}"/>
              </a:ext>
            </a:extLst>
          </p:cNvPr>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a:t>
            </a:r>
          </a:p>
        </p:txBody>
      </p:sp>
      <p:sp>
        <p:nvSpPr>
          <p:cNvPr id="23" name="Rounded Rectangle 22">
            <a:extLst>
              <a:ext uri="{FF2B5EF4-FFF2-40B4-BE49-F238E27FC236}">
                <a16:creationId xmlns:a16="http://schemas.microsoft.com/office/drawing/2014/main" id="{413AB531-983E-B5CA-ED1F-063100E71278}"/>
              </a:ext>
            </a:extLst>
          </p:cNvPr>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Data Collection</a:t>
            </a:r>
          </a:p>
        </p:txBody>
      </p:sp>
      <p:sp>
        <p:nvSpPr>
          <p:cNvPr id="24" name="Rounded Rectangle 23">
            <a:extLst>
              <a:ext uri="{FF2B5EF4-FFF2-40B4-BE49-F238E27FC236}">
                <a16:creationId xmlns:a16="http://schemas.microsoft.com/office/drawing/2014/main" id="{6224C6C4-43FC-7511-CFD3-5715BAD0B2EE}"/>
              </a:ext>
            </a:extLst>
          </p:cNvPr>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Cleaning</a:t>
            </a:r>
          </a:p>
        </p:txBody>
      </p:sp>
      <p:sp>
        <p:nvSpPr>
          <p:cNvPr id="25" name="Rounded Rectangle 24">
            <a:extLst>
              <a:ext uri="{FF2B5EF4-FFF2-40B4-BE49-F238E27FC236}">
                <a16:creationId xmlns:a16="http://schemas.microsoft.com/office/drawing/2014/main" id="{E737C59A-F251-EFBB-0C66-5A05FB848098}"/>
              </a:ext>
            </a:extLst>
          </p:cNvPr>
          <p:cNvSpPr/>
          <p:nvPr/>
        </p:nvSpPr>
        <p:spPr>
          <a:xfrm>
            <a:off x="7306056" y="6510528"/>
            <a:ext cx="420624"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EDA</a:t>
            </a:r>
          </a:p>
        </p:txBody>
      </p:sp>
      <p:sp>
        <p:nvSpPr>
          <p:cNvPr id="26" name="Rounded Rectangle 25">
            <a:extLst>
              <a:ext uri="{FF2B5EF4-FFF2-40B4-BE49-F238E27FC236}">
                <a16:creationId xmlns:a16="http://schemas.microsoft.com/office/drawing/2014/main" id="{A1BA0C75-8C9D-C185-9572-898B63F85339}"/>
              </a:ext>
            </a:extLst>
          </p:cNvPr>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Features</a:t>
            </a:r>
          </a:p>
        </p:txBody>
      </p:sp>
      <p:sp>
        <p:nvSpPr>
          <p:cNvPr id="27" name="Rounded Rectangle 26">
            <a:extLst>
              <a:ext uri="{FF2B5EF4-FFF2-40B4-BE49-F238E27FC236}">
                <a16:creationId xmlns:a16="http://schemas.microsoft.com/office/drawing/2014/main" id="{520E2D4B-6F8F-A192-8C32-7D75793BEE4F}"/>
              </a:ext>
            </a:extLst>
          </p:cNvPr>
          <p:cNvSpPr/>
          <p:nvPr/>
        </p:nvSpPr>
        <p:spPr>
          <a:xfrm>
            <a:off x="8494776" y="6510528"/>
            <a:ext cx="69494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Modeling</a:t>
            </a:r>
          </a:p>
        </p:txBody>
      </p:sp>
      <p:sp>
        <p:nvSpPr>
          <p:cNvPr id="28" name="Rounded Rectangle 27">
            <a:extLst>
              <a:ext uri="{FF2B5EF4-FFF2-40B4-BE49-F238E27FC236}">
                <a16:creationId xmlns:a16="http://schemas.microsoft.com/office/drawing/2014/main" id="{2687D85B-3ED5-E847-FCC7-29E16DBC942B}"/>
              </a:ext>
            </a:extLst>
          </p:cNvPr>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Evaluation</a:t>
            </a:r>
          </a:p>
        </p:txBody>
      </p:sp>
      <p:sp>
        <p:nvSpPr>
          <p:cNvPr id="29" name="Rounded Rectangle 28">
            <a:extLst>
              <a:ext uri="{FF2B5EF4-FFF2-40B4-BE49-F238E27FC236}">
                <a16:creationId xmlns:a16="http://schemas.microsoft.com/office/drawing/2014/main" id="{F50E35E1-84AA-C830-AEFF-486F95567BE4}"/>
              </a:ext>
            </a:extLst>
          </p:cNvPr>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 Value</a:t>
            </a:r>
          </a:p>
        </p:txBody>
      </p:sp>
      <p:pic>
        <p:nvPicPr>
          <p:cNvPr id="35" name="Picture 34">
            <a:extLst>
              <a:ext uri="{FF2B5EF4-FFF2-40B4-BE49-F238E27FC236}">
                <a16:creationId xmlns:a16="http://schemas.microsoft.com/office/drawing/2014/main" id="{06EC3669-04C1-3C1D-CD9D-EB1E25582AE5}"/>
              </a:ext>
            </a:extLst>
          </p:cNvPr>
          <p:cNvPicPr>
            <a:picLocks noChangeAspect="1"/>
          </p:cNvPicPr>
          <p:nvPr/>
        </p:nvPicPr>
        <p:blipFill>
          <a:blip r:embed="rId3"/>
          <a:stretch>
            <a:fillRect/>
          </a:stretch>
        </p:blipFill>
        <p:spPr>
          <a:xfrm>
            <a:off x="2462986" y="939538"/>
            <a:ext cx="7266027" cy="4052207"/>
          </a:xfrm>
          <a:prstGeom prst="rect">
            <a:avLst/>
          </a:prstGeom>
        </p:spPr>
      </p:pic>
      <p:grpSp>
        <p:nvGrpSpPr>
          <p:cNvPr id="40" name="Group 39">
            <a:extLst>
              <a:ext uri="{FF2B5EF4-FFF2-40B4-BE49-F238E27FC236}">
                <a16:creationId xmlns:a16="http://schemas.microsoft.com/office/drawing/2014/main" id="{4ECB9CC9-6063-3603-BE01-C76779972ABF}"/>
              </a:ext>
            </a:extLst>
          </p:cNvPr>
          <p:cNvGrpSpPr/>
          <p:nvPr/>
        </p:nvGrpSpPr>
        <p:grpSpPr>
          <a:xfrm>
            <a:off x="1278194" y="5081598"/>
            <a:ext cx="10176387" cy="1175411"/>
            <a:chOff x="737419" y="5081598"/>
            <a:chExt cx="10176387" cy="1175411"/>
          </a:xfrm>
        </p:grpSpPr>
        <p:sp>
          <p:nvSpPr>
            <p:cNvPr id="39" name="Rounded Rectangle 24">
              <a:extLst>
                <a:ext uri="{FF2B5EF4-FFF2-40B4-BE49-F238E27FC236}">
                  <a16:creationId xmlns:a16="http://schemas.microsoft.com/office/drawing/2014/main" id="{EC21BC02-2713-5B33-2958-D84193BBF952}"/>
                </a:ext>
              </a:extLst>
            </p:cNvPr>
            <p:cNvSpPr/>
            <p:nvPr/>
          </p:nvSpPr>
          <p:spPr>
            <a:xfrm>
              <a:off x="737419" y="5081598"/>
              <a:ext cx="10176387" cy="1175411"/>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dirty="0"/>
            </a:p>
          </p:txBody>
        </p:sp>
        <p:sp>
          <p:nvSpPr>
            <p:cNvPr id="37" name="TextBox 36">
              <a:extLst>
                <a:ext uri="{FF2B5EF4-FFF2-40B4-BE49-F238E27FC236}">
                  <a16:creationId xmlns:a16="http://schemas.microsoft.com/office/drawing/2014/main" id="{D9560432-B3CE-96DE-A490-3E59ABD0B558}"/>
                </a:ext>
              </a:extLst>
            </p:cNvPr>
            <p:cNvSpPr txBox="1"/>
            <p:nvPr/>
          </p:nvSpPr>
          <p:spPr>
            <a:xfrm>
              <a:off x="1278194" y="5192997"/>
              <a:ext cx="9332739" cy="923330"/>
            </a:xfrm>
            <a:prstGeom prst="rect">
              <a:avLst/>
            </a:prstGeom>
            <a:noFill/>
          </p:spPr>
          <p:txBody>
            <a:bodyPr wrap="square">
              <a:spAutoFit/>
            </a:bodyPr>
            <a:lstStyle/>
            <a:p>
              <a:r>
                <a:rPr lang="en-US" b="1" dirty="0" err="1">
                  <a:latin typeface="Aptos" panose="020B0004020202020204" pitchFamily="34" charset="0"/>
                </a:rPr>
                <a:t>Nhãn</a:t>
              </a:r>
              <a:r>
                <a:rPr lang="en-US" b="1" dirty="0">
                  <a:latin typeface="Aptos" panose="020B0004020202020204" pitchFamily="34" charset="0"/>
                </a:rPr>
                <a:t> </a:t>
              </a:r>
              <a:r>
                <a:rPr lang="en-US" b="1" dirty="0" err="1">
                  <a:latin typeface="Aptos" panose="020B0004020202020204" pitchFamily="34" charset="0"/>
                </a:rPr>
                <a:t>giao</a:t>
              </a:r>
              <a:r>
                <a:rPr lang="en-US" b="1" dirty="0">
                  <a:latin typeface="Aptos" panose="020B0004020202020204" pitchFamily="34" charset="0"/>
                </a:rPr>
                <a:t> </a:t>
              </a:r>
              <a:r>
                <a:rPr lang="en-US" b="1" dirty="0" err="1">
                  <a:latin typeface="Aptos" panose="020B0004020202020204" pitchFamily="34" charset="0"/>
                </a:rPr>
                <a:t>hàng</a:t>
              </a:r>
              <a:r>
                <a:rPr lang="en-US" b="1" dirty="0">
                  <a:latin typeface="Aptos" panose="020B0004020202020204" pitchFamily="34" charset="0"/>
                </a:rPr>
                <a:t> do </a:t>
              </a:r>
              <a:r>
                <a:rPr lang="en-US" b="1" dirty="0" err="1">
                  <a:latin typeface="Aptos" panose="020B0004020202020204" pitchFamily="34" charset="0"/>
                </a:rPr>
                <a:t>khách</a:t>
              </a:r>
              <a:r>
                <a:rPr lang="en-US" b="1" dirty="0">
                  <a:latin typeface="Aptos" panose="020B0004020202020204" pitchFamily="34" charset="0"/>
                </a:rPr>
                <a:t> </a:t>
              </a:r>
              <a:r>
                <a:rPr lang="en-US" b="1" dirty="0" err="1">
                  <a:latin typeface="Aptos" panose="020B0004020202020204" pitchFamily="34" charset="0"/>
                </a:rPr>
                <a:t>hàng</a:t>
              </a:r>
              <a:r>
                <a:rPr lang="en-US" b="1" dirty="0">
                  <a:latin typeface="Aptos" panose="020B0004020202020204" pitchFamily="34" charset="0"/>
                </a:rPr>
                <a:t> </a:t>
              </a:r>
              <a:r>
                <a:rPr lang="en-US" b="1" dirty="0" err="1">
                  <a:latin typeface="Aptos" panose="020B0004020202020204" pitchFamily="34" charset="0"/>
                </a:rPr>
                <a:t>báo</a:t>
              </a:r>
              <a:r>
                <a:rPr lang="en-US" b="1" dirty="0">
                  <a:latin typeface="Aptos" panose="020B0004020202020204" pitchFamily="34" charset="0"/>
                </a:rPr>
                <a:t> </a:t>
              </a:r>
              <a:r>
                <a:rPr lang="en-US" b="1" dirty="0" err="1">
                  <a:latin typeface="Aptos" panose="020B0004020202020204" pitchFamily="34" charset="0"/>
                </a:rPr>
                <a:t>cáo</a:t>
              </a:r>
              <a:r>
                <a:rPr lang="en-US" b="1" dirty="0">
                  <a:latin typeface="Aptos" panose="020B0004020202020204" pitchFamily="34" charset="0"/>
                </a:rPr>
                <a:t> </a:t>
              </a:r>
              <a:r>
                <a:rPr lang="en-US" b="1" dirty="0" err="1">
                  <a:latin typeface="Aptos" panose="020B0004020202020204" pitchFamily="34" charset="0"/>
                </a:rPr>
                <a:t>không</a:t>
              </a:r>
              <a:r>
                <a:rPr lang="en-US" b="1" dirty="0">
                  <a:latin typeface="Aptos" panose="020B0004020202020204" pitchFamily="34" charset="0"/>
                </a:rPr>
                <a:t> </a:t>
              </a:r>
              <a:r>
                <a:rPr lang="en-US" b="1" dirty="0" err="1">
                  <a:latin typeface="Aptos" panose="020B0004020202020204" pitchFamily="34" charset="0"/>
                </a:rPr>
                <a:t>có</a:t>
              </a:r>
              <a:r>
                <a:rPr lang="en-US" b="1" dirty="0">
                  <a:latin typeface="Aptos" panose="020B0004020202020204" pitchFamily="34" charset="0"/>
                </a:rPr>
                <a:t> </a:t>
              </a:r>
              <a:r>
                <a:rPr lang="en-US" b="1" dirty="0" err="1">
                  <a:latin typeface="Aptos" panose="020B0004020202020204" pitchFamily="34" charset="0"/>
                </a:rPr>
                <a:t>trên</a:t>
              </a:r>
              <a:r>
                <a:rPr lang="en-US" b="1" dirty="0">
                  <a:latin typeface="Aptos" panose="020B0004020202020204" pitchFamily="34" charset="0"/>
                </a:rPr>
                <a:t> </a:t>
              </a:r>
              <a:r>
                <a:rPr lang="en-US" b="1" dirty="0" err="1">
                  <a:latin typeface="Aptos" panose="020B0004020202020204" pitchFamily="34" charset="0"/>
                </a:rPr>
                <a:t>toàn</a:t>
              </a:r>
              <a:r>
                <a:rPr lang="en-US" b="1" dirty="0">
                  <a:latin typeface="Aptos" panose="020B0004020202020204" pitchFamily="34" charset="0"/>
                </a:rPr>
                <a:t> </a:t>
              </a:r>
              <a:r>
                <a:rPr lang="en-US" b="1" dirty="0" err="1">
                  <a:latin typeface="Aptos" panose="020B0004020202020204" pitchFamily="34" charset="0"/>
                </a:rPr>
                <a:t>bộ</a:t>
              </a:r>
              <a:r>
                <a:rPr lang="en-US" b="1" dirty="0">
                  <a:latin typeface="Aptos" panose="020B0004020202020204" pitchFamily="34" charset="0"/>
                </a:rPr>
                <a:t> </a:t>
              </a:r>
              <a:r>
                <a:rPr lang="en-US" b="1" dirty="0" err="1">
                  <a:latin typeface="Aptos" panose="020B0004020202020204" pitchFamily="34" charset="0"/>
                </a:rPr>
                <a:t>dữ</a:t>
              </a:r>
              <a:r>
                <a:rPr lang="en-US" b="1" dirty="0">
                  <a:latin typeface="Aptos" panose="020B0004020202020204" pitchFamily="34" charset="0"/>
                </a:rPr>
                <a:t> </a:t>
              </a:r>
              <a:r>
                <a:rPr lang="en-US" b="1" dirty="0" err="1">
                  <a:latin typeface="Aptos" panose="020B0004020202020204" pitchFamily="34" charset="0"/>
                </a:rPr>
                <a:t>liệu</a:t>
              </a:r>
              <a:r>
                <a:rPr lang="en-US" b="1" dirty="0">
                  <a:latin typeface="Aptos" panose="020B0004020202020204" pitchFamily="34" charset="0"/>
                </a:rPr>
                <a:t>. </a:t>
              </a:r>
              <a:endParaRPr lang="vi-VN" b="1" dirty="0">
                <a:latin typeface="Aptos" panose="020B0004020202020204" pitchFamily="34" charset="0"/>
              </a:endParaRPr>
            </a:p>
            <a:p>
              <a:r>
                <a:rPr lang="en-US" b="1" dirty="0" err="1">
                  <a:latin typeface="Aptos" panose="020B0004020202020204" pitchFamily="34" charset="0"/>
                </a:rPr>
                <a:t>Trước</a:t>
              </a:r>
              <a:r>
                <a:rPr lang="en-US" b="1" dirty="0">
                  <a:latin typeface="Aptos" panose="020B0004020202020204" pitchFamily="34" charset="0"/>
                </a:rPr>
                <a:t> 2023 </a:t>
              </a:r>
              <a:r>
                <a:rPr lang="en-US" b="1" dirty="0" err="1">
                  <a:latin typeface="Aptos" panose="020B0004020202020204" pitchFamily="34" charset="0"/>
                </a:rPr>
                <a:t>gần</a:t>
              </a:r>
              <a:r>
                <a:rPr lang="en-US" b="1" dirty="0">
                  <a:latin typeface="Aptos" panose="020B0004020202020204" pitchFamily="34" charset="0"/>
                </a:rPr>
                <a:t> </a:t>
              </a:r>
              <a:r>
                <a:rPr lang="en-US" b="1" dirty="0" err="1">
                  <a:latin typeface="Aptos" panose="020B0004020202020204" pitchFamily="34" charset="0"/>
                </a:rPr>
                <a:t>như</a:t>
              </a:r>
              <a:r>
                <a:rPr lang="en-US" b="1" dirty="0">
                  <a:latin typeface="Aptos" panose="020B0004020202020204" pitchFamily="34" charset="0"/>
                </a:rPr>
                <a:t> </a:t>
              </a:r>
              <a:r>
                <a:rPr lang="en-US" b="1" dirty="0" err="1">
                  <a:latin typeface="Aptos" panose="020B0004020202020204" pitchFamily="34" charset="0"/>
                </a:rPr>
                <a:t>không</a:t>
              </a:r>
              <a:r>
                <a:rPr lang="en-US" b="1" dirty="0">
                  <a:latin typeface="Aptos" panose="020B0004020202020204" pitchFamily="34" charset="0"/>
                </a:rPr>
                <a:t> </a:t>
              </a:r>
              <a:r>
                <a:rPr lang="en-US" b="1" dirty="0" err="1">
                  <a:latin typeface="Aptos" panose="020B0004020202020204" pitchFamily="34" charset="0"/>
                </a:rPr>
                <a:t>có</a:t>
              </a:r>
              <a:r>
                <a:rPr lang="en-US" b="1" dirty="0">
                  <a:latin typeface="Aptos" panose="020B0004020202020204" pitchFamily="34" charset="0"/>
                </a:rPr>
                <a:t> </a:t>
              </a:r>
              <a:r>
                <a:rPr lang="vi-VN" b="1" dirty="0">
                  <a:latin typeface="Aptos" panose="020B0004020202020204" pitchFamily="34" charset="0"/>
                </a:rPr>
                <a:t>nhãn, </a:t>
              </a:r>
              <a:r>
                <a:rPr lang="en-US" b="1" dirty="0" err="1">
                  <a:latin typeface="Aptos" panose="020B0004020202020204" pitchFamily="34" charset="0"/>
                </a:rPr>
                <a:t>từ</a:t>
              </a:r>
              <a:r>
                <a:rPr lang="en-US" b="1" dirty="0">
                  <a:latin typeface="Aptos" panose="020B0004020202020204" pitchFamily="34" charset="0"/>
                </a:rPr>
                <a:t> 2023 </a:t>
              </a:r>
              <a:r>
                <a:rPr lang="en-US" b="1" dirty="0" err="1">
                  <a:latin typeface="Aptos" panose="020B0004020202020204" pitchFamily="34" charset="0"/>
                </a:rPr>
                <a:t>mới</a:t>
              </a:r>
              <a:r>
                <a:rPr lang="en-US" b="1" dirty="0">
                  <a:latin typeface="Aptos" panose="020B0004020202020204" pitchFamily="34" charset="0"/>
                </a:rPr>
                <a:t> </a:t>
              </a:r>
              <a:r>
                <a:rPr lang="en-US" b="1" dirty="0" err="1">
                  <a:latin typeface="Aptos" panose="020B0004020202020204" pitchFamily="34" charset="0"/>
                </a:rPr>
                <a:t>bắt</a:t>
              </a:r>
              <a:r>
                <a:rPr lang="en-US" b="1" dirty="0">
                  <a:latin typeface="Aptos" panose="020B0004020202020204" pitchFamily="34" charset="0"/>
                </a:rPr>
                <a:t> </a:t>
              </a:r>
              <a:r>
                <a:rPr lang="en-US" b="1" dirty="0" err="1">
                  <a:latin typeface="Aptos" panose="020B0004020202020204" pitchFamily="34" charset="0"/>
                </a:rPr>
                <a:t>đầu</a:t>
              </a:r>
              <a:r>
                <a:rPr lang="en-US" b="1" dirty="0">
                  <a:latin typeface="Aptos" panose="020B0004020202020204" pitchFamily="34" charset="0"/>
                </a:rPr>
                <a:t> </a:t>
              </a:r>
              <a:r>
                <a:rPr lang="en-US" b="1" dirty="0" err="1">
                  <a:latin typeface="Aptos" panose="020B0004020202020204" pitchFamily="34" charset="0"/>
                </a:rPr>
                <a:t>xuất</a:t>
              </a:r>
              <a:r>
                <a:rPr lang="en-US" b="1" dirty="0">
                  <a:latin typeface="Aptos" panose="020B0004020202020204" pitchFamily="34" charset="0"/>
                </a:rPr>
                <a:t> </a:t>
              </a:r>
              <a:r>
                <a:rPr lang="en-US" b="1" dirty="0" err="1">
                  <a:latin typeface="Aptos" panose="020B0004020202020204" pitchFamily="34" charset="0"/>
                </a:rPr>
                <a:t>hiện</a:t>
              </a:r>
              <a:r>
                <a:rPr lang="en-US" b="1" dirty="0">
                  <a:latin typeface="Aptos" panose="020B0004020202020204" pitchFamily="34" charset="0"/>
                </a:rPr>
                <a:t>. </a:t>
              </a:r>
              <a:endParaRPr lang="vi-VN" b="1" dirty="0">
                <a:latin typeface="Aptos" panose="020B0004020202020204" pitchFamily="34" charset="0"/>
              </a:endParaRPr>
            </a:p>
            <a:p>
              <a:r>
                <a:rPr lang="en-US" b="1" dirty="0" err="1">
                  <a:latin typeface="Aptos" panose="020B0004020202020204" pitchFamily="34" charset="0"/>
                </a:rPr>
                <a:t>Vì</a:t>
              </a:r>
              <a:r>
                <a:rPr lang="en-US" b="1" dirty="0">
                  <a:latin typeface="Aptos" panose="020B0004020202020204" pitchFamily="34" charset="0"/>
                </a:rPr>
                <a:t> </a:t>
              </a:r>
              <a:r>
                <a:rPr lang="en-US" b="1" dirty="0" err="1">
                  <a:latin typeface="Aptos" panose="020B0004020202020204" pitchFamily="34" charset="0"/>
                </a:rPr>
                <a:t>vậy</a:t>
              </a:r>
              <a:r>
                <a:rPr lang="en-US" b="1" dirty="0">
                  <a:latin typeface="Aptos" panose="020B0004020202020204" pitchFamily="34" charset="0"/>
                </a:rPr>
                <a:t> </a:t>
              </a:r>
              <a:r>
                <a:rPr lang="en-US" b="1" dirty="0" err="1">
                  <a:latin typeface="Aptos" panose="020B0004020202020204" pitchFamily="34" charset="0"/>
                </a:rPr>
                <a:t>phân</a:t>
              </a:r>
              <a:r>
                <a:rPr lang="en-US" b="1" dirty="0">
                  <a:latin typeface="Aptos" panose="020B0004020202020204" pitchFamily="34" charset="0"/>
                </a:rPr>
                <a:t> </a:t>
              </a:r>
              <a:r>
                <a:rPr lang="en-US" b="1" dirty="0" err="1">
                  <a:latin typeface="Aptos" panose="020B0004020202020204" pitchFamily="34" charset="0"/>
                </a:rPr>
                <a:t>tích</a:t>
              </a:r>
              <a:r>
                <a:rPr lang="en-US" b="1" dirty="0">
                  <a:latin typeface="Aptos" panose="020B0004020202020204" pitchFamily="34" charset="0"/>
                </a:rPr>
                <a:t> </a:t>
              </a:r>
              <a:r>
                <a:rPr lang="en-US" b="1" dirty="0" err="1">
                  <a:latin typeface="Aptos" panose="020B0004020202020204" pitchFamily="34" charset="0"/>
                </a:rPr>
                <a:t>đối</a:t>
              </a:r>
              <a:r>
                <a:rPr lang="en-US" b="1" dirty="0">
                  <a:latin typeface="Aptos" panose="020B0004020202020204" pitchFamily="34" charset="0"/>
                </a:rPr>
                <a:t> </a:t>
              </a:r>
              <a:r>
                <a:rPr lang="en-US" b="1" dirty="0" err="1">
                  <a:latin typeface="Aptos" panose="020B0004020202020204" pitchFamily="34" charset="0"/>
                </a:rPr>
                <a:t>chiếu</a:t>
              </a:r>
              <a:r>
                <a:rPr lang="en-US" b="1" dirty="0">
                  <a:latin typeface="Aptos" panose="020B0004020202020204" pitchFamily="34" charset="0"/>
                </a:rPr>
                <a:t> SLA </a:t>
              </a:r>
              <a:r>
                <a:rPr lang="en-US" b="1" dirty="0" err="1">
                  <a:latin typeface="Aptos" panose="020B0004020202020204" pitchFamily="34" charset="0"/>
                </a:rPr>
                <a:t>với</a:t>
              </a:r>
              <a:r>
                <a:rPr lang="en-US" b="1" dirty="0">
                  <a:latin typeface="Aptos" panose="020B0004020202020204" pitchFamily="34" charset="0"/>
                </a:rPr>
                <a:t> </a:t>
              </a:r>
              <a:r>
                <a:rPr lang="en-US" b="1" dirty="0" err="1">
                  <a:latin typeface="Aptos" panose="020B0004020202020204" pitchFamily="34" charset="0"/>
                </a:rPr>
                <a:t>cảm</a:t>
              </a:r>
              <a:r>
                <a:rPr lang="en-US" b="1" dirty="0">
                  <a:latin typeface="Aptos" panose="020B0004020202020204" pitchFamily="34" charset="0"/>
                </a:rPr>
                <a:t> </a:t>
              </a:r>
              <a:r>
                <a:rPr lang="en-US" b="1" dirty="0" err="1">
                  <a:latin typeface="Aptos" panose="020B0004020202020204" pitchFamily="34" charset="0"/>
                </a:rPr>
                <a:t>nhận</a:t>
              </a:r>
              <a:r>
                <a:rPr lang="en-US" b="1" dirty="0">
                  <a:latin typeface="Aptos" panose="020B0004020202020204" pitchFamily="34" charset="0"/>
                </a:rPr>
                <a:t> </a:t>
              </a:r>
              <a:r>
                <a:rPr lang="en-US" b="1" dirty="0" err="1">
                  <a:latin typeface="Aptos" panose="020B0004020202020204" pitchFamily="34" charset="0"/>
                </a:rPr>
                <a:t>khách</a:t>
              </a:r>
              <a:r>
                <a:rPr lang="en-US" b="1" dirty="0">
                  <a:latin typeface="Aptos" panose="020B0004020202020204" pitchFamily="34" charset="0"/>
                </a:rPr>
                <a:t> </a:t>
              </a:r>
              <a:r>
                <a:rPr lang="en-US" b="1" dirty="0" err="1">
                  <a:latin typeface="Aptos" panose="020B0004020202020204" pitchFamily="34" charset="0"/>
                </a:rPr>
                <a:t>hàng</a:t>
              </a:r>
              <a:r>
                <a:rPr lang="en-US" b="1" dirty="0">
                  <a:latin typeface="Aptos" panose="020B0004020202020204" pitchFamily="34" charset="0"/>
                </a:rPr>
                <a:t> </a:t>
              </a:r>
              <a:r>
                <a:rPr lang="en-US" b="1" dirty="0" err="1">
                  <a:latin typeface="Aptos" panose="020B0004020202020204" pitchFamily="34" charset="0"/>
                </a:rPr>
                <a:t>chỉ</a:t>
              </a:r>
              <a:r>
                <a:rPr lang="en-US" b="1" dirty="0">
                  <a:latin typeface="Aptos" panose="020B0004020202020204" pitchFamily="34" charset="0"/>
                </a:rPr>
                <a:t> </a:t>
              </a:r>
              <a:r>
                <a:rPr lang="en-US" b="1" dirty="0" err="1">
                  <a:latin typeface="Aptos" panose="020B0004020202020204" pitchFamily="34" charset="0"/>
                </a:rPr>
                <a:t>sử</a:t>
              </a:r>
              <a:r>
                <a:rPr lang="en-US" b="1" dirty="0">
                  <a:latin typeface="Aptos" panose="020B0004020202020204" pitchFamily="34" charset="0"/>
                </a:rPr>
                <a:t> </a:t>
              </a:r>
              <a:r>
                <a:rPr lang="en-US" b="1" dirty="0" err="1">
                  <a:latin typeface="Aptos" panose="020B0004020202020204" pitchFamily="34" charset="0"/>
                </a:rPr>
                <a:t>dụng</a:t>
              </a:r>
              <a:r>
                <a:rPr lang="en-US" b="1" dirty="0">
                  <a:latin typeface="Aptos" panose="020B0004020202020204" pitchFamily="34" charset="0"/>
                </a:rPr>
                <a:t> </a:t>
              </a:r>
              <a:r>
                <a:rPr lang="en-US" b="1" dirty="0" err="1">
                  <a:latin typeface="Aptos" panose="020B0004020202020204" pitchFamily="34" charset="0"/>
                </a:rPr>
                <a:t>các</a:t>
              </a:r>
              <a:r>
                <a:rPr lang="en-US" b="1" dirty="0">
                  <a:latin typeface="Aptos" panose="020B0004020202020204" pitchFamily="34" charset="0"/>
                </a:rPr>
                <a:t> review </a:t>
              </a:r>
              <a:r>
                <a:rPr lang="en-US" b="1" dirty="0" err="1">
                  <a:latin typeface="Aptos" panose="020B0004020202020204" pitchFamily="34" charset="0"/>
                </a:rPr>
                <a:t>có</a:t>
              </a:r>
              <a:r>
                <a:rPr lang="en-US" b="1" dirty="0">
                  <a:latin typeface="Aptos" panose="020B0004020202020204" pitchFamily="34" charset="0"/>
                </a:rPr>
                <a:t> </a:t>
              </a:r>
              <a:r>
                <a:rPr lang="en-US" b="1" dirty="0" err="1">
                  <a:latin typeface="Aptos" panose="020B0004020202020204" pitchFamily="34" charset="0"/>
                </a:rPr>
                <a:t>nhãn</a:t>
              </a:r>
              <a:endParaRPr lang="en-US" b="1" dirty="0">
                <a:latin typeface="Aptos" panose="020B0004020202020204" pitchFamily="34" charset="0"/>
              </a:endParaRPr>
            </a:p>
          </p:txBody>
        </p:sp>
      </p:grpSp>
    </p:spTree>
    <p:extLst>
      <p:ext uri="{BB962C8B-B14F-4D97-AF65-F5344CB8AC3E}">
        <p14:creationId xmlns:p14="http://schemas.microsoft.com/office/powerpoint/2010/main" val="23584613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265176"/>
            <a:ext cx="10424160" cy="566928"/>
          </a:xfrm>
          <a:prstGeom prst="rect">
            <a:avLst/>
          </a:prstGeom>
          <a:noFill/>
        </p:spPr>
        <p:txBody>
          <a:bodyPr wrap="square" lIns="36576" tIns="36576" rIns="36576" bIns="36576" anchor="t">
            <a:noAutofit/>
          </a:bodyPr>
          <a:lstStyle/>
          <a:p>
            <a:pPr>
              <a:spcAft>
                <a:spcPts val="300"/>
              </a:spcAft>
            </a:pPr>
            <a:r>
              <a:rPr sz="2400" b="1" i="0" dirty="0">
                <a:solidFill>
                  <a:srgbClr val="162C46"/>
                </a:solidFill>
                <a:latin typeface="Aptos Display"/>
              </a:rPr>
              <a:t>EDA —</a:t>
            </a:r>
            <a:r>
              <a:rPr lang="vi-VN" sz="2400" b="1" i="0" dirty="0">
                <a:solidFill>
                  <a:srgbClr val="162C46"/>
                </a:solidFill>
                <a:latin typeface="Aptos Display"/>
              </a:rPr>
              <a:t> SO SÁNH SỨC PHÂN BIỆT RATING GIỮA CUSTOMER SIGNAL VÀ SLA</a:t>
            </a:r>
            <a:endParaRPr sz="2400" b="1" i="0" dirty="0">
              <a:solidFill>
                <a:srgbClr val="162C46"/>
              </a:solidFill>
              <a:latin typeface="Aptos Display"/>
            </a:endParaRPr>
          </a:p>
        </p:txBody>
      </p:sp>
      <p:cxnSp>
        <p:nvCxnSpPr>
          <p:cNvPr id="3" name="Connector 2"/>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583680"/>
            <a:ext cx="4023360" cy="182880"/>
          </a:xfrm>
          <a:prstGeom prst="rect">
            <a:avLst/>
          </a:prstGeom>
          <a:noFill/>
        </p:spPr>
        <p:txBody>
          <a:bodyPr wrap="square" lIns="36576" tIns="36576" rIns="36576" bIns="36576" anchor="t">
            <a:noAutofit/>
          </a:bodyPr>
          <a:lstStyle/>
          <a:p>
            <a:pPr algn="l">
              <a:spcAft>
                <a:spcPts val="300"/>
              </a:spcAft>
            </a:pPr>
            <a:r>
              <a:rPr sz="850" b="0" i="0">
                <a:solidFill>
                  <a:srgbClr val="5E6A78"/>
                </a:solidFill>
                <a:latin typeface="Aptos"/>
              </a:rPr>
              <a:t>Cơ sở Khoa học Dữ liệu  •  SLA &amp; Customer Experience</a:t>
            </a:r>
          </a:p>
        </p:txBody>
      </p:sp>
      <p:sp>
        <p:nvSpPr>
          <p:cNvPr id="6" name="TextBox 5"/>
          <p:cNvSpPr txBox="1"/>
          <p:nvPr/>
        </p:nvSpPr>
        <p:spPr>
          <a:xfrm>
            <a:off x="11201400" y="6567055"/>
            <a:ext cx="365760" cy="166255"/>
          </a:xfrm>
          <a:prstGeom prst="rect">
            <a:avLst/>
          </a:prstGeom>
          <a:noFill/>
        </p:spPr>
        <p:txBody>
          <a:bodyPr wrap="square" lIns="36576" tIns="36576" rIns="36576" bIns="36576" anchor="t">
            <a:noAutofit/>
          </a:bodyPr>
          <a:lstStyle/>
          <a:p>
            <a:pPr algn="l">
              <a:spcAft>
                <a:spcPts val="300"/>
              </a:spcAft>
            </a:pPr>
            <a:r>
              <a:rPr sz="850" b="0" i="0">
                <a:solidFill>
                  <a:srgbClr val="5E6A78"/>
                </a:solidFill>
                <a:latin typeface="Aptos"/>
              </a:rPr>
              <a:t>14</a:t>
            </a:r>
          </a:p>
        </p:txBody>
      </p:sp>
      <p:sp>
        <p:nvSpPr>
          <p:cNvPr id="7" name="TextBox 6"/>
          <p:cNvSpPr txBox="1"/>
          <p:nvPr/>
        </p:nvSpPr>
        <p:spPr>
          <a:xfrm>
            <a:off x="603504" y="1005840"/>
            <a:ext cx="5394960" cy="310896"/>
          </a:xfrm>
          <a:prstGeom prst="rect">
            <a:avLst/>
          </a:prstGeom>
          <a:noFill/>
        </p:spPr>
        <p:txBody>
          <a:bodyPr wrap="square" lIns="36576" tIns="36576" rIns="36576" bIns="36576" anchor="t">
            <a:noAutofit/>
          </a:bodyPr>
          <a:lstStyle/>
          <a:p>
            <a:pPr algn="l">
              <a:spcAft>
                <a:spcPts val="300"/>
              </a:spcAft>
            </a:pPr>
            <a:r>
              <a:rPr sz="1600" b="1" i="0" dirty="0">
                <a:solidFill>
                  <a:srgbClr val="2F639D"/>
                </a:solidFill>
                <a:latin typeface="Aptos"/>
              </a:rPr>
              <a:t>1. SỨC PHÂN BIỆT = |Δ RATING| GIỮA HAI NHÓM</a:t>
            </a:r>
          </a:p>
        </p:txBody>
      </p:sp>
      <p:graphicFrame>
        <p:nvGraphicFramePr>
          <p:cNvPr id="8" name="Table 7"/>
          <p:cNvGraphicFramePr>
            <a:graphicFrameLocks noGrp="1"/>
          </p:cNvGraphicFramePr>
          <p:nvPr>
            <p:extLst>
              <p:ext uri="{D42A27DB-BD31-4B8C-83A1-F6EECF244321}">
                <p14:modId xmlns:p14="http://schemas.microsoft.com/office/powerpoint/2010/main" val="3274557139"/>
              </p:ext>
            </p:extLst>
          </p:nvPr>
        </p:nvGraphicFramePr>
        <p:xfrm>
          <a:off x="475488" y="1431918"/>
          <a:ext cx="5614416" cy="1719072"/>
        </p:xfrm>
        <a:graphic>
          <a:graphicData uri="http://schemas.openxmlformats.org/drawingml/2006/table">
            <a:tbl>
              <a:tblPr firstRow="1">
                <a:tableStyleId>{5C22544A-7EE6-4342-B048-85BDC9FD1C3A}</a:tableStyleId>
              </a:tblPr>
              <a:tblGrid>
                <a:gridCol w="2639255">
                  <a:extLst>
                    <a:ext uri="{9D8B030D-6E8A-4147-A177-3AD203B41FA5}">
                      <a16:colId xmlns:a16="http://schemas.microsoft.com/office/drawing/2014/main" val="20000"/>
                    </a:ext>
                  </a:extLst>
                </a:gridCol>
                <a:gridCol w="959729">
                  <a:extLst>
                    <a:ext uri="{9D8B030D-6E8A-4147-A177-3AD203B41FA5}">
                      <a16:colId xmlns:a16="http://schemas.microsoft.com/office/drawing/2014/main" val="20001"/>
                    </a:ext>
                  </a:extLst>
                </a:gridCol>
                <a:gridCol w="1103689">
                  <a:extLst>
                    <a:ext uri="{9D8B030D-6E8A-4147-A177-3AD203B41FA5}">
                      <a16:colId xmlns:a16="http://schemas.microsoft.com/office/drawing/2014/main" val="20002"/>
                    </a:ext>
                  </a:extLst>
                </a:gridCol>
                <a:gridCol w="911743">
                  <a:extLst>
                    <a:ext uri="{9D8B030D-6E8A-4147-A177-3AD203B41FA5}">
                      <a16:colId xmlns:a16="http://schemas.microsoft.com/office/drawing/2014/main" val="20003"/>
                    </a:ext>
                  </a:extLst>
                </a:gridCol>
              </a:tblGrid>
              <a:tr h="682446">
                <a:tc>
                  <a:txBody>
                    <a:bodyPr/>
                    <a:lstStyle/>
                    <a:p>
                      <a:pPr algn="l"/>
                      <a:r>
                        <a:rPr sz="1400" b="1" i="0">
                          <a:solidFill>
                            <a:srgbClr val="FFFFFF"/>
                          </a:solidFill>
                          <a:latin typeface="Aptos"/>
                        </a:rPr>
                        <a:t>Chỉ báo (cùng 15.816 review)</a:t>
                      </a:r>
                    </a:p>
                  </a:txBody>
                  <a:tcPr marL="54864" marR="54864" marT="27432" marB="27432" anchor="ctr">
                    <a:solidFill>
                      <a:srgbClr val="162C46"/>
                    </a:solidFill>
                  </a:tcPr>
                </a:tc>
                <a:tc>
                  <a:txBody>
                    <a:bodyPr/>
                    <a:lstStyle/>
                    <a:p>
                      <a:pPr algn="l"/>
                      <a:r>
                        <a:rPr sz="1400" b="1" i="0">
                          <a:solidFill>
                            <a:srgbClr val="FFFFFF"/>
                          </a:solidFill>
                          <a:latin typeface="Aptos"/>
                        </a:rPr>
                        <a:t>nhóm 'có'</a:t>
                      </a:r>
                    </a:p>
                  </a:txBody>
                  <a:tcPr marL="54864" marR="54864" marT="27432" marB="27432" anchor="ctr">
                    <a:solidFill>
                      <a:srgbClr val="162C46"/>
                    </a:solidFill>
                  </a:tcPr>
                </a:tc>
                <a:tc>
                  <a:txBody>
                    <a:bodyPr/>
                    <a:lstStyle/>
                    <a:p>
                      <a:pPr algn="l"/>
                      <a:r>
                        <a:rPr sz="1400" b="1" i="0" dirty="0" err="1">
                          <a:solidFill>
                            <a:srgbClr val="FFFFFF"/>
                          </a:solidFill>
                          <a:latin typeface="Aptos"/>
                        </a:rPr>
                        <a:t>nhóm</a:t>
                      </a:r>
                      <a:r>
                        <a:rPr sz="1400" b="1" i="0" dirty="0">
                          <a:solidFill>
                            <a:srgbClr val="FFFFFF"/>
                          </a:solidFill>
                          <a:latin typeface="Aptos"/>
                        </a:rPr>
                        <a:t> '</a:t>
                      </a:r>
                      <a:r>
                        <a:rPr sz="1400" b="1" i="0" dirty="0" err="1">
                          <a:solidFill>
                            <a:srgbClr val="FFFFFF"/>
                          </a:solidFill>
                          <a:latin typeface="Aptos"/>
                        </a:rPr>
                        <a:t>không</a:t>
                      </a:r>
                      <a:r>
                        <a:rPr sz="1400" b="1" i="0" dirty="0">
                          <a:solidFill>
                            <a:srgbClr val="FFFFFF"/>
                          </a:solidFill>
                          <a:latin typeface="Aptos"/>
                        </a:rPr>
                        <a:t>'</a:t>
                      </a:r>
                    </a:p>
                  </a:txBody>
                  <a:tcPr marL="54864" marR="54864" marT="27432" marB="27432" anchor="ctr">
                    <a:solidFill>
                      <a:srgbClr val="162C46"/>
                    </a:solidFill>
                  </a:tcPr>
                </a:tc>
                <a:tc>
                  <a:txBody>
                    <a:bodyPr/>
                    <a:lstStyle/>
                    <a:p>
                      <a:pPr algn="l"/>
                      <a:r>
                        <a:rPr sz="1400" b="1" i="0">
                          <a:solidFill>
                            <a:srgbClr val="FFFFFF"/>
                          </a:solidFill>
                          <a:latin typeface="Aptos"/>
                        </a:rPr>
                        <a:t>|Δ|</a:t>
                      </a:r>
                    </a:p>
                  </a:txBody>
                  <a:tcPr marL="54864" marR="54864" marT="27432" marB="27432" anchor="ctr">
                    <a:solidFill>
                      <a:srgbClr val="162C46"/>
                    </a:solidFill>
                  </a:tcPr>
                </a:tc>
                <a:extLst>
                  <a:ext uri="{0D108BD9-81ED-4DB2-BD59-A6C34878D82A}">
                    <a16:rowId xmlns:a16="http://schemas.microsoft.com/office/drawing/2014/main" val="10000"/>
                  </a:ext>
                </a:extLst>
              </a:tr>
              <a:tr h="518313">
                <a:tc>
                  <a:txBody>
                    <a:bodyPr/>
                    <a:lstStyle/>
                    <a:p>
                      <a:pPr algn="l"/>
                      <a:r>
                        <a:rPr sz="1400" b="0" i="0" dirty="0" err="1">
                          <a:solidFill>
                            <a:srgbClr val="242B33"/>
                          </a:solidFill>
                          <a:latin typeface="Aptos"/>
                        </a:rPr>
                        <a:t>Khách</a:t>
                      </a:r>
                      <a:r>
                        <a:rPr sz="1400" b="0" i="0" dirty="0">
                          <a:solidFill>
                            <a:srgbClr val="242B33"/>
                          </a:solidFill>
                          <a:latin typeface="Aptos"/>
                        </a:rPr>
                        <a:t> </a:t>
                      </a:r>
                      <a:r>
                        <a:rPr sz="1400" b="0" i="0" dirty="0" err="1">
                          <a:solidFill>
                            <a:srgbClr val="242B33"/>
                          </a:solidFill>
                          <a:latin typeface="Aptos"/>
                        </a:rPr>
                        <a:t>tự</a:t>
                      </a:r>
                      <a:r>
                        <a:rPr sz="1400" b="0" i="0" dirty="0">
                          <a:solidFill>
                            <a:srgbClr val="242B33"/>
                          </a:solidFill>
                          <a:latin typeface="Aptos"/>
                        </a:rPr>
                        <a:t> </a:t>
                      </a:r>
                      <a:r>
                        <a:rPr sz="1400" b="0" i="0" dirty="0" err="1">
                          <a:solidFill>
                            <a:srgbClr val="242B33"/>
                          </a:solidFill>
                          <a:latin typeface="Aptos"/>
                        </a:rPr>
                        <a:t>báo</a:t>
                      </a:r>
                      <a:r>
                        <a:rPr sz="1400" b="0" i="0" dirty="0">
                          <a:solidFill>
                            <a:srgbClr val="242B33"/>
                          </a:solidFill>
                          <a:latin typeface="Aptos"/>
                        </a:rPr>
                        <a:t>: </a:t>
                      </a:r>
                      <a:r>
                        <a:rPr sz="1400" b="0" i="0" dirty="0" err="1">
                          <a:solidFill>
                            <a:srgbClr val="242B33"/>
                          </a:solidFill>
                          <a:latin typeface="Aptos"/>
                        </a:rPr>
                        <a:t>trễ</a:t>
                      </a:r>
                      <a:r>
                        <a:rPr sz="1400" b="0" i="0" dirty="0">
                          <a:solidFill>
                            <a:srgbClr val="242B33"/>
                          </a:solidFill>
                          <a:latin typeface="Aptos"/>
                        </a:rPr>
                        <a:t> </a:t>
                      </a:r>
                      <a:r>
                        <a:rPr sz="1400" b="0" i="0" dirty="0" err="1">
                          <a:solidFill>
                            <a:srgbClr val="242B33"/>
                          </a:solidFill>
                          <a:latin typeface="Aptos"/>
                        </a:rPr>
                        <a:t>hẹn</a:t>
                      </a:r>
                      <a:r>
                        <a:rPr sz="1400" b="0" i="0" dirty="0">
                          <a:solidFill>
                            <a:srgbClr val="242B33"/>
                          </a:solidFill>
                          <a:latin typeface="Aptos"/>
                        </a:rPr>
                        <a:t>?</a:t>
                      </a:r>
                    </a:p>
                  </a:txBody>
                  <a:tcPr marL="54864" marR="54864" marT="27432" marB="27432" anchor="ctr">
                    <a:solidFill>
                      <a:srgbClr val="FFFFFF"/>
                    </a:solidFill>
                  </a:tcPr>
                </a:tc>
                <a:tc>
                  <a:txBody>
                    <a:bodyPr/>
                    <a:lstStyle/>
                    <a:p>
                      <a:pPr algn="r"/>
                      <a:r>
                        <a:rPr sz="1400" b="0" i="0" dirty="0">
                          <a:solidFill>
                            <a:srgbClr val="242B33"/>
                          </a:solidFill>
                          <a:latin typeface="Aptos"/>
                        </a:rPr>
                        <a:t>4,595</a:t>
                      </a:r>
                    </a:p>
                  </a:txBody>
                  <a:tcPr marL="54864" marR="54864" marT="27432" marB="27432" anchor="ctr">
                    <a:solidFill>
                      <a:srgbClr val="FFFFFF"/>
                    </a:solidFill>
                  </a:tcPr>
                </a:tc>
                <a:tc>
                  <a:txBody>
                    <a:bodyPr/>
                    <a:lstStyle/>
                    <a:p>
                      <a:pPr algn="r"/>
                      <a:r>
                        <a:rPr sz="1400" b="0" i="0" dirty="0">
                          <a:solidFill>
                            <a:srgbClr val="242B33"/>
                          </a:solidFill>
                          <a:latin typeface="Aptos"/>
                        </a:rPr>
                        <a:t>4,909</a:t>
                      </a:r>
                    </a:p>
                  </a:txBody>
                  <a:tcPr marL="54864" marR="54864" marT="27432" marB="27432" anchor="ctr">
                    <a:solidFill>
                      <a:srgbClr val="FFFFFF"/>
                    </a:solidFill>
                  </a:tcPr>
                </a:tc>
                <a:tc>
                  <a:txBody>
                    <a:bodyPr/>
                    <a:lstStyle/>
                    <a:p>
                      <a:pPr algn="r"/>
                      <a:r>
                        <a:rPr sz="1400" b="1" i="0">
                          <a:solidFill>
                            <a:srgbClr val="162C46"/>
                          </a:solidFill>
                          <a:latin typeface="Aptos"/>
                        </a:rPr>
                        <a:t>0,315</a:t>
                      </a:r>
                    </a:p>
                  </a:txBody>
                  <a:tcPr marL="54864" marR="54864" marT="27432" marB="27432" anchor="ctr">
                    <a:solidFill>
                      <a:srgbClr val="FFFFFF"/>
                    </a:solidFill>
                  </a:tcPr>
                </a:tc>
                <a:extLst>
                  <a:ext uri="{0D108BD9-81ED-4DB2-BD59-A6C34878D82A}">
                    <a16:rowId xmlns:a16="http://schemas.microsoft.com/office/drawing/2014/main" val="10001"/>
                  </a:ext>
                </a:extLst>
              </a:tr>
              <a:tr h="518313">
                <a:tc>
                  <a:txBody>
                    <a:bodyPr/>
                    <a:lstStyle/>
                    <a:p>
                      <a:pPr algn="l"/>
                      <a:r>
                        <a:rPr sz="1400" b="0" i="0" dirty="0">
                          <a:solidFill>
                            <a:srgbClr val="242B33"/>
                          </a:solidFill>
                          <a:latin typeface="Aptos"/>
                        </a:rPr>
                        <a:t>SLA: </a:t>
                      </a:r>
                      <a:r>
                        <a:rPr sz="1400" b="0" i="0" dirty="0" err="1">
                          <a:solidFill>
                            <a:srgbClr val="242B33"/>
                          </a:solidFill>
                          <a:latin typeface="Aptos"/>
                        </a:rPr>
                        <a:t>giao</a:t>
                      </a:r>
                      <a:r>
                        <a:rPr sz="1400" b="0" i="0" dirty="0">
                          <a:solidFill>
                            <a:srgbClr val="242B33"/>
                          </a:solidFill>
                          <a:latin typeface="Aptos"/>
                        </a:rPr>
                        <a:t> &gt; 5 </a:t>
                      </a:r>
                      <a:r>
                        <a:rPr sz="1400" b="0" i="0" dirty="0" err="1">
                          <a:solidFill>
                            <a:srgbClr val="242B33"/>
                          </a:solidFill>
                          <a:latin typeface="Aptos"/>
                        </a:rPr>
                        <a:t>ngày</a:t>
                      </a:r>
                      <a:r>
                        <a:rPr sz="1400" b="0" i="0" dirty="0">
                          <a:solidFill>
                            <a:srgbClr val="242B33"/>
                          </a:solidFill>
                          <a:latin typeface="Aptos"/>
                        </a:rPr>
                        <a:t>?</a:t>
                      </a:r>
                    </a:p>
                  </a:txBody>
                  <a:tcPr marL="54864" marR="54864" marT="27432" marB="27432" anchor="ctr">
                    <a:solidFill>
                      <a:srgbClr val="F6F9FC"/>
                    </a:solidFill>
                  </a:tcPr>
                </a:tc>
                <a:tc>
                  <a:txBody>
                    <a:bodyPr/>
                    <a:lstStyle/>
                    <a:p>
                      <a:pPr algn="r"/>
                      <a:r>
                        <a:rPr sz="1400" b="0" i="0">
                          <a:solidFill>
                            <a:srgbClr val="242B33"/>
                          </a:solidFill>
                          <a:latin typeface="Aptos"/>
                        </a:rPr>
                        <a:t>4,799</a:t>
                      </a:r>
                    </a:p>
                  </a:txBody>
                  <a:tcPr marL="54864" marR="54864" marT="27432" marB="27432" anchor="ctr">
                    <a:solidFill>
                      <a:srgbClr val="F6F9FC"/>
                    </a:solidFill>
                  </a:tcPr>
                </a:tc>
                <a:tc>
                  <a:txBody>
                    <a:bodyPr/>
                    <a:lstStyle/>
                    <a:p>
                      <a:pPr algn="r"/>
                      <a:r>
                        <a:rPr sz="1400" b="0" i="0">
                          <a:solidFill>
                            <a:srgbClr val="242B33"/>
                          </a:solidFill>
                          <a:latin typeface="Aptos"/>
                        </a:rPr>
                        <a:t>4,905</a:t>
                      </a:r>
                    </a:p>
                  </a:txBody>
                  <a:tcPr marL="54864" marR="54864" marT="27432" marB="27432" anchor="ctr">
                    <a:solidFill>
                      <a:srgbClr val="F6F9FC"/>
                    </a:solidFill>
                  </a:tcPr>
                </a:tc>
                <a:tc>
                  <a:txBody>
                    <a:bodyPr/>
                    <a:lstStyle/>
                    <a:p>
                      <a:pPr algn="r"/>
                      <a:r>
                        <a:rPr sz="1400" b="1" i="0" dirty="0">
                          <a:solidFill>
                            <a:srgbClr val="BE7D2F"/>
                          </a:solidFill>
                          <a:latin typeface="Aptos"/>
                        </a:rPr>
                        <a:t>0,106</a:t>
                      </a:r>
                    </a:p>
                  </a:txBody>
                  <a:tcPr marL="54864" marR="54864" marT="27432" marB="27432" anchor="ctr">
                    <a:solidFill>
                      <a:srgbClr val="F6F9FC"/>
                    </a:solidFill>
                  </a:tcPr>
                </a:tc>
                <a:extLst>
                  <a:ext uri="{0D108BD9-81ED-4DB2-BD59-A6C34878D82A}">
                    <a16:rowId xmlns:a16="http://schemas.microsoft.com/office/drawing/2014/main" val="10002"/>
                  </a:ext>
                </a:extLst>
              </a:tr>
            </a:tbl>
          </a:graphicData>
        </a:graphic>
      </p:graphicFrame>
      <p:grpSp>
        <p:nvGrpSpPr>
          <p:cNvPr id="29" name="Group 28">
            <a:extLst>
              <a:ext uri="{FF2B5EF4-FFF2-40B4-BE49-F238E27FC236}">
                <a16:creationId xmlns:a16="http://schemas.microsoft.com/office/drawing/2014/main" id="{372B45FB-AB4E-F45A-5185-5706DFFAB59F}"/>
              </a:ext>
            </a:extLst>
          </p:cNvPr>
          <p:cNvGrpSpPr/>
          <p:nvPr/>
        </p:nvGrpSpPr>
        <p:grpSpPr>
          <a:xfrm>
            <a:off x="603504" y="3429000"/>
            <a:ext cx="5349240" cy="2148840"/>
            <a:chOff x="603504" y="3429000"/>
            <a:chExt cx="5349240" cy="2148840"/>
          </a:xfrm>
        </p:grpSpPr>
        <p:sp>
          <p:nvSpPr>
            <p:cNvPr id="10" name="Rounded Rectangle 9"/>
            <p:cNvSpPr/>
            <p:nvPr/>
          </p:nvSpPr>
          <p:spPr>
            <a:xfrm>
              <a:off x="603504" y="3429000"/>
              <a:ext cx="5349240" cy="2148840"/>
            </a:xfrm>
            <a:prstGeom prst="round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7804" y="3557557"/>
              <a:ext cx="5120640" cy="320040"/>
            </a:xfrm>
            <a:prstGeom prst="rect">
              <a:avLst/>
            </a:prstGeom>
            <a:noFill/>
          </p:spPr>
          <p:txBody>
            <a:bodyPr wrap="square" lIns="36576" tIns="36576" rIns="36576" bIns="36576" anchor="t">
              <a:noAutofit/>
            </a:bodyPr>
            <a:lstStyle/>
            <a:p>
              <a:pPr algn="ctr">
                <a:spcAft>
                  <a:spcPts val="300"/>
                </a:spcAft>
              </a:pPr>
              <a:r>
                <a:rPr sz="1400" b="1" i="0" dirty="0">
                  <a:solidFill>
                    <a:srgbClr val="2F639D"/>
                  </a:solidFill>
                  <a:latin typeface="Aptos"/>
                </a:rPr>
                <a:t>CHÊNH LỆCH SỨC PHÂN BIỆT (</a:t>
              </a:r>
              <a:r>
                <a:rPr sz="1400" b="1" i="0" dirty="0" err="1">
                  <a:solidFill>
                    <a:srgbClr val="2F639D"/>
                  </a:solidFill>
                  <a:latin typeface="Aptos"/>
                </a:rPr>
                <a:t>nhãn</a:t>
              </a:r>
              <a:r>
                <a:rPr sz="1400" b="1" i="0" dirty="0">
                  <a:solidFill>
                    <a:srgbClr val="2F639D"/>
                  </a:solidFill>
                  <a:latin typeface="Aptos"/>
                </a:rPr>
                <a:t> </a:t>
              </a:r>
              <a:r>
                <a:rPr sz="1400" b="1" i="0" dirty="0" err="1">
                  <a:solidFill>
                    <a:srgbClr val="2F639D"/>
                  </a:solidFill>
                  <a:latin typeface="Aptos"/>
                </a:rPr>
                <a:t>khách</a:t>
              </a:r>
              <a:r>
                <a:rPr sz="1400" b="1" i="0" dirty="0">
                  <a:solidFill>
                    <a:srgbClr val="2F639D"/>
                  </a:solidFill>
                  <a:latin typeface="Aptos"/>
                </a:rPr>
                <a:t> − SLA)</a:t>
              </a:r>
            </a:p>
          </p:txBody>
        </p:sp>
        <p:sp>
          <p:nvSpPr>
            <p:cNvPr id="12" name="TextBox 11"/>
            <p:cNvSpPr txBox="1"/>
            <p:nvPr/>
          </p:nvSpPr>
          <p:spPr>
            <a:xfrm>
              <a:off x="658368" y="3849624"/>
              <a:ext cx="5120640" cy="914400"/>
            </a:xfrm>
            <a:prstGeom prst="rect">
              <a:avLst/>
            </a:prstGeom>
            <a:noFill/>
          </p:spPr>
          <p:txBody>
            <a:bodyPr wrap="square" lIns="36576" tIns="36576" rIns="36576" bIns="36576" anchor="t">
              <a:noAutofit/>
            </a:bodyPr>
            <a:lstStyle/>
            <a:p>
              <a:pPr algn="ctr">
                <a:spcAft>
                  <a:spcPts val="300"/>
                </a:spcAft>
              </a:pPr>
              <a:r>
                <a:rPr sz="4800" b="1" i="0" dirty="0">
                  <a:solidFill>
                    <a:srgbClr val="162C46"/>
                  </a:solidFill>
                  <a:latin typeface="Aptos Display"/>
                </a:rPr>
                <a:t>+0,208</a:t>
              </a:r>
            </a:p>
          </p:txBody>
        </p:sp>
        <p:sp>
          <p:nvSpPr>
            <p:cNvPr id="13" name="TextBox 12"/>
            <p:cNvSpPr txBox="1"/>
            <p:nvPr/>
          </p:nvSpPr>
          <p:spPr>
            <a:xfrm>
              <a:off x="731520" y="4670266"/>
              <a:ext cx="5120640" cy="861854"/>
            </a:xfrm>
            <a:prstGeom prst="rect">
              <a:avLst/>
            </a:prstGeom>
            <a:noFill/>
          </p:spPr>
          <p:txBody>
            <a:bodyPr wrap="square" lIns="36576" tIns="36576" rIns="36576" bIns="36576" anchor="t">
              <a:noAutofit/>
            </a:bodyPr>
            <a:lstStyle/>
            <a:p>
              <a:pPr algn="ctr">
                <a:spcAft>
                  <a:spcPts val="300"/>
                </a:spcAft>
              </a:pPr>
              <a:r>
                <a:rPr sz="1600" b="1" i="0" dirty="0">
                  <a:solidFill>
                    <a:srgbClr val="242B33"/>
                  </a:solidFill>
                  <a:latin typeface="Aptos"/>
                </a:rPr>
                <a:t>KTC 95% [0,097 · 0,353]</a:t>
              </a:r>
            </a:p>
            <a:p>
              <a:pPr algn="ctr">
                <a:spcAft>
                  <a:spcPts val="300"/>
                </a:spcAft>
              </a:pPr>
              <a:r>
                <a:rPr sz="1400" b="0" i="0" dirty="0">
                  <a:solidFill>
                    <a:srgbClr val="5E6A78"/>
                  </a:solidFill>
                  <a:latin typeface="Aptos"/>
                </a:rPr>
                <a:t>n = 15.816 · </a:t>
              </a:r>
              <a:r>
                <a:rPr sz="1400" b="0" i="0" dirty="0" err="1">
                  <a:solidFill>
                    <a:srgbClr val="5E6A78"/>
                  </a:solidFill>
                  <a:latin typeface="Aptos"/>
                </a:rPr>
                <a:t>n_eff</a:t>
              </a:r>
              <a:r>
                <a:rPr sz="1400" b="0" i="0" dirty="0">
                  <a:solidFill>
                    <a:srgbClr val="5E6A78"/>
                  </a:solidFill>
                  <a:latin typeface="Aptos"/>
                </a:rPr>
                <a:t> = 4.689 · 1.916 </a:t>
              </a:r>
              <a:r>
                <a:rPr sz="1400" b="0" i="0" dirty="0" err="1">
                  <a:solidFill>
                    <a:srgbClr val="5E6A78"/>
                  </a:solidFill>
                  <a:latin typeface="Aptos"/>
                </a:rPr>
                <a:t>cụm</a:t>
              </a:r>
              <a:r>
                <a:rPr sz="1400" b="0" i="0" dirty="0">
                  <a:solidFill>
                    <a:srgbClr val="5E6A78"/>
                  </a:solidFill>
                  <a:latin typeface="Aptos"/>
                </a:rPr>
                <a:t> </a:t>
              </a:r>
              <a:r>
                <a:rPr sz="1400" b="0" i="0" dirty="0" err="1">
                  <a:solidFill>
                    <a:srgbClr val="5E6A78"/>
                  </a:solidFill>
                  <a:latin typeface="Aptos"/>
                </a:rPr>
                <a:t>sản</a:t>
              </a:r>
              <a:r>
                <a:rPr sz="1400" b="0" i="0" dirty="0">
                  <a:solidFill>
                    <a:srgbClr val="5E6A78"/>
                  </a:solidFill>
                  <a:latin typeface="Aptos"/>
                </a:rPr>
                <a:t> </a:t>
              </a:r>
              <a:r>
                <a:rPr sz="1400" b="0" i="0" dirty="0" err="1">
                  <a:solidFill>
                    <a:srgbClr val="5E6A78"/>
                  </a:solidFill>
                  <a:latin typeface="Aptos"/>
                </a:rPr>
                <a:t>phẩm</a:t>
              </a:r>
              <a:endParaRPr sz="1400" b="0" i="0" dirty="0">
                <a:solidFill>
                  <a:srgbClr val="5E6A78"/>
                </a:solidFill>
                <a:latin typeface="Aptos"/>
              </a:endParaRPr>
            </a:p>
            <a:p>
              <a:pPr algn="ctr">
                <a:spcAft>
                  <a:spcPts val="300"/>
                </a:spcAft>
              </a:pPr>
              <a:r>
                <a:rPr sz="1400" b="0" i="0" dirty="0">
                  <a:solidFill>
                    <a:srgbClr val="5E6A78"/>
                  </a:solidFill>
                  <a:latin typeface="Aptos"/>
                </a:rPr>
                <a:t>bootstrap </a:t>
              </a:r>
              <a:r>
                <a:rPr sz="1400" b="0" i="0" dirty="0" err="1">
                  <a:solidFill>
                    <a:srgbClr val="5E6A78"/>
                  </a:solidFill>
                  <a:latin typeface="Aptos"/>
                </a:rPr>
                <a:t>theo</a:t>
              </a:r>
              <a:r>
                <a:rPr sz="1400" b="0" i="0" dirty="0">
                  <a:solidFill>
                    <a:srgbClr val="5E6A78"/>
                  </a:solidFill>
                  <a:latin typeface="Aptos"/>
                </a:rPr>
                <a:t> </a:t>
              </a:r>
              <a:r>
                <a:rPr sz="1400" b="0" i="0" dirty="0" err="1">
                  <a:solidFill>
                    <a:srgbClr val="5E6A78"/>
                  </a:solidFill>
                  <a:latin typeface="Aptos"/>
                </a:rPr>
                <a:t>cụm</a:t>
              </a:r>
              <a:r>
                <a:rPr sz="1400" b="0" i="0" dirty="0">
                  <a:solidFill>
                    <a:srgbClr val="5E6A78"/>
                  </a:solidFill>
                  <a:latin typeface="Aptos"/>
                </a:rPr>
                <a:t> </a:t>
              </a:r>
              <a:r>
                <a:rPr sz="1400" b="0" i="0" dirty="0" err="1">
                  <a:solidFill>
                    <a:srgbClr val="5E6A78"/>
                  </a:solidFill>
                  <a:latin typeface="Aptos"/>
                </a:rPr>
                <a:t>sản</a:t>
              </a:r>
              <a:r>
                <a:rPr sz="1400" b="0" i="0" dirty="0">
                  <a:solidFill>
                    <a:srgbClr val="5E6A78"/>
                  </a:solidFill>
                  <a:latin typeface="Aptos"/>
                </a:rPr>
                <a:t> </a:t>
              </a:r>
              <a:r>
                <a:rPr sz="1400" b="0" i="0" dirty="0" err="1">
                  <a:solidFill>
                    <a:srgbClr val="5E6A78"/>
                  </a:solidFill>
                  <a:latin typeface="Aptos"/>
                </a:rPr>
                <a:t>phẩm</a:t>
              </a:r>
              <a:r>
                <a:rPr sz="1400" b="0" i="0" dirty="0">
                  <a:solidFill>
                    <a:srgbClr val="5E6A78"/>
                  </a:solidFill>
                  <a:latin typeface="Aptos"/>
                </a:rPr>
                <a:t>, 2.000 </a:t>
              </a:r>
              <a:r>
                <a:rPr sz="1400" b="0" i="0" dirty="0" err="1">
                  <a:solidFill>
                    <a:srgbClr val="5E6A78"/>
                  </a:solidFill>
                  <a:latin typeface="Aptos"/>
                </a:rPr>
                <a:t>lần</a:t>
              </a:r>
              <a:r>
                <a:rPr sz="1400" b="0" i="0" dirty="0">
                  <a:solidFill>
                    <a:srgbClr val="5E6A78"/>
                  </a:solidFill>
                  <a:latin typeface="Aptos"/>
                </a:rPr>
                <a:t> — KTC </a:t>
              </a:r>
              <a:r>
                <a:rPr sz="1400" b="0" i="0" dirty="0" err="1">
                  <a:solidFill>
                    <a:srgbClr val="5E6A78"/>
                  </a:solidFill>
                  <a:latin typeface="Aptos"/>
                </a:rPr>
                <a:t>không</a:t>
              </a:r>
              <a:r>
                <a:rPr sz="1400" b="0" i="0" dirty="0">
                  <a:solidFill>
                    <a:srgbClr val="5E6A78"/>
                  </a:solidFill>
                  <a:latin typeface="Aptos"/>
                </a:rPr>
                <a:t> </a:t>
              </a:r>
              <a:r>
                <a:rPr sz="1400" b="0" i="0" dirty="0" err="1">
                  <a:solidFill>
                    <a:srgbClr val="5E6A78"/>
                  </a:solidFill>
                  <a:latin typeface="Aptos"/>
                </a:rPr>
                <a:t>chứa</a:t>
              </a:r>
              <a:r>
                <a:rPr sz="1400" b="0" i="0" dirty="0">
                  <a:solidFill>
                    <a:srgbClr val="5E6A78"/>
                  </a:solidFill>
                  <a:latin typeface="Aptos"/>
                </a:rPr>
                <a:t> 0</a:t>
              </a:r>
            </a:p>
          </p:txBody>
        </p:sp>
      </p:grpSp>
      <p:sp>
        <p:nvSpPr>
          <p:cNvPr id="16" name="Rounded Rectangle 15"/>
          <p:cNvSpPr/>
          <p:nvPr/>
        </p:nvSpPr>
        <p:spPr>
          <a:xfrm>
            <a:off x="6217920" y="4526280"/>
            <a:ext cx="5394960" cy="1051560"/>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55080" y="4590288"/>
            <a:ext cx="5166360" cy="960120"/>
          </a:xfrm>
          <a:prstGeom prst="rect">
            <a:avLst/>
          </a:prstGeom>
          <a:noFill/>
        </p:spPr>
        <p:txBody>
          <a:bodyPr wrap="square" lIns="36576" tIns="36576" rIns="36576" bIns="36576" anchor="t">
            <a:noAutofit/>
          </a:bodyPr>
          <a:lstStyle/>
          <a:p>
            <a:pPr algn="l">
              <a:spcAft>
                <a:spcPts val="300"/>
              </a:spcAft>
            </a:pPr>
            <a:r>
              <a:rPr sz="1200" b="1" i="0" dirty="0" err="1">
                <a:solidFill>
                  <a:srgbClr val="162C46"/>
                </a:solidFill>
                <a:latin typeface="Aptos"/>
              </a:rPr>
              <a:t>Bẫy</a:t>
            </a:r>
            <a:r>
              <a:rPr sz="1200" b="1" i="0" dirty="0">
                <a:solidFill>
                  <a:srgbClr val="162C46"/>
                </a:solidFill>
                <a:latin typeface="Aptos"/>
              </a:rPr>
              <a:t> SLA (</a:t>
            </a:r>
            <a:r>
              <a:rPr sz="1200" b="1" i="0" dirty="0" err="1">
                <a:solidFill>
                  <a:srgbClr val="162C46"/>
                </a:solidFill>
                <a:latin typeface="Aptos"/>
              </a:rPr>
              <a:t>bảng</a:t>
            </a:r>
            <a:r>
              <a:rPr sz="1200" b="1" i="0" dirty="0">
                <a:solidFill>
                  <a:srgbClr val="162C46"/>
                </a:solidFill>
                <a:latin typeface="Aptos"/>
              </a:rPr>
              <a:t> </a:t>
            </a:r>
            <a:r>
              <a:rPr sz="1200" b="1" i="0" dirty="0" err="1">
                <a:solidFill>
                  <a:srgbClr val="162C46"/>
                </a:solidFill>
                <a:latin typeface="Aptos"/>
              </a:rPr>
              <a:t>chéo</a:t>
            </a:r>
            <a:r>
              <a:rPr sz="1200" b="1" i="0" dirty="0">
                <a:solidFill>
                  <a:srgbClr val="162C46"/>
                </a:solidFill>
                <a:latin typeface="Aptos"/>
              </a:rPr>
              <a:t> 2×2): </a:t>
            </a:r>
          </a:p>
          <a:p>
            <a:pPr algn="l">
              <a:spcAft>
                <a:spcPts val="300"/>
              </a:spcAft>
            </a:pPr>
            <a:r>
              <a:rPr sz="1200" b="1" i="0" dirty="0">
                <a:solidFill>
                  <a:srgbClr val="B14242"/>
                </a:solidFill>
                <a:latin typeface="Aptos"/>
              </a:rPr>
              <a:t>252</a:t>
            </a:r>
            <a:r>
              <a:rPr sz="1200" b="0" i="0" dirty="0">
                <a:solidFill>
                  <a:srgbClr val="5E6A78"/>
                </a:solidFill>
                <a:latin typeface="Aptos"/>
              </a:rPr>
              <a:t> </a:t>
            </a:r>
            <a:r>
              <a:rPr sz="1200" b="0" i="0" dirty="0" err="1">
                <a:solidFill>
                  <a:srgbClr val="5E6A78"/>
                </a:solidFill>
                <a:latin typeface="Aptos"/>
              </a:rPr>
              <a:t>đơn</a:t>
            </a:r>
            <a:r>
              <a:rPr sz="1200" b="0" i="0" dirty="0">
                <a:solidFill>
                  <a:srgbClr val="5E6A78"/>
                </a:solidFill>
                <a:latin typeface="Aptos"/>
              </a:rPr>
              <a:t> </a:t>
            </a:r>
            <a:r>
              <a:rPr sz="1200" b="0" i="0" dirty="0" err="1">
                <a:solidFill>
                  <a:srgbClr val="5E6A78"/>
                </a:solidFill>
                <a:latin typeface="Aptos"/>
              </a:rPr>
              <a:t>trong</a:t>
            </a:r>
            <a:r>
              <a:rPr sz="1200" b="0" i="0" dirty="0">
                <a:solidFill>
                  <a:srgbClr val="5E6A78"/>
                </a:solidFill>
                <a:latin typeface="Aptos"/>
              </a:rPr>
              <a:t> SLA </a:t>
            </a:r>
            <a:r>
              <a:rPr sz="1200" b="0" i="0" dirty="0" err="1">
                <a:solidFill>
                  <a:srgbClr val="5E6A78"/>
                </a:solidFill>
                <a:latin typeface="Aptos"/>
              </a:rPr>
              <a:t>mà</a:t>
            </a:r>
            <a:r>
              <a:rPr sz="1200" b="0" i="0" dirty="0">
                <a:solidFill>
                  <a:srgbClr val="5E6A78"/>
                </a:solidFill>
                <a:latin typeface="Aptos"/>
              </a:rPr>
              <a:t> </a:t>
            </a:r>
            <a:r>
              <a:rPr sz="1200" b="0" i="0" dirty="0" err="1">
                <a:solidFill>
                  <a:srgbClr val="5E6A78"/>
                </a:solidFill>
                <a:latin typeface="Aptos"/>
              </a:rPr>
              <a:t>khách</a:t>
            </a:r>
            <a:r>
              <a:rPr sz="1200" b="0" i="0" dirty="0">
                <a:solidFill>
                  <a:srgbClr val="5E6A78"/>
                </a:solidFill>
                <a:latin typeface="Aptos"/>
              </a:rPr>
              <a:t> </a:t>
            </a:r>
            <a:r>
              <a:rPr sz="1200" b="0" i="0" dirty="0" err="1">
                <a:solidFill>
                  <a:srgbClr val="5E6A78"/>
                </a:solidFill>
                <a:latin typeface="Aptos"/>
              </a:rPr>
              <a:t>nói</a:t>
            </a:r>
            <a:r>
              <a:rPr sz="1200" b="0" i="0" dirty="0">
                <a:solidFill>
                  <a:srgbClr val="5E6A78"/>
                </a:solidFill>
                <a:latin typeface="Aptos"/>
              </a:rPr>
              <a:t> </a:t>
            </a:r>
            <a:r>
              <a:rPr sz="1200" b="0" i="0" dirty="0" err="1">
                <a:solidFill>
                  <a:srgbClr val="5E6A78"/>
                </a:solidFill>
                <a:latin typeface="Aptos"/>
              </a:rPr>
              <a:t>trễ</a:t>
            </a:r>
            <a:r>
              <a:rPr sz="1200" b="0" i="0" dirty="0">
                <a:solidFill>
                  <a:srgbClr val="5E6A78"/>
                </a:solidFill>
                <a:latin typeface="Aptos"/>
              </a:rPr>
              <a:t>  ·  </a:t>
            </a:r>
            <a:r>
              <a:rPr sz="1200" b="1" i="0" dirty="0">
                <a:solidFill>
                  <a:srgbClr val="BE7D2F"/>
                </a:solidFill>
                <a:latin typeface="Aptos"/>
              </a:rPr>
              <a:t>339</a:t>
            </a:r>
            <a:r>
              <a:rPr sz="1200" b="0" i="0" dirty="0">
                <a:solidFill>
                  <a:srgbClr val="5E6A78"/>
                </a:solidFill>
                <a:latin typeface="Aptos"/>
              </a:rPr>
              <a:t> </a:t>
            </a:r>
            <a:r>
              <a:rPr sz="1200" b="0" i="0" dirty="0" err="1">
                <a:solidFill>
                  <a:srgbClr val="5E6A78"/>
                </a:solidFill>
                <a:latin typeface="Aptos"/>
              </a:rPr>
              <a:t>đơn</a:t>
            </a:r>
            <a:r>
              <a:rPr sz="1200" b="0" i="0" dirty="0">
                <a:solidFill>
                  <a:srgbClr val="5E6A78"/>
                </a:solidFill>
                <a:latin typeface="Aptos"/>
              </a:rPr>
              <a:t> </a:t>
            </a:r>
            <a:r>
              <a:rPr sz="1200" b="0" i="0" dirty="0" err="1">
                <a:solidFill>
                  <a:srgbClr val="5E6A78"/>
                </a:solidFill>
                <a:latin typeface="Aptos"/>
              </a:rPr>
              <a:t>vượt</a:t>
            </a:r>
            <a:r>
              <a:rPr sz="1200" b="0" i="0" dirty="0">
                <a:solidFill>
                  <a:srgbClr val="5E6A78"/>
                </a:solidFill>
                <a:latin typeface="Aptos"/>
              </a:rPr>
              <a:t> SLA </a:t>
            </a:r>
            <a:r>
              <a:rPr sz="1200" b="0" i="0" dirty="0" err="1">
                <a:solidFill>
                  <a:srgbClr val="5E6A78"/>
                </a:solidFill>
                <a:latin typeface="Aptos"/>
              </a:rPr>
              <a:t>mà</a:t>
            </a:r>
            <a:r>
              <a:rPr sz="1200" b="0" i="0" dirty="0">
                <a:solidFill>
                  <a:srgbClr val="5E6A78"/>
                </a:solidFill>
                <a:latin typeface="Aptos"/>
              </a:rPr>
              <a:t> </a:t>
            </a:r>
            <a:r>
              <a:rPr sz="1200" b="0" i="0" dirty="0" err="1">
                <a:solidFill>
                  <a:srgbClr val="5E6A78"/>
                </a:solidFill>
                <a:latin typeface="Aptos"/>
              </a:rPr>
              <a:t>khách</a:t>
            </a:r>
            <a:r>
              <a:rPr sz="1200" b="0" i="0" dirty="0">
                <a:solidFill>
                  <a:srgbClr val="5E6A78"/>
                </a:solidFill>
                <a:latin typeface="Aptos"/>
              </a:rPr>
              <a:t> </a:t>
            </a:r>
            <a:r>
              <a:rPr sz="1200" b="0" i="0" dirty="0" err="1">
                <a:solidFill>
                  <a:srgbClr val="5E6A78"/>
                </a:solidFill>
                <a:latin typeface="Aptos"/>
              </a:rPr>
              <a:t>nói</a:t>
            </a:r>
            <a:r>
              <a:rPr sz="1200" b="0" i="0" dirty="0">
                <a:solidFill>
                  <a:srgbClr val="5E6A78"/>
                </a:solidFill>
                <a:latin typeface="Aptos"/>
              </a:rPr>
              <a:t> </a:t>
            </a:r>
            <a:r>
              <a:rPr sz="1200" b="0" i="0" dirty="0" err="1">
                <a:solidFill>
                  <a:srgbClr val="5E6A78"/>
                </a:solidFill>
                <a:latin typeface="Aptos"/>
              </a:rPr>
              <a:t>đúng</a:t>
            </a:r>
            <a:r>
              <a:rPr sz="1200" b="0" i="0" dirty="0">
                <a:solidFill>
                  <a:srgbClr val="5E6A78"/>
                </a:solidFill>
                <a:latin typeface="Aptos"/>
              </a:rPr>
              <a:t> </a:t>
            </a:r>
            <a:r>
              <a:rPr sz="1200" b="0" i="0" dirty="0" err="1">
                <a:solidFill>
                  <a:srgbClr val="5E6A78"/>
                </a:solidFill>
                <a:latin typeface="Aptos"/>
              </a:rPr>
              <a:t>hẹn</a:t>
            </a:r>
            <a:endParaRPr sz="1200" b="0" i="0" dirty="0">
              <a:solidFill>
                <a:srgbClr val="5E6A78"/>
              </a:solidFill>
              <a:latin typeface="Aptos"/>
            </a:endParaRPr>
          </a:p>
          <a:p>
            <a:pPr algn="l">
              <a:spcAft>
                <a:spcPts val="300"/>
              </a:spcAft>
            </a:pPr>
            <a:r>
              <a:rPr sz="1100" b="0" i="0" dirty="0">
                <a:solidFill>
                  <a:srgbClr val="5E6A78"/>
                </a:solidFill>
                <a:latin typeface="Aptos"/>
              </a:rPr>
              <a:t>Hình trên: “mẻ” = một lần cào (mẫu mở rộng 66.851 → 117.819 → 203.510 review); sửa lệch đồng hồ 7h cũng không đổi dấu kết luận.</a:t>
            </a:r>
            <a:endParaRPr sz="1200" b="0" i="0" dirty="0">
              <a:solidFill>
                <a:srgbClr val="5E6A78"/>
              </a:solidFill>
              <a:latin typeface="Aptos"/>
            </a:endParaRPr>
          </a:p>
        </p:txBody>
      </p:sp>
      <p:sp>
        <p:nvSpPr>
          <p:cNvPr id="18" name="Rounded Rectangle 17"/>
          <p:cNvSpPr/>
          <p:nvPr/>
        </p:nvSpPr>
        <p:spPr>
          <a:xfrm>
            <a:off x="603504" y="5760720"/>
            <a:ext cx="11009376" cy="548640"/>
          </a:xfrm>
          <a:prstGeom prst="roundRect">
            <a:avLst>
              <a:gd name="adj" fmla="val 18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400" b="1" i="0" dirty="0" err="1">
                <a:solidFill>
                  <a:srgbClr val="FFFFFF"/>
                </a:solidFill>
                <a:latin typeface="Aptos"/>
              </a:rPr>
              <a:t>Khách</a:t>
            </a:r>
            <a:r>
              <a:rPr sz="1400" b="1" i="0" dirty="0">
                <a:solidFill>
                  <a:srgbClr val="FFFFFF"/>
                </a:solidFill>
                <a:latin typeface="Aptos"/>
              </a:rPr>
              <a:t> </a:t>
            </a:r>
            <a:r>
              <a:rPr sz="1400" b="1" i="0" dirty="0" err="1">
                <a:solidFill>
                  <a:srgbClr val="FFFFFF"/>
                </a:solidFill>
                <a:latin typeface="Aptos"/>
              </a:rPr>
              <a:t>nói</a:t>
            </a:r>
            <a:r>
              <a:rPr sz="1400" b="1" i="0" dirty="0">
                <a:solidFill>
                  <a:srgbClr val="FFFFFF"/>
                </a:solidFill>
                <a:latin typeface="Aptos"/>
              </a:rPr>
              <a:t> </a:t>
            </a:r>
            <a:r>
              <a:rPr sz="1400" b="1" i="0" dirty="0" err="1">
                <a:solidFill>
                  <a:srgbClr val="FFFFFF"/>
                </a:solidFill>
                <a:latin typeface="Aptos"/>
              </a:rPr>
              <a:t>trễ</a:t>
            </a:r>
            <a:r>
              <a:rPr sz="1400" b="1" i="0" dirty="0">
                <a:solidFill>
                  <a:srgbClr val="FFFFFF"/>
                </a:solidFill>
                <a:latin typeface="Aptos"/>
              </a:rPr>
              <a:t> → rating </a:t>
            </a:r>
            <a:r>
              <a:rPr sz="1400" b="1" i="0" dirty="0" err="1">
                <a:solidFill>
                  <a:srgbClr val="FFFFFF"/>
                </a:solidFill>
                <a:latin typeface="Aptos"/>
              </a:rPr>
              <a:t>giảm</a:t>
            </a:r>
            <a:r>
              <a:rPr sz="1400" b="1" i="0" dirty="0">
                <a:solidFill>
                  <a:srgbClr val="FFFFFF"/>
                </a:solidFill>
                <a:latin typeface="Aptos"/>
              </a:rPr>
              <a:t> 0,31 </a:t>
            </a:r>
            <a:r>
              <a:rPr sz="1400" b="1" i="0" dirty="0" err="1">
                <a:solidFill>
                  <a:srgbClr val="FFFFFF"/>
                </a:solidFill>
                <a:latin typeface="Aptos"/>
              </a:rPr>
              <a:t>điểm</a:t>
            </a:r>
            <a:r>
              <a:rPr sz="1400" b="1" i="0" dirty="0">
                <a:solidFill>
                  <a:srgbClr val="FFFFFF"/>
                </a:solidFill>
                <a:latin typeface="Aptos"/>
              </a:rPr>
              <a:t>; </a:t>
            </a:r>
            <a:r>
              <a:rPr sz="1400" b="1" i="0" dirty="0" err="1">
                <a:solidFill>
                  <a:srgbClr val="FFFFFF"/>
                </a:solidFill>
                <a:latin typeface="Aptos"/>
              </a:rPr>
              <a:t>đơn</a:t>
            </a:r>
            <a:r>
              <a:rPr sz="1400" b="1" i="0" dirty="0">
                <a:solidFill>
                  <a:srgbClr val="FFFFFF"/>
                </a:solidFill>
                <a:latin typeface="Aptos"/>
              </a:rPr>
              <a:t> </a:t>
            </a:r>
            <a:r>
              <a:rPr sz="1400" b="1" i="0" dirty="0" err="1">
                <a:solidFill>
                  <a:srgbClr val="FFFFFF"/>
                </a:solidFill>
                <a:latin typeface="Aptos"/>
              </a:rPr>
              <a:t>vượt</a:t>
            </a:r>
            <a:r>
              <a:rPr sz="1400" b="1" i="0" dirty="0">
                <a:solidFill>
                  <a:srgbClr val="FFFFFF"/>
                </a:solidFill>
                <a:latin typeface="Aptos"/>
              </a:rPr>
              <a:t> SLA → </a:t>
            </a:r>
            <a:r>
              <a:rPr sz="1400" b="1" i="0" dirty="0" err="1">
                <a:solidFill>
                  <a:srgbClr val="FFFFFF"/>
                </a:solidFill>
                <a:latin typeface="Aptos"/>
              </a:rPr>
              <a:t>chỉ</a:t>
            </a:r>
            <a:r>
              <a:rPr sz="1400" b="1" i="0" dirty="0">
                <a:solidFill>
                  <a:srgbClr val="FFFFFF"/>
                </a:solidFill>
                <a:latin typeface="Aptos"/>
              </a:rPr>
              <a:t> </a:t>
            </a:r>
            <a:r>
              <a:rPr sz="1400" b="1" i="0" dirty="0" err="1">
                <a:solidFill>
                  <a:srgbClr val="FFFFFF"/>
                </a:solidFill>
                <a:latin typeface="Aptos"/>
              </a:rPr>
              <a:t>giảm</a:t>
            </a:r>
            <a:r>
              <a:rPr sz="1400" b="1" i="0" dirty="0">
                <a:solidFill>
                  <a:srgbClr val="FFFFFF"/>
                </a:solidFill>
                <a:latin typeface="Aptos"/>
              </a:rPr>
              <a:t> 0,11 </a:t>
            </a:r>
            <a:r>
              <a:rPr sz="1400" b="1" i="0" dirty="0" err="1">
                <a:solidFill>
                  <a:srgbClr val="FFFFFF"/>
                </a:solidFill>
                <a:latin typeface="Aptos"/>
              </a:rPr>
              <a:t>điểm</a:t>
            </a:r>
            <a:r>
              <a:rPr sz="1400" b="1" i="0" dirty="0">
                <a:solidFill>
                  <a:srgbClr val="FFFFFF"/>
                </a:solidFill>
                <a:latin typeface="Aptos"/>
              </a:rPr>
              <a:t>. SLA </a:t>
            </a:r>
            <a:r>
              <a:rPr sz="1400" b="1" i="0" dirty="0" err="1">
                <a:solidFill>
                  <a:srgbClr val="FFFFFF"/>
                </a:solidFill>
                <a:latin typeface="Aptos"/>
              </a:rPr>
              <a:t>đang</a:t>
            </a:r>
            <a:r>
              <a:rPr sz="1400" b="1" i="0" dirty="0">
                <a:solidFill>
                  <a:srgbClr val="FFFFFF"/>
                </a:solidFill>
                <a:latin typeface="Aptos"/>
              </a:rPr>
              <a:t> </a:t>
            </a:r>
            <a:r>
              <a:rPr sz="1400" b="1" i="0" dirty="0" err="1">
                <a:solidFill>
                  <a:srgbClr val="FFFFFF"/>
                </a:solidFill>
                <a:latin typeface="Aptos"/>
              </a:rPr>
              <a:t>đo</a:t>
            </a:r>
            <a:r>
              <a:rPr sz="1400" b="1" i="0" dirty="0">
                <a:solidFill>
                  <a:srgbClr val="FFFFFF"/>
                </a:solidFill>
                <a:latin typeface="Aptos"/>
              </a:rPr>
              <a:t> </a:t>
            </a:r>
            <a:r>
              <a:rPr sz="1400" b="1" i="0" dirty="0" err="1">
                <a:solidFill>
                  <a:srgbClr val="FFFFFF"/>
                </a:solidFill>
                <a:latin typeface="Aptos"/>
              </a:rPr>
              <a:t>sai</a:t>
            </a:r>
            <a:r>
              <a:rPr sz="1400" b="1" i="0" dirty="0">
                <a:solidFill>
                  <a:srgbClr val="FFFFFF"/>
                </a:solidFill>
                <a:latin typeface="Aptos"/>
              </a:rPr>
              <a:t> </a:t>
            </a:r>
            <a:r>
              <a:rPr sz="1400" b="1" i="0" dirty="0" err="1">
                <a:solidFill>
                  <a:srgbClr val="FFFFFF"/>
                </a:solidFill>
                <a:latin typeface="Aptos"/>
              </a:rPr>
              <a:t>thứ</a:t>
            </a:r>
            <a:r>
              <a:rPr sz="1400" b="1" i="0" dirty="0">
                <a:solidFill>
                  <a:srgbClr val="FFFFFF"/>
                </a:solidFill>
                <a:latin typeface="Aptos"/>
              </a:rPr>
              <a:t>.</a:t>
            </a:r>
          </a:p>
        </p:txBody>
      </p:sp>
      <p:sp>
        <p:nvSpPr>
          <p:cNvPr id="19" name="Rounded Rectangle 18"/>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a:t>
            </a:r>
          </a:p>
        </p:txBody>
      </p:sp>
      <p:sp>
        <p:nvSpPr>
          <p:cNvPr id="20" name="Rounded Rectangle 19"/>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Data Collection</a:t>
            </a:r>
          </a:p>
        </p:txBody>
      </p:sp>
      <p:sp>
        <p:nvSpPr>
          <p:cNvPr id="21" name="Rounded Rectangle 20"/>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Cleaning</a:t>
            </a:r>
          </a:p>
        </p:txBody>
      </p:sp>
      <p:sp>
        <p:nvSpPr>
          <p:cNvPr id="22" name="Rounded Rectangle 21"/>
          <p:cNvSpPr/>
          <p:nvPr/>
        </p:nvSpPr>
        <p:spPr>
          <a:xfrm>
            <a:off x="7306056" y="6510528"/>
            <a:ext cx="420624"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EDA</a:t>
            </a:r>
          </a:p>
        </p:txBody>
      </p:sp>
      <p:sp>
        <p:nvSpPr>
          <p:cNvPr id="23" name="Rounded Rectangle 22"/>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Features</a:t>
            </a:r>
          </a:p>
        </p:txBody>
      </p:sp>
      <p:sp>
        <p:nvSpPr>
          <p:cNvPr id="24" name="Rounded Rectangle 23"/>
          <p:cNvSpPr/>
          <p:nvPr/>
        </p:nvSpPr>
        <p:spPr>
          <a:xfrm>
            <a:off x="8494776" y="6510528"/>
            <a:ext cx="69494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Modeling</a:t>
            </a:r>
          </a:p>
        </p:txBody>
      </p:sp>
      <p:sp>
        <p:nvSpPr>
          <p:cNvPr id="25" name="Rounded Rectangle 24"/>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Evaluation</a:t>
            </a:r>
          </a:p>
        </p:txBody>
      </p:sp>
      <p:sp>
        <p:nvSpPr>
          <p:cNvPr id="26" name="Rounded Rectangle 25"/>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 Value</a:t>
            </a:r>
          </a:p>
        </p:txBody>
      </p:sp>
      <p:pic>
        <p:nvPicPr>
          <p:cNvPr id="32" name="Picture 30" descr="A01_slide.png"/>
          <p:cNvPicPr>
            <a:picLocks noChangeAspect="1"/>
          </p:cNvPicPr>
          <p:nvPr/>
        </p:nvPicPr>
        <p:blipFill>
          <a:blip r:embed="rId4"/>
          <a:stretch>
            <a:fillRect/>
          </a:stretch>
        </p:blipFill>
        <p:spPr>
          <a:xfrm>
            <a:off x="6251171" y="1246909"/>
            <a:ext cx="5361709" cy="281445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25780" y="112064"/>
            <a:ext cx="10972800" cy="997196"/>
          </a:xfrm>
          <a:prstGeom prst="rect">
            <a:avLst/>
          </a:prstGeom>
          <a:noFill/>
        </p:spPr>
        <p:txBody>
          <a:bodyPr wrap="square" lIns="36576" tIns="36576" rIns="36576" bIns="36576" anchor="t">
            <a:spAutoFit/>
          </a:bodyPr>
          <a:lstStyle/>
          <a:p>
            <a:pPr algn="l"/>
            <a:r>
              <a:rPr sz="3000" b="1" dirty="0">
                <a:solidFill>
                  <a:srgbClr val="162C46"/>
                </a:solidFill>
                <a:latin typeface="Aptos Display"/>
              </a:rPr>
              <a:t>FEATURE ENGINEERING — XÂY DỰNG ĐẶC TRƯNG CHO DỰ BÁO LOW RATING</a:t>
            </a:r>
          </a:p>
        </p:txBody>
      </p:sp>
      <p:cxnSp>
        <p:nvCxnSpPr>
          <p:cNvPr id="3" name="Connector 2"/>
          <p:cNvCxnSpPr/>
          <p:nvPr/>
        </p:nvCxnSpPr>
        <p:spPr>
          <a:xfrm>
            <a:off x="573024" y="1055108"/>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94360" y="1349257"/>
            <a:ext cx="3840480" cy="320088"/>
          </a:xfrm>
          <a:prstGeom prst="rect">
            <a:avLst/>
          </a:prstGeom>
          <a:noFill/>
        </p:spPr>
        <p:txBody>
          <a:bodyPr wrap="square" lIns="36576" tIns="36576" rIns="36576" bIns="36576" anchor="t">
            <a:spAutoFit/>
          </a:bodyPr>
          <a:lstStyle/>
          <a:p>
            <a:pPr algn="l"/>
            <a:r>
              <a:rPr sz="1600" b="1" dirty="0">
                <a:solidFill>
                  <a:srgbClr val="2F639D"/>
                </a:solidFill>
                <a:latin typeface="Aptos"/>
              </a:rPr>
              <a:t>1. TARGET — XÁC ĐỊNH BIẾN MỤC TIÊU</a:t>
            </a:r>
          </a:p>
        </p:txBody>
      </p:sp>
      <p:sp>
        <p:nvSpPr>
          <p:cNvPr id="6" name="Rounded Rectangle 5"/>
          <p:cNvSpPr/>
          <p:nvPr/>
        </p:nvSpPr>
        <p:spPr>
          <a:xfrm>
            <a:off x="594360" y="1665721"/>
            <a:ext cx="11132820" cy="658368"/>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7" name="TextBox 6"/>
          <p:cNvSpPr txBox="1"/>
          <p:nvPr/>
        </p:nvSpPr>
        <p:spPr>
          <a:xfrm>
            <a:off x="667511" y="1868639"/>
            <a:ext cx="6217920" cy="301621"/>
          </a:xfrm>
          <a:prstGeom prst="rect">
            <a:avLst/>
          </a:prstGeom>
          <a:noFill/>
        </p:spPr>
        <p:txBody>
          <a:bodyPr wrap="square" lIns="45720" tIns="27432" rIns="45720" bIns="27432">
            <a:spAutoFit/>
          </a:bodyPr>
          <a:lstStyle/>
          <a:p>
            <a:pPr algn="l"/>
            <a:r>
              <a:rPr sz="1600" b="1" dirty="0">
                <a:solidFill>
                  <a:srgbClr val="2F639D"/>
                </a:solidFill>
                <a:latin typeface="Aptos"/>
              </a:rPr>
              <a:t>Low Rating = 1</a:t>
            </a:r>
            <a:r>
              <a:rPr sz="1600" b="0" dirty="0">
                <a:solidFill>
                  <a:srgbClr val="242B33"/>
                </a:solidFill>
                <a:latin typeface="Aptos"/>
              </a:rPr>
              <a:t> </a:t>
            </a:r>
            <a:r>
              <a:rPr sz="1600" b="0" dirty="0" err="1">
                <a:solidFill>
                  <a:srgbClr val="242B33"/>
                </a:solidFill>
                <a:latin typeface="Aptos"/>
              </a:rPr>
              <a:t>nếu</a:t>
            </a:r>
            <a:r>
              <a:rPr sz="1600" b="0" dirty="0">
                <a:solidFill>
                  <a:srgbClr val="242B33"/>
                </a:solidFill>
                <a:latin typeface="Aptos"/>
              </a:rPr>
              <a:t> Rating ≤ 3★   |   </a:t>
            </a:r>
            <a:r>
              <a:rPr sz="1600" b="1" dirty="0">
                <a:solidFill>
                  <a:srgbClr val="162C46"/>
                </a:solidFill>
                <a:latin typeface="Aptos"/>
              </a:rPr>
              <a:t>Low Rating = 0</a:t>
            </a:r>
            <a:r>
              <a:rPr sz="1600" b="0" dirty="0">
                <a:solidFill>
                  <a:srgbClr val="242B33"/>
                </a:solidFill>
                <a:latin typeface="Aptos"/>
              </a:rPr>
              <a:t> </a:t>
            </a:r>
            <a:r>
              <a:rPr sz="1600" b="0" dirty="0" err="1">
                <a:solidFill>
                  <a:srgbClr val="242B33"/>
                </a:solidFill>
                <a:latin typeface="Aptos"/>
              </a:rPr>
              <a:t>nếu</a:t>
            </a:r>
            <a:r>
              <a:rPr sz="1600" b="0" dirty="0">
                <a:solidFill>
                  <a:srgbClr val="242B33"/>
                </a:solidFill>
                <a:latin typeface="Aptos"/>
              </a:rPr>
              <a:t> Rating &gt; 3★</a:t>
            </a:r>
          </a:p>
        </p:txBody>
      </p:sp>
      <p:sp>
        <p:nvSpPr>
          <p:cNvPr id="8" name="TextBox 7"/>
          <p:cNvSpPr txBox="1"/>
          <p:nvPr/>
        </p:nvSpPr>
        <p:spPr>
          <a:xfrm>
            <a:off x="6731508" y="1740196"/>
            <a:ext cx="4887468" cy="566309"/>
          </a:xfrm>
          <a:prstGeom prst="rect">
            <a:avLst/>
          </a:prstGeom>
          <a:noFill/>
        </p:spPr>
        <p:txBody>
          <a:bodyPr wrap="square" lIns="36576" tIns="36576" rIns="36576" bIns="36576" anchor="t">
            <a:spAutoFit/>
          </a:bodyPr>
          <a:lstStyle/>
          <a:p>
            <a:pPr algn="l"/>
            <a:r>
              <a:rPr sz="1600" b="0" dirty="0" err="1">
                <a:solidFill>
                  <a:srgbClr val="5E6A78"/>
                </a:solidFill>
                <a:latin typeface="Aptos"/>
              </a:rPr>
              <a:t>Mục</a:t>
            </a:r>
            <a:r>
              <a:rPr sz="1600" b="0" dirty="0">
                <a:solidFill>
                  <a:srgbClr val="5E6A78"/>
                </a:solidFill>
                <a:latin typeface="Aptos"/>
              </a:rPr>
              <a:t> </a:t>
            </a:r>
            <a:r>
              <a:rPr sz="1600" b="0" dirty="0" err="1">
                <a:solidFill>
                  <a:srgbClr val="5E6A78"/>
                </a:solidFill>
                <a:latin typeface="Aptos"/>
              </a:rPr>
              <a:t>tiêu</a:t>
            </a:r>
            <a:r>
              <a:rPr sz="1600" b="0" dirty="0">
                <a:solidFill>
                  <a:srgbClr val="5E6A78"/>
                </a:solidFill>
                <a:latin typeface="Aptos"/>
              </a:rPr>
              <a:t>: </a:t>
            </a:r>
            <a:r>
              <a:rPr sz="1600" b="0" dirty="0" err="1">
                <a:solidFill>
                  <a:srgbClr val="5E6A78"/>
                </a:solidFill>
                <a:latin typeface="Aptos"/>
              </a:rPr>
              <a:t>Ước</a:t>
            </a:r>
            <a:r>
              <a:rPr sz="1600" b="0" dirty="0">
                <a:solidFill>
                  <a:srgbClr val="5E6A78"/>
                </a:solidFill>
                <a:latin typeface="Aptos"/>
              </a:rPr>
              <a:t> </a:t>
            </a:r>
            <a:r>
              <a:rPr sz="1600" b="0" dirty="0" err="1">
                <a:solidFill>
                  <a:srgbClr val="5E6A78"/>
                </a:solidFill>
                <a:latin typeface="Aptos"/>
              </a:rPr>
              <a:t>lượng</a:t>
            </a:r>
            <a:r>
              <a:rPr sz="1600" b="0" dirty="0">
                <a:solidFill>
                  <a:srgbClr val="5E6A78"/>
                </a:solidFill>
                <a:latin typeface="Aptos"/>
              </a:rPr>
              <a:t> </a:t>
            </a:r>
            <a:r>
              <a:rPr sz="1600" b="0" dirty="0" err="1">
                <a:solidFill>
                  <a:srgbClr val="5E6A78"/>
                </a:solidFill>
                <a:latin typeface="Aptos"/>
              </a:rPr>
              <a:t>nguy</a:t>
            </a:r>
            <a:r>
              <a:rPr sz="1600" b="0" dirty="0">
                <a:solidFill>
                  <a:srgbClr val="5E6A78"/>
                </a:solidFill>
                <a:latin typeface="Aptos"/>
              </a:rPr>
              <a:t> </a:t>
            </a:r>
            <a:r>
              <a:rPr sz="1600" b="0" dirty="0" err="1">
                <a:solidFill>
                  <a:srgbClr val="5E6A78"/>
                </a:solidFill>
                <a:latin typeface="Aptos"/>
              </a:rPr>
              <a:t>cơ</a:t>
            </a:r>
            <a:r>
              <a:rPr sz="1600" b="0" dirty="0">
                <a:solidFill>
                  <a:srgbClr val="5E6A78"/>
                </a:solidFill>
                <a:latin typeface="Aptos"/>
              </a:rPr>
              <a:t> </a:t>
            </a:r>
            <a:r>
              <a:rPr sz="1600" b="0" dirty="0" err="1">
                <a:solidFill>
                  <a:srgbClr val="5E6A78"/>
                </a:solidFill>
                <a:latin typeface="Aptos"/>
              </a:rPr>
              <a:t>khách</a:t>
            </a:r>
            <a:r>
              <a:rPr sz="1600" b="0" dirty="0">
                <a:solidFill>
                  <a:srgbClr val="5E6A78"/>
                </a:solidFill>
                <a:latin typeface="Aptos"/>
              </a:rPr>
              <a:t> </a:t>
            </a:r>
            <a:r>
              <a:rPr sz="1600" b="0" dirty="0" err="1">
                <a:solidFill>
                  <a:srgbClr val="5E6A78"/>
                </a:solidFill>
                <a:latin typeface="Aptos"/>
              </a:rPr>
              <a:t>hàng</a:t>
            </a:r>
            <a:r>
              <a:rPr sz="1600" b="0" dirty="0">
                <a:solidFill>
                  <a:srgbClr val="5E6A78"/>
                </a:solidFill>
                <a:latin typeface="Aptos"/>
              </a:rPr>
              <a:t> </a:t>
            </a:r>
            <a:r>
              <a:rPr sz="1600" b="0" dirty="0" err="1">
                <a:solidFill>
                  <a:srgbClr val="5E6A78"/>
                </a:solidFill>
                <a:latin typeface="Aptos"/>
              </a:rPr>
              <a:t>đưa</a:t>
            </a:r>
            <a:r>
              <a:rPr sz="1600" b="0" dirty="0">
                <a:solidFill>
                  <a:srgbClr val="5E6A78"/>
                </a:solidFill>
                <a:latin typeface="Aptos"/>
              </a:rPr>
              <a:t> </a:t>
            </a:r>
            <a:r>
              <a:rPr sz="1600" b="0" dirty="0" err="1">
                <a:solidFill>
                  <a:srgbClr val="5E6A78"/>
                </a:solidFill>
                <a:latin typeface="Aptos"/>
              </a:rPr>
              <a:t>ra</a:t>
            </a:r>
            <a:r>
              <a:rPr sz="1600" b="0" dirty="0">
                <a:solidFill>
                  <a:srgbClr val="5E6A78"/>
                </a:solidFill>
                <a:latin typeface="Aptos"/>
              </a:rPr>
              <a:t> </a:t>
            </a:r>
            <a:r>
              <a:rPr sz="1600" b="0" dirty="0" err="1">
                <a:solidFill>
                  <a:srgbClr val="5E6A78"/>
                </a:solidFill>
                <a:latin typeface="Aptos"/>
              </a:rPr>
              <a:t>đánh</a:t>
            </a:r>
            <a:r>
              <a:rPr sz="1600" b="0" dirty="0">
                <a:solidFill>
                  <a:srgbClr val="5E6A78"/>
                </a:solidFill>
                <a:latin typeface="Aptos"/>
              </a:rPr>
              <a:t> </a:t>
            </a:r>
            <a:r>
              <a:rPr sz="1600" b="0" dirty="0" err="1">
                <a:solidFill>
                  <a:srgbClr val="5E6A78"/>
                </a:solidFill>
                <a:latin typeface="Aptos"/>
              </a:rPr>
              <a:t>giá</a:t>
            </a:r>
            <a:r>
              <a:rPr sz="1600" b="0" dirty="0">
                <a:solidFill>
                  <a:srgbClr val="5E6A78"/>
                </a:solidFill>
                <a:latin typeface="Aptos"/>
              </a:rPr>
              <a:t> </a:t>
            </a:r>
            <a:r>
              <a:rPr sz="1600" b="0" dirty="0" err="1">
                <a:solidFill>
                  <a:srgbClr val="5E6A78"/>
                </a:solidFill>
                <a:latin typeface="Aptos"/>
              </a:rPr>
              <a:t>thấp</a:t>
            </a:r>
            <a:r>
              <a:rPr sz="1600" b="0" dirty="0">
                <a:solidFill>
                  <a:srgbClr val="5E6A78"/>
                </a:solidFill>
                <a:latin typeface="Aptos"/>
              </a:rPr>
              <a:t> </a:t>
            </a:r>
            <a:r>
              <a:rPr sz="1600" b="0" dirty="0" err="1">
                <a:solidFill>
                  <a:srgbClr val="5E6A78"/>
                </a:solidFill>
                <a:latin typeface="Aptos"/>
              </a:rPr>
              <a:t>dựa</a:t>
            </a:r>
            <a:r>
              <a:rPr sz="1600" b="0" dirty="0">
                <a:solidFill>
                  <a:srgbClr val="5E6A78"/>
                </a:solidFill>
                <a:latin typeface="Aptos"/>
              </a:rPr>
              <a:t> </a:t>
            </a:r>
            <a:r>
              <a:rPr sz="1600" b="0" dirty="0" err="1">
                <a:solidFill>
                  <a:srgbClr val="5E6A78"/>
                </a:solidFill>
                <a:latin typeface="Aptos"/>
              </a:rPr>
              <a:t>trên</a:t>
            </a:r>
            <a:r>
              <a:rPr sz="1600" b="0" dirty="0">
                <a:solidFill>
                  <a:srgbClr val="5E6A78"/>
                </a:solidFill>
                <a:latin typeface="Aptos"/>
              </a:rPr>
              <a:t> </a:t>
            </a:r>
            <a:r>
              <a:rPr sz="1600" b="0" dirty="0" err="1">
                <a:solidFill>
                  <a:srgbClr val="5E6A78"/>
                </a:solidFill>
                <a:latin typeface="Aptos"/>
              </a:rPr>
              <a:t>thông</a:t>
            </a:r>
            <a:r>
              <a:rPr sz="1600" b="0" dirty="0">
                <a:solidFill>
                  <a:srgbClr val="5E6A78"/>
                </a:solidFill>
                <a:latin typeface="Aptos"/>
              </a:rPr>
              <a:t> tin </a:t>
            </a:r>
            <a:r>
              <a:rPr sz="1600" b="0" dirty="0" err="1">
                <a:solidFill>
                  <a:srgbClr val="5E6A78"/>
                </a:solidFill>
                <a:latin typeface="Aptos"/>
              </a:rPr>
              <a:t>có</a:t>
            </a:r>
            <a:r>
              <a:rPr sz="1600" b="0" dirty="0">
                <a:solidFill>
                  <a:srgbClr val="5E6A78"/>
                </a:solidFill>
                <a:latin typeface="Aptos"/>
              </a:rPr>
              <a:t> </a:t>
            </a:r>
            <a:r>
              <a:rPr sz="1600" b="0" dirty="0" err="1">
                <a:solidFill>
                  <a:srgbClr val="5E6A78"/>
                </a:solidFill>
                <a:latin typeface="Aptos"/>
              </a:rPr>
              <a:t>trước</a:t>
            </a:r>
            <a:r>
              <a:rPr sz="1600" b="0" dirty="0">
                <a:solidFill>
                  <a:srgbClr val="5E6A78"/>
                </a:solidFill>
                <a:latin typeface="Aptos"/>
              </a:rPr>
              <a:t> </a:t>
            </a:r>
            <a:r>
              <a:rPr sz="1600" b="0" dirty="0" err="1">
                <a:solidFill>
                  <a:srgbClr val="5E6A78"/>
                </a:solidFill>
                <a:latin typeface="Aptos"/>
              </a:rPr>
              <a:t>thời</a:t>
            </a:r>
            <a:r>
              <a:rPr sz="1600" b="0" dirty="0">
                <a:solidFill>
                  <a:srgbClr val="5E6A78"/>
                </a:solidFill>
                <a:latin typeface="Aptos"/>
              </a:rPr>
              <a:t> </a:t>
            </a:r>
            <a:r>
              <a:rPr sz="1600" b="0" dirty="0" err="1">
                <a:solidFill>
                  <a:srgbClr val="5E6A78"/>
                </a:solidFill>
                <a:latin typeface="Aptos"/>
              </a:rPr>
              <a:t>điểm</a:t>
            </a:r>
            <a:r>
              <a:rPr sz="1600" b="0" dirty="0">
                <a:solidFill>
                  <a:srgbClr val="5E6A78"/>
                </a:solidFill>
                <a:latin typeface="Aptos"/>
              </a:rPr>
              <a:t> </a:t>
            </a:r>
            <a:r>
              <a:rPr sz="1600" b="0" dirty="0" err="1">
                <a:solidFill>
                  <a:srgbClr val="5E6A78"/>
                </a:solidFill>
                <a:latin typeface="Aptos"/>
              </a:rPr>
              <a:t>đánh</a:t>
            </a:r>
            <a:r>
              <a:rPr sz="1600" b="0" dirty="0">
                <a:solidFill>
                  <a:srgbClr val="5E6A78"/>
                </a:solidFill>
                <a:latin typeface="Aptos"/>
              </a:rPr>
              <a:t> </a:t>
            </a:r>
            <a:r>
              <a:rPr sz="1600" b="0" dirty="0" err="1">
                <a:solidFill>
                  <a:srgbClr val="5E6A78"/>
                </a:solidFill>
                <a:latin typeface="Aptos"/>
              </a:rPr>
              <a:t>giá</a:t>
            </a:r>
            <a:r>
              <a:rPr sz="1600" b="0" dirty="0">
                <a:solidFill>
                  <a:srgbClr val="5E6A78"/>
                </a:solidFill>
                <a:latin typeface="Aptos"/>
              </a:rPr>
              <a:t>.</a:t>
            </a:r>
          </a:p>
        </p:txBody>
      </p:sp>
      <p:sp>
        <p:nvSpPr>
          <p:cNvPr id="9" name="TextBox 8"/>
          <p:cNvSpPr txBox="1"/>
          <p:nvPr/>
        </p:nvSpPr>
        <p:spPr>
          <a:xfrm>
            <a:off x="573024" y="2518351"/>
            <a:ext cx="3840480" cy="320088"/>
          </a:xfrm>
          <a:prstGeom prst="rect">
            <a:avLst/>
          </a:prstGeom>
          <a:noFill/>
        </p:spPr>
        <p:txBody>
          <a:bodyPr wrap="square" lIns="36576" tIns="36576" rIns="36576" bIns="36576" anchor="t">
            <a:spAutoFit/>
          </a:bodyPr>
          <a:lstStyle/>
          <a:p>
            <a:pPr algn="l"/>
            <a:r>
              <a:rPr sz="1600" b="1" dirty="0">
                <a:solidFill>
                  <a:srgbClr val="2F639D"/>
                </a:solidFill>
                <a:latin typeface="Aptos"/>
              </a:rPr>
              <a:t>2. FEATURES — CÁC NHÓM ĐẶC TRƯNG</a:t>
            </a:r>
          </a:p>
        </p:txBody>
      </p:sp>
      <p:sp>
        <p:nvSpPr>
          <p:cNvPr id="10" name="Rounded Rectangle 9"/>
          <p:cNvSpPr/>
          <p:nvPr/>
        </p:nvSpPr>
        <p:spPr>
          <a:xfrm>
            <a:off x="594360" y="3013464"/>
            <a:ext cx="3364992" cy="1589103"/>
          </a:xfrm>
          <a:prstGeom prst="roundRect">
            <a:avLst/>
          </a:prstGeom>
          <a:solidFill>
            <a:srgbClr val="FFFFFF"/>
          </a:solidFill>
          <a:ln w="12700">
            <a:solidFill>
              <a:srgbClr val="2F639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1" name="TextBox 10"/>
          <p:cNvSpPr txBox="1"/>
          <p:nvPr/>
        </p:nvSpPr>
        <p:spPr>
          <a:xfrm>
            <a:off x="758951" y="3178057"/>
            <a:ext cx="3017520" cy="320088"/>
          </a:xfrm>
          <a:prstGeom prst="rect">
            <a:avLst/>
          </a:prstGeom>
          <a:noFill/>
        </p:spPr>
        <p:txBody>
          <a:bodyPr wrap="square" lIns="36576" tIns="36576" rIns="36576" bIns="36576" anchor="t">
            <a:spAutoFit/>
          </a:bodyPr>
          <a:lstStyle/>
          <a:p>
            <a:pPr algn="l"/>
            <a:r>
              <a:rPr sz="1600" b="1" dirty="0">
                <a:solidFill>
                  <a:srgbClr val="162C46"/>
                </a:solidFill>
                <a:latin typeface="Aptos"/>
              </a:rPr>
              <a:t>2.1 DELIVERY FEATURES</a:t>
            </a:r>
          </a:p>
        </p:txBody>
      </p:sp>
      <p:sp>
        <p:nvSpPr>
          <p:cNvPr id="12" name="TextBox 11"/>
          <p:cNvSpPr txBox="1"/>
          <p:nvPr/>
        </p:nvSpPr>
        <p:spPr>
          <a:xfrm>
            <a:off x="758951" y="3543817"/>
            <a:ext cx="3017520" cy="812530"/>
          </a:xfrm>
          <a:prstGeom prst="rect">
            <a:avLst/>
          </a:prstGeom>
          <a:noFill/>
        </p:spPr>
        <p:txBody>
          <a:bodyPr wrap="square" lIns="36576" tIns="36576" rIns="36576" bIns="36576" anchor="t">
            <a:spAutoFit/>
          </a:bodyPr>
          <a:lstStyle/>
          <a:p>
            <a:pPr algn="l"/>
            <a:r>
              <a:rPr sz="1400" b="0" dirty="0">
                <a:solidFill>
                  <a:srgbClr val="5E6A78"/>
                </a:solidFill>
                <a:latin typeface="Aptos"/>
              </a:rPr>
              <a:t>lead_days · giờ giao · cuối tuần
SLA Status: loại (hàm của lead_days)
Thời điểm mua: tháng · thứ · giờ</a:t>
            </a:r>
            <a:endParaRPr sz="1600" b="0" dirty="0">
              <a:solidFill>
                <a:srgbClr val="5E6A78"/>
              </a:solidFill>
              <a:latin typeface="Aptos"/>
            </a:endParaRPr>
          </a:p>
        </p:txBody>
      </p:sp>
      <p:sp>
        <p:nvSpPr>
          <p:cNvPr id="13" name="Rounded Rectangle 12"/>
          <p:cNvSpPr/>
          <p:nvPr/>
        </p:nvSpPr>
        <p:spPr>
          <a:xfrm>
            <a:off x="4270247" y="3013464"/>
            <a:ext cx="3364992" cy="1583531"/>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4" name="TextBox 13"/>
          <p:cNvSpPr txBox="1"/>
          <p:nvPr/>
        </p:nvSpPr>
        <p:spPr>
          <a:xfrm>
            <a:off x="4434839" y="3178057"/>
            <a:ext cx="3017520" cy="320088"/>
          </a:xfrm>
          <a:prstGeom prst="rect">
            <a:avLst/>
          </a:prstGeom>
          <a:noFill/>
        </p:spPr>
        <p:txBody>
          <a:bodyPr wrap="square" lIns="36576" tIns="36576" rIns="36576" bIns="36576" anchor="t">
            <a:spAutoFit/>
          </a:bodyPr>
          <a:lstStyle/>
          <a:p>
            <a:pPr algn="l"/>
            <a:r>
              <a:rPr sz="1600" b="1">
                <a:solidFill>
                  <a:srgbClr val="162C46"/>
                </a:solidFill>
                <a:latin typeface="Aptos"/>
              </a:rPr>
              <a:t>2.2 CUSTOMER HISTORY</a:t>
            </a:r>
          </a:p>
        </p:txBody>
      </p:sp>
      <p:sp>
        <p:nvSpPr>
          <p:cNvPr id="15" name="TextBox 14"/>
          <p:cNvSpPr txBox="1"/>
          <p:nvPr/>
        </p:nvSpPr>
        <p:spPr>
          <a:xfrm>
            <a:off x="4434839" y="3543817"/>
            <a:ext cx="3017520" cy="1058751"/>
          </a:xfrm>
          <a:prstGeom prst="rect">
            <a:avLst/>
          </a:prstGeom>
          <a:noFill/>
        </p:spPr>
        <p:txBody>
          <a:bodyPr wrap="square" lIns="36576" tIns="36576" rIns="36576" bIns="36576" anchor="t">
            <a:spAutoFit/>
          </a:bodyPr>
          <a:lstStyle/>
          <a:p>
            <a:pPr algn="l"/>
            <a:r>
              <a:rPr sz="1600" b="0" dirty="0" err="1">
                <a:solidFill>
                  <a:srgbClr val="5E6A78"/>
                </a:solidFill>
                <a:latin typeface="Aptos"/>
              </a:rPr>
              <a:t>Đặc</a:t>
            </a:r>
            <a:r>
              <a:rPr sz="1600" b="0" dirty="0">
                <a:solidFill>
                  <a:srgbClr val="5E6A78"/>
                </a:solidFill>
                <a:latin typeface="Aptos"/>
              </a:rPr>
              <a:t> </a:t>
            </a:r>
            <a:r>
              <a:rPr sz="1600" b="0" dirty="0" err="1">
                <a:solidFill>
                  <a:srgbClr val="5E6A78"/>
                </a:solidFill>
                <a:latin typeface="Aptos"/>
              </a:rPr>
              <a:t>trưng</a:t>
            </a:r>
            <a:r>
              <a:rPr sz="1600" b="0" dirty="0">
                <a:solidFill>
                  <a:srgbClr val="5E6A78"/>
                </a:solidFill>
                <a:latin typeface="Aptos"/>
              </a:rPr>
              <a:t> </a:t>
            </a:r>
            <a:r>
              <a:rPr sz="1600" b="0" dirty="0" err="1">
                <a:solidFill>
                  <a:srgbClr val="5E6A78"/>
                </a:solidFill>
                <a:latin typeface="Aptos"/>
              </a:rPr>
              <a:t>tổng</a:t>
            </a:r>
            <a:r>
              <a:rPr sz="1600" b="0" dirty="0">
                <a:solidFill>
                  <a:srgbClr val="5E6A78"/>
                </a:solidFill>
                <a:latin typeface="Aptos"/>
              </a:rPr>
              <a:t> </a:t>
            </a:r>
            <a:r>
              <a:rPr sz="1600" b="0" dirty="0" err="1">
                <a:solidFill>
                  <a:srgbClr val="5E6A78"/>
                </a:solidFill>
                <a:latin typeface="Aptos"/>
              </a:rPr>
              <a:t>hợp</a:t>
            </a:r>
            <a:r>
              <a:rPr sz="1600" b="0" dirty="0">
                <a:solidFill>
                  <a:srgbClr val="5E6A78"/>
                </a:solidFill>
                <a:latin typeface="Aptos"/>
              </a:rPr>
              <a:t> </a:t>
            </a:r>
            <a:r>
              <a:rPr sz="1600" b="0" dirty="0" err="1">
                <a:solidFill>
                  <a:srgbClr val="5E6A78"/>
                </a:solidFill>
                <a:latin typeface="Aptos"/>
              </a:rPr>
              <a:t>từ</a:t>
            </a:r>
            <a:r>
              <a:rPr sz="1600" b="0" dirty="0">
                <a:solidFill>
                  <a:srgbClr val="5E6A78"/>
                </a:solidFill>
                <a:latin typeface="Aptos"/>
              </a:rPr>
              <a:t> </a:t>
            </a:r>
            <a:r>
              <a:rPr sz="1600" b="0" dirty="0" err="1">
                <a:solidFill>
                  <a:srgbClr val="5E6A78"/>
                </a:solidFill>
                <a:latin typeface="Aptos"/>
              </a:rPr>
              <a:t>lịch</a:t>
            </a:r>
            <a:r>
              <a:rPr sz="1600" b="0" dirty="0">
                <a:solidFill>
                  <a:srgbClr val="5E6A78"/>
                </a:solidFill>
                <a:latin typeface="Aptos"/>
              </a:rPr>
              <a:t> </a:t>
            </a:r>
            <a:r>
              <a:rPr sz="1600" b="0" dirty="0" err="1">
                <a:solidFill>
                  <a:srgbClr val="5E6A78"/>
                </a:solidFill>
                <a:latin typeface="Aptos"/>
              </a:rPr>
              <a:t>sử</a:t>
            </a:r>
            <a:r>
              <a:rPr sz="1600" b="0" dirty="0">
                <a:solidFill>
                  <a:srgbClr val="5E6A78"/>
                </a:solidFill>
                <a:latin typeface="Aptos"/>
              </a:rPr>
              <a:t> </a:t>
            </a:r>
            <a:r>
              <a:rPr sz="1600" b="0" dirty="0" err="1">
                <a:solidFill>
                  <a:srgbClr val="5E6A78"/>
                </a:solidFill>
                <a:latin typeface="Aptos"/>
              </a:rPr>
              <a:t>trước</a:t>
            </a:r>
            <a:r>
              <a:rPr sz="1600" b="0" dirty="0">
                <a:solidFill>
                  <a:srgbClr val="5E6A78"/>
                </a:solidFill>
                <a:latin typeface="Aptos"/>
              </a:rPr>
              <a:t> </a:t>
            </a:r>
            <a:r>
              <a:rPr sz="1600" b="0" dirty="0" err="1">
                <a:solidFill>
                  <a:srgbClr val="5E6A78"/>
                </a:solidFill>
                <a:latin typeface="Aptos"/>
              </a:rPr>
              <a:t>đó</a:t>
            </a:r>
            <a:r>
              <a:rPr sz="1600" b="0" dirty="0">
                <a:solidFill>
                  <a:srgbClr val="5E6A78"/>
                </a:solidFill>
                <a:latin typeface="Aptos"/>
              </a:rPr>
              <a:t> </a:t>
            </a:r>
            <a:r>
              <a:rPr sz="1600" b="0" dirty="0" err="1">
                <a:solidFill>
                  <a:srgbClr val="5E6A78"/>
                </a:solidFill>
                <a:latin typeface="Aptos"/>
              </a:rPr>
              <a:t>của</a:t>
            </a:r>
            <a:r>
              <a:rPr sz="1600" b="0" dirty="0">
                <a:solidFill>
                  <a:srgbClr val="5E6A78"/>
                </a:solidFill>
                <a:latin typeface="Aptos"/>
              </a:rPr>
              <a:t> </a:t>
            </a:r>
            <a:r>
              <a:rPr sz="1600" b="0" dirty="0" err="1">
                <a:solidFill>
                  <a:srgbClr val="5E6A78"/>
                </a:solidFill>
                <a:latin typeface="Aptos"/>
              </a:rPr>
              <a:t>khách</a:t>
            </a:r>
            <a:r>
              <a:rPr sz="1600" b="0" dirty="0">
                <a:solidFill>
                  <a:srgbClr val="5E6A78"/>
                </a:solidFill>
                <a:latin typeface="Aptos"/>
              </a:rPr>
              <a:t> </a:t>
            </a:r>
            <a:r>
              <a:rPr sz="1600" b="0" dirty="0" err="1">
                <a:solidFill>
                  <a:srgbClr val="5E6A78"/>
                </a:solidFill>
                <a:latin typeface="Aptos"/>
              </a:rPr>
              <a:t>hàng</a:t>
            </a:r>
            <a:r>
              <a:rPr sz="1600" b="0" dirty="0">
                <a:solidFill>
                  <a:srgbClr val="5E6A78"/>
                </a:solidFill>
                <a:latin typeface="Aptos"/>
              </a:rPr>
              <a:t>
</a:t>
            </a:r>
            <a:r>
              <a:rPr sz="1600" b="0" dirty="0" err="1">
                <a:solidFill>
                  <a:srgbClr val="5E6A78"/>
                </a:solidFill>
                <a:latin typeface="Aptos"/>
              </a:rPr>
              <a:t>Chỉ dùng review đăng trước lúc giao hàng</a:t>
            </a:r>
            <a:endParaRPr sz="1600" b="0" dirty="0">
              <a:solidFill>
                <a:srgbClr val="5E6A78"/>
              </a:solidFill>
              <a:latin typeface="Aptos"/>
            </a:endParaRPr>
          </a:p>
        </p:txBody>
      </p:sp>
      <p:sp>
        <p:nvSpPr>
          <p:cNvPr id="16" name="Rounded Rectangle 15"/>
          <p:cNvSpPr/>
          <p:nvPr/>
        </p:nvSpPr>
        <p:spPr>
          <a:xfrm>
            <a:off x="7946136" y="3013464"/>
            <a:ext cx="3364992" cy="1589103"/>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7" name="TextBox 16"/>
          <p:cNvSpPr txBox="1"/>
          <p:nvPr/>
        </p:nvSpPr>
        <p:spPr>
          <a:xfrm>
            <a:off x="8110728" y="3178057"/>
            <a:ext cx="3017520" cy="320088"/>
          </a:xfrm>
          <a:prstGeom prst="rect">
            <a:avLst/>
          </a:prstGeom>
          <a:noFill/>
        </p:spPr>
        <p:txBody>
          <a:bodyPr wrap="square" lIns="36576" tIns="36576" rIns="36576" bIns="36576" anchor="t">
            <a:spAutoFit/>
          </a:bodyPr>
          <a:lstStyle/>
          <a:p>
            <a:pPr algn="l"/>
            <a:r>
              <a:rPr sz="1600" b="1">
                <a:solidFill>
                  <a:srgbClr val="162C46"/>
                </a:solidFill>
                <a:latin typeface="Aptos"/>
              </a:rPr>
              <a:t>2.3 PRODUCT HISTORY</a:t>
            </a:r>
          </a:p>
        </p:txBody>
      </p:sp>
      <p:sp>
        <p:nvSpPr>
          <p:cNvPr id="18" name="TextBox 17"/>
          <p:cNvSpPr txBox="1"/>
          <p:nvPr/>
        </p:nvSpPr>
        <p:spPr>
          <a:xfrm>
            <a:off x="8110728" y="3543817"/>
            <a:ext cx="3017520" cy="1058751"/>
          </a:xfrm>
          <a:prstGeom prst="rect">
            <a:avLst/>
          </a:prstGeom>
          <a:noFill/>
        </p:spPr>
        <p:txBody>
          <a:bodyPr wrap="square" lIns="36576" tIns="36576" rIns="36576" bIns="36576" anchor="t">
            <a:spAutoFit/>
          </a:bodyPr>
          <a:lstStyle/>
          <a:p>
            <a:pPr algn="l"/>
            <a:r>
              <a:rPr sz="1600" b="0" dirty="0" err="1">
                <a:solidFill>
                  <a:srgbClr val="5E6A78"/>
                </a:solidFill>
                <a:latin typeface="Aptos"/>
              </a:rPr>
              <a:t>Đặc</a:t>
            </a:r>
            <a:r>
              <a:rPr sz="1600" b="0" dirty="0">
                <a:solidFill>
                  <a:srgbClr val="5E6A78"/>
                </a:solidFill>
                <a:latin typeface="Aptos"/>
              </a:rPr>
              <a:t> </a:t>
            </a:r>
            <a:r>
              <a:rPr sz="1600" b="0" dirty="0" err="1">
                <a:solidFill>
                  <a:srgbClr val="5E6A78"/>
                </a:solidFill>
                <a:latin typeface="Aptos"/>
              </a:rPr>
              <a:t>trưng</a:t>
            </a:r>
            <a:r>
              <a:rPr sz="1600" b="0" dirty="0">
                <a:solidFill>
                  <a:srgbClr val="5E6A78"/>
                </a:solidFill>
                <a:latin typeface="Aptos"/>
              </a:rPr>
              <a:t> </a:t>
            </a:r>
            <a:r>
              <a:rPr sz="1600" b="0" dirty="0" err="1">
                <a:solidFill>
                  <a:srgbClr val="5E6A78"/>
                </a:solidFill>
                <a:latin typeface="Aptos"/>
              </a:rPr>
              <a:t>tổng</a:t>
            </a:r>
            <a:r>
              <a:rPr sz="1600" b="0" dirty="0">
                <a:solidFill>
                  <a:srgbClr val="5E6A78"/>
                </a:solidFill>
                <a:latin typeface="Aptos"/>
              </a:rPr>
              <a:t> </a:t>
            </a:r>
            <a:r>
              <a:rPr sz="1600" b="0" dirty="0" err="1">
                <a:solidFill>
                  <a:srgbClr val="5E6A78"/>
                </a:solidFill>
                <a:latin typeface="Aptos"/>
              </a:rPr>
              <a:t>hợp</a:t>
            </a:r>
            <a:r>
              <a:rPr sz="1600" b="0" dirty="0">
                <a:solidFill>
                  <a:srgbClr val="5E6A78"/>
                </a:solidFill>
                <a:latin typeface="Aptos"/>
              </a:rPr>
              <a:t> </a:t>
            </a:r>
            <a:r>
              <a:rPr sz="1600" b="0" dirty="0" err="1">
                <a:solidFill>
                  <a:srgbClr val="5E6A78"/>
                </a:solidFill>
                <a:latin typeface="Aptos"/>
              </a:rPr>
              <a:t>từ</a:t>
            </a:r>
            <a:r>
              <a:rPr sz="1600" b="0" dirty="0">
                <a:solidFill>
                  <a:srgbClr val="5E6A78"/>
                </a:solidFill>
                <a:latin typeface="Aptos"/>
              </a:rPr>
              <a:t> </a:t>
            </a:r>
            <a:r>
              <a:rPr sz="1600" b="0" dirty="0" err="1">
                <a:solidFill>
                  <a:srgbClr val="5E6A78"/>
                </a:solidFill>
                <a:latin typeface="Aptos"/>
              </a:rPr>
              <a:t>lịch</a:t>
            </a:r>
            <a:r>
              <a:rPr sz="1600" b="0" dirty="0">
                <a:solidFill>
                  <a:srgbClr val="5E6A78"/>
                </a:solidFill>
                <a:latin typeface="Aptos"/>
              </a:rPr>
              <a:t> </a:t>
            </a:r>
            <a:r>
              <a:rPr sz="1600" b="0" dirty="0" err="1">
                <a:solidFill>
                  <a:srgbClr val="5E6A78"/>
                </a:solidFill>
                <a:latin typeface="Aptos"/>
              </a:rPr>
              <a:t>sử</a:t>
            </a:r>
            <a:r>
              <a:rPr sz="1600" b="0" dirty="0">
                <a:solidFill>
                  <a:srgbClr val="5E6A78"/>
                </a:solidFill>
                <a:latin typeface="Aptos"/>
              </a:rPr>
              <a:t> </a:t>
            </a:r>
            <a:r>
              <a:rPr sz="1600" b="0" dirty="0" err="1">
                <a:solidFill>
                  <a:srgbClr val="5E6A78"/>
                </a:solidFill>
                <a:latin typeface="Aptos"/>
              </a:rPr>
              <a:t>trước</a:t>
            </a:r>
            <a:r>
              <a:rPr sz="1600" b="0" dirty="0">
                <a:solidFill>
                  <a:srgbClr val="5E6A78"/>
                </a:solidFill>
                <a:latin typeface="Aptos"/>
              </a:rPr>
              <a:t> </a:t>
            </a:r>
            <a:r>
              <a:rPr sz="1600" b="0" dirty="0" err="1">
                <a:solidFill>
                  <a:srgbClr val="5E6A78"/>
                </a:solidFill>
                <a:latin typeface="Aptos"/>
              </a:rPr>
              <a:t>đó</a:t>
            </a:r>
            <a:r>
              <a:rPr sz="1600" b="0" dirty="0">
                <a:solidFill>
                  <a:srgbClr val="5E6A78"/>
                </a:solidFill>
                <a:latin typeface="Aptos"/>
              </a:rPr>
              <a:t> </a:t>
            </a:r>
            <a:r>
              <a:rPr sz="1600" b="0" dirty="0" err="1">
                <a:solidFill>
                  <a:srgbClr val="5E6A78"/>
                </a:solidFill>
                <a:latin typeface="Aptos"/>
              </a:rPr>
              <a:t>của</a:t>
            </a:r>
            <a:r>
              <a:rPr sz="1600" b="0" dirty="0">
                <a:solidFill>
                  <a:srgbClr val="5E6A78"/>
                </a:solidFill>
                <a:latin typeface="Aptos"/>
              </a:rPr>
              <a:t> </a:t>
            </a:r>
            <a:r>
              <a:rPr sz="1600" b="0" dirty="0" err="1">
                <a:solidFill>
                  <a:srgbClr val="5E6A78"/>
                </a:solidFill>
                <a:latin typeface="Aptos"/>
              </a:rPr>
              <a:t>sản</a:t>
            </a:r>
            <a:r>
              <a:rPr sz="1600" b="0" dirty="0">
                <a:solidFill>
                  <a:srgbClr val="5E6A78"/>
                </a:solidFill>
                <a:latin typeface="Aptos"/>
              </a:rPr>
              <a:t> </a:t>
            </a:r>
            <a:r>
              <a:rPr sz="1600" b="0" dirty="0" err="1">
                <a:solidFill>
                  <a:srgbClr val="5E6A78"/>
                </a:solidFill>
                <a:latin typeface="Aptos"/>
              </a:rPr>
              <a:t>phẩm</a:t>
            </a:r>
            <a:r>
              <a:rPr sz="1600" b="0" dirty="0">
                <a:solidFill>
                  <a:srgbClr val="5E6A78"/>
                </a:solidFill>
                <a:latin typeface="Aptos"/>
              </a:rPr>
              <a:t>
</a:t>
            </a:r>
            <a:r>
              <a:rPr sz="1600" b="0" dirty="0" err="1">
                <a:solidFill>
                  <a:srgbClr val="5E6A78"/>
                </a:solidFill>
                <a:latin typeface="Aptos"/>
              </a:rPr>
              <a:t>Chỉ dùng review đăng trước lúc giao hàng</a:t>
            </a:r>
            <a:endParaRPr sz="1600" b="0" dirty="0">
              <a:solidFill>
                <a:srgbClr val="5E6A78"/>
              </a:solidFill>
              <a:latin typeface="Aptos"/>
            </a:endParaRPr>
          </a:p>
        </p:txBody>
      </p:sp>
      <p:sp>
        <p:nvSpPr>
          <p:cNvPr id="19" name="TextBox 18"/>
          <p:cNvSpPr txBox="1"/>
          <p:nvPr/>
        </p:nvSpPr>
        <p:spPr>
          <a:xfrm>
            <a:off x="594360" y="4750825"/>
            <a:ext cx="4389120" cy="320088"/>
          </a:xfrm>
          <a:prstGeom prst="rect">
            <a:avLst/>
          </a:prstGeom>
          <a:noFill/>
        </p:spPr>
        <p:txBody>
          <a:bodyPr wrap="square" lIns="36576" tIns="36576" rIns="36576" bIns="36576" anchor="t">
            <a:spAutoFit/>
          </a:bodyPr>
          <a:lstStyle/>
          <a:p>
            <a:pPr algn="l"/>
            <a:r>
              <a:rPr sz="1600" b="1" dirty="0">
                <a:solidFill>
                  <a:srgbClr val="2F639D"/>
                </a:solidFill>
                <a:latin typeface="Aptos"/>
              </a:rPr>
              <a:t>3. DATA LEAKAGE — KIỂM SOÁT RÒ RỈ DỮ LIỆU</a:t>
            </a:r>
          </a:p>
        </p:txBody>
      </p:sp>
      <p:sp>
        <p:nvSpPr>
          <p:cNvPr id="20" name="TextBox 19"/>
          <p:cNvSpPr txBox="1"/>
          <p:nvPr/>
        </p:nvSpPr>
        <p:spPr>
          <a:xfrm>
            <a:off x="621792" y="5089153"/>
            <a:ext cx="4937760" cy="566309"/>
          </a:xfrm>
          <a:prstGeom prst="rect">
            <a:avLst/>
          </a:prstGeom>
          <a:noFill/>
        </p:spPr>
        <p:txBody>
          <a:bodyPr wrap="square" lIns="36576" tIns="36576" rIns="36576" bIns="36576" anchor="t">
            <a:spAutoFit/>
          </a:bodyPr>
          <a:lstStyle/>
          <a:p>
            <a:pPr algn="l"/>
            <a:r>
              <a:rPr sz="1600" b="1">
                <a:solidFill>
                  <a:srgbClr val="242B33"/>
                </a:solidFill>
                <a:latin typeface="Aptos"/>
              </a:rPr>
              <a:t>Chỉ sử dụng thông tin có sẵn trước thời điểm cần dự báo.</a:t>
            </a:r>
          </a:p>
        </p:txBody>
      </p:sp>
      <p:sp>
        <p:nvSpPr>
          <p:cNvPr id="21" name="Rounded Rectangle 20"/>
          <p:cNvSpPr/>
          <p:nvPr/>
        </p:nvSpPr>
        <p:spPr>
          <a:xfrm>
            <a:off x="5650992" y="5025145"/>
            <a:ext cx="1051560" cy="347472"/>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2" name="TextBox 21"/>
          <p:cNvSpPr txBox="1"/>
          <p:nvPr/>
        </p:nvSpPr>
        <p:spPr>
          <a:xfrm>
            <a:off x="5687568" y="5038837"/>
            <a:ext cx="978407" cy="320088"/>
          </a:xfrm>
          <a:prstGeom prst="rect">
            <a:avLst/>
          </a:prstGeom>
          <a:noFill/>
        </p:spPr>
        <p:txBody>
          <a:bodyPr wrap="square" lIns="36576" tIns="36576" rIns="36576" bIns="36576" anchor="ctr">
            <a:spAutoFit/>
          </a:bodyPr>
          <a:lstStyle/>
          <a:p>
            <a:pPr algn="ctr"/>
            <a:r>
              <a:rPr sz="1600" b="1">
                <a:solidFill>
                  <a:srgbClr val="2F639D"/>
                </a:solidFill>
                <a:latin typeface="Aptos"/>
              </a:rPr>
              <a:t>Past Data</a:t>
            </a:r>
          </a:p>
        </p:txBody>
      </p:sp>
      <p:sp>
        <p:nvSpPr>
          <p:cNvPr id="23" name="TextBox 22"/>
          <p:cNvSpPr txBox="1"/>
          <p:nvPr/>
        </p:nvSpPr>
        <p:spPr>
          <a:xfrm>
            <a:off x="6775704" y="5061721"/>
            <a:ext cx="274320" cy="320088"/>
          </a:xfrm>
          <a:prstGeom prst="rect">
            <a:avLst/>
          </a:prstGeom>
          <a:noFill/>
        </p:spPr>
        <p:txBody>
          <a:bodyPr wrap="square" lIns="36576" tIns="36576" rIns="36576" bIns="36576" anchor="t">
            <a:spAutoFit/>
          </a:bodyPr>
          <a:lstStyle/>
          <a:p>
            <a:pPr algn="ctr"/>
            <a:r>
              <a:rPr sz="1600" b="1">
                <a:solidFill>
                  <a:srgbClr val="2F639D"/>
                </a:solidFill>
                <a:latin typeface="Aptos"/>
              </a:rPr>
              <a:t>→</a:t>
            </a:r>
          </a:p>
        </p:txBody>
      </p:sp>
      <p:sp>
        <p:nvSpPr>
          <p:cNvPr id="24" name="Rounded Rectangle 23"/>
          <p:cNvSpPr/>
          <p:nvPr/>
        </p:nvSpPr>
        <p:spPr>
          <a:xfrm>
            <a:off x="7086600" y="5025145"/>
            <a:ext cx="960120" cy="347472"/>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5" name="TextBox 24"/>
          <p:cNvSpPr txBox="1"/>
          <p:nvPr/>
        </p:nvSpPr>
        <p:spPr>
          <a:xfrm>
            <a:off x="7123176" y="5038837"/>
            <a:ext cx="886968" cy="320088"/>
          </a:xfrm>
          <a:prstGeom prst="rect">
            <a:avLst/>
          </a:prstGeom>
          <a:noFill/>
        </p:spPr>
        <p:txBody>
          <a:bodyPr wrap="square" lIns="36576" tIns="36576" rIns="36576" bIns="36576" anchor="ctr">
            <a:spAutoFit/>
          </a:bodyPr>
          <a:lstStyle/>
          <a:p>
            <a:pPr algn="ctr"/>
            <a:r>
              <a:rPr sz="1600" b="1">
                <a:solidFill>
                  <a:srgbClr val="2F639D"/>
                </a:solidFill>
                <a:latin typeface="Aptos"/>
              </a:rPr>
              <a:t>Features</a:t>
            </a:r>
          </a:p>
        </p:txBody>
      </p:sp>
      <p:sp>
        <p:nvSpPr>
          <p:cNvPr id="26" name="TextBox 25"/>
          <p:cNvSpPr txBox="1"/>
          <p:nvPr/>
        </p:nvSpPr>
        <p:spPr>
          <a:xfrm>
            <a:off x="8129016" y="5061721"/>
            <a:ext cx="274320" cy="320088"/>
          </a:xfrm>
          <a:prstGeom prst="rect">
            <a:avLst/>
          </a:prstGeom>
          <a:noFill/>
        </p:spPr>
        <p:txBody>
          <a:bodyPr wrap="square" lIns="36576" tIns="36576" rIns="36576" bIns="36576" anchor="t">
            <a:spAutoFit/>
          </a:bodyPr>
          <a:lstStyle/>
          <a:p>
            <a:pPr algn="ctr"/>
            <a:r>
              <a:rPr sz="1600" b="1">
                <a:solidFill>
                  <a:srgbClr val="2F639D"/>
                </a:solidFill>
                <a:latin typeface="Aptos"/>
              </a:rPr>
              <a:t>→</a:t>
            </a:r>
          </a:p>
        </p:txBody>
      </p:sp>
      <p:sp>
        <p:nvSpPr>
          <p:cNvPr id="27" name="Rounded Rectangle 26"/>
          <p:cNvSpPr/>
          <p:nvPr/>
        </p:nvSpPr>
        <p:spPr>
          <a:xfrm>
            <a:off x="8439912" y="5025145"/>
            <a:ext cx="1249998" cy="347472"/>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8" name="TextBox 27"/>
          <p:cNvSpPr txBox="1"/>
          <p:nvPr/>
        </p:nvSpPr>
        <p:spPr>
          <a:xfrm>
            <a:off x="8476488" y="5038837"/>
            <a:ext cx="1213422" cy="320088"/>
          </a:xfrm>
          <a:prstGeom prst="rect">
            <a:avLst/>
          </a:prstGeom>
          <a:noFill/>
        </p:spPr>
        <p:txBody>
          <a:bodyPr wrap="square" lIns="36576" tIns="36576" rIns="36576" bIns="36576" anchor="ctr">
            <a:spAutoFit/>
          </a:bodyPr>
          <a:lstStyle/>
          <a:p>
            <a:pPr algn="ctr"/>
            <a:r>
              <a:rPr sz="1600" b="1" dirty="0">
                <a:solidFill>
                  <a:srgbClr val="2F639D"/>
                </a:solidFill>
                <a:latin typeface="Aptos"/>
              </a:rPr>
              <a:t>Low Rating</a:t>
            </a:r>
          </a:p>
        </p:txBody>
      </p:sp>
      <p:sp>
        <p:nvSpPr>
          <p:cNvPr id="29" name="TextBox 28"/>
          <p:cNvSpPr txBox="1"/>
          <p:nvPr/>
        </p:nvSpPr>
        <p:spPr>
          <a:xfrm>
            <a:off x="9738360" y="5098297"/>
            <a:ext cx="1371600" cy="566309"/>
          </a:xfrm>
          <a:prstGeom prst="rect">
            <a:avLst/>
          </a:prstGeom>
          <a:noFill/>
        </p:spPr>
        <p:txBody>
          <a:bodyPr wrap="square" lIns="36576" tIns="36576" rIns="36576" bIns="36576" anchor="t">
            <a:spAutoFit/>
          </a:bodyPr>
          <a:lstStyle/>
          <a:p>
            <a:pPr algn="ctr"/>
            <a:r>
              <a:rPr sz="1600" b="1" dirty="0">
                <a:solidFill>
                  <a:srgbClr val="B14242"/>
                </a:solidFill>
                <a:latin typeface="Aptos"/>
              </a:rPr>
              <a:t>Future Information ✕</a:t>
            </a:r>
          </a:p>
        </p:txBody>
      </p:sp>
      <p:sp>
        <p:nvSpPr>
          <p:cNvPr id="30" name="TextBox 29"/>
          <p:cNvSpPr txBox="1"/>
          <p:nvPr/>
        </p:nvSpPr>
        <p:spPr>
          <a:xfrm>
            <a:off x="594360" y="5683513"/>
            <a:ext cx="4389120" cy="320088"/>
          </a:xfrm>
          <a:prstGeom prst="rect">
            <a:avLst/>
          </a:prstGeom>
          <a:noFill/>
        </p:spPr>
        <p:txBody>
          <a:bodyPr wrap="square" lIns="36576" tIns="36576" rIns="36576" bIns="36576" anchor="t">
            <a:spAutoFit/>
          </a:bodyPr>
          <a:lstStyle/>
          <a:p>
            <a:pPr algn="l"/>
            <a:r>
              <a:rPr sz="1600" b="1">
                <a:solidFill>
                  <a:srgbClr val="2F639D"/>
                </a:solidFill>
                <a:latin typeface="Aptos"/>
              </a:rPr>
              <a:t>4. FEATURE MATRIX — ĐẦU VÀO CHO MODEL</a:t>
            </a:r>
          </a:p>
        </p:txBody>
      </p:sp>
      <p:sp>
        <p:nvSpPr>
          <p:cNvPr id="31" name="TextBox 30"/>
          <p:cNvSpPr txBox="1"/>
          <p:nvPr/>
        </p:nvSpPr>
        <p:spPr>
          <a:xfrm>
            <a:off x="621792" y="6003553"/>
            <a:ext cx="10698480" cy="301621"/>
          </a:xfrm>
          <a:prstGeom prst="rect">
            <a:avLst/>
          </a:prstGeom>
          <a:noFill/>
        </p:spPr>
        <p:txBody>
          <a:bodyPr wrap="square" lIns="45720" tIns="27432" rIns="45720" bIns="27432">
            <a:spAutoFit/>
          </a:bodyPr>
          <a:lstStyle/>
          <a:p>
            <a:pPr algn="l"/>
            <a:r>
              <a:rPr sz="1600" b="1">
                <a:solidFill>
                  <a:srgbClr val="162C46"/>
                </a:solidFill>
                <a:latin typeface="Aptos"/>
              </a:rPr>
              <a:t>Clean Data</a:t>
            </a:r>
            <a:r>
              <a:rPr sz="1600" b="0">
                <a:solidFill>
                  <a:srgbClr val="5E6A78"/>
                </a:solidFill>
                <a:latin typeface="Aptos"/>
              </a:rPr>
              <a:t>  →  Delivery + Customer History + Product History  →  </a:t>
            </a:r>
            <a:r>
              <a:rPr sz="1600" b="1">
                <a:solidFill>
                  <a:srgbClr val="2F639D"/>
                </a:solidFill>
                <a:latin typeface="Aptos"/>
              </a:rPr>
              <a:t>Feature Matrix X + Target y</a:t>
            </a:r>
            <a:r>
              <a:rPr sz="1600" b="0">
                <a:solidFill>
                  <a:srgbClr val="242B33"/>
                </a:solidFill>
                <a:latin typeface="Aptos"/>
              </a:rPr>
              <a:t>  →  Modeling</a:t>
            </a:r>
          </a:p>
        </p:txBody>
      </p:sp>
      <p:sp>
        <p:nvSpPr>
          <p:cNvPr id="32" name="TextBox 31"/>
          <p:cNvSpPr txBox="1"/>
          <p:nvPr/>
        </p:nvSpPr>
        <p:spPr>
          <a:xfrm>
            <a:off x="594360" y="6565392"/>
            <a:ext cx="4023360" cy="164592"/>
          </a:xfrm>
          <a:prstGeom prst="rect">
            <a:avLst/>
          </a:prstGeom>
          <a:noFill/>
        </p:spPr>
        <p:txBody>
          <a:bodyPr wrap="square" lIns="36576" tIns="36576" rIns="36576" bIns="36576" anchor="t">
            <a:spAutoFit/>
          </a:bodyPr>
          <a:lstStyle/>
          <a:p>
            <a:pPr algn="l"/>
            <a:r>
              <a:rPr sz="850" b="0">
                <a:solidFill>
                  <a:srgbClr val="5E6A78"/>
                </a:solidFill>
                <a:latin typeface="Aptos"/>
              </a:rPr>
              <a:t>Cơ sở Khoa học Dữ liệu  •  SLA &amp; Customer Experience</a:t>
            </a:r>
          </a:p>
        </p:txBody>
      </p:sp>
      <p:sp>
        <p:nvSpPr>
          <p:cNvPr id="33" name="TextBox 32"/>
          <p:cNvSpPr txBox="1"/>
          <p:nvPr/>
        </p:nvSpPr>
        <p:spPr>
          <a:xfrm>
            <a:off x="11201400" y="6567055"/>
            <a:ext cx="365760" cy="166255"/>
          </a:xfrm>
          <a:prstGeom prst="rect">
            <a:avLst/>
          </a:prstGeom>
          <a:noFill/>
        </p:spPr>
        <p:txBody>
          <a:bodyPr wrap="square" lIns="36576" tIns="36576" rIns="36576" bIns="36576" anchor="t">
            <a:spAutoFit/>
          </a:bodyPr>
          <a:lstStyle/>
          <a:p>
            <a:pPr algn="r"/>
            <a:r>
              <a:rPr sz="850" b="0">
                <a:solidFill>
                  <a:srgbClr val="5E6A78"/>
                </a:solidFill>
                <a:latin typeface="Aptos"/>
              </a:rPr>
              <a:t>15</a:t>
            </a:r>
          </a:p>
        </p:txBody>
      </p:sp>
      <p:sp>
        <p:nvSpPr>
          <p:cNvPr id="34" name="Rounded Rectangle 33"/>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a:t>
            </a:r>
          </a:p>
        </p:txBody>
      </p:sp>
      <p:sp>
        <p:nvSpPr>
          <p:cNvPr id="35" name="Rounded Rectangle 34"/>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Data Collection</a:t>
            </a:r>
          </a:p>
        </p:txBody>
      </p:sp>
      <p:sp>
        <p:nvSpPr>
          <p:cNvPr id="36" name="Rounded Rectangle 35"/>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Cleaning</a:t>
            </a:r>
          </a:p>
        </p:txBody>
      </p:sp>
      <p:sp>
        <p:nvSpPr>
          <p:cNvPr id="37" name="Rounded Rectangle 36"/>
          <p:cNvSpPr/>
          <p:nvPr/>
        </p:nvSpPr>
        <p:spPr>
          <a:xfrm>
            <a:off x="7306056" y="6510528"/>
            <a:ext cx="42062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EDA</a:t>
            </a:r>
          </a:p>
        </p:txBody>
      </p:sp>
      <p:sp>
        <p:nvSpPr>
          <p:cNvPr id="38" name="Rounded Rectangle 37"/>
          <p:cNvSpPr/>
          <p:nvPr/>
        </p:nvSpPr>
        <p:spPr>
          <a:xfrm>
            <a:off x="7772400" y="6510528"/>
            <a:ext cx="676656"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Features</a:t>
            </a:r>
          </a:p>
        </p:txBody>
      </p:sp>
      <p:sp>
        <p:nvSpPr>
          <p:cNvPr id="39" name="Rounded Rectangle 38"/>
          <p:cNvSpPr/>
          <p:nvPr/>
        </p:nvSpPr>
        <p:spPr>
          <a:xfrm>
            <a:off x="8494776" y="6510528"/>
            <a:ext cx="69494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Modeling</a:t>
            </a:r>
          </a:p>
        </p:txBody>
      </p:sp>
      <p:sp>
        <p:nvSpPr>
          <p:cNvPr id="40" name="Rounded Rectangle 39"/>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Evaluation</a:t>
            </a:r>
          </a:p>
        </p:txBody>
      </p:sp>
      <p:sp>
        <p:nvSpPr>
          <p:cNvPr id="41" name="Rounded Rectangle 40"/>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 Value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265176"/>
            <a:ext cx="10424160" cy="566928"/>
          </a:xfrm>
          <a:prstGeom prst="rect">
            <a:avLst/>
          </a:prstGeom>
          <a:noFill/>
        </p:spPr>
        <p:txBody>
          <a:bodyPr wrap="square" lIns="36576" tIns="36576" rIns="36576" bIns="36576" anchor="t">
            <a:noAutofit/>
          </a:bodyPr>
          <a:lstStyle/>
          <a:p>
            <a:pPr algn="l">
              <a:spcAft>
                <a:spcPts val="300"/>
              </a:spcAft>
            </a:pPr>
            <a:r>
              <a:rPr sz="2400" b="1" i="0">
                <a:solidFill>
                  <a:srgbClr val="162C46"/>
                </a:solidFill>
                <a:latin typeface="Aptos Display"/>
              </a:rPr>
              <a:t>FEATURES — 17 BIẾN EX-ANTE &amp; DANH SÁCH BIẾN CẤM</a:t>
            </a:r>
          </a:p>
        </p:txBody>
      </p:sp>
      <p:cxnSp>
        <p:nvCxnSpPr>
          <p:cNvPr id="3" name="Connector 2"/>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583680"/>
            <a:ext cx="4023360" cy="182880"/>
          </a:xfrm>
          <a:prstGeom prst="rect">
            <a:avLst/>
          </a:prstGeom>
          <a:noFill/>
        </p:spPr>
        <p:txBody>
          <a:bodyPr wrap="square" lIns="36576" tIns="36576" rIns="36576" bIns="36576" anchor="t">
            <a:noAutofit/>
          </a:bodyPr>
          <a:lstStyle/>
          <a:p>
            <a:pPr algn="l">
              <a:spcAft>
                <a:spcPts val="300"/>
              </a:spcAft>
            </a:pPr>
            <a:r>
              <a:rPr sz="850" b="0" i="0">
                <a:solidFill>
                  <a:srgbClr val="5E6A78"/>
                </a:solidFill>
                <a:latin typeface="Aptos"/>
              </a:rPr>
              <a:t>Cơ sở Khoa học Dữ liệu  •  SLA &amp; Customer Experience</a:t>
            </a:r>
          </a:p>
        </p:txBody>
      </p:sp>
      <p:sp>
        <p:nvSpPr>
          <p:cNvPr id="6" name="TextBox 5"/>
          <p:cNvSpPr txBox="1"/>
          <p:nvPr/>
        </p:nvSpPr>
        <p:spPr>
          <a:xfrm>
            <a:off x="11201400" y="6567055"/>
            <a:ext cx="365760" cy="166255"/>
          </a:xfrm>
          <a:prstGeom prst="rect">
            <a:avLst/>
          </a:prstGeom>
          <a:noFill/>
        </p:spPr>
        <p:txBody>
          <a:bodyPr wrap="square" lIns="36576" tIns="36576" rIns="36576" bIns="36576" anchor="t">
            <a:noAutofit/>
          </a:bodyPr>
          <a:lstStyle/>
          <a:p>
            <a:pPr algn="l">
              <a:spcAft>
                <a:spcPts val="300"/>
              </a:spcAft>
            </a:pPr>
            <a:r>
              <a:rPr sz="850" b="0" i="0">
                <a:solidFill>
                  <a:srgbClr val="5E6A78"/>
                </a:solidFill>
                <a:latin typeface="Aptos"/>
              </a:rPr>
              <a:t>16</a:t>
            </a:r>
          </a:p>
        </p:txBody>
      </p:sp>
      <p:sp>
        <p:nvSpPr>
          <p:cNvPr id="7" name="TextBox 6"/>
          <p:cNvSpPr txBox="1"/>
          <p:nvPr/>
        </p:nvSpPr>
        <p:spPr>
          <a:xfrm>
            <a:off x="603504" y="1005840"/>
            <a:ext cx="6583680" cy="310896"/>
          </a:xfrm>
          <a:prstGeom prst="rect">
            <a:avLst/>
          </a:prstGeom>
          <a:noFill/>
        </p:spPr>
        <p:txBody>
          <a:bodyPr wrap="square" lIns="36576" tIns="36576" rIns="36576" bIns="36576" anchor="t">
            <a:noAutofit/>
          </a:bodyPr>
          <a:lstStyle/>
          <a:p>
            <a:pPr algn="l">
              <a:spcAft>
                <a:spcPts val="300"/>
              </a:spcAft>
            </a:pPr>
            <a:r>
              <a:rPr sz="1500" b="1" i="0" dirty="0">
                <a:solidFill>
                  <a:srgbClr val="2F639D"/>
                </a:solidFill>
                <a:latin typeface="Aptos"/>
              </a:rPr>
              <a:t>1. 17 FEATURE CHIA 6 NHÓM (</a:t>
            </a:r>
            <a:r>
              <a:rPr sz="1500" b="1" i="0" dirty="0" err="1">
                <a:solidFill>
                  <a:srgbClr val="2F639D"/>
                </a:solidFill>
                <a:latin typeface="Aptos"/>
              </a:rPr>
              <a:t>biết</a:t>
            </a:r>
            <a:r>
              <a:rPr sz="1500" b="1" i="0" dirty="0">
                <a:solidFill>
                  <a:srgbClr val="2F639D"/>
                </a:solidFill>
                <a:latin typeface="Aptos"/>
              </a:rPr>
              <a:t> </a:t>
            </a:r>
            <a:r>
              <a:rPr sz="1500" b="1" i="0" dirty="0" err="1">
                <a:solidFill>
                  <a:srgbClr val="2F639D"/>
                </a:solidFill>
                <a:latin typeface="Aptos"/>
              </a:rPr>
              <a:t>trước</a:t>
            </a:r>
            <a:r>
              <a:rPr sz="1500" b="1" i="0" dirty="0">
                <a:solidFill>
                  <a:srgbClr val="2F639D"/>
                </a:solidFill>
                <a:latin typeface="Aptos"/>
              </a:rPr>
              <a:t> </a:t>
            </a:r>
            <a:r>
              <a:rPr sz="1500" b="1" i="0" dirty="0" err="1">
                <a:solidFill>
                  <a:srgbClr val="2F639D"/>
                </a:solidFill>
                <a:latin typeface="Aptos"/>
              </a:rPr>
              <a:t>lúc</a:t>
            </a:r>
            <a:r>
              <a:rPr sz="1500" b="1" i="0" dirty="0">
                <a:solidFill>
                  <a:srgbClr val="2F639D"/>
                </a:solidFill>
                <a:latin typeface="Aptos"/>
              </a:rPr>
              <a:t> </a:t>
            </a:r>
            <a:r>
              <a:rPr sz="1500" b="1" i="0" dirty="0" err="1">
                <a:solidFill>
                  <a:srgbClr val="2F639D"/>
                </a:solidFill>
                <a:latin typeface="Aptos"/>
              </a:rPr>
              <a:t>dự</a:t>
            </a:r>
            <a:r>
              <a:rPr sz="1500" b="1" i="0" dirty="0">
                <a:solidFill>
                  <a:srgbClr val="2F639D"/>
                </a:solidFill>
                <a:latin typeface="Aptos"/>
              </a:rPr>
              <a:t> </a:t>
            </a:r>
            <a:r>
              <a:rPr sz="1500" b="1" i="0" dirty="0" err="1">
                <a:solidFill>
                  <a:srgbClr val="2F639D"/>
                </a:solidFill>
                <a:latin typeface="Aptos"/>
              </a:rPr>
              <a:t>báo</a:t>
            </a:r>
            <a:r>
              <a:rPr sz="1500" b="1" i="0" dirty="0">
                <a:solidFill>
                  <a:srgbClr val="2F639D"/>
                </a:solidFill>
                <a:latin typeface="Aptos"/>
              </a:rPr>
              <a:t>)</a:t>
            </a:r>
          </a:p>
        </p:txBody>
      </p:sp>
      <p:graphicFrame>
        <p:nvGraphicFramePr>
          <p:cNvPr id="8" name="Table 7"/>
          <p:cNvGraphicFramePr>
            <a:graphicFrameLocks noGrp="1"/>
          </p:cNvGraphicFramePr>
          <p:nvPr/>
        </p:nvGraphicFramePr>
        <p:xfrm>
          <a:off x="603504" y="1344168"/>
          <a:ext cx="6629400" cy="2712720"/>
        </p:xfrm>
        <a:graphic>
          <a:graphicData uri="http://schemas.openxmlformats.org/drawingml/2006/table">
            <a:tbl>
              <a:tblPr firstRow="1">
                <a:tableStyleId>{5C22544A-7EE6-4342-B048-85BDC9FD1C3A}</a:tableStyleId>
              </a:tblPr>
              <a:tblGrid>
                <a:gridCol w="141732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2423160">
                  <a:extLst>
                    <a:ext uri="{9D8B030D-6E8A-4147-A177-3AD203B41FA5}">
                      <a16:colId xmlns:a16="http://schemas.microsoft.com/office/drawing/2014/main" val="20002"/>
                    </a:ext>
                  </a:extLst>
                </a:gridCol>
              </a:tblGrid>
              <a:tr h="384048">
                <a:tc>
                  <a:txBody>
                    <a:bodyPr/>
                    <a:lstStyle/>
                    <a:p>
                      <a:pPr algn="l"/>
                      <a:r>
                        <a:rPr sz="1100" b="1" i="0">
                          <a:solidFill>
                            <a:srgbClr val="FFFFFF"/>
                          </a:solidFill>
                          <a:latin typeface="Aptos"/>
                        </a:rPr>
                        <a:t>Nhóm</a:t>
                      </a:r>
                    </a:p>
                  </a:txBody>
                  <a:tcPr marL="54864" marR="54864" marT="27432" marB="27432" anchor="ctr">
                    <a:solidFill>
                      <a:srgbClr val="162C46"/>
                    </a:solidFill>
                  </a:tcPr>
                </a:tc>
                <a:tc>
                  <a:txBody>
                    <a:bodyPr/>
                    <a:lstStyle/>
                    <a:p>
                      <a:pPr algn="l"/>
                      <a:r>
                        <a:rPr sz="1100" b="1" i="0">
                          <a:solidFill>
                            <a:srgbClr val="FFFFFF"/>
                          </a:solidFill>
                          <a:latin typeface="Aptos"/>
                        </a:rPr>
                        <a:t>Feature</a:t>
                      </a:r>
                    </a:p>
                  </a:txBody>
                  <a:tcPr marL="54864" marR="54864" marT="27432" marB="27432" anchor="ctr">
                    <a:solidFill>
                      <a:srgbClr val="162C46"/>
                    </a:solidFill>
                  </a:tcPr>
                </a:tc>
                <a:tc>
                  <a:txBody>
                    <a:bodyPr/>
                    <a:lstStyle/>
                    <a:p>
                      <a:pPr algn="l"/>
                      <a:r>
                        <a:rPr sz="1100" b="1" i="0">
                          <a:solidFill>
                            <a:srgbClr val="FFFFFF"/>
                          </a:solidFill>
                          <a:latin typeface="Aptos"/>
                        </a:rPr>
                        <a:t>Ý nghĩa</a:t>
                      </a:r>
                    </a:p>
                  </a:txBody>
                  <a:tcPr marL="54864" marR="54864" marT="27432" marB="27432" anchor="ctr">
                    <a:solidFill>
                      <a:srgbClr val="162C46"/>
                    </a:solidFill>
                  </a:tcPr>
                </a:tc>
                <a:extLst>
                  <a:ext uri="{0D108BD9-81ED-4DB2-BD59-A6C34878D82A}">
                    <a16:rowId xmlns:a16="http://schemas.microsoft.com/office/drawing/2014/main" val="10000"/>
                  </a:ext>
                </a:extLst>
              </a:tr>
              <a:tr h="384048">
                <a:tc>
                  <a:txBody>
                    <a:bodyPr/>
                    <a:lstStyle/>
                    <a:p>
                      <a:pPr algn="l"/>
                      <a:r>
                        <a:rPr sz="1100" b="1" i="0" dirty="0">
                          <a:solidFill>
                            <a:srgbClr val="242B33"/>
                          </a:solidFill>
                          <a:latin typeface="Aptos"/>
                        </a:rPr>
                        <a:t>Giao </a:t>
                      </a:r>
                      <a:r>
                        <a:rPr sz="1100" b="1" i="0" dirty="0" err="1">
                          <a:solidFill>
                            <a:srgbClr val="242B33"/>
                          </a:solidFill>
                          <a:latin typeface="Aptos"/>
                        </a:rPr>
                        <a:t>hàng</a:t>
                      </a:r>
                      <a:endParaRPr sz="1100" b="1" i="0" dirty="0">
                        <a:solidFill>
                          <a:srgbClr val="242B33"/>
                        </a:solidFill>
                        <a:latin typeface="Aptos"/>
                      </a:endParaRPr>
                    </a:p>
                  </a:txBody>
                  <a:tcPr marL="54864" marR="54864" marT="27432" marB="27432" anchor="ctr">
                    <a:solidFill>
                      <a:srgbClr val="FFFFFF"/>
                    </a:solidFill>
                  </a:tcPr>
                </a:tc>
                <a:tc>
                  <a:txBody>
                    <a:bodyPr/>
                    <a:lstStyle/>
                    <a:p>
                      <a:pPr algn="l"/>
                      <a:r>
                        <a:rPr sz="1100" b="0" i="0" dirty="0" err="1">
                          <a:solidFill>
                            <a:srgbClr val="242B33"/>
                          </a:solidFill>
                          <a:latin typeface="Aptos"/>
                        </a:rPr>
                        <a:t>lead_days</a:t>
                      </a:r>
                      <a:r>
                        <a:rPr sz="1100" b="0" i="0" dirty="0">
                          <a:solidFill>
                            <a:srgbClr val="242B33"/>
                          </a:solidFill>
                          <a:latin typeface="Aptos"/>
                        </a:rPr>
                        <a:t>, </a:t>
                      </a:r>
                      <a:r>
                        <a:rPr sz="1100" b="0" i="0" dirty="0" err="1">
                          <a:solidFill>
                            <a:srgbClr val="242B33"/>
                          </a:solidFill>
                          <a:latin typeface="Aptos"/>
                        </a:rPr>
                        <a:t>delivered_hour</a:t>
                      </a:r>
                      <a:r>
                        <a:rPr sz="1100" b="0" i="0" dirty="0">
                          <a:solidFill>
                            <a:srgbClr val="242B33"/>
                          </a:solidFill>
                          <a:latin typeface="Aptos"/>
                        </a:rPr>
                        <a:t>, </a:t>
                      </a:r>
                      <a:r>
                        <a:rPr sz="1100" b="0" i="0" dirty="0" err="1">
                          <a:solidFill>
                            <a:srgbClr val="242B33"/>
                          </a:solidFill>
                          <a:latin typeface="Aptos"/>
                        </a:rPr>
                        <a:t>delivered_weekend</a:t>
                      </a:r>
                      <a:endParaRPr sz="1100" b="0" i="0" dirty="0">
                        <a:solidFill>
                          <a:srgbClr val="242B33"/>
                        </a:solidFill>
                        <a:latin typeface="Aptos"/>
                      </a:endParaRPr>
                    </a:p>
                  </a:txBody>
                  <a:tcPr marL="54864" marR="54864" marT="27432" marB="27432" anchor="ctr">
                    <a:solidFill>
                      <a:srgbClr val="FFFFFF"/>
                    </a:solidFill>
                  </a:tcPr>
                </a:tc>
                <a:tc>
                  <a:txBody>
                    <a:bodyPr/>
                    <a:lstStyle/>
                    <a:p>
                      <a:pPr algn="l"/>
                      <a:r>
                        <a:rPr sz="1100" b="0" i="0" dirty="0" err="1">
                          <a:solidFill>
                            <a:srgbClr val="242B33"/>
                          </a:solidFill>
                          <a:latin typeface="Aptos"/>
                        </a:rPr>
                        <a:t>thời</a:t>
                      </a:r>
                      <a:r>
                        <a:rPr sz="1100" b="0" i="0" dirty="0">
                          <a:solidFill>
                            <a:srgbClr val="242B33"/>
                          </a:solidFill>
                          <a:latin typeface="Aptos"/>
                        </a:rPr>
                        <a:t> </a:t>
                      </a:r>
                      <a:r>
                        <a:rPr sz="1100" b="0" i="0" dirty="0" err="1">
                          <a:solidFill>
                            <a:srgbClr val="242B33"/>
                          </a:solidFill>
                          <a:latin typeface="Aptos"/>
                        </a:rPr>
                        <a:t>gian</a:t>
                      </a:r>
                      <a:r>
                        <a:rPr sz="1100" b="0" i="0" dirty="0">
                          <a:solidFill>
                            <a:srgbClr val="242B33"/>
                          </a:solidFill>
                          <a:latin typeface="Aptos"/>
                        </a:rPr>
                        <a:t> </a:t>
                      </a:r>
                      <a:r>
                        <a:rPr sz="1100" b="0" i="0" dirty="0" err="1">
                          <a:solidFill>
                            <a:srgbClr val="242B33"/>
                          </a:solidFill>
                          <a:latin typeface="Aptos"/>
                        </a:rPr>
                        <a:t>giao</a:t>
                      </a:r>
                      <a:r>
                        <a:rPr sz="1100" b="0" i="0" dirty="0">
                          <a:solidFill>
                            <a:srgbClr val="242B33"/>
                          </a:solidFill>
                          <a:latin typeface="Aptos"/>
                        </a:rPr>
                        <a:t> </a:t>
                      </a:r>
                      <a:r>
                        <a:rPr sz="1100" b="0" i="0" dirty="0" err="1">
                          <a:solidFill>
                            <a:srgbClr val="242B33"/>
                          </a:solidFill>
                          <a:latin typeface="Aptos"/>
                        </a:rPr>
                        <a:t>thực</a:t>
                      </a:r>
                      <a:r>
                        <a:rPr sz="1100" b="0" i="0" dirty="0">
                          <a:solidFill>
                            <a:srgbClr val="242B33"/>
                          </a:solidFill>
                          <a:latin typeface="Aptos"/>
                        </a:rPr>
                        <a:t> </a:t>
                      </a:r>
                      <a:r>
                        <a:rPr sz="1100" b="0" i="0" dirty="0" err="1">
                          <a:solidFill>
                            <a:srgbClr val="242B33"/>
                          </a:solidFill>
                          <a:latin typeface="Aptos"/>
                        </a:rPr>
                        <a:t>tế</a:t>
                      </a:r>
                      <a:r>
                        <a:rPr sz="1100" b="0" i="0" dirty="0">
                          <a:solidFill>
                            <a:srgbClr val="242B33"/>
                          </a:solidFill>
                          <a:latin typeface="Aptos"/>
                        </a:rPr>
                        <a:t>, </a:t>
                      </a:r>
                      <a:r>
                        <a:rPr sz="1100" b="0" i="0" dirty="0" err="1">
                          <a:solidFill>
                            <a:srgbClr val="242B33"/>
                          </a:solidFill>
                          <a:latin typeface="Aptos"/>
                        </a:rPr>
                        <a:t>giờ</a:t>
                      </a:r>
                      <a:r>
                        <a:rPr sz="1100" b="0" i="0" dirty="0">
                          <a:solidFill>
                            <a:srgbClr val="242B33"/>
                          </a:solidFill>
                          <a:latin typeface="Aptos"/>
                        </a:rPr>
                        <a:t>/</a:t>
                      </a:r>
                      <a:r>
                        <a:rPr sz="1100" b="0" i="0" dirty="0" err="1">
                          <a:solidFill>
                            <a:srgbClr val="242B33"/>
                          </a:solidFill>
                          <a:latin typeface="Aptos"/>
                        </a:rPr>
                        <a:t>ngày</a:t>
                      </a:r>
                      <a:r>
                        <a:rPr sz="1100" b="0" i="0" dirty="0">
                          <a:solidFill>
                            <a:srgbClr val="242B33"/>
                          </a:solidFill>
                          <a:latin typeface="Aptos"/>
                        </a:rPr>
                        <a:t> </a:t>
                      </a:r>
                      <a:r>
                        <a:rPr sz="1100" b="0" i="0" dirty="0" err="1">
                          <a:solidFill>
                            <a:srgbClr val="242B33"/>
                          </a:solidFill>
                          <a:latin typeface="Aptos"/>
                        </a:rPr>
                        <a:t>nhận</a:t>
                      </a:r>
                      <a:endParaRPr sz="1100" b="0" i="0" dirty="0">
                        <a:solidFill>
                          <a:srgbClr val="242B33"/>
                        </a:solidFill>
                        <a:latin typeface="Aptos"/>
                      </a:endParaRPr>
                    </a:p>
                  </a:txBody>
                  <a:tcPr marL="54864" marR="54864" marT="27432" marB="27432"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err="1">
                          <a:solidFill>
                            <a:srgbClr val="242B33"/>
                          </a:solidFill>
                          <a:latin typeface="Aptos"/>
                        </a:rPr>
                        <a:t>Thời</a:t>
                      </a:r>
                      <a:r>
                        <a:rPr sz="1100" b="1" i="0" dirty="0">
                          <a:solidFill>
                            <a:srgbClr val="242B33"/>
                          </a:solidFill>
                          <a:latin typeface="Aptos"/>
                        </a:rPr>
                        <a:t> </a:t>
                      </a:r>
                      <a:r>
                        <a:rPr sz="1100" b="1" i="0" dirty="0" err="1">
                          <a:solidFill>
                            <a:srgbClr val="242B33"/>
                          </a:solidFill>
                          <a:latin typeface="Aptos"/>
                        </a:rPr>
                        <a:t>điểm</a:t>
                      </a:r>
                      <a:r>
                        <a:rPr sz="1100" b="1" i="0" dirty="0">
                          <a:solidFill>
                            <a:srgbClr val="242B33"/>
                          </a:solidFill>
                          <a:latin typeface="Aptos"/>
                        </a:rPr>
                        <a:t> </a:t>
                      </a:r>
                      <a:r>
                        <a:rPr sz="1100" b="1" i="0" dirty="0" err="1">
                          <a:solidFill>
                            <a:srgbClr val="242B33"/>
                          </a:solidFill>
                          <a:latin typeface="Aptos"/>
                        </a:rPr>
                        <a:t>mua</a:t>
                      </a:r>
                      <a:endParaRPr sz="1100" b="1" i="0" dirty="0">
                        <a:solidFill>
                          <a:srgbClr val="242B33"/>
                        </a:solidFill>
                        <a:latin typeface="Aptos"/>
                      </a:endParaRPr>
                    </a:p>
                  </a:txBody>
                  <a:tcPr marL="54864" marR="54864" marT="27432" marB="27432" anchor="ctr">
                    <a:solidFill>
                      <a:srgbClr val="F6F9FC"/>
                    </a:solidFill>
                  </a:tcPr>
                </a:tc>
                <a:tc>
                  <a:txBody>
                    <a:bodyPr/>
                    <a:lstStyle/>
                    <a:p>
                      <a:pPr algn="l"/>
                      <a:r>
                        <a:rPr sz="1100" b="0" i="0" dirty="0" err="1">
                          <a:solidFill>
                            <a:srgbClr val="242B33"/>
                          </a:solidFill>
                          <a:latin typeface="Aptos"/>
                        </a:rPr>
                        <a:t>purchase_month</a:t>
                      </a:r>
                      <a:r>
                        <a:rPr sz="1100" b="0" i="0" dirty="0">
                          <a:solidFill>
                            <a:srgbClr val="242B33"/>
                          </a:solidFill>
                          <a:latin typeface="Aptos"/>
                        </a:rPr>
                        <a:t>, _weekday, _hour</a:t>
                      </a:r>
                    </a:p>
                  </a:txBody>
                  <a:tcPr marL="54864" marR="54864" marT="27432" marB="27432" anchor="ctr">
                    <a:solidFill>
                      <a:srgbClr val="F6F9FC"/>
                    </a:solidFill>
                  </a:tcPr>
                </a:tc>
                <a:tc>
                  <a:txBody>
                    <a:bodyPr/>
                    <a:lstStyle/>
                    <a:p>
                      <a:pPr algn="l"/>
                      <a:r>
                        <a:rPr sz="1100" b="0" i="0" dirty="0" err="1">
                          <a:solidFill>
                            <a:srgbClr val="242B33"/>
                          </a:solidFill>
                          <a:latin typeface="Aptos"/>
                        </a:rPr>
                        <a:t>mùa</a:t>
                      </a:r>
                      <a:r>
                        <a:rPr sz="1100" b="0" i="0" dirty="0">
                          <a:solidFill>
                            <a:srgbClr val="242B33"/>
                          </a:solidFill>
                          <a:latin typeface="Aptos"/>
                        </a:rPr>
                        <a:t> </a:t>
                      </a:r>
                      <a:r>
                        <a:rPr sz="1100" b="0" i="0" dirty="0" err="1">
                          <a:solidFill>
                            <a:srgbClr val="242B33"/>
                          </a:solidFill>
                          <a:latin typeface="Aptos"/>
                        </a:rPr>
                        <a:t>vụ</a:t>
                      </a:r>
                      <a:r>
                        <a:rPr sz="1100" b="0" i="0" dirty="0">
                          <a:solidFill>
                            <a:srgbClr val="242B33"/>
                          </a:solidFill>
                          <a:latin typeface="Aptos"/>
                        </a:rPr>
                        <a:t>, </a:t>
                      </a:r>
                      <a:r>
                        <a:rPr sz="1100" b="0" i="0" dirty="0" err="1">
                          <a:solidFill>
                            <a:srgbClr val="242B33"/>
                          </a:solidFill>
                          <a:latin typeface="Aptos"/>
                        </a:rPr>
                        <a:t>thói</a:t>
                      </a:r>
                      <a:r>
                        <a:rPr sz="1100" b="0" i="0" dirty="0">
                          <a:solidFill>
                            <a:srgbClr val="242B33"/>
                          </a:solidFill>
                          <a:latin typeface="Aptos"/>
                        </a:rPr>
                        <a:t> </a:t>
                      </a:r>
                      <a:r>
                        <a:rPr sz="1100" b="0" i="0" dirty="0" err="1">
                          <a:solidFill>
                            <a:srgbClr val="242B33"/>
                          </a:solidFill>
                          <a:latin typeface="Aptos"/>
                        </a:rPr>
                        <a:t>quen</a:t>
                      </a:r>
                      <a:r>
                        <a:rPr sz="1100" b="0" i="0" dirty="0">
                          <a:solidFill>
                            <a:srgbClr val="242B33"/>
                          </a:solidFill>
                          <a:latin typeface="Aptos"/>
                        </a:rPr>
                        <a:t> </a:t>
                      </a:r>
                      <a:r>
                        <a:rPr sz="1100" b="0" i="0" dirty="0" err="1">
                          <a:solidFill>
                            <a:srgbClr val="242B33"/>
                          </a:solidFill>
                          <a:latin typeface="Aptos"/>
                        </a:rPr>
                        <a:t>mua</a:t>
                      </a:r>
                      <a:endParaRPr sz="1100" b="0" i="0" dirty="0">
                        <a:solidFill>
                          <a:srgbClr val="242B33"/>
                        </a:solidFill>
                        <a:latin typeface="Aptos"/>
                      </a:endParaRPr>
                    </a:p>
                  </a:txBody>
                  <a:tcPr marL="54864" marR="54864" marT="27432" marB="27432" anchor="ctr">
                    <a:solidFill>
                      <a:srgbClr val="F6F9FC"/>
                    </a:solidFill>
                  </a:tcPr>
                </a:tc>
                <a:extLst>
                  <a:ext uri="{0D108BD9-81ED-4DB2-BD59-A6C34878D82A}">
                    <a16:rowId xmlns:a16="http://schemas.microsoft.com/office/drawing/2014/main" val="10002"/>
                  </a:ext>
                </a:extLst>
              </a:tr>
              <a:tr h="384048">
                <a:tc>
                  <a:txBody>
                    <a:bodyPr/>
                    <a:lstStyle/>
                    <a:p>
                      <a:pPr algn="l"/>
                      <a:r>
                        <a:rPr sz="1100" b="1" i="0">
                          <a:solidFill>
                            <a:srgbClr val="242B33"/>
                          </a:solidFill>
                          <a:latin typeface="Aptos"/>
                        </a:rPr>
                        <a:t>Sản phẩm</a:t>
                      </a:r>
                    </a:p>
                  </a:txBody>
                  <a:tcPr marL="54864" marR="54864" marT="27432" marB="27432" anchor="ctr">
                    <a:solidFill>
                      <a:srgbClr val="FFFFFF"/>
                    </a:solidFill>
                  </a:tcPr>
                </a:tc>
                <a:tc>
                  <a:txBody>
                    <a:bodyPr/>
                    <a:lstStyle/>
                    <a:p>
                      <a:pPr algn="l"/>
                      <a:r>
                        <a:rPr sz="1100" b="0" i="0">
                          <a:solidFill>
                            <a:srgbClr val="242B33"/>
                          </a:solidFill>
                          <a:latin typeface="Aptos"/>
                        </a:rPr>
                        <a:t>category, is_tiki_trading, log_price, discount_rate</a:t>
                      </a:r>
                    </a:p>
                  </a:txBody>
                  <a:tcPr marL="54864" marR="54864" marT="27432" marB="27432" anchor="ctr">
                    <a:solidFill>
                      <a:srgbClr val="FFFFFF"/>
                    </a:solidFill>
                  </a:tcPr>
                </a:tc>
                <a:tc>
                  <a:txBody>
                    <a:bodyPr/>
                    <a:lstStyle/>
                    <a:p>
                      <a:pPr algn="l"/>
                      <a:r>
                        <a:rPr sz="1100" b="0" i="0" dirty="0" err="1">
                          <a:solidFill>
                            <a:srgbClr val="242B33"/>
                          </a:solidFill>
                          <a:latin typeface="Aptos"/>
                        </a:rPr>
                        <a:t>ngành</a:t>
                      </a:r>
                      <a:r>
                        <a:rPr sz="1100" b="0" i="0" dirty="0">
                          <a:solidFill>
                            <a:srgbClr val="242B33"/>
                          </a:solidFill>
                          <a:latin typeface="Aptos"/>
                        </a:rPr>
                        <a:t>, </a:t>
                      </a:r>
                      <a:r>
                        <a:rPr sz="1100" b="0" i="0" dirty="0" err="1">
                          <a:solidFill>
                            <a:srgbClr val="242B33"/>
                          </a:solidFill>
                          <a:latin typeface="Aptos"/>
                        </a:rPr>
                        <a:t>hàng</a:t>
                      </a:r>
                      <a:r>
                        <a:rPr sz="1100" b="0" i="0" dirty="0">
                          <a:solidFill>
                            <a:srgbClr val="242B33"/>
                          </a:solidFill>
                          <a:latin typeface="Aptos"/>
                        </a:rPr>
                        <a:t> </a:t>
                      </a:r>
                      <a:r>
                        <a:rPr sz="1100" b="0" i="0" dirty="0" err="1">
                          <a:solidFill>
                            <a:srgbClr val="242B33"/>
                          </a:solidFill>
                          <a:latin typeface="Aptos"/>
                        </a:rPr>
                        <a:t>sàn</a:t>
                      </a:r>
                      <a:r>
                        <a:rPr sz="1100" b="0" i="0" dirty="0">
                          <a:solidFill>
                            <a:srgbClr val="242B33"/>
                          </a:solidFill>
                          <a:latin typeface="Aptos"/>
                        </a:rPr>
                        <a:t> </a:t>
                      </a:r>
                      <a:r>
                        <a:rPr sz="1100" b="0" i="0" dirty="0" err="1">
                          <a:solidFill>
                            <a:srgbClr val="242B33"/>
                          </a:solidFill>
                          <a:latin typeface="Aptos"/>
                        </a:rPr>
                        <a:t>tự</a:t>
                      </a:r>
                      <a:r>
                        <a:rPr sz="1100" b="0" i="0" dirty="0">
                          <a:solidFill>
                            <a:srgbClr val="242B33"/>
                          </a:solidFill>
                          <a:latin typeface="Aptos"/>
                        </a:rPr>
                        <a:t> </a:t>
                      </a:r>
                      <a:r>
                        <a:rPr sz="1100" b="0" i="0" dirty="0" err="1">
                          <a:solidFill>
                            <a:srgbClr val="242B33"/>
                          </a:solidFill>
                          <a:latin typeface="Aptos"/>
                        </a:rPr>
                        <a:t>bán</a:t>
                      </a:r>
                      <a:r>
                        <a:rPr sz="1100" b="0" i="0" dirty="0">
                          <a:solidFill>
                            <a:srgbClr val="242B33"/>
                          </a:solidFill>
                          <a:latin typeface="Aptos"/>
                        </a:rPr>
                        <a:t>, </a:t>
                      </a:r>
                      <a:r>
                        <a:rPr sz="1100" b="0" i="0" dirty="0" err="1">
                          <a:solidFill>
                            <a:srgbClr val="242B33"/>
                          </a:solidFill>
                          <a:latin typeface="Aptos"/>
                        </a:rPr>
                        <a:t>giá</a:t>
                      </a:r>
                      <a:endParaRPr sz="1100" b="0" i="0" dirty="0">
                        <a:solidFill>
                          <a:srgbClr val="242B33"/>
                        </a:solidFill>
                        <a:latin typeface="Aptos"/>
                      </a:endParaRPr>
                    </a:p>
                  </a:txBody>
                  <a:tcPr marL="54864" marR="54864" marT="27432" marB="27432" anchor="ctr">
                    <a:solidFill>
                      <a:srgbClr val="FFFFFF"/>
                    </a:solidFill>
                  </a:tcPr>
                </a:tc>
                <a:extLst>
                  <a:ext uri="{0D108BD9-81ED-4DB2-BD59-A6C34878D82A}">
                    <a16:rowId xmlns:a16="http://schemas.microsoft.com/office/drawing/2014/main" val="10003"/>
                  </a:ext>
                </a:extLst>
              </a:tr>
              <a:tr h="384048">
                <a:tc>
                  <a:txBody>
                    <a:bodyPr/>
                    <a:lstStyle/>
                    <a:p>
                      <a:pPr algn="l"/>
                      <a:r>
                        <a:rPr sz="1100" b="1" i="0">
                          <a:solidFill>
                            <a:srgbClr val="242B33"/>
                          </a:solidFill>
                          <a:latin typeface="Aptos"/>
                        </a:rPr>
                        <a:t>Lịch sử sản phẩm</a:t>
                      </a:r>
                    </a:p>
                  </a:txBody>
                  <a:tcPr marL="54864" marR="54864" marT="27432" marB="27432" anchor="ctr">
                    <a:solidFill>
                      <a:srgbClr val="F6F9FC"/>
                    </a:solidFill>
                  </a:tcPr>
                </a:tc>
                <a:tc>
                  <a:txBody>
                    <a:bodyPr/>
                    <a:lstStyle/>
                    <a:p>
                      <a:pPr algn="l"/>
                      <a:r>
                        <a:rPr sz="1100" b="0" i="0">
                          <a:solidFill>
                            <a:srgbClr val="242B33"/>
                          </a:solidFill>
                          <a:latin typeface="Aptos"/>
                        </a:rPr>
                        <a:t>prod_hist_n, prod_hist_rate</a:t>
                      </a:r>
                    </a:p>
                  </a:txBody>
                  <a:tcPr marL="54864" marR="54864" marT="27432" marB="27432" anchor="ctr">
                    <a:solidFill>
                      <a:srgbClr val="F6F9FC"/>
                    </a:solidFill>
                  </a:tcPr>
                </a:tc>
                <a:tc>
                  <a:txBody>
                    <a:bodyPr/>
                    <a:lstStyle/>
                    <a:p>
                      <a:pPr algn="l"/>
                      <a:r>
                        <a:rPr sz="1100" b="0" i="0">
                          <a:solidFill>
                            <a:srgbClr val="242B33"/>
                          </a:solidFill>
                          <a:latin typeface="Aptos"/>
                        </a:rPr>
                        <a:t>số review &amp; tỉ lệ review xấu TRƯỚC lúc giao</a:t>
                      </a:r>
                    </a:p>
                  </a:txBody>
                  <a:tcPr marL="54864" marR="54864" marT="27432" marB="27432" anchor="ctr">
                    <a:solidFill>
                      <a:srgbClr val="F6F9FC"/>
                    </a:solidFill>
                  </a:tcPr>
                </a:tc>
                <a:extLst>
                  <a:ext uri="{0D108BD9-81ED-4DB2-BD59-A6C34878D82A}">
                    <a16:rowId xmlns:a16="http://schemas.microsoft.com/office/drawing/2014/main" val="10004"/>
                  </a:ext>
                </a:extLst>
              </a:tr>
              <a:tr h="384048">
                <a:tc>
                  <a:txBody>
                    <a:bodyPr/>
                    <a:lstStyle/>
                    <a:p>
                      <a:pPr algn="l"/>
                      <a:r>
                        <a:rPr sz="1100" b="1" i="0">
                          <a:solidFill>
                            <a:srgbClr val="242B33"/>
                          </a:solidFill>
                          <a:latin typeface="Aptos"/>
                        </a:rPr>
                        <a:t>Lịch sử nhà bán</a:t>
                      </a:r>
                    </a:p>
                  </a:txBody>
                  <a:tcPr marL="54864" marR="54864" marT="27432" marB="27432" anchor="ctr">
                    <a:solidFill>
                      <a:srgbClr val="FFFFFF"/>
                    </a:solidFill>
                  </a:tcPr>
                </a:tc>
                <a:tc>
                  <a:txBody>
                    <a:bodyPr/>
                    <a:lstStyle/>
                    <a:p>
                      <a:pPr algn="l"/>
                      <a:r>
                        <a:rPr sz="1100" b="0" i="0">
                          <a:solidFill>
                            <a:srgbClr val="242B33"/>
                          </a:solidFill>
                          <a:latin typeface="Aptos"/>
                        </a:rPr>
                        <a:t>seller_hist_n, seller_hist_rate</a:t>
                      </a:r>
                    </a:p>
                  </a:txBody>
                  <a:tcPr marL="54864" marR="54864" marT="27432" marB="27432" anchor="ctr">
                    <a:solidFill>
                      <a:srgbClr val="FFFFFF"/>
                    </a:solidFill>
                  </a:tcPr>
                </a:tc>
                <a:tc>
                  <a:txBody>
                    <a:bodyPr/>
                    <a:lstStyle/>
                    <a:p>
                      <a:pPr algn="l"/>
                      <a:r>
                        <a:rPr sz="1100" b="0" i="0">
                          <a:solidFill>
                            <a:srgbClr val="242B33"/>
                          </a:solidFill>
                          <a:latin typeface="Aptos"/>
                        </a:rPr>
                        <a:t>như trên, cho nhà bán</a:t>
                      </a:r>
                    </a:p>
                  </a:txBody>
                  <a:tcPr marL="54864" marR="54864" marT="27432" marB="27432"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rgbClr val="242B33"/>
                          </a:solidFill>
                          <a:latin typeface="Aptos"/>
                        </a:rPr>
                        <a:t>Khách hàng</a:t>
                      </a:r>
                    </a:p>
                  </a:txBody>
                  <a:tcPr marL="54864" marR="54864" marT="27432" marB="27432" anchor="ctr">
                    <a:solidFill>
                      <a:srgbClr val="F6F9FC"/>
                    </a:solidFill>
                  </a:tcPr>
                </a:tc>
                <a:tc>
                  <a:txBody>
                    <a:bodyPr/>
                    <a:lstStyle/>
                    <a:p>
                      <a:pPr algn="l"/>
                      <a:r>
                        <a:rPr sz="1100" b="0" i="0">
                          <a:solidFill>
                            <a:srgbClr val="242B33"/>
                          </a:solidFill>
                          <a:latin typeface="Aptos"/>
                        </a:rPr>
                        <a:t>cust_tenure_days, cust_hist_n, cust_hist_rate</a:t>
                      </a:r>
                    </a:p>
                  </a:txBody>
                  <a:tcPr marL="54864" marR="54864" marT="27432" marB="27432" anchor="ctr">
                    <a:solidFill>
                      <a:srgbClr val="F6F9FC"/>
                    </a:solidFill>
                  </a:tcPr>
                </a:tc>
                <a:tc>
                  <a:txBody>
                    <a:bodyPr/>
                    <a:lstStyle/>
                    <a:p>
                      <a:pPr algn="l"/>
                      <a:r>
                        <a:rPr sz="1100" b="0" i="0" dirty="0" err="1">
                          <a:solidFill>
                            <a:srgbClr val="242B33"/>
                          </a:solidFill>
                          <a:latin typeface="Aptos"/>
                        </a:rPr>
                        <a:t>thâm</a:t>
                      </a:r>
                      <a:r>
                        <a:rPr sz="1100" b="0" i="0" dirty="0">
                          <a:solidFill>
                            <a:srgbClr val="242B33"/>
                          </a:solidFill>
                          <a:latin typeface="Aptos"/>
                        </a:rPr>
                        <a:t> </a:t>
                      </a:r>
                      <a:r>
                        <a:rPr sz="1100" b="0" i="0" dirty="0" err="1">
                          <a:solidFill>
                            <a:srgbClr val="242B33"/>
                          </a:solidFill>
                          <a:latin typeface="Aptos"/>
                        </a:rPr>
                        <a:t>niên</a:t>
                      </a:r>
                      <a:r>
                        <a:rPr sz="1100" b="0" i="0" dirty="0">
                          <a:solidFill>
                            <a:srgbClr val="242B33"/>
                          </a:solidFill>
                          <a:latin typeface="Aptos"/>
                        </a:rPr>
                        <a:t>; </a:t>
                      </a:r>
                      <a:r>
                        <a:rPr sz="1100" b="0" i="0" dirty="0" err="1">
                          <a:solidFill>
                            <a:srgbClr val="242B33"/>
                          </a:solidFill>
                          <a:latin typeface="Aptos"/>
                        </a:rPr>
                        <a:t>khách</a:t>
                      </a:r>
                      <a:r>
                        <a:rPr sz="1100" b="0" i="0" dirty="0">
                          <a:solidFill>
                            <a:srgbClr val="242B33"/>
                          </a:solidFill>
                          <a:latin typeface="Aptos"/>
                        </a:rPr>
                        <a:t> </a:t>
                      </a:r>
                      <a:r>
                        <a:rPr sz="1100" b="0" i="0" dirty="0" err="1">
                          <a:solidFill>
                            <a:srgbClr val="242B33"/>
                          </a:solidFill>
                          <a:latin typeface="Aptos"/>
                        </a:rPr>
                        <a:t>có</a:t>
                      </a:r>
                      <a:r>
                        <a:rPr sz="1100" b="0" i="0" dirty="0">
                          <a:solidFill>
                            <a:srgbClr val="242B33"/>
                          </a:solidFill>
                          <a:latin typeface="Aptos"/>
                        </a:rPr>
                        <a:t> hay </a:t>
                      </a:r>
                      <a:r>
                        <a:rPr sz="1100" b="0" i="0" dirty="0" err="1">
                          <a:solidFill>
                            <a:srgbClr val="242B33"/>
                          </a:solidFill>
                          <a:latin typeface="Aptos"/>
                        </a:rPr>
                        <a:t>chấm</a:t>
                      </a:r>
                      <a:r>
                        <a:rPr sz="1100" b="0" i="0" dirty="0">
                          <a:solidFill>
                            <a:srgbClr val="242B33"/>
                          </a:solidFill>
                          <a:latin typeface="Aptos"/>
                        </a:rPr>
                        <a:t> </a:t>
                      </a:r>
                      <a:r>
                        <a:rPr sz="1100" b="0" i="0" dirty="0" err="1">
                          <a:solidFill>
                            <a:srgbClr val="242B33"/>
                          </a:solidFill>
                          <a:latin typeface="Aptos"/>
                        </a:rPr>
                        <a:t>thấp</a:t>
                      </a:r>
                      <a:r>
                        <a:rPr sz="1100" b="0" i="0" dirty="0">
                          <a:solidFill>
                            <a:srgbClr val="242B33"/>
                          </a:solidFill>
                          <a:latin typeface="Aptos"/>
                        </a:rPr>
                        <a:t> </a:t>
                      </a:r>
                      <a:r>
                        <a:rPr sz="1100" b="0" i="0" dirty="0" err="1">
                          <a:solidFill>
                            <a:srgbClr val="242B33"/>
                          </a:solidFill>
                          <a:latin typeface="Aptos"/>
                        </a:rPr>
                        <a:t>không</a:t>
                      </a:r>
                      <a:endParaRPr sz="1100" b="0" i="0" dirty="0">
                        <a:solidFill>
                          <a:srgbClr val="242B33"/>
                        </a:solidFill>
                        <a:latin typeface="Aptos"/>
                      </a:endParaRPr>
                    </a:p>
                  </a:txBody>
                  <a:tcPr marL="54864" marR="54864" marT="27432" marB="27432" anchor="ctr">
                    <a:solidFill>
                      <a:srgbClr val="F6F9FC"/>
                    </a:solidFill>
                  </a:tcPr>
                </a:tc>
                <a:extLst>
                  <a:ext uri="{0D108BD9-81ED-4DB2-BD59-A6C34878D82A}">
                    <a16:rowId xmlns:a16="http://schemas.microsoft.com/office/drawing/2014/main" val="10006"/>
                  </a:ext>
                </a:extLst>
              </a:tr>
            </a:tbl>
          </a:graphicData>
        </a:graphic>
      </p:graphicFrame>
      <p:sp>
        <p:nvSpPr>
          <p:cNvPr id="9" name="Rounded Rectangle 8"/>
          <p:cNvSpPr/>
          <p:nvPr/>
        </p:nvSpPr>
        <p:spPr>
          <a:xfrm>
            <a:off x="603504" y="4215384"/>
            <a:ext cx="6629400" cy="1371600"/>
          </a:xfrm>
          <a:prstGeom prst="round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9808" y="4270248"/>
            <a:ext cx="6400800" cy="1280160"/>
          </a:xfrm>
          <a:prstGeom prst="rect">
            <a:avLst/>
          </a:prstGeom>
          <a:noFill/>
        </p:spPr>
        <p:txBody>
          <a:bodyPr wrap="square" lIns="36576" tIns="36576" rIns="36576" bIns="36576" anchor="t">
            <a:noAutofit/>
          </a:bodyPr>
          <a:lstStyle/>
          <a:p>
            <a:pPr algn="l">
              <a:spcAft>
                <a:spcPts val="300"/>
              </a:spcAft>
            </a:pPr>
            <a:r>
              <a:rPr sz="1150" b="1" i="0">
                <a:solidFill>
                  <a:srgbClr val="162C46"/>
                </a:solidFill>
                <a:latin typeface="Aptos"/>
              </a:rPr>
              <a:t>Feature lịch sử "as-of" — không nhìn tương lai</a:t>
            </a:r>
          </a:p>
          <a:p>
            <a:pPr algn="l">
              <a:spcAft>
                <a:spcPts val="300"/>
              </a:spcAft>
            </a:pPr>
            <a:r>
              <a:rPr sz="1100" b="1" i="0">
                <a:solidFill>
                  <a:srgbClr val="242B33"/>
                </a:solidFill>
                <a:latin typeface="Courier New"/>
              </a:rPr>
              <a:t>prod_hist_rate</a:t>
            </a:r>
            <a:r>
              <a:rPr sz="1150" b="0" i="0">
                <a:solidFill>
                  <a:srgbClr val="5E6A78"/>
                </a:solidFill>
                <a:latin typeface="Aptos"/>
              </a:rPr>
              <a:t> chỉ cộng review đăng trước thời điểm giao, không gồm chính dòng đó; có trọng số; làm trơn Bayes về tỉ lệ chung (prior Beta) để sản phẩm mới không bị gán 0% / 100%.</a:t>
            </a:r>
          </a:p>
          <a:p>
            <a:pPr algn="l">
              <a:spcAft>
                <a:spcPts val="300"/>
              </a:spcAft>
            </a:pPr>
            <a:r>
              <a:rPr sz="1150" b="0" i="0">
                <a:solidFill>
                  <a:srgbClr val="5E6A78"/>
                </a:solidFill>
                <a:latin typeface="Aptos"/>
              </a:rPr>
              <a:t>Cài vector hoá bằng </a:t>
            </a:r>
            <a:r>
              <a:rPr sz="1100" b="1" i="0">
                <a:solidFill>
                  <a:srgbClr val="242B33"/>
                </a:solidFill>
                <a:latin typeface="Courier New"/>
              </a:rPr>
              <a:t>np.searchsorted</a:t>
            </a:r>
            <a:r>
              <a:rPr sz="1150" b="0" i="0">
                <a:solidFill>
                  <a:srgbClr val="5E6A78"/>
                </a:solidFill>
                <a:latin typeface="Aptos"/>
              </a:rPr>
              <a:t> (Buổi 2), test khớp từng số với bản vòng lặp.</a:t>
            </a:r>
          </a:p>
        </p:txBody>
      </p:sp>
      <p:sp>
        <p:nvSpPr>
          <p:cNvPr id="11" name="TextBox 10"/>
          <p:cNvSpPr txBox="1"/>
          <p:nvPr/>
        </p:nvSpPr>
        <p:spPr>
          <a:xfrm>
            <a:off x="7452360" y="1005840"/>
            <a:ext cx="4206240" cy="310896"/>
          </a:xfrm>
          <a:prstGeom prst="rect">
            <a:avLst/>
          </a:prstGeom>
          <a:noFill/>
        </p:spPr>
        <p:txBody>
          <a:bodyPr wrap="square" lIns="36576" tIns="36576" rIns="36576" bIns="36576" anchor="t">
            <a:noAutofit/>
          </a:bodyPr>
          <a:lstStyle/>
          <a:p>
            <a:pPr algn="l">
              <a:spcAft>
                <a:spcPts val="300"/>
              </a:spcAft>
            </a:pPr>
            <a:r>
              <a:rPr sz="1500" b="1" i="0">
                <a:solidFill>
                  <a:srgbClr val="2F639D"/>
                </a:solidFill>
                <a:latin typeface="Aptos"/>
              </a:rPr>
              <a:t>2. BIẾN CẤM — VÌ SAO</a:t>
            </a:r>
          </a:p>
        </p:txBody>
      </p:sp>
      <p:sp>
        <p:nvSpPr>
          <p:cNvPr id="12" name="Rounded Rectangle 11"/>
          <p:cNvSpPr/>
          <p:nvPr/>
        </p:nvSpPr>
        <p:spPr>
          <a:xfrm>
            <a:off x="7452360" y="1344168"/>
            <a:ext cx="4160520" cy="75895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571231" y="1380744"/>
            <a:ext cx="3977639" cy="256032"/>
          </a:xfrm>
          <a:prstGeom prst="rect">
            <a:avLst/>
          </a:prstGeom>
          <a:noFill/>
        </p:spPr>
        <p:txBody>
          <a:bodyPr wrap="square" lIns="36576" tIns="36576" rIns="36576" bIns="36576" anchor="t">
            <a:noAutofit/>
          </a:bodyPr>
          <a:lstStyle/>
          <a:p>
            <a:pPr algn="l">
              <a:spcAft>
                <a:spcPts val="300"/>
              </a:spcAft>
            </a:pPr>
            <a:r>
              <a:rPr sz="1200" b="1" i="0">
                <a:solidFill>
                  <a:srgbClr val="B14242"/>
                </a:solidFill>
                <a:latin typeface="Aptos"/>
              </a:rPr>
              <a:t>Chính là nhãn</a:t>
            </a:r>
          </a:p>
        </p:txBody>
      </p:sp>
      <p:sp>
        <p:nvSpPr>
          <p:cNvPr id="14" name="TextBox 13"/>
          <p:cNvSpPr txBox="1"/>
          <p:nvPr/>
        </p:nvSpPr>
        <p:spPr>
          <a:xfrm>
            <a:off x="7571231" y="1618488"/>
            <a:ext cx="3977639" cy="237744"/>
          </a:xfrm>
          <a:prstGeom prst="rect">
            <a:avLst/>
          </a:prstGeom>
          <a:noFill/>
        </p:spPr>
        <p:txBody>
          <a:bodyPr wrap="square" lIns="36576" tIns="36576" rIns="36576" bIns="36576" anchor="t">
            <a:noAutofit/>
          </a:bodyPr>
          <a:lstStyle/>
          <a:p>
            <a:pPr algn="l">
              <a:spcAft>
                <a:spcPts val="300"/>
              </a:spcAft>
            </a:pPr>
            <a:r>
              <a:rPr sz="1050" b="1" i="0">
                <a:solidFill>
                  <a:srgbClr val="242B33"/>
                </a:solidFill>
                <a:latin typeface="Courier New"/>
              </a:rPr>
              <a:t>rating · stratum · weight · title</a:t>
            </a:r>
          </a:p>
        </p:txBody>
      </p:sp>
      <p:sp>
        <p:nvSpPr>
          <p:cNvPr id="15" name="TextBox 14"/>
          <p:cNvSpPr txBox="1"/>
          <p:nvPr/>
        </p:nvSpPr>
        <p:spPr>
          <a:xfrm>
            <a:off x="7571231" y="1837943"/>
            <a:ext cx="3977639" cy="237744"/>
          </a:xfrm>
          <a:prstGeom prst="rect">
            <a:avLst/>
          </a:prstGeom>
          <a:noFill/>
        </p:spPr>
        <p:txBody>
          <a:bodyPr wrap="square" lIns="36576" tIns="36576" rIns="36576" bIns="36576" anchor="t">
            <a:noAutofit/>
          </a:bodyPr>
          <a:lstStyle/>
          <a:p>
            <a:pPr algn="l">
              <a:spcAft>
                <a:spcPts val="300"/>
              </a:spcAft>
            </a:pPr>
            <a:r>
              <a:rPr sz="1050" b="0" i="0">
                <a:solidFill>
                  <a:srgbClr val="5E6A78"/>
                </a:solidFill>
                <a:latin typeface="Aptos"/>
              </a:rPr>
              <a:t>weight = N_h/n_h phụ thuộc tầng sao</a:t>
            </a:r>
          </a:p>
        </p:txBody>
      </p:sp>
      <p:sp>
        <p:nvSpPr>
          <p:cNvPr id="16" name="Rounded Rectangle 15"/>
          <p:cNvSpPr/>
          <p:nvPr/>
        </p:nvSpPr>
        <p:spPr>
          <a:xfrm>
            <a:off x="7452360" y="2194560"/>
            <a:ext cx="4160520" cy="75895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571231" y="2231136"/>
            <a:ext cx="3977639" cy="256032"/>
          </a:xfrm>
          <a:prstGeom prst="rect">
            <a:avLst/>
          </a:prstGeom>
          <a:noFill/>
        </p:spPr>
        <p:txBody>
          <a:bodyPr wrap="square" lIns="36576" tIns="36576" rIns="36576" bIns="36576" anchor="t">
            <a:noAutofit/>
          </a:bodyPr>
          <a:lstStyle/>
          <a:p>
            <a:pPr algn="l">
              <a:spcAft>
                <a:spcPts val="300"/>
              </a:spcAft>
            </a:pPr>
            <a:r>
              <a:rPr sz="1200" b="1" i="0">
                <a:solidFill>
                  <a:srgbClr val="B14242"/>
                </a:solidFill>
                <a:latin typeface="Aptos"/>
              </a:rPr>
              <a:t>Hệ quả của nhãn</a:t>
            </a:r>
          </a:p>
        </p:txBody>
      </p:sp>
      <p:sp>
        <p:nvSpPr>
          <p:cNvPr id="18" name="TextBox 17"/>
          <p:cNvSpPr txBox="1"/>
          <p:nvPr/>
        </p:nvSpPr>
        <p:spPr>
          <a:xfrm>
            <a:off x="7571231" y="2468879"/>
            <a:ext cx="3977639" cy="237744"/>
          </a:xfrm>
          <a:prstGeom prst="rect">
            <a:avLst/>
          </a:prstGeom>
          <a:noFill/>
        </p:spPr>
        <p:txBody>
          <a:bodyPr wrap="square" lIns="36576" tIns="36576" rIns="36576" bIns="36576" anchor="t">
            <a:noAutofit/>
          </a:bodyPr>
          <a:lstStyle/>
          <a:p>
            <a:pPr algn="l">
              <a:spcAft>
                <a:spcPts val="300"/>
              </a:spcAft>
            </a:pPr>
            <a:r>
              <a:rPr sz="1050" b="1" i="0">
                <a:solidFill>
                  <a:srgbClr val="242B33"/>
                </a:solidFill>
                <a:latin typeface="Courier New"/>
              </a:rPr>
              <a:t>thank_count</a:t>
            </a:r>
          </a:p>
        </p:txBody>
      </p:sp>
      <p:sp>
        <p:nvSpPr>
          <p:cNvPr id="19" name="TextBox 18"/>
          <p:cNvSpPr txBox="1"/>
          <p:nvPr/>
        </p:nvSpPr>
        <p:spPr>
          <a:xfrm>
            <a:off x="7571231" y="2688336"/>
            <a:ext cx="3977639" cy="237744"/>
          </a:xfrm>
          <a:prstGeom prst="rect">
            <a:avLst/>
          </a:prstGeom>
          <a:noFill/>
        </p:spPr>
        <p:txBody>
          <a:bodyPr wrap="square" lIns="36576" tIns="36576" rIns="36576" bIns="36576" anchor="t">
            <a:noAutofit/>
          </a:bodyPr>
          <a:lstStyle/>
          <a:p>
            <a:pPr algn="l">
              <a:spcAft>
                <a:spcPts val="300"/>
              </a:spcAft>
            </a:pPr>
            <a:r>
              <a:rPr sz="1050" b="0" i="0">
                <a:solidFill>
                  <a:srgbClr val="5E6A78"/>
                </a:solidFill>
                <a:latin typeface="Aptos"/>
              </a:rPr>
              <a:t>người khác bấm "cảm ơn" SAU khi đăng</a:t>
            </a:r>
          </a:p>
        </p:txBody>
      </p:sp>
      <p:sp>
        <p:nvSpPr>
          <p:cNvPr id="20" name="Rounded Rectangle 19"/>
          <p:cNvSpPr/>
          <p:nvPr/>
        </p:nvSpPr>
        <p:spPr>
          <a:xfrm>
            <a:off x="7452360" y="3044952"/>
            <a:ext cx="4160520" cy="75895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571231" y="3081528"/>
            <a:ext cx="3977639" cy="256032"/>
          </a:xfrm>
          <a:prstGeom prst="rect">
            <a:avLst/>
          </a:prstGeom>
          <a:noFill/>
        </p:spPr>
        <p:txBody>
          <a:bodyPr wrap="square" lIns="36576" tIns="36576" rIns="36576" bIns="36576" anchor="t">
            <a:noAutofit/>
          </a:bodyPr>
          <a:lstStyle/>
          <a:p>
            <a:pPr algn="l">
              <a:spcAft>
                <a:spcPts val="300"/>
              </a:spcAft>
            </a:pPr>
            <a:r>
              <a:rPr sz="1200" b="1" i="0">
                <a:solidFill>
                  <a:srgbClr val="BE7D2F"/>
                </a:solidFill>
                <a:latin typeface="Aptos"/>
              </a:rPr>
              <a:t>Thông tin tương lai</a:t>
            </a:r>
          </a:p>
        </p:txBody>
      </p:sp>
      <p:sp>
        <p:nvSpPr>
          <p:cNvPr id="22" name="TextBox 21"/>
          <p:cNvSpPr txBox="1"/>
          <p:nvPr/>
        </p:nvSpPr>
        <p:spPr>
          <a:xfrm>
            <a:off x="7571231" y="3319272"/>
            <a:ext cx="3977639" cy="237744"/>
          </a:xfrm>
          <a:prstGeom prst="rect">
            <a:avLst/>
          </a:prstGeom>
          <a:noFill/>
        </p:spPr>
        <p:txBody>
          <a:bodyPr wrap="square" lIns="36576" tIns="36576" rIns="36576" bIns="36576" anchor="t">
            <a:noAutofit/>
          </a:bodyPr>
          <a:lstStyle/>
          <a:p>
            <a:pPr algn="l">
              <a:spcAft>
                <a:spcPts val="300"/>
              </a:spcAft>
            </a:pPr>
            <a:r>
              <a:rPr sz="1050" b="1" i="0">
                <a:solidFill>
                  <a:srgbClr val="242B33"/>
                </a:solidFill>
                <a:latin typeface="Courier New"/>
              </a:rPr>
              <a:t>rating_average · review_count · review_ts</a:t>
            </a:r>
          </a:p>
        </p:txBody>
      </p:sp>
      <p:sp>
        <p:nvSpPr>
          <p:cNvPr id="23" name="TextBox 22"/>
          <p:cNvSpPr txBox="1"/>
          <p:nvPr/>
        </p:nvSpPr>
        <p:spPr>
          <a:xfrm>
            <a:off x="7571231" y="3538728"/>
            <a:ext cx="3977639" cy="237744"/>
          </a:xfrm>
          <a:prstGeom prst="rect">
            <a:avLst/>
          </a:prstGeom>
          <a:noFill/>
        </p:spPr>
        <p:txBody>
          <a:bodyPr wrap="square" lIns="36576" tIns="36576" rIns="36576" bIns="36576" anchor="t">
            <a:noAutofit/>
          </a:bodyPr>
          <a:lstStyle/>
          <a:p>
            <a:pPr algn="l">
              <a:spcAft>
                <a:spcPts val="300"/>
              </a:spcAft>
            </a:pPr>
            <a:r>
              <a:rPr sz="1050" b="0" i="0">
                <a:solidFill>
                  <a:srgbClr val="5E6A78"/>
                </a:solidFill>
                <a:latin typeface="Aptos"/>
              </a:rPr>
              <a:t>ảnh chụp lúc cào 2026, chứa cả review cần dự báo</a:t>
            </a:r>
          </a:p>
        </p:txBody>
      </p:sp>
      <p:sp>
        <p:nvSpPr>
          <p:cNvPr id="24" name="Rounded Rectangle 23"/>
          <p:cNvSpPr/>
          <p:nvPr/>
        </p:nvSpPr>
        <p:spPr>
          <a:xfrm>
            <a:off x="7452360" y="3895344"/>
            <a:ext cx="4160520" cy="75895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571231" y="3931920"/>
            <a:ext cx="3977639" cy="256032"/>
          </a:xfrm>
          <a:prstGeom prst="rect">
            <a:avLst/>
          </a:prstGeom>
          <a:noFill/>
        </p:spPr>
        <p:txBody>
          <a:bodyPr wrap="square" lIns="36576" tIns="36576" rIns="36576" bIns="36576" anchor="t">
            <a:noAutofit/>
          </a:bodyPr>
          <a:lstStyle/>
          <a:p>
            <a:pPr algn="l">
              <a:spcAft>
                <a:spcPts val="300"/>
              </a:spcAft>
            </a:pPr>
            <a:r>
              <a:rPr sz="1200" b="1" i="0">
                <a:solidFill>
                  <a:srgbClr val="BE7D2F"/>
                </a:solidFill>
                <a:latin typeface="Aptos"/>
              </a:rPr>
              <a:t>Trùng thông tin</a:t>
            </a:r>
          </a:p>
        </p:txBody>
      </p:sp>
      <p:sp>
        <p:nvSpPr>
          <p:cNvPr id="26" name="TextBox 25"/>
          <p:cNvSpPr txBox="1"/>
          <p:nvPr/>
        </p:nvSpPr>
        <p:spPr>
          <a:xfrm>
            <a:off x="7571231" y="4169663"/>
            <a:ext cx="3977639" cy="237744"/>
          </a:xfrm>
          <a:prstGeom prst="rect">
            <a:avLst/>
          </a:prstGeom>
          <a:noFill/>
        </p:spPr>
        <p:txBody>
          <a:bodyPr wrap="square" lIns="36576" tIns="36576" rIns="36576" bIns="36576" anchor="t">
            <a:noAutofit/>
          </a:bodyPr>
          <a:lstStyle/>
          <a:p>
            <a:pPr algn="l">
              <a:spcAft>
                <a:spcPts val="300"/>
              </a:spcAft>
            </a:pPr>
            <a:r>
              <a:rPr sz="1050" b="1" i="0">
                <a:solidFill>
                  <a:srgbClr val="242B33"/>
                </a:solidFill>
                <a:latin typeface="Courier New"/>
              </a:rPr>
              <a:t>gap_days · sla_status</a:t>
            </a:r>
          </a:p>
        </p:txBody>
      </p:sp>
      <p:sp>
        <p:nvSpPr>
          <p:cNvPr id="27" name="TextBox 26"/>
          <p:cNvSpPr txBox="1"/>
          <p:nvPr/>
        </p:nvSpPr>
        <p:spPr>
          <a:xfrm>
            <a:off x="7571231" y="4389120"/>
            <a:ext cx="3977639" cy="237744"/>
          </a:xfrm>
          <a:prstGeom prst="rect">
            <a:avLst/>
          </a:prstGeom>
          <a:noFill/>
        </p:spPr>
        <p:txBody>
          <a:bodyPr wrap="square" lIns="36576" tIns="36576" rIns="36576" bIns="36576" anchor="t">
            <a:noAutofit/>
          </a:bodyPr>
          <a:lstStyle/>
          <a:p>
            <a:pPr algn="l">
              <a:spcAft>
                <a:spcPts val="300"/>
              </a:spcAft>
            </a:pPr>
            <a:r>
              <a:rPr sz="1050" b="0" i="0">
                <a:solidFill>
                  <a:srgbClr val="5E6A78"/>
                </a:solidFill>
                <a:latin typeface="Aptos"/>
              </a:rPr>
              <a:t>gap_days = lead_days − 5, tương quan đúng 1,0</a:t>
            </a:r>
          </a:p>
        </p:txBody>
      </p:sp>
      <p:sp>
        <p:nvSpPr>
          <p:cNvPr id="28" name="Rounded Rectangle 27"/>
          <p:cNvSpPr/>
          <p:nvPr/>
        </p:nvSpPr>
        <p:spPr>
          <a:xfrm>
            <a:off x="7452360" y="4745736"/>
            <a:ext cx="4160520" cy="75895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571231" y="4782312"/>
            <a:ext cx="3977639" cy="256032"/>
          </a:xfrm>
          <a:prstGeom prst="rect">
            <a:avLst/>
          </a:prstGeom>
          <a:noFill/>
        </p:spPr>
        <p:txBody>
          <a:bodyPr wrap="square" lIns="36576" tIns="36576" rIns="36576" bIns="36576" anchor="t">
            <a:noAutofit/>
          </a:bodyPr>
          <a:lstStyle/>
          <a:p>
            <a:pPr algn="l">
              <a:spcAft>
                <a:spcPts val="300"/>
              </a:spcAft>
            </a:pPr>
            <a:r>
              <a:rPr sz="1200" b="1" i="0">
                <a:solidFill>
                  <a:srgbClr val="5E6A78"/>
                </a:solidFill>
                <a:latin typeface="Aptos"/>
              </a:rPr>
              <a:t>Không khái quát</a:t>
            </a:r>
          </a:p>
        </p:txBody>
      </p:sp>
      <p:sp>
        <p:nvSpPr>
          <p:cNvPr id="30" name="TextBox 29"/>
          <p:cNvSpPr txBox="1"/>
          <p:nvPr/>
        </p:nvSpPr>
        <p:spPr>
          <a:xfrm>
            <a:off x="7571231" y="5020056"/>
            <a:ext cx="3977639" cy="237744"/>
          </a:xfrm>
          <a:prstGeom prst="rect">
            <a:avLst/>
          </a:prstGeom>
          <a:noFill/>
        </p:spPr>
        <p:txBody>
          <a:bodyPr wrap="square" lIns="36576" tIns="36576" rIns="36576" bIns="36576" anchor="t">
            <a:noAutofit/>
          </a:bodyPr>
          <a:lstStyle/>
          <a:p>
            <a:pPr algn="l">
              <a:spcAft>
                <a:spcPts val="300"/>
              </a:spcAft>
            </a:pPr>
            <a:r>
              <a:rPr sz="1050" b="1" i="0">
                <a:solidFill>
                  <a:srgbClr val="242B33"/>
                </a:solidFill>
                <a:latin typeface="Courier New"/>
              </a:rPr>
              <a:t>year thô · id</a:t>
            </a:r>
          </a:p>
        </p:txBody>
      </p:sp>
      <p:sp>
        <p:nvSpPr>
          <p:cNvPr id="31" name="TextBox 30"/>
          <p:cNvSpPr txBox="1"/>
          <p:nvPr/>
        </p:nvSpPr>
        <p:spPr>
          <a:xfrm>
            <a:off x="7571231" y="5239512"/>
            <a:ext cx="3977639" cy="237744"/>
          </a:xfrm>
          <a:prstGeom prst="rect">
            <a:avLst/>
          </a:prstGeom>
          <a:noFill/>
        </p:spPr>
        <p:txBody>
          <a:bodyPr wrap="square" lIns="36576" tIns="36576" rIns="36576" bIns="36576" anchor="t">
            <a:noAutofit/>
          </a:bodyPr>
          <a:lstStyle/>
          <a:p>
            <a:pPr algn="l">
              <a:spcAft>
                <a:spcPts val="300"/>
              </a:spcAft>
            </a:pPr>
            <a:r>
              <a:rPr sz="1050" b="0" i="0">
                <a:solidFill>
                  <a:srgbClr val="5E6A78"/>
                </a:solidFill>
                <a:latin typeface="Aptos"/>
              </a:rPr>
              <a:t>train ≤2023: cây không ngoại suy được 2024+</a:t>
            </a:r>
          </a:p>
        </p:txBody>
      </p:sp>
      <p:sp>
        <p:nvSpPr>
          <p:cNvPr id="32" name="Rounded Rectangle 31"/>
          <p:cNvSpPr/>
          <p:nvPr/>
        </p:nvSpPr>
        <p:spPr>
          <a:xfrm>
            <a:off x="603504" y="5760720"/>
            <a:ext cx="11009376" cy="548640"/>
          </a:xfrm>
          <a:prstGeom prst="roundRect">
            <a:avLst>
              <a:gd name="adj" fmla="val 18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400" b="1" i="0">
                <a:solidFill>
                  <a:srgbClr val="FFFFFF"/>
                </a:solidFill>
                <a:latin typeface="Aptos"/>
              </a:rPr>
              <a:t>Thời điểm dự báo = lúc hàng tới tay khách, trước khi viết review. Chưa biết lúc đó ⇒ cấm làm feature.</a:t>
            </a:r>
          </a:p>
        </p:txBody>
      </p:sp>
      <p:sp>
        <p:nvSpPr>
          <p:cNvPr id="33" name="Rounded Rectangle 32"/>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a:t>
            </a:r>
          </a:p>
        </p:txBody>
      </p:sp>
      <p:sp>
        <p:nvSpPr>
          <p:cNvPr id="34" name="Rounded Rectangle 33"/>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Data Collection</a:t>
            </a:r>
          </a:p>
        </p:txBody>
      </p:sp>
      <p:sp>
        <p:nvSpPr>
          <p:cNvPr id="35" name="Rounded Rectangle 34"/>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Cleaning</a:t>
            </a:r>
          </a:p>
        </p:txBody>
      </p:sp>
      <p:sp>
        <p:nvSpPr>
          <p:cNvPr id="36" name="Rounded Rectangle 35"/>
          <p:cNvSpPr/>
          <p:nvPr/>
        </p:nvSpPr>
        <p:spPr>
          <a:xfrm>
            <a:off x="7306056" y="6510528"/>
            <a:ext cx="42062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EDA</a:t>
            </a:r>
          </a:p>
        </p:txBody>
      </p:sp>
      <p:sp>
        <p:nvSpPr>
          <p:cNvPr id="37" name="Rounded Rectangle 36"/>
          <p:cNvSpPr/>
          <p:nvPr/>
        </p:nvSpPr>
        <p:spPr>
          <a:xfrm>
            <a:off x="7772400" y="6510528"/>
            <a:ext cx="676656"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Features</a:t>
            </a:r>
          </a:p>
        </p:txBody>
      </p:sp>
      <p:sp>
        <p:nvSpPr>
          <p:cNvPr id="38" name="Rounded Rectangle 37"/>
          <p:cNvSpPr/>
          <p:nvPr/>
        </p:nvSpPr>
        <p:spPr>
          <a:xfrm>
            <a:off x="8494776" y="6510528"/>
            <a:ext cx="69494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Modeling</a:t>
            </a:r>
          </a:p>
        </p:txBody>
      </p:sp>
      <p:sp>
        <p:nvSpPr>
          <p:cNvPr id="39" name="Rounded Rectangle 38"/>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Evaluation</a:t>
            </a:r>
          </a:p>
        </p:txBody>
      </p:sp>
      <p:sp>
        <p:nvSpPr>
          <p:cNvPr id="40" name="Rounded Rectangle 39"/>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 Value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
            <a:ext cx="10424160" cy="566928"/>
          </a:xfrm>
          <a:prstGeom prst="rect">
            <a:avLst/>
          </a:prstGeom>
          <a:noFill/>
        </p:spPr>
        <p:txBody>
          <a:bodyPr wrap="square" anchor="t" lIns="36576" rIns="36576" tIns="36576" bIns="36576">
            <a:noAutofit/>
          </a:bodyPr>
          <a:lstStyle/>
          <a:p>
            <a:pPr algn="l">
              <a:spcAft>
                <a:spcPts val="300"/>
              </a:spcAft>
            </a:pPr>
            <a:r>
              <a:rPr sz="2400" b="1" i="0">
                <a:solidFill>
                  <a:srgbClr val="162C46"/>
                </a:solidFill>
                <a:latin typeface="Aptos Display"/>
              </a:rPr>
              <a:t>FEATURES — TARGET: DỮ LIỆU CÓ CÂN BẰNG KHÔNG?</a:t>
            </a:r>
          </a:p>
        </p:txBody>
      </p:sp>
      <p:cxnSp>
        <p:nvCxnSpPr>
          <p:cNvPr id="3" name="Connector 2"/>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583680"/>
            <a:ext cx="4023360" cy="182880"/>
          </a:xfrm>
          <a:prstGeom prst="rect">
            <a:avLst/>
          </a:prstGeom>
          <a:noFill/>
        </p:spPr>
        <p:txBody>
          <a:bodyPr wrap="square" anchor="t" lIns="36576" rIns="36576" tIns="36576" bIns="36576">
            <a:noAutofit/>
          </a:bodyPr>
          <a:lstStyle/>
          <a:p>
            <a:pPr algn="l">
              <a:spcAft>
                <a:spcPts val="300"/>
              </a:spcAft>
            </a:pPr>
            <a:r>
              <a:rPr sz="850" b="0" i="0">
                <a:solidFill>
                  <a:srgbClr val="5E6A78"/>
                </a:solidFill>
                <a:latin typeface="Aptos"/>
              </a:rPr>
              <a:t>Cơ sở Khoa học Dữ liệu  •  SLA &amp; Customer Experience</a:t>
            </a:r>
          </a:p>
        </p:txBody>
      </p:sp>
      <p:sp>
        <p:nvSpPr>
          <p:cNvPr id="6" name="TextBox 5"/>
          <p:cNvSpPr txBox="1"/>
          <p:nvPr/>
        </p:nvSpPr>
        <p:spPr>
          <a:xfrm>
            <a:off x="11201400" y="6567055"/>
            <a:ext cx="365760" cy="166255"/>
          </a:xfrm>
          <a:prstGeom prst="rect">
            <a:avLst/>
          </a:prstGeom>
          <a:noFill/>
        </p:spPr>
        <p:txBody>
          <a:bodyPr wrap="square" anchor="t" lIns="36576" rIns="36576" tIns="36576" bIns="36576">
            <a:noAutofit/>
          </a:bodyPr>
          <a:lstStyle/>
          <a:p>
            <a:pPr algn="l">
              <a:spcAft>
                <a:spcPts val="300"/>
              </a:spcAft>
            </a:pPr>
            <a:r>
              <a:rPr sz="850" b="0" i="0">
                <a:solidFill>
                  <a:srgbClr val="5E6A78"/>
                </a:solidFill>
                <a:latin typeface="Aptos"/>
              </a:rPr>
              <a:t>17</a:t>
            </a:r>
          </a:p>
        </p:txBody>
      </p:sp>
      <p:sp>
        <p:nvSpPr>
          <p:cNvPr id="7" name="Rounded Rectangle 6"/>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Business</a:t>
            </a:r>
          </a:p>
        </p:txBody>
      </p:sp>
      <p:sp>
        <p:nvSpPr>
          <p:cNvPr id="8" name="Rounded Rectangle 7"/>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Data Collection</a:t>
            </a:r>
          </a:p>
        </p:txBody>
      </p:sp>
      <p:sp>
        <p:nvSpPr>
          <p:cNvPr id="9" name="Rounded Rectangle 8"/>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Cleaning</a:t>
            </a:r>
          </a:p>
        </p:txBody>
      </p:sp>
      <p:sp>
        <p:nvSpPr>
          <p:cNvPr id="10" name="Rounded Rectangle 9"/>
          <p:cNvSpPr/>
          <p:nvPr/>
        </p:nvSpPr>
        <p:spPr>
          <a:xfrm>
            <a:off x="7306056" y="6510528"/>
            <a:ext cx="42062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EDA</a:t>
            </a:r>
          </a:p>
        </p:txBody>
      </p:sp>
      <p:sp>
        <p:nvSpPr>
          <p:cNvPr id="11" name="Rounded Rectangle 10"/>
          <p:cNvSpPr/>
          <p:nvPr/>
        </p:nvSpPr>
        <p:spPr>
          <a:xfrm>
            <a:off x="7772400" y="6510528"/>
            <a:ext cx="676656"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1" i="0">
                <a:solidFill>
                  <a:srgbClr val="FFFFFF"/>
                </a:solidFill>
                <a:latin typeface="Aptos"/>
              </a:rPr>
              <a:t>Features</a:t>
            </a:r>
          </a:p>
        </p:txBody>
      </p:sp>
      <p:sp>
        <p:nvSpPr>
          <p:cNvPr id="12" name="Rounded Rectangle 11"/>
          <p:cNvSpPr/>
          <p:nvPr/>
        </p:nvSpPr>
        <p:spPr>
          <a:xfrm>
            <a:off x="8494776" y="6510528"/>
            <a:ext cx="69494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Modeling</a:t>
            </a:r>
          </a:p>
        </p:txBody>
      </p:sp>
      <p:sp>
        <p:nvSpPr>
          <p:cNvPr id="13" name="Rounded Rectangle 12"/>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Evaluation</a:t>
            </a:r>
          </a:p>
        </p:txBody>
      </p:sp>
      <p:sp>
        <p:nvSpPr>
          <p:cNvPr id="14" name="Rounded Rectangle 13"/>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Business Value</a:t>
            </a:r>
          </a:p>
        </p:txBody>
      </p:sp>
      <p:sp>
        <p:nvSpPr>
          <p:cNvPr id="15" name="TextBox 14"/>
          <p:cNvSpPr txBox="1"/>
          <p:nvPr/>
        </p:nvSpPr>
        <p:spPr>
          <a:xfrm>
            <a:off x="603504" y="987552"/>
            <a:ext cx="6035040" cy="310896"/>
          </a:xfrm>
          <a:prstGeom prst="rect">
            <a:avLst/>
          </a:prstGeom>
          <a:noFill/>
        </p:spPr>
        <p:txBody>
          <a:bodyPr wrap="square" anchor="t" lIns="36576" rIns="36576" tIns="36576" bIns="36576">
            <a:noAutofit/>
          </a:bodyPr>
          <a:lstStyle/>
          <a:p>
            <a:pPr algn="l">
              <a:spcAft>
                <a:spcPts val="300"/>
              </a:spcAft>
            </a:pPr>
            <a:r>
              <a:rPr sz="1500" b="1" i="0">
                <a:solidFill>
                  <a:srgbClr val="2F639D"/>
                </a:solidFill>
                <a:latin typeface="Aptos"/>
              </a:rPr>
              <a:t>1. TỈ LỆ LOW RATING (≤3★) THEO TỪNG TẬP</a:t>
            </a:r>
          </a:p>
        </p:txBody>
      </p:sp>
      <p:graphicFrame>
        <p:nvGraphicFramePr>
          <p:cNvPr id="16" name="Chart 15"/>
          <p:cNvGraphicFramePr>
            <a:graphicFrameLocks noGrp="1"/>
          </p:cNvGraphicFramePr>
          <p:nvPr/>
        </p:nvGraphicFramePr>
        <p:xfrm>
          <a:off x="548640" y="1280160"/>
          <a:ext cx="6172200" cy="2514600"/>
        </p:xfrm>
        <a:graphic>
          <a:graphicData uri="http://schemas.openxmlformats.org/drawingml/2006/chart">
            <c:chart xmlns:c="http://schemas.openxmlformats.org/drawingml/2006/chart" r:id="rId3"/>
          </a:graphicData>
        </a:graphic>
      </p:graphicFrame>
      <p:graphicFrame>
        <p:nvGraphicFramePr>
          <p:cNvPr id="17" name="Table 16"/>
          <p:cNvGraphicFramePr>
            <a:graphicFrameLocks noGrp="1"/>
          </p:cNvGraphicFramePr>
          <p:nvPr/>
        </p:nvGraphicFramePr>
        <p:xfrm>
          <a:off x="603504" y="3904487"/>
          <a:ext cx="6035039" cy="1371600"/>
        </p:xfrm>
        <a:graphic>
          <a:graphicData uri="http://schemas.openxmlformats.org/drawingml/2006/table">
            <a:tbl>
              <a:tblPr firstRow="1">
                <a:tableStyleId>{5C22544A-7EE6-4342-B048-85BDC9FD1C3A}</a:tableStyleId>
              </a:tblPr>
              <a:tblGrid>
                <a:gridCol w="1874519"/>
                <a:gridCol w="1005840"/>
                <a:gridCol w="1005840"/>
                <a:gridCol w="1188720"/>
                <a:gridCol w="960120"/>
              </a:tblGrid>
              <a:tr h="274320">
                <a:tc>
                  <a:txBody>
                    <a:bodyPr wrap="square"/>
                    <a:lstStyle/>
                    <a:p>
                      <a:pPr algn="l"/>
                      <a:r>
                        <a:rPr sz="1050" b="1" i="0">
                          <a:solidFill>
                            <a:srgbClr val="FFFFFF"/>
                          </a:solidFill>
                          <a:latin typeface="Aptos"/>
                        </a:rPr>
                        <a:t>Tập</a:t>
                      </a:r>
                    </a:p>
                  </a:txBody>
                  <a:tcPr marL="54864" marR="54864" marT="27432" marB="27432" anchor="ctr">
                    <a:solidFill>
                      <a:srgbClr val="162C46"/>
                    </a:solidFill>
                  </a:tcPr>
                </a:tc>
                <a:tc>
                  <a:txBody>
                    <a:bodyPr wrap="square"/>
                    <a:lstStyle/>
                    <a:p>
                      <a:pPr algn="l"/>
                      <a:r>
                        <a:rPr sz="1050" b="1" i="0">
                          <a:solidFill>
                            <a:srgbClr val="FFFFFF"/>
                          </a:solidFill>
                          <a:latin typeface="Aptos"/>
                        </a:rPr>
                        <a:t>n review</a:t>
                      </a:r>
                    </a:p>
                  </a:txBody>
                  <a:tcPr marL="54864" marR="54864" marT="27432" marB="27432" anchor="ctr">
                    <a:solidFill>
                      <a:srgbClr val="162C46"/>
                    </a:solidFill>
                  </a:tcPr>
                </a:tc>
                <a:tc>
                  <a:txBody>
                    <a:bodyPr wrap="square"/>
                    <a:lstStyle/>
                    <a:p>
                      <a:pPr algn="l"/>
                      <a:r>
                        <a:rPr sz="1050" b="1" i="0">
                          <a:solidFill>
                            <a:srgbClr val="FFFFFF"/>
                          </a:solidFill>
                          <a:latin typeface="Aptos"/>
                        </a:rPr>
                        <a:t>Low Rating</a:t>
                      </a:r>
                    </a:p>
                  </a:txBody>
                  <a:tcPr marL="54864" marR="54864" marT="27432" marB="27432" anchor="ctr">
                    <a:solidFill>
                      <a:srgbClr val="162C46"/>
                    </a:solidFill>
                  </a:tcPr>
                </a:tc>
                <a:tc>
                  <a:txBody>
                    <a:bodyPr wrap="square"/>
                    <a:lstStyle/>
                    <a:p>
                      <a:pPr algn="l"/>
                      <a:r>
                        <a:rPr sz="1050" b="1" i="0">
                          <a:solidFill>
                            <a:srgbClr val="FFFFFF"/>
                          </a:solidFill>
                          <a:latin typeface="Aptos"/>
                        </a:rPr>
                        <a:t>tỉ lệ quần thể</a:t>
                      </a:r>
                    </a:p>
                  </a:txBody>
                  <a:tcPr marL="54864" marR="54864" marT="27432" marB="27432" anchor="ctr">
                    <a:solidFill>
                      <a:srgbClr val="162C46"/>
                    </a:solidFill>
                  </a:tcPr>
                </a:tc>
                <a:tc>
                  <a:txBody>
                    <a:bodyPr wrap="square"/>
                    <a:lstStyle/>
                    <a:p>
                      <a:pPr algn="l"/>
                      <a:r>
                        <a:rPr sz="1050" b="1" i="0">
                          <a:solidFill>
                            <a:srgbClr val="FFFFFF"/>
                          </a:solidFill>
                          <a:latin typeface="Aptos"/>
                        </a:rPr>
                        <a:t>âm : dương</a:t>
                      </a:r>
                    </a:p>
                  </a:txBody>
                  <a:tcPr marL="54864" marR="54864" marT="27432" marB="27432" anchor="ctr">
                    <a:solidFill>
                      <a:srgbClr val="162C46"/>
                    </a:solidFill>
                  </a:tcPr>
                </a:tc>
              </a:tr>
              <a:tr h="274320">
                <a:tc>
                  <a:txBody>
                    <a:bodyPr wrap="square"/>
                    <a:lstStyle/>
                    <a:p>
                      <a:pPr algn="l"/>
                      <a:r>
                        <a:rPr sz="1050" b="1" i="0">
                          <a:solidFill>
                            <a:srgbClr val="242B33"/>
                          </a:solidFill>
                          <a:latin typeface="Aptos"/>
                        </a:rPr>
                        <a:t>Train ≤2023</a:t>
                      </a:r>
                    </a:p>
                  </a:txBody>
                  <a:tcPr marL="54864" marR="54864" marT="27432" marB="27432" anchor="ctr">
                    <a:solidFill>
                      <a:srgbClr val="FFFFFF"/>
                    </a:solidFill>
                  </a:tcPr>
                </a:tc>
                <a:tc>
                  <a:txBody>
                    <a:bodyPr wrap="square"/>
                    <a:lstStyle/>
                    <a:p>
                      <a:pPr algn="r"/>
                      <a:r>
                        <a:rPr sz="1050" b="0" i="0">
                          <a:solidFill>
                            <a:srgbClr val="242B33"/>
                          </a:solidFill>
                          <a:latin typeface="Aptos"/>
                        </a:rPr>
                        <a:t>157.173</a:t>
                      </a:r>
                    </a:p>
                  </a:txBody>
                  <a:tcPr marL="54864" marR="54864" marT="27432" marB="27432" anchor="ctr">
                    <a:solidFill>
                      <a:srgbClr val="FFFFFF"/>
                    </a:solidFill>
                  </a:tcPr>
                </a:tc>
                <a:tc>
                  <a:txBody>
                    <a:bodyPr wrap="square"/>
                    <a:lstStyle/>
                    <a:p>
                      <a:pPr algn="r"/>
                      <a:r>
                        <a:rPr sz="1050" b="0" i="0">
                          <a:solidFill>
                            <a:srgbClr val="242B33"/>
                          </a:solidFill>
                          <a:latin typeface="Aptos"/>
                        </a:rPr>
                        <a:t>15.132</a:t>
                      </a:r>
                    </a:p>
                  </a:txBody>
                  <a:tcPr marL="54864" marR="54864" marT="27432" marB="27432" anchor="ctr">
                    <a:solidFill>
                      <a:srgbClr val="FFFFFF"/>
                    </a:solidFill>
                  </a:tcPr>
                </a:tc>
                <a:tc>
                  <a:txBody>
                    <a:bodyPr wrap="square"/>
                    <a:lstStyle/>
                    <a:p>
                      <a:pPr algn="r"/>
                      <a:r>
                        <a:rPr sz="1050" b="0" i="0">
                          <a:solidFill>
                            <a:srgbClr val="242B33"/>
                          </a:solidFill>
                          <a:latin typeface="Aptos"/>
                        </a:rPr>
                        <a:t>4,45%</a:t>
                      </a:r>
                    </a:p>
                  </a:txBody>
                  <a:tcPr marL="54864" marR="54864" marT="27432" marB="27432" anchor="ctr">
                    <a:solidFill>
                      <a:srgbClr val="FFFFFF"/>
                    </a:solidFill>
                  </a:tcPr>
                </a:tc>
                <a:tc>
                  <a:txBody>
                    <a:bodyPr wrap="square"/>
                    <a:lstStyle/>
                    <a:p>
                      <a:pPr algn="r"/>
                      <a:r>
                        <a:rPr sz="1050" b="1" i="0">
                          <a:solidFill>
                            <a:srgbClr val="162C46"/>
                          </a:solidFill>
                          <a:latin typeface="Aptos"/>
                        </a:rPr>
                        <a:t>21 : 1</a:t>
                      </a:r>
                    </a:p>
                  </a:txBody>
                  <a:tcPr marL="54864" marR="54864" marT="27432" marB="27432" anchor="ctr">
                    <a:solidFill>
                      <a:srgbClr val="FFFFFF"/>
                    </a:solidFill>
                  </a:tcPr>
                </a:tc>
              </a:tr>
              <a:tr h="274320">
                <a:tc>
                  <a:txBody>
                    <a:bodyPr wrap="square"/>
                    <a:lstStyle/>
                    <a:p>
                      <a:pPr algn="l"/>
                      <a:r>
                        <a:rPr sz="1050" b="1" i="0">
                          <a:solidFill>
                            <a:srgbClr val="242B33"/>
                          </a:solidFill>
                          <a:latin typeface="Aptos"/>
                        </a:rPr>
                        <a:t>CV fold 1 · val 2022</a:t>
                      </a:r>
                    </a:p>
                  </a:txBody>
                  <a:tcPr marL="54864" marR="54864" marT="27432" marB="27432" anchor="ctr">
                    <a:solidFill>
                      <a:srgbClr val="F6F9FC"/>
                    </a:solidFill>
                  </a:tcPr>
                </a:tc>
                <a:tc>
                  <a:txBody>
                    <a:bodyPr wrap="square"/>
                    <a:lstStyle/>
                    <a:p>
                      <a:pPr algn="r"/>
                      <a:r>
                        <a:rPr sz="1050" b="0" i="0">
                          <a:solidFill>
                            <a:srgbClr val="242B33"/>
                          </a:solidFill>
                          <a:latin typeface="Aptos"/>
                        </a:rPr>
                        <a:t>54.829</a:t>
                      </a:r>
                    </a:p>
                  </a:txBody>
                  <a:tcPr marL="54864" marR="54864" marT="27432" marB="27432" anchor="ctr">
                    <a:solidFill>
                      <a:srgbClr val="F6F9FC"/>
                    </a:solidFill>
                  </a:tcPr>
                </a:tc>
                <a:tc>
                  <a:txBody>
                    <a:bodyPr wrap="square"/>
                    <a:lstStyle/>
                    <a:p>
                      <a:pPr algn="r"/>
                      <a:r>
                        <a:rPr sz="1050" b="0" i="0">
                          <a:solidFill>
                            <a:srgbClr val="242B33"/>
                          </a:solidFill>
                          <a:latin typeface="Aptos"/>
                        </a:rPr>
                        <a:t>3.614</a:t>
                      </a:r>
                    </a:p>
                  </a:txBody>
                  <a:tcPr marL="54864" marR="54864" marT="27432" marB="27432" anchor="ctr">
                    <a:solidFill>
                      <a:srgbClr val="F6F9FC"/>
                    </a:solidFill>
                  </a:tcPr>
                </a:tc>
                <a:tc>
                  <a:txBody>
                    <a:bodyPr wrap="square"/>
                    <a:lstStyle/>
                    <a:p>
                      <a:pPr algn="r"/>
                      <a:r>
                        <a:rPr sz="1050" b="0" i="0">
                          <a:solidFill>
                            <a:srgbClr val="242B33"/>
                          </a:solidFill>
                          <a:latin typeface="Aptos"/>
                        </a:rPr>
                        <a:t>2,83%</a:t>
                      </a:r>
                    </a:p>
                  </a:txBody>
                  <a:tcPr marL="54864" marR="54864" marT="27432" marB="27432" anchor="ctr">
                    <a:solidFill>
                      <a:srgbClr val="F6F9FC"/>
                    </a:solidFill>
                  </a:tcPr>
                </a:tc>
                <a:tc>
                  <a:txBody>
                    <a:bodyPr wrap="square"/>
                    <a:lstStyle/>
                    <a:p>
                      <a:pPr algn="r"/>
                      <a:r>
                        <a:rPr sz="1050" b="1" i="0">
                          <a:solidFill>
                            <a:srgbClr val="162C46"/>
                          </a:solidFill>
                          <a:latin typeface="Aptos"/>
                        </a:rPr>
                        <a:t>34 : 1</a:t>
                      </a:r>
                    </a:p>
                  </a:txBody>
                  <a:tcPr marL="54864" marR="54864" marT="27432" marB="27432" anchor="ctr">
                    <a:solidFill>
                      <a:srgbClr val="F6F9FC"/>
                    </a:solidFill>
                  </a:tcPr>
                </a:tc>
              </a:tr>
              <a:tr h="274320">
                <a:tc>
                  <a:txBody>
                    <a:bodyPr wrap="square"/>
                    <a:lstStyle/>
                    <a:p>
                      <a:pPr algn="l"/>
                      <a:r>
                        <a:rPr sz="1050" b="1" i="0">
                          <a:solidFill>
                            <a:srgbClr val="242B33"/>
                          </a:solidFill>
                          <a:latin typeface="Aptos"/>
                        </a:rPr>
                        <a:t>CV fold 2 · val 2023</a:t>
                      </a:r>
                    </a:p>
                  </a:txBody>
                  <a:tcPr marL="54864" marR="54864" marT="27432" marB="27432" anchor="ctr">
                    <a:solidFill>
                      <a:srgbClr val="FFFFFF"/>
                    </a:solidFill>
                  </a:tcPr>
                </a:tc>
                <a:tc>
                  <a:txBody>
                    <a:bodyPr wrap="square"/>
                    <a:lstStyle/>
                    <a:p>
                      <a:pPr algn="r"/>
                      <a:r>
                        <a:rPr sz="1050" b="0" i="0">
                          <a:solidFill>
                            <a:srgbClr val="242B33"/>
                          </a:solidFill>
                          <a:latin typeface="Aptos"/>
                        </a:rPr>
                        <a:t>26.591</a:t>
                      </a:r>
                    </a:p>
                  </a:txBody>
                  <a:tcPr marL="54864" marR="54864" marT="27432" marB="27432" anchor="ctr">
                    <a:solidFill>
                      <a:srgbClr val="FFFFFF"/>
                    </a:solidFill>
                  </a:tcPr>
                </a:tc>
                <a:tc>
                  <a:txBody>
                    <a:bodyPr wrap="square"/>
                    <a:lstStyle/>
                    <a:p>
                      <a:pPr algn="r"/>
                      <a:r>
                        <a:rPr sz="1050" b="0" i="0">
                          <a:solidFill>
                            <a:srgbClr val="242B33"/>
                          </a:solidFill>
                          <a:latin typeface="Aptos"/>
                        </a:rPr>
                        <a:t>1.204</a:t>
                      </a:r>
                    </a:p>
                  </a:txBody>
                  <a:tcPr marL="54864" marR="54864" marT="27432" marB="27432" anchor="ctr">
                    <a:solidFill>
                      <a:srgbClr val="FFFFFF"/>
                    </a:solidFill>
                  </a:tcPr>
                </a:tc>
                <a:tc>
                  <a:txBody>
                    <a:bodyPr wrap="square"/>
                    <a:lstStyle/>
                    <a:p>
                      <a:pPr algn="r"/>
                      <a:r>
                        <a:rPr sz="1050" b="0" i="0">
                          <a:solidFill>
                            <a:srgbClr val="242B33"/>
                          </a:solidFill>
                          <a:latin typeface="Aptos"/>
                        </a:rPr>
                        <a:t>1,95%</a:t>
                      </a:r>
                    </a:p>
                  </a:txBody>
                  <a:tcPr marL="54864" marR="54864" marT="27432" marB="27432" anchor="ctr">
                    <a:solidFill>
                      <a:srgbClr val="FFFFFF"/>
                    </a:solidFill>
                  </a:tcPr>
                </a:tc>
                <a:tc>
                  <a:txBody>
                    <a:bodyPr wrap="square"/>
                    <a:lstStyle/>
                    <a:p>
                      <a:pPr algn="r"/>
                      <a:r>
                        <a:rPr sz="1050" b="1" i="0">
                          <a:solidFill>
                            <a:srgbClr val="162C46"/>
                          </a:solidFill>
                          <a:latin typeface="Aptos"/>
                        </a:rPr>
                        <a:t>50 : 1</a:t>
                      </a:r>
                    </a:p>
                  </a:txBody>
                  <a:tcPr marL="54864" marR="54864" marT="27432" marB="27432" anchor="ctr">
                    <a:solidFill>
                      <a:srgbClr val="FFFFFF"/>
                    </a:solidFill>
                  </a:tcPr>
                </a:tc>
              </a:tr>
              <a:tr h="274320">
                <a:tc>
                  <a:txBody>
                    <a:bodyPr wrap="square"/>
                    <a:lstStyle/>
                    <a:p>
                      <a:pPr algn="l"/>
                      <a:r>
                        <a:rPr sz="1050" b="1" i="0">
                          <a:solidFill>
                            <a:srgbClr val="242B33"/>
                          </a:solidFill>
                          <a:latin typeface="Aptos"/>
                        </a:rPr>
                        <a:t>Test 2024–2026</a:t>
                      </a:r>
                    </a:p>
                  </a:txBody>
                  <a:tcPr marL="54864" marR="54864" marT="27432" marB="27432" anchor="ctr">
                    <a:solidFill>
                      <a:srgbClr val="F6F9FC"/>
                    </a:solidFill>
                  </a:tcPr>
                </a:tc>
                <a:tc>
                  <a:txBody>
                    <a:bodyPr wrap="square"/>
                    <a:lstStyle/>
                    <a:p>
                      <a:pPr algn="r"/>
                      <a:r>
                        <a:rPr sz="1050" b="0" i="0">
                          <a:solidFill>
                            <a:srgbClr val="242B33"/>
                          </a:solidFill>
                          <a:latin typeface="Aptos"/>
                        </a:rPr>
                        <a:t>41.182</a:t>
                      </a:r>
                    </a:p>
                  </a:txBody>
                  <a:tcPr marL="54864" marR="54864" marT="27432" marB="27432" anchor="ctr">
                    <a:solidFill>
                      <a:srgbClr val="F6F9FC"/>
                    </a:solidFill>
                  </a:tcPr>
                </a:tc>
                <a:tc>
                  <a:txBody>
                    <a:bodyPr wrap="square"/>
                    <a:lstStyle/>
                    <a:p>
                      <a:pPr algn="r"/>
                      <a:r>
                        <a:rPr sz="1050" b="0" i="0">
                          <a:solidFill>
                            <a:srgbClr val="242B33"/>
                          </a:solidFill>
                          <a:latin typeface="Aptos"/>
                        </a:rPr>
                        <a:t>1.465</a:t>
                      </a:r>
                    </a:p>
                  </a:txBody>
                  <a:tcPr marL="54864" marR="54864" marT="27432" marB="27432" anchor="ctr">
                    <a:solidFill>
                      <a:srgbClr val="F6F9FC"/>
                    </a:solidFill>
                  </a:tcPr>
                </a:tc>
                <a:tc>
                  <a:txBody>
                    <a:bodyPr wrap="square"/>
                    <a:lstStyle/>
                    <a:p>
                      <a:pPr algn="r"/>
                      <a:r>
                        <a:rPr sz="1050" b="0" i="0">
                          <a:solidFill>
                            <a:srgbClr val="242B33"/>
                          </a:solidFill>
                          <a:latin typeface="Aptos"/>
                        </a:rPr>
                        <a:t>1,68%</a:t>
                      </a:r>
                    </a:p>
                  </a:txBody>
                  <a:tcPr marL="54864" marR="54864" marT="27432" marB="27432" anchor="ctr">
                    <a:solidFill>
                      <a:srgbClr val="F6F9FC"/>
                    </a:solidFill>
                  </a:tcPr>
                </a:tc>
                <a:tc>
                  <a:txBody>
                    <a:bodyPr wrap="square"/>
                    <a:lstStyle/>
                    <a:p>
                      <a:pPr algn="r"/>
                      <a:r>
                        <a:rPr sz="1050" b="1" i="0">
                          <a:solidFill>
                            <a:srgbClr val="162C46"/>
                          </a:solidFill>
                          <a:latin typeface="Aptos"/>
                        </a:rPr>
                        <a:t>59 : 1</a:t>
                      </a:r>
                    </a:p>
                  </a:txBody>
                  <a:tcPr marL="54864" marR="54864" marT="27432" marB="27432" anchor="ctr">
                    <a:solidFill>
                      <a:srgbClr val="F6F9FC"/>
                    </a:solidFill>
                  </a:tcPr>
                </a:tc>
              </a:tr>
            </a:tbl>
          </a:graphicData>
        </a:graphic>
      </p:graphicFrame>
      <p:sp>
        <p:nvSpPr>
          <p:cNvPr id="18" name="TextBox 17"/>
          <p:cNvSpPr txBox="1"/>
          <p:nvPr/>
        </p:nvSpPr>
        <p:spPr>
          <a:xfrm>
            <a:off x="6903720" y="987552"/>
            <a:ext cx="4754880" cy="310896"/>
          </a:xfrm>
          <a:prstGeom prst="rect">
            <a:avLst/>
          </a:prstGeom>
          <a:noFill/>
        </p:spPr>
        <p:txBody>
          <a:bodyPr wrap="square" anchor="t" lIns="36576" rIns="36576" tIns="36576" bIns="36576">
            <a:noAutofit/>
          </a:bodyPr>
          <a:lstStyle/>
          <a:p>
            <a:pPr algn="l">
              <a:spcAft>
                <a:spcPts val="300"/>
              </a:spcAft>
            </a:pPr>
            <a:r>
              <a:rPr sz="1500" b="1" i="0">
                <a:solidFill>
                  <a:srgbClr val="2F639D"/>
                </a:solidFill>
                <a:latin typeface="Aptos"/>
              </a:rPr>
              <a:t>2. HỆ QUẢ NẾU BỎ QUA</a:t>
            </a:r>
          </a:p>
        </p:txBody>
      </p:sp>
      <p:sp>
        <p:nvSpPr>
          <p:cNvPr id="19" name="Rounded Rectangle 18"/>
          <p:cNvSpPr/>
          <p:nvPr/>
        </p:nvSpPr>
        <p:spPr>
          <a:xfrm>
            <a:off x="6903720" y="1325880"/>
            <a:ext cx="2286000" cy="1325880"/>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95159" y="1389888"/>
            <a:ext cx="2103120" cy="502920"/>
          </a:xfrm>
          <a:prstGeom prst="rect">
            <a:avLst/>
          </a:prstGeom>
          <a:noFill/>
        </p:spPr>
        <p:txBody>
          <a:bodyPr wrap="square" anchor="t" lIns="36576" rIns="36576" tIns="36576" bIns="36576">
            <a:noAutofit/>
          </a:bodyPr>
          <a:lstStyle/>
          <a:p>
            <a:pPr algn="ctr">
              <a:spcAft>
                <a:spcPts val="300"/>
              </a:spcAft>
            </a:pPr>
            <a:r>
              <a:rPr sz="2600" b="1" i="0">
                <a:solidFill>
                  <a:srgbClr val="B14242"/>
                </a:solidFill>
                <a:latin typeface="Aptos"/>
              </a:rPr>
              <a:t>98,3%</a:t>
            </a:r>
          </a:p>
        </p:txBody>
      </p:sp>
      <p:sp>
        <p:nvSpPr>
          <p:cNvPr id="21" name="TextBox 20"/>
          <p:cNvSpPr txBox="1"/>
          <p:nvPr/>
        </p:nvSpPr>
        <p:spPr>
          <a:xfrm>
            <a:off x="6995159" y="1920240"/>
            <a:ext cx="2103120" cy="685800"/>
          </a:xfrm>
          <a:prstGeom prst="rect">
            <a:avLst/>
          </a:prstGeom>
          <a:noFill/>
        </p:spPr>
        <p:txBody>
          <a:bodyPr wrap="square" anchor="t" lIns="36576" rIns="36576" tIns="36576" bIns="36576">
            <a:noAutofit/>
          </a:bodyPr>
          <a:lstStyle/>
          <a:p>
            <a:pPr algn="ctr">
              <a:spcAft>
                <a:spcPts val="0"/>
              </a:spcAft>
            </a:pPr>
            <a:r>
              <a:rPr sz="1000" b="0" i="0">
                <a:solidFill>
                  <a:srgbClr val="5E6A78"/>
                </a:solidFill>
                <a:latin typeface="Aptos"/>
              </a:rPr>
              <a:t>accuracy của mô hình luôn đoán</a:t>
            </a:r>
          </a:p>
          <a:p>
            <a:pPr algn="ctr">
              <a:spcAft>
                <a:spcPts val="0"/>
              </a:spcAft>
            </a:pPr>
            <a:r>
              <a:rPr sz="1000" b="0" i="0">
                <a:solidFill>
                  <a:srgbClr val="5E6A78"/>
                </a:solidFill>
                <a:latin typeface="Aptos"/>
              </a:rPr>
              <a:t>“không phải review xấu” — không học gì</a:t>
            </a:r>
          </a:p>
        </p:txBody>
      </p:sp>
      <p:sp>
        <p:nvSpPr>
          <p:cNvPr id="22" name="Rounded Rectangle 21"/>
          <p:cNvSpPr/>
          <p:nvPr/>
        </p:nvSpPr>
        <p:spPr>
          <a:xfrm>
            <a:off x="9299448" y="1325880"/>
            <a:ext cx="2286000" cy="1325880"/>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90888" y="1389888"/>
            <a:ext cx="2103120" cy="502920"/>
          </a:xfrm>
          <a:prstGeom prst="rect">
            <a:avLst/>
          </a:prstGeom>
          <a:noFill/>
        </p:spPr>
        <p:txBody>
          <a:bodyPr wrap="square" anchor="t" lIns="36576" rIns="36576" tIns="36576" bIns="36576">
            <a:noAutofit/>
          </a:bodyPr>
          <a:lstStyle/>
          <a:p>
            <a:pPr algn="ctr">
              <a:spcAft>
                <a:spcPts val="300"/>
              </a:spcAft>
            </a:pPr>
            <a:r>
              <a:rPr sz="2600" b="1" i="0">
                <a:solidFill>
                  <a:srgbClr val="162C46"/>
                </a:solidFill>
                <a:latin typeface="Aptos"/>
              </a:rPr>
              <a:t>0,0168</a:t>
            </a:r>
          </a:p>
        </p:txBody>
      </p:sp>
      <p:sp>
        <p:nvSpPr>
          <p:cNvPr id="24" name="TextBox 23"/>
          <p:cNvSpPr txBox="1"/>
          <p:nvPr/>
        </p:nvSpPr>
        <p:spPr>
          <a:xfrm>
            <a:off x="9390888" y="1920240"/>
            <a:ext cx="2103120" cy="685800"/>
          </a:xfrm>
          <a:prstGeom prst="rect">
            <a:avLst/>
          </a:prstGeom>
          <a:noFill/>
        </p:spPr>
        <p:txBody>
          <a:bodyPr wrap="square" anchor="t" lIns="36576" rIns="36576" tIns="36576" bIns="36576">
            <a:noAutofit/>
          </a:bodyPr>
          <a:lstStyle/>
          <a:p>
            <a:pPr algn="ctr">
              <a:spcAft>
                <a:spcPts val="0"/>
              </a:spcAft>
            </a:pPr>
            <a:r>
              <a:rPr sz="1000" b="0" i="0">
                <a:solidFill>
                  <a:srgbClr val="5E6A78"/>
                </a:solidFill>
                <a:latin typeface="Aptos"/>
              </a:rPr>
              <a:t>PR-AUC của đoán ngẫu nhiên</a:t>
            </a:r>
          </a:p>
          <a:p>
            <a:pPr algn="ctr">
              <a:spcAft>
                <a:spcPts val="0"/>
              </a:spcAft>
            </a:pPr>
            <a:r>
              <a:rPr sz="1000" b="0" i="0">
                <a:solidFill>
                  <a:srgbClr val="5E6A78"/>
                </a:solidFill>
                <a:latin typeface="Aptos"/>
              </a:rPr>
              <a:t>= tỉ lệ dương → mốc để tính lift</a:t>
            </a:r>
          </a:p>
        </p:txBody>
      </p:sp>
      <p:sp>
        <p:nvSpPr>
          <p:cNvPr id="25" name="TextBox 24"/>
          <p:cNvSpPr txBox="1"/>
          <p:nvPr/>
        </p:nvSpPr>
        <p:spPr>
          <a:xfrm>
            <a:off x="6903720" y="2788920"/>
            <a:ext cx="4754880" cy="310896"/>
          </a:xfrm>
          <a:prstGeom prst="rect">
            <a:avLst/>
          </a:prstGeom>
          <a:noFill/>
        </p:spPr>
        <p:txBody>
          <a:bodyPr wrap="square" anchor="t" lIns="36576" rIns="36576" tIns="36576" bIns="36576">
            <a:noAutofit/>
          </a:bodyPr>
          <a:lstStyle/>
          <a:p>
            <a:pPr algn="l">
              <a:spcAft>
                <a:spcPts val="300"/>
              </a:spcAft>
            </a:pPr>
            <a:r>
              <a:rPr sz="1500" b="1" i="0">
                <a:solidFill>
                  <a:srgbClr val="2F639D"/>
                </a:solidFill>
                <a:latin typeface="Aptos"/>
              </a:rPr>
              <a:t>3. XỬ LÝ: CÂN LỚP BẰNG TRỌNG SỐ</a:t>
            </a:r>
          </a:p>
        </p:txBody>
      </p:sp>
      <p:sp>
        <p:nvSpPr>
          <p:cNvPr id="26" name="Rounded Rectangle 25"/>
          <p:cNvSpPr/>
          <p:nvPr/>
        </p:nvSpPr>
        <p:spPr>
          <a:xfrm>
            <a:off x="6903720" y="3127248"/>
            <a:ext cx="4709160" cy="71323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13448" y="3163824"/>
            <a:ext cx="4526280" cy="256032"/>
          </a:xfrm>
          <a:prstGeom prst="rect">
            <a:avLst/>
          </a:prstGeom>
          <a:noFill/>
        </p:spPr>
        <p:txBody>
          <a:bodyPr wrap="square" anchor="t" lIns="36576" rIns="36576" tIns="36576" bIns="36576">
            <a:noAutofit/>
          </a:bodyPr>
          <a:lstStyle/>
          <a:p>
            <a:pPr algn="l">
              <a:spcAft>
                <a:spcPts val="300"/>
              </a:spcAft>
            </a:pPr>
            <a:r>
              <a:rPr sz="1200" b="1" i="0">
                <a:solidFill>
                  <a:srgbClr val="162C46"/>
                </a:solidFill>
                <a:latin typeface="Aptos"/>
              </a:rPr>
              <a:t>Không SMOTE / undersample</a:t>
            </a:r>
          </a:p>
        </p:txBody>
      </p:sp>
      <p:sp>
        <p:nvSpPr>
          <p:cNvPr id="28" name="TextBox 27"/>
          <p:cNvSpPr txBox="1"/>
          <p:nvPr/>
        </p:nvSpPr>
        <p:spPr>
          <a:xfrm>
            <a:off x="7013448" y="3419856"/>
            <a:ext cx="4526280" cy="411480"/>
          </a:xfrm>
          <a:prstGeom prst="rect">
            <a:avLst/>
          </a:prstGeom>
          <a:noFill/>
        </p:spPr>
        <p:txBody>
          <a:bodyPr wrap="square" anchor="t" lIns="36576" rIns="36576" tIns="36576" bIns="36576">
            <a:noAutofit/>
          </a:bodyPr>
          <a:lstStyle/>
          <a:p>
            <a:pPr algn="l">
              <a:spcAft>
                <a:spcPts val="300"/>
              </a:spcAft>
            </a:pPr>
            <a:r>
              <a:rPr sz="1050" b="0" i="0">
                <a:solidFill>
                  <a:srgbClr val="5E6A78"/>
                </a:solidFill>
                <a:latin typeface="Aptos"/>
              </a:rPr>
              <a:t>mẫu đã phân tầng theo sao có chủ đích; nhân bản hay xoá dòng làm sai trọng số w = N_h/n_h</a:t>
            </a:r>
          </a:p>
        </p:txBody>
      </p:sp>
      <p:sp>
        <p:nvSpPr>
          <p:cNvPr id="29" name="Rounded Rectangle 28"/>
          <p:cNvSpPr/>
          <p:nvPr/>
        </p:nvSpPr>
        <p:spPr>
          <a:xfrm>
            <a:off x="6903720" y="3913632"/>
            <a:ext cx="4709160" cy="71323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13448" y="3950208"/>
            <a:ext cx="4526280" cy="256032"/>
          </a:xfrm>
          <a:prstGeom prst="rect">
            <a:avLst/>
          </a:prstGeom>
          <a:noFill/>
        </p:spPr>
        <p:txBody>
          <a:bodyPr wrap="square" anchor="t" lIns="36576" rIns="36576" tIns="36576" bIns="36576">
            <a:noAutofit/>
          </a:bodyPr>
          <a:lstStyle/>
          <a:p>
            <a:pPr algn="l">
              <a:spcAft>
                <a:spcPts val="300"/>
              </a:spcAft>
            </a:pPr>
            <a:r>
              <a:rPr sz="1200" b="1" i="0">
                <a:solidFill>
                  <a:srgbClr val="162C46"/>
                </a:solidFill>
                <a:latin typeface="Aptos"/>
              </a:rPr>
              <a:t>class_weight là siêu tham số</a:t>
            </a:r>
          </a:p>
        </p:txBody>
      </p:sp>
      <p:sp>
        <p:nvSpPr>
          <p:cNvPr id="31" name="TextBox 30"/>
          <p:cNvSpPr txBox="1"/>
          <p:nvPr/>
        </p:nvSpPr>
        <p:spPr>
          <a:xfrm>
            <a:off x="7013448" y="4206240"/>
            <a:ext cx="4526280" cy="411480"/>
          </a:xfrm>
          <a:prstGeom prst="rect">
            <a:avLst/>
          </a:prstGeom>
          <a:noFill/>
        </p:spPr>
        <p:txBody>
          <a:bodyPr wrap="square" anchor="t" lIns="36576" rIns="36576" tIns="36576" bIns="36576">
            <a:noAutofit/>
          </a:bodyPr>
          <a:lstStyle/>
          <a:p>
            <a:pPr algn="l">
              <a:spcAft>
                <a:spcPts val="300"/>
              </a:spcAft>
            </a:pPr>
            <a:r>
              <a:rPr sz="1050" b="0" i="0">
                <a:solidFill>
                  <a:srgbClr val="5E6A78"/>
                </a:solidFill>
                <a:latin typeface="Aptos"/>
              </a:rPr>
              <a:t>GridSearchCV thử None · "balanced" · {1: 21,5} (cân bằng quần thể) — CV chọn, không chọn tay</a:t>
            </a:r>
          </a:p>
        </p:txBody>
      </p:sp>
      <p:sp>
        <p:nvSpPr>
          <p:cNvPr id="32" name="Rounded Rectangle 31"/>
          <p:cNvSpPr/>
          <p:nvPr/>
        </p:nvSpPr>
        <p:spPr>
          <a:xfrm>
            <a:off x="6903720" y="4700016"/>
            <a:ext cx="4709160" cy="71323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13448" y="4736592"/>
            <a:ext cx="4526280" cy="256032"/>
          </a:xfrm>
          <a:prstGeom prst="rect">
            <a:avLst/>
          </a:prstGeom>
          <a:noFill/>
        </p:spPr>
        <p:txBody>
          <a:bodyPr wrap="square" anchor="t" lIns="36576" rIns="36576" tIns="36576" bIns="36576">
            <a:noAutofit/>
          </a:bodyPr>
          <a:lstStyle/>
          <a:p>
            <a:pPr algn="l">
              <a:spcAft>
                <a:spcPts val="300"/>
              </a:spcAft>
            </a:pPr>
            <a:r>
              <a:rPr sz="1200" b="1" i="0">
                <a:solidFill>
                  <a:srgbClr val="162C46"/>
                </a:solidFill>
                <a:latin typeface="Aptos"/>
              </a:rPr>
              <a:t>Thước đo + hiệu chỉnh</a:t>
            </a:r>
          </a:p>
        </p:txBody>
      </p:sp>
      <p:sp>
        <p:nvSpPr>
          <p:cNvPr id="34" name="TextBox 33"/>
          <p:cNvSpPr txBox="1"/>
          <p:nvPr/>
        </p:nvSpPr>
        <p:spPr>
          <a:xfrm>
            <a:off x="7013448" y="4992624"/>
            <a:ext cx="4526280" cy="411480"/>
          </a:xfrm>
          <a:prstGeom prst="rect">
            <a:avLst/>
          </a:prstGeom>
          <a:noFill/>
        </p:spPr>
        <p:txBody>
          <a:bodyPr wrap="square" anchor="t" lIns="36576" rIns="36576" tIns="36576" bIns="36576">
            <a:noAutofit/>
          </a:bodyPr>
          <a:lstStyle/>
          <a:p>
            <a:pPr algn="l">
              <a:spcAft>
                <a:spcPts val="300"/>
              </a:spcAft>
            </a:pPr>
            <a:r>
              <a:rPr sz="1050" b="0" i="0">
                <a:solidFill>
                  <a:srgbClr val="5E6A78"/>
                </a:solidFill>
                <a:latin typeface="Aptos"/>
              </a:rPr>
              <a:t>PR-AUC &amp; lift thay accuracy; Platt (học trên 2023) đưa xác suất TB về 1,63% ≈ tỉ lệ thật 1,68%</a:t>
            </a:r>
          </a:p>
        </p:txBody>
      </p:sp>
      <p:sp>
        <p:nvSpPr>
          <p:cNvPr id="35" name="Rounded Rectangle 34"/>
          <p:cNvSpPr/>
          <p:nvPr/>
        </p:nvSpPr>
        <p:spPr>
          <a:xfrm>
            <a:off x="603504" y="5577840"/>
            <a:ext cx="11009376" cy="731520"/>
          </a:xfrm>
          <a:prstGeom prst="roundRect">
            <a:avLst>
              <a:gd name="adj" fmla="val 18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400" b="1" i="0">
                <a:solidFill>
                  <a:srgbClr val="FFFFFF"/>
                </a:solidFill>
                <a:latin typeface="Aptos"/>
              </a:rPr>
              <a:t>Dữ liệu KHÔNG cân bằng: </a:t>
            </a:r>
            <a:r>
              <a:rPr sz="1350" b="0" i="0">
                <a:solidFill>
                  <a:srgbClr val="FFFFFF"/>
                </a:solidFill>
                <a:latin typeface="Aptos"/>
              </a:rPr>
              <a:t>Low Rating chỉ 4,45% quần thể train và 1,68% test (≈ 1 : 59) — và càng về sau càng lệch.</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292608"/>
            <a:ext cx="10972800" cy="535531"/>
          </a:xfrm>
          <a:prstGeom prst="rect">
            <a:avLst/>
          </a:prstGeom>
          <a:noFill/>
        </p:spPr>
        <p:txBody>
          <a:bodyPr wrap="square" lIns="36576" tIns="36576" rIns="36576" bIns="36576" anchor="t">
            <a:spAutoFit/>
          </a:bodyPr>
          <a:lstStyle/>
          <a:p>
            <a:pPr algn="l"/>
            <a:r>
              <a:rPr sz="3000" b="1" dirty="0">
                <a:solidFill>
                  <a:srgbClr val="162C46"/>
                </a:solidFill>
                <a:latin typeface="Aptos Display"/>
              </a:rPr>
              <a:t>MODELING — XÂY DỰNG MÔ HÌNH DỰ BÁO LOW RATING</a:t>
            </a:r>
          </a:p>
        </p:txBody>
      </p:sp>
      <p:cxnSp>
        <p:nvCxnSpPr>
          <p:cNvPr id="3" name="Connector 2"/>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1188101"/>
            <a:ext cx="2286000" cy="320088"/>
          </a:xfrm>
          <a:prstGeom prst="rect">
            <a:avLst/>
          </a:prstGeom>
          <a:noFill/>
        </p:spPr>
        <p:txBody>
          <a:bodyPr wrap="square" lIns="36576" tIns="36576" rIns="36576" bIns="36576" anchor="t">
            <a:spAutoFit/>
          </a:bodyPr>
          <a:lstStyle/>
          <a:p>
            <a:pPr algn="l"/>
            <a:r>
              <a:rPr sz="1600" b="1">
                <a:solidFill>
                  <a:srgbClr val="2F639D"/>
                </a:solidFill>
                <a:latin typeface="Aptos"/>
              </a:rPr>
              <a:t>1. TEMPORAL SPLIT</a:t>
            </a:r>
          </a:p>
        </p:txBody>
      </p:sp>
      <p:sp>
        <p:nvSpPr>
          <p:cNvPr id="6" name="Rounded Rectangle 5"/>
          <p:cNvSpPr/>
          <p:nvPr/>
        </p:nvSpPr>
        <p:spPr>
          <a:xfrm>
            <a:off x="658368" y="1526429"/>
            <a:ext cx="5074920" cy="1051560"/>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7" name="TextBox 6"/>
          <p:cNvSpPr txBox="1"/>
          <p:nvPr/>
        </p:nvSpPr>
        <p:spPr>
          <a:xfrm>
            <a:off x="658368" y="1593911"/>
            <a:ext cx="5074920" cy="320088"/>
          </a:xfrm>
          <a:prstGeom prst="rect">
            <a:avLst/>
          </a:prstGeom>
          <a:noFill/>
        </p:spPr>
        <p:txBody>
          <a:bodyPr wrap="square" lIns="36576" tIns="36576" rIns="36576" bIns="36576" anchor="t">
            <a:spAutoFit/>
          </a:bodyPr>
          <a:lstStyle/>
          <a:p>
            <a:pPr algn="ctr"/>
            <a:r>
              <a:rPr sz="1600" b="1" dirty="0">
                <a:solidFill>
                  <a:srgbClr val="162C46"/>
                </a:solidFill>
                <a:latin typeface="Aptos"/>
              </a:rPr>
              <a:t>PAST  ──────────</a:t>
            </a:r>
            <a:r>
              <a:rPr lang="en-US" sz="1600" b="1" dirty="0">
                <a:solidFill>
                  <a:srgbClr val="162C46"/>
                </a:solidFill>
                <a:latin typeface="Aptos"/>
              </a:rPr>
              <a:t>─────</a:t>
            </a:r>
            <a:r>
              <a:rPr sz="1600" b="1" dirty="0">
                <a:solidFill>
                  <a:srgbClr val="162C46"/>
                </a:solidFill>
                <a:latin typeface="Aptos"/>
              </a:rPr>
              <a:t>  2023  │  2024 ───────── 2026</a:t>
            </a:r>
          </a:p>
        </p:txBody>
      </p:sp>
      <p:sp>
        <p:nvSpPr>
          <p:cNvPr id="8" name="TextBox 7"/>
          <p:cNvSpPr txBox="1"/>
          <p:nvPr/>
        </p:nvSpPr>
        <p:spPr>
          <a:xfrm>
            <a:off x="658368" y="1923095"/>
            <a:ext cx="5074920" cy="320088"/>
          </a:xfrm>
          <a:prstGeom prst="rect">
            <a:avLst/>
          </a:prstGeom>
          <a:noFill/>
        </p:spPr>
        <p:txBody>
          <a:bodyPr wrap="square" lIns="36576" tIns="36576" rIns="36576" bIns="36576" anchor="t">
            <a:spAutoFit/>
          </a:bodyPr>
          <a:lstStyle/>
          <a:p>
            <a:pPr algn="ctr"/>
            <a:r>
              <a:rPr sz="1600" b="0" dirty="0">
                <a:solidFill>
                  <a:srgbClr val="5E6A78"/>
                </a:solidFill>
                <a:latin typeface="Aptos"/>
              </a:rPr>
              <a:t>TRAIN: 157.173 reviews          │          TEST: 41.182 reviews</a:t>
            </a:r>
          </a:p>
        </p:txBody>
      </p:sp>
      <p:sp>
        <p:nvSpPr>
          <p:cNvPr id="9" name="TextBox 8"/>
          <p:cNvSpPr txBox="1"/>
          <p:nvPr/>
        </p:nvSpPr>
        <p:spPr>
          <a:xfrm>
            <a:off x="658368" y="2173233"/>
            <a:ext cx="5074920" cy="320088"/>
          </a:xfrm>
          <a:prstGeom prst="rect">
            <a:avLst/>
          </a:prstGeom>
          <a:noFill/>
        </p:spPr>
        <p:txBody>
          <a:bodyPr wrap="square" lIns="36576" tIns="36576" rIns="36576" bIns="36576" anchor="t">
            <a:spAutoFit/>
          </a:bodyPr>
          <a:lstStyle/>
          <a:p>
            <a:pPr algn="ctr"/>
            <a:r>
              <a:rPr sz="1600" b="0" dirty="0">
                <a:solidFill>
                  <a:srgbClr val="5E6A78"/>
                </a:solidFill>
                <a:latin typeface="Aptos"/>
              </a:rPr>
              <a:t>Test: 1.465 Low Rating · weighted population rate 1,68%</a:t>
            </a:r>
          </a:p>
        </p:txBody>
      </p:sp>
      <p:sp>
        <p:nvSpPr>
          <p:cNvPr id="10" name="TextBox 9"/>
          <p:cNvSpPr txBox="1"/>
          <p:nvPr/>
        </p:nvSpPr>
        <p:spPr>
          <a:xfrm>
            <a:off x="6053328" y="1188101"/>
            <a:ext cx="1828800" cy="320088"/>
          </a:xfrm>
          <a:prstGeom prst="rect">
            <a:avLst/>
          </a:prstGeom>
          <a:noFill/>
        </p:spPr>
        <p:txBody>
          <a:bodyPr wrap="square" lIns="36576" tIns="36576" rIns="36576" bIns="36576" anchor="t">
            <a:spAutoFit/>
          </a:bodyPr>
          <a:lstStyle/>
          <a:p>
            <a:pPr algn="l"/>
            <a:r>
              <a:rPr sz="1600" b="1">
                <a:solidFill>
                  <a:srgbClr val="2F639D"/>
                </a:solidFill>
                <a:latin typeface="Aptos"/>
              </a:rPr>
              <a:t>2. BASELINE</a:t>
            </a:r>
          </a:p>
        </p:txBody>
      </p:sp>
      <p:sp>
        <p:nvSpPr>
          <p:cNvPr id="11" name="Rounded Rectangle 10"/>
          <p:cNvSpPr/>
          <p:nvPr/>
        </p:nvSpPr>
        <p:spPr>
          <a:xfrm>
            <a:off x="6053328" y="1526429"/>
            <a:ext cx="5440680" cy="1051560"/>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2" name="TextBox 11"/>
          <p:cNvSpPr txBox="1"/>
          <p:nvPr/>
        </p:nvSpPr>
        <p:spPr>
          <a:xfrm>
            <a:off x="6217920" y="1545309"/>
            <a:ext cx="1517903" cy="320088"/>
          </a:xfrm>
          <a:prstGeom prst="rect">
            <a:avLst/>
          </a:prstGeom>
          <a:noFill/>
        </p:spPr>
        <p:txBody>
          <a:bodyPr wrap="square" lIns="36576" tIns="36576" rIns="36576" bIns="36576" anchor="t">
            <a:spAutoFit/>
          </a:bodyPr>
          <a:lstStyle/>
          <a:p>
            <a:pPr algn="l"/>
            <a:r>
              <a:rPr sz="1600" b="1" dirty="0">
                <a:solidFill>
                  <a:srgbClr val="162C46"/>
                </a:solidFill>
                <a:latin typeface="Aptos"/>
              </a:rPr>
              <a:t>M0  Prevalence</a:t>
            </a:r>
          </a:p>
        </p:txBody>
      </p:sp>
      <p:sp>
        <p:nvSpPr>
          <p:cNvPr id="13" name="TextBox 12"/>
          <p:cNvSpPr txBox="1"/>
          <p:nvPr/>
        </p:nvSpPr>
        <p:spPr>
          <a:xfrm>
            <a:off x="7895843" y="1540594"/>
            <a:ext cx="1737360" cy="320088"/>
          </a:xfrm>
          <a:prstGeom prst="rect">
            <a:avLst/>
          </a:prstGeom>
          <a:noFill/>
        </p:spPr>
        <p:txBody>
          <a:bodyPr wrap="square" lIns="36576" tIns="36576" rIns="36576" bIns="36576" anchor="t">
            <a:spAutoFit/>
          </a:bodyPr>
          <a:lstStyle/>
          <a:p>
            <a:pPr algn="l"/>
            <a:r>
              <a:rPr sz="1600" b="1" dirty="0">
                <a:solidFill>
                  <a:srgbClr val="162C46"/>
                </a:solidFill>
                <a:latin typeface="Aptos"/>
              </a:rPr>
              <a:t>M1a  SLA Breach</a:t>
            </a:r>
          </a:p>
        </p:txBody>
      </p:sp>
      <p:sp>
        <p:nvSpPr>
          <p:cNvPr id="14" name="TextBox 13"/>
          <p:cNvSpPr txBox="1"/>
          <p:nvPr/>
        </p:nvSpPr>
        <p:spPr>
          <a:xfrm>
            <a:off x="9829800" y="1542450"/>
            <a:ext cx="1737360" cy="320088"/>
          </a:xfrm>
          <a:prstGeom prst="rect">
            <a:avLst/>
          </a:prstGeom>
          <a:noFill/>
        </p:spPr>
        <p:txBody>
          <a:bodyPr wrap="square" lIns="36576" tIns="36576" rIns="36576" bIns="36576" anchor="t">
            <a:spAutoFit/>
          </a:bodyPr>
          <a:lstStyle/>
          <a:p>
            <a:pPr algn="l"/>
            <a:r>
              <a:rPr sz="1600" b="1" dirty="0">
                <a:solidFill>
                  <a:srgbClr val="162C46"/>
                </a:solidFill>
                <a:latin typeface="Aptos"/>
              </a:rPr>
              <a:t>M1b  Lead Time</a:t>
            </a:r>
          </a:p>
        </p:txBody>
      </p:sp>
      <p:sp>
        <p:nvSpPr>
          <p:cNvPr id="15" name="TextBox 14"/>
          <p:cNvSpPr txBox="1"/>
          <p:nvPr/>
        </p:nvSpPr>
        <p:spPr>
          <a:xfrm>
            <a:off x="6181344" y="1938037"/>
            <a:ext cx="5312664" cy="566309"/>
          </a:xfrm>
          <a:prstGeom prst="rect">
            <a:avLst/>
          </a:prstGeom>
          <a:noFill/>
        </p:spPr>
        <p:txBody>
          <a:bodyPr wrap="square" lIns="36576" tIns="36576" rIns="36576" bIns="36576" anchor="t">
            <a:spAutoFit/>
          </a:bodyPr>
          <a:lstStyle/>
          <a:p>
            <a:pPr algn="l"/>
            <a:r>
              <a:rPr sz="1600" b="0" dirty="0" err="1">
                <a:solidFill>
                  <a:srgbClr val="5E6A78"/>
                </a:solidFill>
                <a:latin typeface="Aptos"/>
              </a:rPr>
              <a:t>Mốc</a:t>
            </a:r>
            <a:r>
              <a:rPr sz="1600" b="0" dirty="0">
                <a:solidFill>
                  <a:srgbClr val="5E6A78"/>
                </a:solidFill>
                <a:latin typeface="Aptos"/>
              </a:rPr>
              <a:t> so </a:t>
            </a:r>
            <a:r>
              <a:rPr sz="1600" b="0" dirty="0" err="1">
                <a:solidFill>
                  <a:srgbClr val="5E6A78"/>
                </a:solidFill>
                <a:latin typeface="Aptos"/>
              </a:rPr>
              <a:t>sánh</a:t>
            </a:r>
            <a:r>
              <a:rPr sz="1600" b="0" dirty="0">
                <a:solidFill>
                  <a:srgbClr val="5E6A78"/>
                </a:solidFill>
                <a:latin typeface="Aptos"/>
              </a:rPr>
              <a:t> </a:t>
            </a:r>
            <a:r>
              <a:rPr sz="1600" b="0" dirty="0" err="1">
                <a:solidFill>
                  <a:srgbClr val="5E6A78"/>
                </a:solidFill>
                <a:latin typeface="Aptos"/>
              </a:rPr>
              <a:t>để</a:t>
            </a:r>
            <a:r>
              <a:rPr sz="1600" b="0" dirty="0">
                <a:solidFill>
                  <a:srgbClr val="5E6A78"/>
                </a:solidFill>
                <a:latin typeface="Aptos"/>
              </a:rPr>
              <a:t> </a:t>
            </a:r>
            <a:r>
              <a:rPr sz="1600" b="0" dirty="0" err="1">
                <a:solidFill>
                  <a:srgbClr val="5E6A78"/>
                </a:solidFill>
                <a:latin typeface="Aptos"/>
              </a:rPr>
              <a:t>kiểm</a:t>
            </a:r>
            <a:r>
              <a:rPr sz="1600" b="0" dirty="0">
                <a:solidFill>
                  <a:srgbClr val="5E6A78"/>
                </a:solidFill>
                <a:latin typeface="Aptos"/>
              </a:rPr>
              <a:t> </a:t>
            </a:r>
            <a:r>
              <a:rPr sz="1600" b="0" dirty="0" err="1">
                <a:solidFill>
                  <a:srgbClr val="5E6A78"/>
                </a:solidFill>
                <a:latin typeface="Aptos"/>
              </a:rPr>
              <a:t>tra</a:t>
            </a:r>
            <a:r>
              <a:rPr sz="1600" b="0" dirty="0">
                <a:solidFill>
                  <a:srgbClr val="5E6A78"/>
                </a:solidFill>
                <a:latin typeface="Aptos"/>
              </a:rPr>
              <a:t> ML </a:t>
            </a:r>
            <a:r>
              <a:rPr sz="1600" b="0" dirty="0" err="1">
                <a:solidFill>
                  <a:srgbClr val="5E6A78"/>
                </a:solidFill>
                <a:latin typeface="Aptos"/>
              </a:rPr>
              <a:t>có</a:t>
            </a:r>
            <a:r>
              <a:rPr sz="1600" b="0" dirty="0">
                <a:solidFill>
                  <a:srgbClr val="5E6A78"/>
                </a:solidFill>
                <a:latin typeface="Aptos"/>
              </a:rPr>
              <a:t> </a:t>
            </a:r>
            <a:r>
              <a:rPr sz="1600" b="0" dirty="0" err="1">
                <a:solidFill>
                  <a:srgbClr val="5E6A78"/>
                </a:solidFill>
                <a:latin typeface="Aptos"/>
              </a:rPr>
              <a:t>tạo</a:t>
            </a:r>
            <a:r>
              <a:rPr sz="1600" b="0" dirty="0">
                <a:solidFill>
                  <a:srgbClr val="5E6A78"/>
                </a:solidFill>
                <a:latin typeface="Aptos"/>
              </a:rPr>
              <a:t> </a:t>
            </a:r>
            <a:r>
              <a:rPr sz="1600" b="0" dirty="0" err="1">
                <a:solidFill>
                  <a:srgbClr val="5E6A78"/>
                </a:solidFill>
                <a:latin typeface="Aptos"/>
              </a:rPr>
              <a:t>thêm</a:t>
            </a:r>
            <a:r>
              <a:rPr sz="1600" b="0" dirty="0">
                <a:solidFill>
                  <a:srgbClr val="5E6A78"/>
                </a:solidFill>
                <a:latin typeface="Aptos"/>
              </a:rPr>
              <a:t> </a:t>
            </a:r>
            <a:r>
              <a:rPr sz="1600" b="0" dirty="0" err="1">
                <a:solidFill>
                  <a:srgbClr val="5E6A78"/>
                </a:solidFill>
                <a:latin typeface="Aptos"/>
              </a:rPr>
              <a:t>giá</a:t>
            </a:r>
            <a:r>
              <a:rPr sz="1600" b="0" dirty="0">
                <a:solidFill>
                  <a:srgbClr val="5E6A78"/>
                </a:solidFill>
                <a:latin typeface="Aptos"/>
              </a:rPr>
              <a:t> </a:t>
            </a:r>
            <a:r>
              <a:rPr sz="1600" b="0" dirty="0" err="1">
                <a:solidFill>
                  <a:srgbClr val="5E6A78"/>
                </a:solidFill>
                <a:latin typeface="Aptos"/>
              </a:rPr>
              <a:t>trị</a:t>
            </a:r>
            <a:r>
              <a:rPr sz="1600" b="0" dirty="0">
                <a:solidFill>
                  <a:srgbClr val="5E6A78"/>
                </a:solidFill>
                <a:latin typeface="Aptos"/>
              </a:rPr>
              <a:t> so </a:t>
            </a:r>
            <a:r>
              <a:rPr sz="1600" b="0" dirty="0" err="1">
                <a:solidFill>
                  <a:srgbClr val="5E6A78"/>
                </a:solidFill>
                <a:latin typeface="Aptos"/>
              </a:rPr>
              <a:t>với</a:t>
            </a:r>
            <a:r>
              <a:rPr sz="1600" b="0" dirty="0">
                <a:solidFill>
                  <a:srgbClr val="5E6A78"/>
                </a:solidFill>
                <a:latin typeface="Aptos"/>
              </a:rPr>
              <a:t> </a:t>
            </a:r>
            <a:r>
              <a:rPr sz="1600" b="0" dirty="0" err="1">
                <a:solidFill>
                  <a:srgbClr val="5E6A78"/>
                </a:solidFill>
                <a:latin typeface="Aptos"/>
              </a:rPr>
              <a:t>chỉ</a:t>
            </a:r>
            <a:r>
              <a:rPr sz="1600" b="0" dirty="0">
                <a:solidFill>
                  <a:srgbClr val="5E6A78"/>
                </a:solidFill>
                <a:latin typeface="Aptos"/>
              </a:rPr>
              <a:t> </a:t>
            </a:r>
            <a:r>
              <a:rPr sz="1600" b="0" dirty="0" err="1">
                <a:solidFill>
                  <a:srgbClr val="5E6A78"/>
                </a:solidFill>
                <a:latin typeface="Aptos"/>
              </a:rPr>
              <a:t>nhìn</a:t>
            </a:r>
            <a:r>
              <a:rPr sz="1600" b="0" dirty="0">
                <a:solidFill>
                  <a:srgbClr val="5E6A78"/>
                </a:solidFill>
                <a:latin typeface="Aptos"/>
              </a:rPr>
              <a:t> SLA hay </a:t>
            </a:r>
            <a:r>
              <a:rPr sz="1600" b="0" dirty="0" err="1">
                <a:solidFill>
                  <a:srgbClr val="5E6A78"/>
                </a:solidFill>
                <a:latin typeface="Aptos"/>
              </a:rPr>
              <a:t>không</a:t>
            </a:r>
            <a:r>
              <a:rPr sz="1600" b="0" dirty="0">
                <a:solidFill>
                  <a:srgbClr val="5E6A78"/>
                </a:solidFill>
                <a:latin typeface="Aptos"/>
              </a:rPr>
              <a:t>.</a:t>
            </a:r>
          </a:p>
        </p:txBody>
      </p:sp>
      <p:sp>
        <p:nvSpPr>
          <p:cNvPr id="16" name="TextBox 15"/>
          <p:cNvSpPr txBox="1"/>
          <p:nvPr/>
        </p:nvSpPr>
        <p:spPr>
          <a:xfrm>
            <a:off x="658368" y="2898029"/>
            <a:ext cx="2743200" cy="320088"/>
          </a:xfrm>
          <a:prstGeom prst="rect">
            <a:avLst/>
          </a:prstGeom>
          <a:noFill/>
        </p:spPr>
        <p:txBody>
          <a:bodyPr wrap="square" lIns="36576" tIns="36576" rIns="36576" bIns="36576" anchor="t">
            <a:spAutoFit/>
          </a:bodyPr>
          <a:lstStyle/>
          <a:p>
            <a:pPr algn="l"/>
            <a:r>
              <a:rPr sz="1600" b="1">
                <a:solidFill>
                  <a:srgbClr val="2F639D"/>
                </a:solidFill>
                <a:latin typeface="Aptos"/>
              </a:rPr>
              <a:t>3. CANDIDATE MODELS</a:t>
            </a:r>
          </a:p>
        </p:txBody>
      </p:sp>
      <p:sp>
        <p:nvSpPr>
          <p:cNvPr id="17" name="Rounded Rectangle 16"/>
          <p:cNvSpPr/>
          <p:nvPr/>
        </p:nvSpPr>
        <p:spPr>
          <a:xfrm>
            <a:off x="658368" y="3245501"/>
            <a:ext cx="2514600" cy="126187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8" name="TextBox 17"/>
          <p:cNvSpPr txBox="1"/>
          <p:nvPr/>
        </p:nvSpPr>
        <p:spPr>
          <a:xfrm>
            <a:off x="795528" y="3425164"/>
            <a:ext cx="2240280" cy="320088"/>
          </a:xfrm>
          <a:prstGeom prst="rect">
            <a:avLst/>
          </a:prstGeom>
          <a:noFill/>
        </p:spPr>
        <p:txBody>
          <a:bodyPr wrap="square" lIns="36576" tIns="36576" rIns="36576" bIns="36576" anchor="t">
            <a:spAutoFit/>
          </a:bodyPr>
          <a:lstStyle/>
          <a:p>
            <a:pPr algn="ctr"/>
            <a:r>
              <a:rPr sz="1600" b="1">
                <a:solidFill>
                  <a:srgbClr val="162C46"/>
                </a:solidFill>
                <a:latin typeface="Aptos"/>
              </a:rPr>
              <a:t>LOGISTIC REGRESSION</a:t>
            </a:r>
          </a:p>
        </p:txBody>
      </p:sp>
      <p:sp>
        <p:nvSpPr>
          <p:cNvPr id="19" name="TextBox 18"/>
          <p:cNvSpPr txBox="1"/>
          <p:nvPr/>
        </p:nvSpPr>
        <p:spPr>
          <a:xfrm>
            <a:off x="822959" y="3703320"/>
            <a:ext cx="2185416" cy="411480"/>
          </a:xfrm>
          <a:prstGeom prst="rect">
            <a:avLst/>
          </a:prstGeom>
          <a:noFill/>
        </p:spPr>
        <p:txBody>
          <a:bodyPr wrap="square" lIns="36576" tIns="36576" rIns="36576" bIns="36576" anchor="t">
            <a:spAutoFit/>
          </a:bodyPr>
          <a:lstStyle/>
          <a:p>
            <a:pPr algn="ctr"/>
            <a:r>
              <a:rPr sz="1200" b="0">
                <a:solidFill>
                  <a:srgbClr val="5E6A78"/>
                </a:solidFill>
                <a:latin typeface="Aptos"/>
              </a:rPr>
              <a:t>Tuyến tính · dễ diễn giải</a:t>
            </a:r>
          </a:p>
        </p:txBody>
      </p:sp>
      <p:sp>
        <p:nvSpPr>
          <p:cNvPr id="20" name="Rounded Rectangle 19"/>
          <p:cNvSpPr/>
          <p:nvPr/>
        </p:nvSpPr>
        <p:spPr>
          <a:xfrm>
            <a:off x="3419856" y="3245501"/>
            <a:ext cx="2514600" cy="126187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1" name="TextBox 20"/>
          <p:cNvSpPr txBox="1"/>
          <p:nvPr/>
        </p:nvSpPr>
        <p:spPr>
          <a:xfrm>
            <a:off x="3557016" y="3425164"/>
            <a:ext cx="2240280" cy="320088"/>
          </a:xfrm>
          <a:prstGeom prst="rect">
            <a:avLst/>
          </a:prstGeom>
          <a:noFill/>
        </p:spPr>
        <p:txBody>
          <a:bodyPr wrap="square" lIns="36576" tIns="36576" rIns="36576" bIns="36576" anchor="t">
            <a:spAutoFit/>
          </a:bodyPr>
          <a:lstStyle/>
          <a:p>
            <a:pPr algn="ctr"/>
            <a:r>
              <a:rPr sz="1600" b="1">
                <a:solidFill>
                  <a:srgbClr val="162C46"/>
                </a:solidFill>
                <a:latin typeface="Aptos"/>
              </a:rPr>
              <a:t>RANDOM FOREST</a:t>
            </a:r>
          </a:p>
        </p:txBody>
      </p:sp>
      <p:sp>
        <p:nvSpPr>
          <p:cNvPr id="22" name="TextBox 21"/>
          <p:cNvSpPr txBox="1"/>
          <p:nvPr/>
        </p:nvSpPr>
        <p:spPr>
          <a:xfrm>
            <a:off x="3584448" y="3703320"/>
            <a:ext cx="2185416" cy="411480"/>
          </a:xfrm>
          <a:prstGeom prst="rect">
            <a:avLst/>
          </a:prstGeom>
          <a:noFill/>
        </p:spPr>
        <p:txBody>
          <a:bodyPr wrap="square" lIns="36576" tIns="36576" rIns="36576" bIns="36576" anchor="t">
            <a:spAutoFit/>
          </a:bodyPr>
          <a:lstStyle/>
          <a:p>
            <a:pPr algn="ctr"/>
            <a:r>
              <a:rPr sz="1200" b="0">
                <a:solidFill>
                  <a:srgbClr val="5E6A78"/>
                </a:solidFill>
                <a:latin typeface="Aptos"/>
              </a:rPr>
              <a:t>Mô hình cây ensemble · phi tuyến</a:t>
            </a:r>
          </a:p>
        </p:txBody>
      </p:sp>
      <p:sp>
        <p:nvSpPr>
          <p:cNvPr id="23" name="Rounded Rectangle 22"/>
          <p:cNvSpPr/>
          <p:nvPr/>
        </p:nvSpPr>
        <p:spPr>
          <a:xfrm>
            <a:off x="6181344" y="3245501"/>
            <a:ext cx="2514600" cy="126187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4" name="TextBox 23"/>
          <p:cNvSpPr txBox="1"/>
          <p:nvPr/>
        </p:nvSpPr>
        <p:spPr>
          <a:xfrm>
            <a:off x="6318504" y="3425164"/>
            <a:ext cx="2240280" cy="320088"/>
          </a:xfrm>
          <a:prstGeom prst="rect">
            <a:avLst/>
          </a:prstGeom>
          <a:noFill/>
        </p:spPr>
        <p:txBody>
          <a:bodyPr wrap="square" lIns="36576" tIns="36576" rIns="36576" bIns="36576" anchor="t">
            <a:spAutoFit/>
          </a:bodyPr>
          <a:lstStyle/>
          <a:p>
            <a:pPr algn="ctr"/>
            <a:r>
              <a:rPr sz="1600" b="1">
                <a:solidFill>
                  <a:srgbClr val="162C46"/>
                </a:solidFill>
                <a:latin typeface="Aptos"/>
              </a:rPr>
              <a:t>GRADIENT BOOSTING</a:t>
            </a:r>
          </a:p>
        </p:txBody>
      </p:sp>
      <p:sp>
        <p:nvSpPr>
          <p:cNvPr id="25" name="TextBox 24"/>
          <p:cNvSpPr txBox="1"/>
          <p:nvPr/>
        </p:nvSpPr>
        <p:spPr>
          <a:xfrm>
            <a:off x="6345936" y="3703320"/>
            <a:ext cx="2185416" cy="411480"/>
          </a:xfrm>
          <a:prstGeom prst="rect">
            <a:avLst/>
          </a:prstGeom>
          <a:noFill/>
        </p:spPr>
        <p:txBody>
          <a:bodyPr wrap="square" lIns="36576" tIns="36576" rIns="36576" bIns="36576" anchor="t">
            <a:spAutoFit/>
          </a:bodyPr>
          <a:lstStyle/>
          <a:p>
            <a:pPr algn="ctr"/>
            <a:r>
              <a:rPr sz="1200" b="0">
                <a:solidFill>
                  <a:srgbClr val="5E6A78"/>
                </a:solidFill>
                <a:latin typeface="Aptos"/>
              </a:rPr>
              <a:t>Học tuần tự từ lỗi · quan hệ phức tạp</a:t>
            </a:r>
          </a:p>
        </p:txBody>
      </p:sp>
      <p:sp>
        <p:nvSpPr>
          <p:cNvPr id="26" name="Rounded Rectangle 25"/>
          <p:cNvSpPr/>
          <p:nvPr/>
        </p:nvSpPr>
        <p:spPr>
          <a:xfrm>
            <a:off x="8942832" y="3245501"/>
            <a:ext cx="2514600" cy="1261872"/>
          </a:xfrm>
          <a:prstGeom prst="roundRect">
            <a:avLst/>
          </a:prstGeom>
          <a:solidFill>
            <a:srgbClr val="EEF4FA"/>
          </a:solidFill>
          <a:ln w="12700">
            <a:solidFill>
              <a:srgbClr val="2F639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7" name="TextBox 26"/>
          <p:cNvSpPr txBox="1"/>
          <p:nvPr/>
        </p:nvSpPr>
        <p:spPr>
          <a:xfrm>
            <a:off x="9079992" y="3425164"/>
            <a:ext cx="2240280" cy="320088"/>
          </a:xfrm>
          <a:prstGeom prst="rect">
            <a:avLst/>
          </a:prstGeom>
          <a:noFill/>
        </p:spPr>
        <p:txBody>
          <a:bodyPr wrap="square" lIns="36576" tIns="36576" rIns="36576" bIns="36576" anchor="t">
            <a:spAutoFit/>
          </a:bodyPr>
          <a:lstStyle/>
          <a:p>
            <a:pPr algn="ctr"/>
            <a:r>
              <a:rPr sz="1600" b="1">
                <a:solidFill>
                  <a:srgbClr val="162C46"/>
                </a:solidFill>
                <a:latin typeface="Aptos"/>
              </a:rPr>
              <a:t>ENSEMBLE</a:t>
            </a:r>
          </a:p>
        </p:txBody>
      </p:sp>
      <p:sp>
        <p:nvSpPr>
          <p:cNvPr id="28" name="TextBox 27"/>
          <p:cNvSpPr txBox="1"/>
          <p:nvPr/>
        </p:nvSpPr>
        <p:spPr>
          <a:xfrm>
            <a:off x="9107424" y="3703320"/>
            <a:ext cx="2185416" cy="411480"/>
          </a:xfrm>
          <a:prstGeom prst="rect">
            <a:avLst/>
          </a:prstGeom>
          <a:noFill/>
        </p:spPr>
        <p:txBody>
          <a:bodyPr wrap="square" lIns="36576" tIns="36576" rIns="36576" bIns="36576" anchor="t">
            <a:spAutoFit/>
          </a:bodyPr>
          <a:lstStyle/>
          <a:p>
            <a:pPr algn="ctr"/>
            <a:r>
              <a:rPr sz="1200" b="0">
                <a:solidFill>
                  <a:srgbClr val="5E6A78"/>
                </a:solidFill>
                <a:latin typeface="Aptos"/>
              </a:rPr>
              <a:t>Logistic + GBM</a:t>
            </a:r>
          </a:p>
        </p:txBody>
      </p:sp>
      <p:sp>
        <p:nvSpPr>
          <p:cNvPr id="29" name="TextBox 28"/>
          <p:cNvSpPr txBox="1"/>
          <p:nvPr/>
        </p:nvSpPr>
        <p:spPr>
          <a:xfrm>
            <a:off x="658368" y="4818269"/>
            <a:ext cx="2743200" cy="320088"/>
          </a:xfrm>
          <a:prstGeom prst="rect">
            <a:avLst/>
          </a:prstGeom>
          <a:noFill/>
        </p:spPr>
        <p:txBody>
          <a:bodyPr wrap="square" lIns="36576" tIns="36576" rIns="36576" bIns="36576" anchor="t">
            <a:spAutoFit/>
          </a:bodyPr>
          <a:lstStyle/>
          <a:p>
            <a:pPr algn="l"/>
            <a:r>
              <a:rPr sz="1600" b="1">
                <a:solidFill>
                  <a:srgbClr val="2F639D"/>
                </a:solidFill>
                <a:latin typeface="Aptos"/>
              </a:rPr>
              <a:t>4. TRAINING STRATEGY</a:t>
            </a:r>
          </a:p>
        </p:txBody>
      </p:sp>
      <p:sp>
        <p:nvSpPr>
          <p:cNvPr id="30" name="Rounded Rectangle 29"/>
          <p:cNvSpPr/>
          <p:nvPr/>
        </p:nvSpPr>
        <p:spPr>
          <a:xfrm>
            <a:off x="658368" y="5156597"/>
            <a:ext cx="3364992" cy="744802"/>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1" name="TextBox 30"/>
          <p:cNvSpPr txBox="1"/>
          <p:nvPr/>
        </p:nvSpPr>
        <p:spPr>
          <a:xfrm>
            <a:off x="795528" y="5293757"/>
            <a:ext cx="1981791" cy="566309"/>
          </a:xfrm>
          <a:prstGeom prst="rect">
            <a:avLst/>
          </a:prstGeom>
          <a:noFill/>
        </p:spPr>
        <p:txBody>
          <a:bodyPr wrap="square" lIns="36576" tIns="36576" rIns="36576" bIns="36576" anchor="t">
            <a:spAutoFit/>
          </a:bodyPr>
          <a:lstStyle/>
          <a:p>
            <a:pPr algn="l"/>
            <a:r>
              <a:rPr sz="1600" b="1">
                <a:solidFill>
                  <a:srgbClr val="162C46"/>
                </a:solidFill>
                <a:latin typeface="Aptos"/>
              </a:rPr>
              <a:t>WEIGHTED TRAINING</a:t>
            </a:r>
          </a:p>
        </p:txBody>
      </p:sp>
      <p:sp>
        <p:nvSpPr>
          <p:cNvPr id="32" name="TextBox 31"/>
          <p:cNvSpPr txBox="1"/>
          <p:nvPr/>
        </p:nvSpPr>
        <p:spPr>
          <a:xfrm>
            <a:off x="2322576" y="5293757"/>
            <a:ext cx="1508760" cy="566309"/>
          </a:xfrm>
          <a:prstGeom prst="rect">
            <a:avLst/>
          </a:prstGeom>
          <a:noFill/>
        </p:spPr>
        <p:txBody>
          <a:bodyPr wrap="square" lIns="36576" tIns="36576" rIns="36576" bIns="36576" anchor="t">
            <a:spAutoFit/>
          </a:bodyPr>
          <a:lstStyle/>
          <a:p>
            <a:pPr algn="r"/>
            <a:r>
              <a:rPr sz="1600" b="0" dirty="0">
                <a:solidFill>
                  <a:srgbClr val="5E6A78"/>
                </a:solidFill>
                <a:latin typeface="Aptos"/>
              </a:rPr>
              <a:t>Sampling weight</a:t>
            </a:r>
          </a:p>
        </p:txBody>
      </p:sp>
      <p:sp>
        <p:nvSpPr>
          <p:cNvPr id="33" name="Rounded Rectangle 32"/>
          <p:cNvSpPr/>
          <p:nvPr/>
        </p:nvSpPr>
        <p:spPr>
          <a:xfrm>
            <a:off x="4334255" y="5156596"/>
            <a:ext cx="3364992" cy="744803"/>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4" name="TextBox 33"/>
          <p:cNvSpPr txBox="1"/>
          <p:nvPr/>
        </p:nvSpPr>
        <p:spPr>
          <a:xfrm>
            <a:off x="4498847" y="5293757"/>
            <a:ext cx="1508760" cy="566309"/>
          </a:xfrm>
          <a:prstGeom prst="rect">
            <a:avLst/>
          </a:prstGeom>
          <a:noFill/>
        </p:spPr>
        <p:txBody>
          <a:bodyPr wrap="square" lIns="36576" tIns="36576" rIns="36576" bIns="36576" anchor="t">
            <a:spAutoFit/>
          </a:bodyPr>
          <a:lstStyle/>
          <a:p>
            <a:pPr algn="l"/>
            <a:r>
              <a:rPr sz="1600" b="1">
                <a:solidFill>
                  <a:srgbClr val="162C46"/>
                </a:solidFill>
                <a:latin typeface="Aptos"/>
              </a:rPr>
              <a:t>TEMPORAL VALIDATION</a:t>
            </a:r>
          </a:p>
        </p:txBody>
      </p:sp>
      <p:sp>
        <p:nvSpPr>
          <p:cNvPr id="35" name="TextBox 34"/>
          <p:cNvSpPr txBox="1"/>
          <p:nvPr/>
        </p:nvSpPr>
        <p:spPr>
          <a:xfrm>
            <a:off x="5998464" y="5293757"/>
            <a:ext cx="1508760" cy="566309"/>
          </a:xfrm>
          <a:prstGeom prst="rect">
            <a:avLst/>
          </a:prstGeom>
          <a:noFill/>
        </p:spPr>
        <p:txBody>
          <a:bodyPr wrap="square" lIns="36576" tIns="36576" rIns="36576" bIns="36576" anchor="t">
            <a:spAutoFit/>
          </a:bodyPr>
          <a:lstStyle/>
          <a:p>
            <a:pPr algn="r"/>
            <a:r>
              <a:rPr sz="1600" b="0">
                <a:solidFill>
                  <a:srgbClr val="5E6A78"/>
                </a:solidFill>
                <a:latin typeface="Aptos"/>
              </a:rPr>
              <a:t>Validation 2022 → 2023</a:t>
            </a:r>
          </a:p>
        </p:txBody>
      </p:sp>
      <p:sp>
        <p:nvSpPr>
          <p:cNvPr id="36" name="Rounded Rectangle 35"/>
          <p:cNvSpPr/>
          <p:nvPr/>
        </p:nvSpPr>
        <p:spPr>
          <a:xfrm>
            <a:off x="8010144" y="5156597"/>
            <a:ext cx="3364992" cy="744802"/>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7" name="TextBox 36"/>
          <p:cNvSpPr txBox="1"/>
          <p:nvPr/>
        </p:nvSpPr>
        <p:spPr>
          <a:xfrm>
            <a:off x="8174736" y="5293757"/>
            <a:ext cx="1508760" cy="320088"/>
          </a:xfrm>
          <a:prstGeom prst="rect">
            <a:avLst/>
          </a:prstGeom>
          <a:noFill/>
        </p:spPr>
        <p:txBody>
          <a:bodyPr wrap="square" lIns="36576" tIns="36576" rIns="36576" bIns="36576" anchor="t">
            <a:spAutoFit/>
          </a:bodyPr>
          <a:lstStyle/>
          <a:p>
            <a:pPr algn="l"/>
            <a:r>
              <a:rPr sz="1600" b="1">
                <a:solidFill>
                  <a:srgbClr val="162C46"/>
                </a:solidFill>
                <a:latin typeface="Aptos"/>
              </a:rPr>
              <a:t>CALIBRATION</a:t>
            </a:r>
          </a:p>
        </p:txBody>
      </p:sp>
      <p:sp>
        <p:nvSpPr>
          <p:cNvPr id="38" name="TextBox 37"/>
          <p:cNvSpPr txBox="1"/>
          <p:nvPr/>
        </p:nvSpPr>
        <p:spPr>
          <a:xfrm>
            <a:off x="9674352" y="5293757"/>
            <a:ext cx="1508760" cy="566309"/>
          </a:xfrm>
          <a:prstGeom prst="rect">
            <a:avLst/>
          </a:prstGeom>
          <a:noFill/>
        </p:spPr>
        <p:txBody>
          <a:bodyPr wrap="square" lIns="36576" tIns="36576" rIns="36576" bIns="36576" anchor="t">
            <a:spAutoFit/>
          </a:bodyPr>
          <a:lstStyle/>
          <a:p>
            <a:pPr algn="r"/>
            <a:r>
              <a:rPr sz="1600" b="0">
                <a:solidFill>
                  <a:srgbClr val="5E6A78"/>
                </a:solidFill>
                <a:latin typeface="Aptos"/>
              </a:rPr>
              <a:t>Hiệu chỉnh xác suất</a:t>
            </a:r>
          </a:p>
        </p:txBody>
      </p:sp>
      <p:sp>
        <p:nvSpPr>
          <p:cNvPr id="39" name="TextBox 38"/>
          <p:cNvSpPr txBox="1"/>
          <p:nvPr/>
        </p:nvSpPr>
        <p:spPr>
          <a:xfrm>
            <a:off x="685800" y="6075267"/>
            <a:ext cx="10607040" cy="320088"/>
          </a:xfrm>
          <a:prstGeom prst="rect">
            <a:avLst/>
          </a:prstGeom>
          <a:noFill/>
        </p:spPr>
        <p:txBody>
          <a:bodyPr wrap="square" lIns="36576" tIns="36576" rIns="36576" bIns="36576" anchor="t">
            <a:spAutoFit/>
          </a:bodyPr>
          <a:lstStyle/>
          <a:p>
            <a:pPr algn="ctr"/>
            <a:r>
              <a:rPr sz="1600" b="0" dirty="0" err="1">
                <a:solidFill>
                  <a:srgbClr val="5E6A78"/>
                </a:solidFill>
                <a:latin typeface="Aptos"/>
              </a:rPr>
              <a:t>Mô</a:t>
            </a:r>
            <a:r>
              <a:rPr sz="1600" b="0" dirty="0">
                <a:solidFill>
                  <a:srgbClr val="5E6A78"/>
                </a:solidFill>
                <a:latin typeface="Aptos"/>
              </a:rPr>
              <a:t> </a:t>
            </a:r>
            <a:r>
              <a:rPr sz="1600" b="0" dirty="0" err="1">
                <a:solidFill>
                  <a:srgbClr val="5E6A78"/>
                </a:solidFill>
                <a:latin typeface="Aptos"/>
              </a:rPr>
              <a:t>hình</a:t>
            </a:r>
            <a:r>
              <a:rPr sz="1600" b="0" dirty="0">
                <a:solidFill>
                  <a:srgbClr val="5E6A78"/>
                </a:solidFill>
                <a:latin typeface="Aptos"/>
              </a:rPr>
              <a:t> </a:t>
            </a:r>
            <a:r>
              <a:rPr sz="1600" b="0" dirty="0" err="1">
                <a:solidFill>
                  <a:srgbClr val="5E6A78"/>
                </a:solidFill>
                <a:latin typeface="Aptos"/>
              </a:rPr>
              <a:t>học</a:t>
            </a:r>
            <a:r>
              <a:rPr sz="1600" b="0" dirty="0">
                <a:solidFill>
                  <a:srgbClr val="5E6A78"/>
                </a:solidFill>
                <a:latin typeface="Aptos"/>
              </a:rPr>
              <a:t> </a:t>
            </a:r>
            <a:r>
              <a:rPr sz="1600" b="0" dirty="0" err="1">
                <a:solidFill>
                  <a:srgbClr val="5E6A78"/>
                </a:solidFill>
                <a:latin typeface="Aptos"/>
              </a:rPr>
              <a:t>từ</a:t>
            </a:r>
            <a:r>
              <a:rPr sz="1600" b="0" dirty="0">
                <a:solidFill>
                  <a:srgbClr val="5E6A78"/>
                </a:solidFill>
                <a:latin typeface="Aptos"/>
              </a:rPr>
              <a:t> </a:t>
            </a:r>
            <a:r>
              <a:rPr sz="1600" b="0" dirty="0" err="1">
                <a:solidFill>
                  <a:srgbClr val="5E6A78"/>
                </a:solidFill>
                <a:latin typeface="Aptos"/>
              </a:rPr>
              <a:t>dữ</a:t>
            </a:r>
            <a:r>
              <a:rPr sz="1600" b="0" dirty="0">
                <a:solidFill>
                  <a:srgbClr val="5E6A78"/>
                </a:solidFill>
                <a:latin typeface="Aptos"/>
              </a:rPr>
              <a:t> </a:t>
            </a:r>
            <a:r>
              <a:rPr sz="1600" b="0" dirty="0" err="1">
                <a:solidFill>
                  <a:srgbClr val="5E6A78"/>
                </a:solidFill>
                <a:latin typeface="Aptos"/>
              </a:rPr>
              <a:t>liệu</a:t>
            </a:r>
            <a:r>
              <a:rPr sz="1600" b="0" dirty="0">
                <a:solidFill>
                  <a:srgbClr val="5E6A78"/>
                </a:solidFill>
                <a:latin typeface="Aptos"/>
              </a:rPr>
              <a:t> </a:t>
            </a:r>
            <a:r>
              <a:rPr sz="1600" b="0" dirty="0" err="1">
                <a:solidFill>
                  <a:srgbClr val="5E6A78"/>
                </a:solidFill>
                <a:latin typeface="Aptos"/>
              </a:rPr>
              <a:t>quá</a:t>
            </a:r>
            <a:r>
              <a:rPr sz="1600" b="0" dirty="0">
                <a:solidFill>
                  <a:srgbClr val="5E6A78"/>
                </a:solidFill>
                <a:latin typeface="Aptos"/>
              </a:rPr>
              <a:t> </a:t>
            </a:r>
            <a:r>
              <a:rPr sz="1600" b="0" dirty="0" err="1">
                <a:solidFill>
                  <a:srgbClr val="5E6A78"/>
                </a:solidFill>
                <a:latin typeface="Aptos"/>
              </a:rPr>
              <a:t>khứ</a:t>
            </a:r>
            <a:r>
              <a:rPr sz="1600" b="0" dirty="0">
                <a:solidFill>
                  <a:srgbClr val="5E6A78"/>
                </a:solidFill>
                <a:latin typeface="Aptos"/>
              </a:rPr>
              <a:t> </a:t>
            </a:r>
            <a:r>
              <a:rPr sz="1600" b="0" dirty="0" err="1">
                <a:solidFill>
                  <a:srgbClr val="5E6A78"/>
                </a:solidFill>
                <a:latin typeface="Aptos"/>
              </a:rPr>
              <a:t>và</a:t>
            </a:r>
            <a:r>
              <a:rPr sz="1600" b="0" dirty="0">
                <a:solidFill>
                  <a:srgbClr val="5E6A78"/>
                </a:solidFill>
                <a:latin typeface="Aptos"/>
              </a:rPr>
              <a:t> </a:t>
            </a:r>
            <a:r>
              <a:rPr sz="1600" b="0" dirty="0" err="1">
                <a:solidFill>
                  <a:srgbClr val="5E6A78"/>
                </a:solidFill>
                <a:latin typeface="Aptos"/>
              </a:rPr>
              <a:t>được</a:t>
            </a:r>
            <a:r>
              <a:rPr sz="1600" b="0" dirty="0">
                <a:solidFill>
                  <a:srgbClr val="5E6A78"/>
                </a:solidFill>
                <a:latin typeface="Aptos"/>
              </a:rPr>
              <a:t> </a:t>
            </a:r>
            <a:r>
              <a:rPr sz="1600" b="0" dirty="0" err="1">
                <a:solidFill>
                  <a:srgbClr val="5E6A78"/>
                </a:solidFill>
                <a:latin typeface="Aptos"/>
              </a:rPr>
              <a:t>đánh</a:t>
            </a:r>
            <a:r>
              <a:rPr sz="1600" b="0" dirty="0">
                <a:solidFill>
                  <a:srgbClr val="5E6A78"/>
                </a:solidFill>
                <a:latin typeface="Aptos"/>
              </a:rPr>
              <a:t> </a:t>
            </a:r>
            <a:r>
              <a:rPr sz="1600" b="0" dirty="0" err="1">
                <a:solidFill>
                  <a:srgbClr val="5E6A78"/>
                </a:solidFill>
                <a:latin typeface="Aptos"/>
              </a:rPr>
              <a:t>giá</a:t>
            </a:r>
            <a:r>
              <a:rPr sz="1600" b="0" dirty="0">
                <a:solidFill>
                  <a:srgbClr val="5E6A78"/>
                </a:solidFill>
                <a:latin typeface="Aptos"/>
              </a:rPr>
              <a:t> </a:t>
            </a:r>
            <a:r>
              <a:rPr sz="1600" b="0" dirty="0" err="1">
                <a:solidFill>
                  <a:srgbClr val="5E6A78"/>
                </a:solidFill>
                <a:latin typeface="Aptos"/>
              </a:rPr>
              <a:t>trên</a:t>
            </a:r>
            <a:r>
              <a:rPr sz="1600" b="0" dirty="0">
                <a:solidFill>
                  <a:srgbClr val="5E6A78"/>
                </a:solidFill>
                <a:latin typeface="Aptos"/>
              </a:rPr>
              <a:t> </a:t>
            </a:r>
            <a:r>
              <a:rPr sz="1600" b="0" dirty="0" err="1">
                <a:solidFill>
                  <a:srgbClr val="5E6A78"/>
                </a:solidFill>
                <a:latin typeface="Aptos"/>
              </a:rPr>
              <a:t>giai</a:t>
            </a:r>
            <a:r>
              <a:rPr sz="1600" b="0" dirty="0">
                <a:solidFill>
                  <a:srgbClr val="5E6A78"/>
                </a:solidFill>
                <a:latin typeface="Aptos"/>
              </a:rPr>
              <a:t> </a:t>
            </a:r>
            <a:r>
              <a:rPr sz="1600" b="0" dirty="0" err="1">
                <a:solidFill>
                  <a:srgbClr val="5E6A78"/>
                </a:solidFill>
                <a:latin typeface="Aptos"/>
              </a:rPr>
              <a:t>đoạn</a:t>
            </a:r>
            <a:r>
              <a:rPr sz="1600" b="0" dirty="0">
                <a:solidFill>
                  <a:srgbClr val="5E6A78"/>
                </a:solidFill>
                <a:latin typeface="Aptos"/>
              </a:rPr>
              <a:t> </a:t>
            </a:r>
            <a:r>
              <a:rPr sz="1600" b="0" dirty="0" err="1">
                <a:solidFill>
                  <a:srgbClr val="5E6A78"/>
                </a:solidFill>
                <a:latin typeface="Aptos"/>
              </a:rPr>
              <a:t>tương</a:t>
            </a:r>
            <a:r>
              <a:rPr sz="1600" b="0" dirty="0">
                <a:solidFill>
                  <a:srgbClr val="5E6A78"/>
                </a:solidFill>
                <a:latin typeface="Aptos"/>
              </a:rPr>
              <a:t> lai.</a:t>
            </a:r>
          </a:p>
        </p:txBody>
      </p:sp>
      <p:sp>
        <p:nvSpPr>
          <p:cNvPr id="40" name="TextBox 39"/>
          <p:cNvSpPr txBox="1"/>
          <p:nvPr/>
        </p:nvSpPr>
        <p:spPr>
          <a:xfrm>
            <a:off x="594360" y="6565392"/>
            <a:ext cx="4023360" cy="164592"/>
          </a:xfrm>
          <a:prstGeom prst="rect">
            <a:avLst/>
          </a:prstGeom>
          <a:noFill/>
        </p:spPr>
        <p:txBody>
          <a:bodyPr wrap="square" lIns="36576" tIns="36576" rIns="36576" bIns="36576" anchor="t">
            <a:spAutoFit/>
          </a:bodyPr>
          <a:lstStyle/>
          <a:p>
            <a:pPr algn="l"/>
            <a:r>
              <a:rPr sz="850" b="0">
                <a:solidFill>
                  <a:srgbClr val="5E6A78"/>
                </a:solidFill>
                <a:latin typeface="Aptos"/>
              </a:rPr>
              <a:t>Cơ sở Khoa học Dữ liệu  •  SLA &amp; Customer Experience</a:t>
            </a:r>
          </a:p>
        </p:txBody>
      </p:sp>
      <p:sp>
        <p:nvSpPr>
          <p:cNvPr id="41" name="TextBox 40"/>
          <p:cNvSpPr txBox="1"/>
          <p:nvPr/>
        </p:nvSpPr>
        <p:spPr>
          <a:xfrm>
            <a:off x="11201400" y="6567055"/>
            <a:ext cx="365760" cy="166255"/>
          </a:xfrm>
          <a:prstGeom prst="rect">
            <a:avLst/>
          </a:prstGeom>
          <a:noFill/>
        </p:spPr>
        <p:txBody>
          <a:bodyPr wrap="square" lIns="36576" tIns="36576" rIns="36576" bIns="36576" anchor="t">
            <a:spAutoFit/>
          </a:bodyPr>
          <a:lstStyle/>
          <a:p>
            <a:pPr algn="r"/>
            <a:r>
              <a:rPr sz="850" b="0">
                <a:solidFill>
                  <a:srgbClr val="5E6A78"/>
                </a:solidFill>
                <a:latin typeface="Aptos"/>
              </a:rPr>
              <a:t>18</a:t>
            </a:r>
          </a:p>
        </p:txBody>
      </p:sp>
      <p:sp>
        <p:nvSpPr>
          <p:cNvPr id="42" name="Rounded Rectangle 41"/>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a:t>
            </a:r>
          </a:p>
        </p:txBody>
      </p:sp>
      <p:sp>
        <p:nvSpPr>
          <p:cNvPr id="43" name="Rounded Rectangle 42"/>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Data Collection</a:t>
            </a:r>
          </a:p>
        </p:txBody>
      </p:sp>
      <p:sp>
        <p:nvSpPr>
          <p:cNvPr id="44" name="Rounded Rectangle 43"/>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Cleaning</a:t>
            </a:r>
          </a:p>
        </p:txBody>
      </p:sp>
      <p:sp>
        <p:nvSpPr>
          <p:cNvPr id="45" name="Rounded Rectangle 44"/>
          <p:cNvSpPr/>
          <p:nvPr/>
        </p:nvSpPr>
        <p:spPr>
          <a:xfrm>
            <a:off x="7306056" y="6510528"/>
            <a:ext cx="42062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EDA</a:t>
            </a:r>
          </a:p>
        </p:txBody>
      </p:sp>
      <p:sp>
        <p:nvSpPr>
          <p:cNvPr id="46" name="Rounded Rectangle 45"/>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Features</a:t>
            </a:r>
          </a:p>
        </p:txBody>
      </p:sp>
      <p:sp>
        <p:nvSpPr>
          <p:cNvPr id="47" name="Rounded Rectangle 46"/>
          <p:cNvSpPr/>
          <p:nvPr/>
        </p:nvSpPr>
        <p:spPr>
          <a:xfrm>
            <a:off x="8494776" y="6510528"/>
            <a:ext cx="694944"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Modeling</a:t>
            </a:r>
          </a:p>
        </p:txBody>
      </p:sp>
      <p:sp>
        <p:nvSpPr>
          <p:cNvPr id="48" name="Rounded Rectangle 47"/>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Evaluation</a:t>
            </a:r>
          </a:p>
        </p:txBody>
      </p:sp>
      <p:sp>
        <p:nvSpPr>
          <p:cNvPr id="49" name="Rounded Rectangle 48"/>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 Value</a:t>
            </a:r>
          </a:p>
        </p:txBody>
      </p:sp>
      <p:sp>
        <p:nvSpPr>
          <p:cNvPr id="50" name="TextBox 49"/>
          <p:cNvSpPr txBox="1"/>
          <p:nvPr/>
        </p:nvSpPr>
        <p:spPr>
          <a:xfrm>
            <a:off x="704088" y="4114800"/>
            <a:ext cx="2423160" cy="365760"/>
          </a:xfrm>
          <a:prstGeom prst="rect">
            <a:avLst/>
          </a:prstGeom>
          <a:noFill/>
        </p:spPr>
        <p:txBody>
          <a:bodyPr wrap="square" anchor="t" lIns="36576" rIns="36576" tIns="36576" bIns="36576">
            <a:noAutofit/>
          </a:bodyPr>
          <a:lstStyle/>
          <a:p>
            <a:pPr algn="ctr">
              <a:spcAft>
                <a:spcPts val="0"/>
              </a:spcAft>
            </a:pPr>
            <a:r>
              <a:rPr sz="850" b="0" i="0">
                <a:solidFill>
                  <a:srgbClr val="5E6A78"/>
                </a:solidFill>
                <a:latin typeface="Aptos"/>
              </a:rPr>
              <a:t>estimator</a:t>
            </a:r>
          </a:p>
          <a:p>
            <a:pPr algn="ctr">
              <a:spcAft>
                <a:spcPts val="0"/>
              </a:spcAft>
            </a:pPr>
            <a:r>
              <a:rPr sz="1000" b="1" i="0">
                <a:solidFill>
                  <a:srgbClr val="2F639D"/>
                </a:solidFill>
                <a:latin typeface="Courier New"/>
              </a:rPr>
              <a:t>LogisticRegression</a:t>
            </a:r>
          </a:p>
        </p:txBody>
      </p:sp>
      <p:sp>
        <p:nvSpPr>
          <p:cNvPr id="51" name="TextBox 50"/>
          <p:cNvSpPr txBox="1"/>
          <p:nvPr/>
        </p:nvSpPr>
        <p:spPr>
          <a:xfrm>
            <a:off x="3465576" y="4114800"/>
            <a:ext cx="2423160" cy="365760"/>
          </a:xfrm>
          <a:prstGeom prst="rect">
            <a:avLst/>
          </a:prstGeom>
          <a:noFill/>
        </p:spPr>
        <p:txBody>
          <a:bodyPr wrap="square" anchor="t" lIns="36576" rIns="36576" tIns="36576" bIns="36576">
            <a:noAutofit/>
          </a:bodyPr>
          <a:lstStyle/>
          <a:p>
            <a:pPr algn="ctr">
              <a:spcAft>
                <a:spcPts val="0"/>
              </a:spcAft>
            </a:pPr>
            <a:r>
              <a:rPr sz="850" b="0" i="0">
                <a:solidFill>
                  <a:srgbClr val="5E6A78"/>
                </a:solidFill>
                <a:latin typeface="Aptos"/>
              </a:rPr>
              <a:t>estimator</a:t>
            </a:r>
          </a:p>
          <a:p>
            <a:pPr algn="ctr">
              <a:spcAft>
                <a:spcPts val="0"/>
              </a:spcAft>
            </a:pPr>
            <a:r>
              <a:rPr sz="1000" b="1" i="0">
                <a:solidFill>
                  <a:srgbClr val="2F639D"/>
                </a:solidFill>
                <a:latin typeface="Courier New"/>
              </a:rPr>
              <a:t>RandomForestClassifier</a:t>
            </a:r>
          </a:p>
        </p:txBody>
      </p:sp>
      <p:sp>
        <p:nvSpPr>
          <p:cNvPr id="52" name="TextBox 51"/>
          <p:cNvSpPr txBox="1"/>
          <p:nvPr/>
        </p:nvSpPr>
        <p:spPr>
          <a:xfrm>
            <a:off x="6227064" y="4114800"/>
            <a:ext cx="2423160" cy="365760"/>
          </a:xfrm>
          <a:prstGeom prst="rect">
            <a:avLst/>
          </a:prstGeom>
          <a:noFill/>
        </p:spPr>
        <p:txBody>
          <a:bodyPr wrap="square" anchor="t" lIns="36576" rIns="36576" tIns="36576" bIns="36576">
            <a:noAutofit/>
          </a:bodyPr>
          <a:lstStyle/>
          <a:p>
            <a:pPr algn="ctr">
              <a:spcAft>
                <a:spcPts val="0"/>
              </a:spcAft>
            </a:pPr>
            <a:r>
              <a:rPr sz="850" b="0" i="0">
                <a:solidFill>
                  <a:srgbClr val="5E6A78"/>
                </a:solidFill>
                <a:latin typeface="Aptos"/>
              </a:rPr>
              <a:t>estimator</a:t>
            </a:r>
          </a:p>
          <a:p>
            <a:pPr algn="ctr">
              <a:spcAft>
                <a:spcPts val="0"/>
              </a:spcAft>
            </a:pPr>
            <a:r>
              <a:rPr sz="850" b="1" i="0">
                <a:solidFill>
                  <a:srgbClr val="2F639D"/>
                </a:solidFill>
                <a:latin typeface="Courier New"/>
              </a:rPr>
              <a:t>HistGradientBoostingClassifier</a:t>
            </a:r>
          </a:p>
        </p:txBody>
      </p:sp>
      <p:sp>
        <p:nvSpPr>
          <p:cNvPr id="53" name="TextBox 52"/>
          <p:cNvSpPr txBox="1"/>
          <p:nvPr/>
        </p:nvSpPr>
        <p:spPr>
          <a:xfrm>
            <a:off x="8988552" y="4114800"/>
            <a:ext cx="2423160" cy="365760"/>
          </a:xfrm>
          <a:prstGeom prst="rect">
            <a:avLst/>
          </a:prstGeom>
          <a:noFill/>
        </p:spPr>
        <p:txBody>
          <a:bodyPr wrap="square" anchor="t" lIns="36576" rIns="36576" tIns="36576" bIns="36576">
            <a:noAutofit/>
          </a:bodyPr>
          <a:lstStyle/>
          <a:p>
            <a:pPr algn="ctr">
              <a:spcAft>
                <a:spcPts val="0"/>
              </a:spcAft>
            </a:pPr>
            <a:r>
              <a:rPr sz="850" b="0" i="0">
                <a:solidFill>
                  <a:srgbClr val="5E6A78"/>
                </a:solidFill>
                <a:latin typeface="Aptos"/>
              </a:rPr>
              <a:t>estimator</a:t>
            </a:r>
          </a:p>
          <a:p>
            <a:pPr algn="ctr">
              <a:spcAft>
                <a:spcPts val="0"/>
              </a:spcAft>
            </a:pPr>
            <a:r>
              <a:rPr sz="1000" b="1" i="0">
                <a:solidFill>
                  <a:srgbClr val="2F639D"/>
                </a:solidFill>
                <a:latin typeface="Courier New"/>
              </a:rPr>
              <a:t>EnsembleModel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265176"/>
            <a:ext cx="10424160" cy="566928"/>
          </a:xfrm>
          <a:prstGeom prst="rect">
            <a:avLst/>
          </a:prstGeom>
          <a:noFill/>
        </p:spPr>
        <p:txBody>
          <a:bodyPr wrap="square" lIns="36576" tIns="36576" rIns="36576" bIns="36576" anchor="t">
            <a:noAutofit/>
          </a:bodyPr>
          <a:lstStyle/>
          <a:p>
            <a:pPr algn="l">
              <a:spcAft>
                <a:spcPts val="300"/>
              </a:spcAft>
            </a:pPr>
            <a:r>
              <a:rPr sz="2400" b="1" i="0">
                <a:solidFill>
                  <a:srgbClr val="162C46"/>
                </a:solidFill>
                <a:latin typeface="Aptos Display"/>
              </a:rPr>
              <a:t>MODELING — INTERFACE OOP: MỘT LỚP CHA, MỌI MÔ HÌNH</a:t>
            </a:r>
          </a:p>
        </p:txBody>
      </p:sp>
      <p:cxnSp>
        <p:nvCxnSpPr>
          <p:cNvPr id="3" name="Connector 2"/>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583680"/>
            <a:ext cx="4023360" cy="182880"/>
          </a:xfrm>
          <a:prstGeom prst="rect">
            <a:avLst/>
          </a:prstGeom>
          <a:noFill/>
        </p:spPr>
        <p:txBody>
          <a:bodyPr wrap="square" lIns="36576" tIns="36576" rIns="36576" bIns="36576" anchor="t">
            <a:noAutofit/>
          </a:bodyPr>
          <a:lstStyle/>
          <a:p>
            <a:pPr algn="l">
              <a:spcAft>
                <a:spcPts val="300"/>
              </a:spcAft>
            </a:pPr>
            <a:r>
              <a:rPr sz="850" b="0" i="0">
                <a:solidFill>
                  <a:srgbClr val="5E6A78"/>
                </a:solidFill>
                <a:latin typeface="Aptos"/>
              </a:rPr>
              <a:t>Cơ sở Khoa học Dữ liệu  •  SLA &amp; Customer Experience</a:t>
            </a:r>
          </a:p>
        </p:txBody>
      </p:sp>
      <p:sp>
        <p:nvSpPr>
          <p:cNvPr id="6" name="TextBox 5"/>
          <p:cNvSpPr txBox="1"/>
          <p:nvPr/>
        </p:nvSpPr>
        <p:spPr>
          <a:xfrm>
            <a:off x="11201400" y="6567055"/>
            <a:ext cx="365760" cy="166255"/>
          </a:xfrm>
          <a:prstGeom prst="rect">
            <a:avLst/>
          </a:prstGeom>
          <a:noFill/>
        </p:spPr>
        <p:txBody>
          <a:bodyPr wrap="square" lIns="36576" tIns="36576" rIns="36576" bIns="36576" anchor="t">
            <a:noAutofit/>
          </a:bodyPr>
          <a:lstStyle/>
          <a:p>
            <a:pPr algn="l">
              <a:spcAft>
                <a:spcPts val="300"/>
              </a:spcAft>
            </a:pPr>
            <a:r>
              <a:rPr sz="850" b="0" i="0">
                <a:solidFill>
                  <a:srgbClr val="5E6A78"/>
                </a:solidFill>
                <a:latin typeface="Aptos"/>
              </a:rPr>
              <a:t>19</a:t>
            </a:r>
          </a:p>
        </p:txBody>
      </p:sp>
      <p:sp>
        <p:nvSpPr>
          <p:cNvPr id="7" name="Rounded Rectangle 6"/>
          <p:cNvSpPr/>
          <p:nvPr/>
        </p:nvSpPr>
        <p:spPr>
          <a:xfrm>
            <a:off x="731520" y="1051560"/>
            <a:ext cx="1874519" cy="603504"/>
          </a:xfrm>
          <a:prstGeom prst="round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069848"/>
            <a:ext cx="1874519" cy="274320"/>
          </a:xfrm>
          <a:prstGeom prst="rect">
            <a:avLst/>
          </a:prstGeom>
          <a:noFill/>
        </p:spPr>
        <p:txBody>
          <a:bodyPr wrap="square" lIns="36576" tIns="36576" rIns="36576" bIns="36576" anchor="t">
            <a:noAutofit/>
          </a:bodyPr>
          <a:lstStyle/>
          <a:p>
            <a:pPr algn="ctr">
              <a:spcAft>
                <a:spcPts val="300"/>
              </a:spcAft>
            </a:pPr>
            <a:r>
              <a:rPr sz="1150" b="1" i="0">
                <a:solidFill>
                  <a:srgbClr val="162C46"/>
                </a:solidFill>
                <a:latin typeface="Courier New"/>
              </a:rPr>
              <a:t>abc.ABC</a:t>
            </a:r>
          </a:p>
        </p:txBody>
      </p:sp>
      <p:sp>
        <p:nvSpPr>
          <p:cNvPr id="9" name="TextBox 8"/>
          <p:cNvSpPr txBox="1"/>
          <p:nvPr/>
        </p:nvSpPr>
        <p:spPr>
          <a:xfrm>
            <a:off x="731520" y="1325880"/>
            <a:ext cx="1874519" cy="274320"/>
          </a:xfrm>
          <a:prstGeom prst="rect">
            <a:avLst/>
          </a:prstGeom>
          <a:noFill/>
        </p:spPr>
        <p:txBody>
          <a:bodyPr wrap="square" lIns="36576" tIns="36576" rIns="36576" bIns="36576" anchor="t">
            <a:noAutofit/>
          </a:bodyPr>
          <a:lstStyle/>
          <a:p>
            <a:pPr algn="ctr">
              <a:spcAft>
                <a:spcPts val="300"/>
              </a:spcAft>
            </a:pPr>
            <a:r>
              <a:rPr sz="1050" b="0" i="0">
                <a:solidFill>
                  <a:srgbClr val="5E6A78"/>
                </a:solidFill>
                <a:latin typeface="Aptos"/>
              </a:rPr>
              <a:t>lớp trừu tượng</a:t>
            </a:r>
          </a:p>
        </p:txBody>
      </p:sp>
      <p:cxnSp>
        <p:nvCxnSpPr>
          <p:cNvPr id="10" name="Connector 9"/>
          <p:cNvCxnSpPr/>
          <p:nvPr/>
        </p:nvCxnSpPr>
        <p:spPr>
          <a:xfrm>
            <a:off x="1668780" y="1655064"/>
            <a:ext cx="0" cy="310896"/>
          </a:xfrm>
          <a:prstGeom prst="line">
            <a:avLst/>
          </a:prstGeom>
          <a:ln w="15875">
            <a:solidFill>
              <a:srgbClr val="5E6A78"/>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834639" y="1051560"/>
            <a:ext cx="1874519" cy="603504"/>
          </a:xfrm>
          <a:prstGeom prst="round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34639" y="1069848"/>
            <a:ext cx="1874519" cy="274320"/>
          </a:xfrm>
          <a:prstGeom prst="rect">
            <a:avLst/>
          </a:prstGeom>
          <a:noFill/>
        </p:spPr>
        <p:txBody>
          <a:bodyPr wrap="square" lIns="36576" tIns="36576" rIns="36576" bIns="36576" anchor="t">
            <a:noAutofit/>
          </a:bodyPr>
          <a:lstStyle/>
          <a:p>
            <a:pPr algn="ctr">
              <a:spcAft>
                <a:spcPts val="300"/>
              </a:spcAft>
            </a:pPr>
            <a:r>
              <a:rPr sz="1150" b="1" i="0">
                <a:solidFill>
                  <a:srgbClr val="162C46"/>
                </a:solidFill>
                <a:latin typeface="Courier New"/>
              </a:rPr>
              <a:t>BaseEstimator</a:t>
            </a:r>
          </a:p>
        </p:txBody>
      </p:sp>
      <p:sp>
        <p:nvSpPr>
          <p:cNvPr id="13" name="TextBox 12"/>
          <p:cNvSpPr txBox="1"/>
          <p:nvPr/>
        </p:nvSpPr>
        <p:spPr>
          <a:xfrm>
            <a:off x="2834639" y="1325880"/>
            <a:ext cx="1874519" cy="274320"/>
          </a:xfrm>
          <a:prstGeom prst="rect">
            <a:avLst/>
          </a:prstGeom>
          <a:noFill/>
        </p:spPr>
        <p:txBody>
          <a:bodyPr wrap="square" lIns="36576" tIns="36576" rIns="36576" bIns="36576" anchor="t">
            <a:noAutofit/>
          </a:bodyPr>
          <a:lstStyle/>
          <a:p>
            <a:pPr algn="ctr">
              <a:spcAft>
                <a:spcPts val="300"/>
              </a:spcAft>
            </a:pPr>
            <a:r>
              <a:rPr sz="1050" b="0" i="0">
                <a:solidFill>
                  <a:srgbClr val="5E6A78"/>
                </a:solidFill>
                <a:latin typeface="Aptos"/>
              </a:rPr>
              <a:t>get/set_params · clone</a:t>
            </a:r>
          </a:p>
        </p:txBody>
      </p:sp>
      <p:cxnSp>
        <p:nvCxnSpPr>
          <p:cNvPr id="14" name="Connector 13"/>
          <p:cNvCxnSpPr/>
          <p:nvPr/>
        </p:nvCxnSpPr>
        <p:spPr>
          <a:xfrm>
            <a:off x="3771900" y="1655064"/>
            <a:ext cx="0" cy="310896"/>
          </a:xfrm>
          <a:prstGeom prst="line">
            <a:avLst/>
          </a:prstGeom>
          <a:ln w="15875">
            <a:solidFill>
              <a:srgbClr val="5E6A78"/>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937759" y="1051560"/>
            <a:ext cx="1874519" cy="603504"/>
          </a:xfrm>
          <a:prstGeom prst="round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937759" y="1069848"/>
            <a:ext cx="1874519" cy="274320"/>
          </a:xfrm>
          <a:prstGeom prst="rect">
            <a:avLst/>
          </a:prstGeom>
          <a:noFill/>
        </p:spPr>
        <p:txBody>
          <a:bodyPr wrap="square" lIns="36576" tIns="36576" rIns="36576" bIns="36576" anchor="t">
            <a:noAutofit/>
          </a:bodyPr>
          <a:lstStyle/>
          <a:p>
            <a:pPr algn="ctr">
              <a:spcAft>
                <a:spcPts val="300"/>
              </a:spcAft>
            </a:pPr>
            <a:r>
              <a:rPr sz="1150" b="1" i="0">
                <a:solidFill>
                  <a:srgbClr val="162C46"/>
                </a:solidFill>
                <a:latin typeface="Courier New"/>
              </a:rPr>
              <a:t>ClassifierMixin</a:t>
            </a:r>
          </a:p>
        </p:txBody>
      </p:sp>
      <p:sp>
        <p:nvSpPr>
          <p:cNvPr id="17" name="TextBox 16"/>
          <p:cNvSpPr txBox="1"/>
          <p:nvPr/>
        </p:nvSpPr>
        <p:spPr>
          <a:xfrm>
            <a:off x="4937759" y="1325880"/>
            <a:ext cx="1874519" cy="274320"/>
          </a:xfrm>
          <a:prstGeom prst="rect">
            <a:avLst/>
          </a:prstGeom>
          <a:noFill/>
        </p:spPr>
        <p:txBody>
          <a:bodyPr wrap="square" lIns="36576" tIns="36576" rIns="36576" bIns="36576" anchor="t">
            <a:noAutofit/>
          </a:bodyPr>
          <a:lstStyle/>
          <a:p>
            <a:pPr algn="ctr">
              <a:spcAft>
                <a:spcPts val="300"/>
              </a:spcAft>
            </a:pPr>
            <a:r>
              <a:rPr sz="1050" b="0" i="0">
                <a:solidFill>
                  <a:srgbClr val="5E6A78"/>
                </a:solidFill>
                <a:latin typeface="Aptos"/>
              </a:rPr>
              <a:t>chuẩn bộ phân loại</a:t>
            </a:r>
          </a:p>
        </p:txBody>
      </p:sp>
      <p:cxnSp>
        <p:nvCxnSpPr>
          <p:cNvPr id="18" name="Connector 17"/>
          <p:cNvCxnSpPr/>
          <p:nvPr/>
        </p:nvCxnSpPr>
        <p:spPr>
          <a:xfrm>
            <a:off x="5875019" y="1655064"/>
            <a:ext cx="0" cy="310896"/>
          </a:xfrm>
          <a:prstGeom prst="line">
            <a:avLst/>
          </a:prstGeom>
          <a:ln w="15875">
            <a:solidFill>
              <a:srgbClr val="5E6A78"/>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03504" y="1965960"/>
            <a:ext cx="6309360" cy="1481328"/>
          </a:xfrm>
          <a:prstGeom prst="roundRect">
            <a:avLst>
              <a:gd name="adj" fmla="val 1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1520" y="2011680"/>
            <a:ext cx="6035040" cy="365760"/>
          </a:xfrm>
          <a:prstGeom prst="rect">
            <a:avLst/>
          </a:prstGeom>
          <a:noFill/>
        </p:spPr>
        <p:txBody>
          <a:bodyPr wrap="square" lIns="36576" tIns="36576" rIns="36576" bIns="36576" anchor="t">
            <a:noAutofit/>
          </a:bodyPr>
          <a:lstStyle/>
          <a:p>
            <a:pPr algn="l">
              <a:spcAft>
                <a:spcPts val="300"/>
              </a:spcAft>
            </a:pPr>
            <a:r>
              <a:rPr sz="1700" b="1" i="0">
                <a:solidFill>
                  <a:srgbClr val="FFFFFF"/>
                </a:solidFill>
                <a:latin typeface="Courier New"/>
              </a:rPr>
              <a:t>BaseModel</a:t>
            </a:r>
            <a:r>
              <a:rPr sz="1200" b="0" i="0">
                <a:solidFill>
                  <a:srgbClr val="CADCFC"/>
                </a:solidFill>
                <a:latin typeface="Aptos"/>
              </a:rPr>
              <a:t>   — lớp cha trừu tượng</a:t>
            </a:r>
          </a:p>
        </p:txBody>
      </p:sp>
      <p:sp>
        <p:nvSpPr>
          <p:cNvPr id="21" name="TextBox 20"/>
          <p:cNvSpPr txBox="1"/>
          <p:nvPr/>
        </p:nvSpPr>
        <p:spPr>
          <a:xfrm>
            <a:off x="731520" y="2395728"/>
            <a:ext cx="6035040" cy="1051560"/>
          </a:xfrm>
          <a:prstGeom prst="rect">
            <a:avLst/>
          </a:prstGeom>
          <a:noFill/>
        </p:spPr>
        <p:txBody>
          <a:bodyPr wrap="square" lIns="36576" tIns="36576" rIns="36576" bIns="36576" anchor="t">
            <a:noAutofit/>
          </a:bodyPr>
          <a:lstStyle/>
          <a:p>
            <a:pPr algn="l">
              <a:spcAft>
                <a:spcPts val="500"/>
              </a:spcAft>
            </a:pPr>
            <a:r>
              <a:rPr sz="1200" b="1" i="0">
                <a:solidFill>
                  <a:srgbClr val="FFFFFF"/>
                </a:solidFill>
                <a:latin typeface="Aptos"/>
              </a:rPr>
              <a:t>Viết MỘT lần, mọi lớp con dùng chung: </a:t>
            </a:r>
            <a:r>
              <a:rPr sz="1100" b="0" i="0">
                <a:solidFill>
                  <a:srgbClr val="E6EEF8"/>
                </a:solidFill>
                <a:latin typeface="Courier New"/>
              </a:rPr>
              <a:t>fit() · predict_proba() · tune() · save() / load() · export_hyperparams() · score() = PR-AUC</a:t>
            </a:r>
          </a:p>
          <a:p>
            <a:pPr algn="l">
              <a:spcAft>
                <a:spcPts val="500"/>
              </a:spcAft>
            </a:pPr>
            <a:r>
              <a:rPr sz="1200" b="1" i="0">
                <a:solidFill>
                  <a:srgbClr val="FFFFFF"/>
                </a:solidFill>
                <a:latin typeface="Aptos"/>
              </a:rPr>
              <a:t>@abstractmethod — lớp con BẮT BUỘC cài: </a:t>
            </a:r>
            <a:r>
              <a:rPr sz="1100" b="0" i="0">
                <a:solidFill>
                  <a:srgbClr val="E6EEF8"/>
                </a:solidFill>
                <a:latin typeface="Courier New"/>
              </a:rPr>
              <a:t>_fit() · _predict_positive()</a:t>
            </a:r>
          </a:p>
        </p:txBody>
      </p:sp>
      <p:sp>
        <p:nvSpPr>
          <p:cNvPr id="22" name="Rounded Rectangle 21"/>
          <p:cNvSpPr/>
          <p:nvPr/>
        </p:nvSpPr>
        <p:spPr>
          <a:xfrm>
            <a:off x="603504" y="3840480"/>
            <a:ext cx="2011680" cy="749808"/>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03504" y="3904488"/>
            <a:ext cx="2011680" cy="292608"/>
          </a:xfrm>
          <a:prstGeom prst="rect">
            <a:avLst/>
          </a:prstGeom>
          <a:noFill/>
        </p:spPr>
        <p:txBody>
          <a:bodyPr wrap="square" lIns="36576" tIns="36576" rIns="36576" bIns="36576" anchor="t">
            <a:noAutofit/>
          </a:bodyPr>
          <a:lstStyle/>
          <a:p>
            <a:pPr algn="ctr">
              <a:spcAft>
                <a:spcPts val="300"/>
              </a:spcAft>
            </a:pPr>
            <a:r>
              <a:rPr sz="1100" b="1" i="0">
                <a:solidFill>
                  <a:srgbClr val="162C46"/>
                </a:solidFill>
                <a:latin typeface="Courier New"/>
              </a:rPr>
              <a:t>PriorBaseline</a:t>
            </a:r>
          </a:p>
        </p:txBody>
      </p:sp>
      <p:sp>
        <p:nvSpPr>
          <p:cNvPr id="24" name="TextBox 23"/>
          <p:cNvSpPr txBox="1"/>
          <p:nvPr/>
        </p:nvSpPr>
        <p:spPr>
          <a:xfrm>
            <a:off x="603504" y="4206240"/>
            <a:ext cx="2011680" cy="329184"/>
          </a:xfrm>
          <a:prstGeom prst="rect">
            <a:avLst/>
          </a:prstGeom>
          <a:noFill/>
        </p:spPr>
        <p:txBody>
          <a:bodyPr wrap="square" lIns="36576" tIns="36576" rIns="36576" bIns="36576" anchor="t">
            <a:noAutofit/>
          </a:bodyPr>
          <a:lstStyle/>
          <a:p>
            <a:pPr algn="ctr">
              <a:spcAft>
                <a:spcPts val="300"/>
              </a:spcAft>
            </a:pPr>
            <a:r>
              <a:rPr sz="1050" b="0" i="0">
                <a:solidFill>
                  <a:srgbClr val="5E6A78"/>
                </a:solidFill>
                <a:latin typeface="Aptos"/>
              </a:rPr>
              <a:t>M0</a:t>
            </a:r>
          </a:p>
        </p:txBody>
      </p:sp>
      <p:sp>
        <p:nvSpPr>
          <p:cNvPr id="25" name="Rounded Rectangle 24"/>
          <p:cNvSpPr/>
          <p:nvPr/>
        </p:nvSpPr>
        <p:spPr>
          <a:xfrm>
            <a:off x="2734056" y="3840480"/>
            <a:ext cx="2011680" cy="749808"/>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734056" y="3904488"/>
            <a:ext cx="2011680" cy="292608"/>
          </a:xfrm>
          <a:prstGeom prst="rect">
            <a:avLst/>
          </a:prstGeom>
          <a:noFill/>
        </p:spPr>
        <p:txBody>
          <a:bodyPr wrap="square" lIns="36576" tIns="36576" rIns="36576" bIns="36576" anchor="t">
            <a:noAutofit/>
          </a:bodyPr>
          <a:lstStyle/>
          <a:p>
            <a:pPr algn="ctr">
              <a:spcAft>
                <a:spcPts val="300"/>
              </a:spcAft>
            </a:pPr>
            <a:r>
              <a:rPr sz="1100" b="1" i="0">
                <a:solidFill>
                  <a:srgbClr val="162C46"/>
                </a:solidFill>
                <a:latin typeface="Courier New"/>
              </a:rPr>
              <a:t>LogisticModel</a:t>
            </a:r>
          </a:p>
        </p:txBody>
      </p:sp>
      <p:sp>
        <p:nvSpPr>
          <p:cNvPr id="27" name="TextBox 26"/>
          <p:cNvSpPr txBox="1"/>
          <p:nvPr/>
        </p:nvSpPr>
        <p:spPr>
          <a:xfrm>
            <a:off x="2734056" y="4206240"/>
            <a:ext cx="2011680" cy="329184"/>
          </a:xfrm>
          <a:prstGeom prst="rect">
            <a:avLst/>
          </a:prstGeom>
          <a:noFill/>
        </p:spPr>
        <p:txBody>
          <a:bodyPr wrap="square" lIns="36576" tIns="36576" rIns="36576" bIns="36576" anchor="t">
            <a:noAutofit/>
          </a:bodyPr>
          <a:lstStyle/>
          <a:p>
            <a:pPr algn="ctr">
              <a:spcAft>
                <a:spcPts val="300"/>
              </a:spcAft>
            </a:pPr>
            <a:r>
              <a:rPr sz="1050" b="0" i="0">
                <a:solidFill>
                  <a:srgbClr val="5E6A78"/>
                </a:solidFill>
                <a:latin typeface="Aptos"/>
              </a:rPr>
              <a:t>M1a · M1b · M2</a:t>
            </a:r>
          </a:p>
        </p:txBody>
      </p:sp>
      <p:sp>
        <p:nvSpPr>
          <p:cNvPr id="28" name="Rounded Rectangle 27"/>
          <p:cNvSpPr/>
          <p:nvPr/>
        </p:nvSpPr>
        <p:spPr>
          <a:xfrm>
            <a:off x="4864608" y="3840480"/>
            <a:ext cx="2011680" cy="749808"/>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864608" y="3904488"/>
            <a:ext cx="2011680" cy="292608"/>
          </a:xfrm>
          <a:prstGeom prst="rect">
            <a:avLst/>
          </a:prstGeom>
          <a:noFill/>
        </p:spPr>
        <p:txBody>
          <a:bodyPr wrap="square" lIns="36576" tIns="36576" rIns="36576" bIns="36576" anchor="t">
            <a:noAutofit/>
          </a:bodyPr>
          <a:lstStyle/>
          <a:p>
            <a:pPr algn="ctr">
              <a:spcAft>
                <a:spcPts val="300"/>
              </a:spcAft>
            </a:pPr>
            <a:r>
              <a:rPr sz="1100" b="1" i="0">
                <a:solidFill>
                  <a:srgbClr val="162C46"/>
                </a:solidFill>
                <a:latin typeface="Courier New"/>
              </a:rPr>
              <a:t>RandomForestModel</a:t>
            </a:r>
          </a:p>
        </p:txBody>
      </p:sp>
      <p:sp>
        <p:nvSpPr>
          <p:cNvPr id="30" name="TextBox 29"/>
          <p:cNvSpPr txBox="1"/>
          <p:nvPr/>
        </p:nvSpPr>
        <p:spPr>
          <a:xfrm>
            <a:off x="4864608" y="4206240"/>
            <a:ext cx="2011680" cy="329184"/>
          </a:xfrm>
          <a:prstGeom prst="rect">
            <a:avLst/>
          </a:prstGeom>
          <a:noFill/>
        </p:spPr>
        <p:txBody>
          <a:bodyPr wrap="square" lIns="36576" tIns="36576" rIns="36576" bIns="36576" anchor="t">
            <a:noAutofit/>
          </a:bodyPr>
          <a:lstStyle/>
          <a:p>
            <a:pPr algn="ctr">
              <a:spcAft>
                <a:spcPts val="300"/>
              </a:spcAft>
            </a:pPr>
            <a:r>
              <a:rPr sz="1050" b="0" i="0">
                <a:solidFill>
                  <a:srgbClr val="5E6A78"/>
                </a:solidFill>
                <a:latin typeface="Aptos"/>
              </a:rPr>
              <a:t>M3</a:t>
            </a:r>
          </a:p>
        </p:txBody>
      </p:sp>
      <p:sp>
        <p:nvSpPr>
          <p:cNvPr id="31" name="Rounded Rectangle 30"/>
          <p:cNvSpPr/>
          <p:nvPr/>
        </p:nvSpPr>
        <p:spPr>
          <a:xfrm>
            <a:off x="603504" y="4754880"/>
            <a:ext cx="2011680" cy="749808"/>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03504" y="4818888"/>
            <a:ext cx="2011680" cy="292608"/>
          </a:xfrm>
          <a:prstGeom prst="rect">
            <a:avLst/>
          </a:prstGeom>
          <a:noFill/>
        </p:spPr>
        <p:txBody>
          <a:bodyPr wrap="square" lIns="36576" tIns="36576" rIns="36576" bIns="36576" anchor="t">
            <a:noAutofit/>
          </a:bodyPr>
          <a:lstStyle/>
          <a:p>
            <a:pPr algn="ctr">
              <a:spcAft>
                <a:spcPts val="300"/>
              </a:spcAft>
            </a:pPr>
            <a:r>
              <a:rPr sz="1100" b="1" i="0">
                <a:solidFill>
                  <a:srgbClr val="162C46"/>
                </a:solidFill>
                <a:latin typeface="Courier New"/>
              </a:rPr>
              <a:t>GBMModel</a:t>
            </a:r>
          </a:p>
        </p:txBody>
      </p:sp>
      <p:sp>
        <p:nvSpPr>
          <p:cNvPr id="33" name="TextBox 32"/>
          <p:cNvSpPr txBox="1"/>
          <p:nvPr/>
        </p:nvSpPr>
        <p:spPr>
          <a:xfrm>
            <a:off x="603504" y="5120640"/>
            <a:ext cx="2011680" cy="329184"/>
          </a:xfrm>
          <a:prstGeom prst="rect">
            <a:avLst/>
          </a:prstGeom>
          <a:noFill/>
        </p:spPr>
        <p:txBody>
          <a:bodyPr wrap="square" lIns="36576" tIns="36576" rIns="36576" bIns="36576" anchor="t">
            <a:noAutofit/>
          </a:bodyPr>
          <a:lstStyle/>
          <a:p>
            <a:pPr algn="ctr">
              <a:spcAft>
                <a:spcPts val="300"/>
              </a:spcAft>
            </a:pPr>
            <a:r>
              <a:rPr sz="1050" b="0" i="0">
                <a:solidFill>
                  <a:srgbClr val="5E6A78"/>
                </a:solidFill>
                <a:latin typeface="Aptos"/>
              </a:rPr>
              <a:t>M4 · M5</a:t>
            </a:r>
          </a:p>
        </p:txBody>
      </p:sp>
      <p:sp>
        <p:nvSpPr>
          <p:cNvPr id="34" name="Rounded Rectangle 33"/>
          <p:cNvSpPr/>
          <p:nvPr/>
        </p:nvSpPr>
        <p:spPr>
          <a:xfrm>
            <a:off x="2734056" y="4754880"/>
            <a:ext cx="2011680" cy="749808"/>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734056" y="4818888"/>
            <a:ext cx="2011680" cy="292608"/>
          </a:xfrm>
          <a:prstGeom prst="rect">
            <a:avLst/>
          </a:prstGeom>
          <a:noFill/>
        </p:spPr>
        <p:txBody>
          <a:bodyPr wrap="square" lIns="36576" tIns="36576" rIns="36576" bIns="36576" anchor="t">
            <a:noAutofit/>
          </a:bodyPr>
          <a:lstStyle/>
          <a:p>
            <a:pPr algn="ctr">
              <a:spcAft>
                <a:spcPts val="300"/>
              </a:spcAft>
            </a:pPr>
            <a:r>
              <a:rPr sz="1100" b="1" i="0">
                <a:solidFill>
                  <a:srgbClr val="162C46"/>
                </a:solidFill>
                <a:latin typeface="Courier New"/>
              </a:rPr>
              <a:t>EnsembleModel</a:t>
            </a:r>
          </a:p>
        </p:txBody>
      </p:sp>
      <p:sp>
        <p:nvSpPr>
          <p:cNvPr id="36" name="TextBox 35"/>
          <p:cNvSpPr txBox="1"/>
          <p:nvPr/>
        </p:nvSpPr>
        <p:spPr>
          <a:xfrm>
            <a:off x="2734056" y="5120640"/>
            <a:ext cx="2011680" cy="329184"/>
          </a:xfrm>
          <a:prstGeom prst="rect">
            <a:avLst/>
          </a:prstGeom>
          <a:noFill/>
        </p:spPr>
        <p:txBody>
          <a:bodyPr wrap="square" lIns="36576" tIns="36576" rIns="36576" bIns="36576" anchor="t">
            <a:noAutofit/>
          </a:bodyPr>
          <a:lstStyle/>
          <a:p>
            <a:pPr algn="ctr">
              <a:spcAft>
                <a:spcPts val="300"/>
              </a:spcAft>
            </a:pPr>
            <a:r>
              <a:rPr sz="1050" b="0" i="0">
                <a:solidFill>
                  <a:srgbClr val="5E6A78"/>
                </a:solidFill>
                <a:latin typeface="Aptos"/>
              </a:rPr>
              <a:t>M6 · «Composite» chứa n mô hình</a:t>
            </a:r>
          </a:p>
        </p:txBody>
      </p:sp>
      <p:sp>
        <p:nvSpPr>
          <p:cNvPr id="37" name="Rounded Rectangle 36"/>
          <p:cNvSpPr/>
          <p:nvPr/>
        </p:nvSpPr>
        <p:spPr>
          <a:xfrm>
            <a:off x="4864608" y="4754880"/>
            <a:ext cx="2011680" cy="749808"/>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864608" y="4818888"/>
            <a:ext cx="2011680" cy="292608"/>
          </a:xfrm>
          <a:prstGeom prst="rect">
            <a:avLst/>
          </a:prstGeom>
          <a:noFill/>
        </p:spPr>
        <p:txBody>
          <a:bodyPr wrap="square" lIns="36576" tIns="36576" rIns="36576" bIns="36576" anchor="t">
            <a:noAutofit/>
          </a:bodyPr>
          <a:lstStyle/>
          <a:p>
            <a:pPr algn="ctr">
              <a:spcAft>
                <a:spcPts val="300"/>
              </a:spcAft>
            </a:pPr>
            <a:r>
              <a:rPr sz="1100" b="1" i="0">
                <a:solidFill>
                  <a:srgbClr val="162C46"/>
                </a:solidFill>
                <a:latin typeface="Courier New"/>
              </a:rPr>
              <a:t>CalibratedModel</a:t>
            </a:r>
          </a:p>
        </p:txBody>
      </p:sp>
      <p:sp>
        <p:nvSpPr>
          <p:cNvPr id="39" name="TextBox 38"/>
          <p:cNvSpPr txBox="1"/>
          <p:nvPr/>
        </p:nvSpPr>
        <p:spPr>
          <a:xfrm>
            <a:off x="4864608" y="5120640"/>
            <a:ext cx="2011680" cy="329184"/>
          </a:xfrm>
          <a:prstGeom prst="rect">
            <a:avLst/>
          </a:prstGeom>
          <a:noFill/>
        </p:spPr>
        <p:txBody>
          <a:bodyPr wrap="square" lIns="36576" tIns="36576" rIns="36576" bIns="36576" anchor="t">
            <a:noAutofit/>
          </a:bodyPr>
          <a:lstStyle/>
          <a:p>
            <a:pPr algn="ctr">
              <a:spcAft>
                <a:spcPts val="300"/>
              </a:spcAft>
            </a:pPr>
            <a:r>
              <a:rPr sz="1050" b="0" i="0">
                <a:solidFill>
                  <a:srgbClr val="5E6A78"/>
                </a:solidFill>
                <a:latin typeface="Aptos"/>
              </a:rPr>
              <a:t>M7 · «Decorator» bọc 1 mô hình</a:t>
            </a:r>
          </a:p>
        </p:txBody>
      </p:sp>
      <p:cxnSp>
        <p:nvCxnSpPr>
          <p:cNvPr id="40" name="Connector 39"/>
          <p:cNvCxnSpPr/>
          <p:nvPr/>
        </p:nvCxnSpPr>
        <p:spPr>
          <a:xfrm>
            <a:off x="1609344" y="3648456"/>
            <a:ext cx="4261104" cy="0"/>
          </a:xfrm>
          <a:prstGeom prst="line">
            <a:avLst/>
          </a:prstGeom>
          <a:ln w="19050">
            <a:solidFill>
              <a:srgbClr val="2F639D"/>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609344" y="3648456"/>
            <a:ext cx="0" cy="192024"/>
          </a:xfrm>
          <a:prstGeom prst="line">
            <a:avLst/>
          </a:prstGeom>
          <a:ln w="19050">
            <a:solidFill>
              <a:srgbClr val="2F639D"/>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3739896" y="3648456"/>
            <a:ext cx="0" cy="192024"/>
          </a:xfrm>
          <a:prstGeom prst="line">
            <a:avLst/>
          </a:prstGeom>
          <a:ln w="19050">
            <a:solidFill>
              <a:srgbClr val="2F639D"/>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5870448" y="3648456"/>
            <a:ext cx="0" cy="192024"/>
          </a:xfrm>
          <a:prstGeom prst="line">
            <a:avLst/>
          </a:prstGeom>
          <a:ln w="19050">
            <a:solidFill>
              <a:srgbClr val="2F639D"/>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3739896" y="3447288"/>
            <a:ext cx="0" cy="201168"/>
          </a:xfrm>
          <a:prstGeom prst="line">
            <a:avLst/>
          </a:prstGeom>
          <a:ln w="19050">
            <a:solidFill>
              <a:srgbClr val="2F639D"/>
            </a:solidFill>
            <a:tailEnd type="triangle"/>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3840480" y="3456432"/>
            <a:ext cx="2286000" cy="201168"/>
          </a:xfrm>
          <a:prstGeom prst="rect">
            <a:avLst/>
          </a:prstGeom>
          <a:noFill/>
        </p:spPr>
        <p:txBody>
          <a:bodyPr wrap="square" lIns="36576" tIns="36576" rIns="36576" bIns="36576" anchor="t">
            <a:noAutofit/>
          </a:bodyPr>
          <a:lstStyle/>
          <a:p>
            <a:pPr algn="l">
              <a:spcAft>
                <a:spcPts val="300"/>
              </a:spcAft>
            </a:pPr>
            <a:r>
              <a:rPr sz="950" b="0" i="1">
                <a:solidFill>
                  <a:srgbClr val="2F639D"/>
                </a:solidFill>
                <a:latin typeface="Aptos"/>
              </a:rPr>
              <a:t>kế thừa (is-a) — cả 6 lớp con</a:t>
            </a:r>
          </a:p>
        </p:txBody>
      </p:sp>
      <p:sp>
        <p:nvSpPr>
          <p:cNvPr id="46" name="TextBox 45"/>
          <p:cNvSpPr txBox="1"/>
          <p:nvPr/>
        </p:nvSpPr>
        <p:spPr>
          <a:xfrm>
            <a:off x="7178040" y="1005840"/>
            <a:ext cx="4480560" cy="310896"/>
          </a:xfrm>
          <a:prstGeom prst="rect">
            <a:avLst/>
          </a:prstGeom>
          <a:noFill/>
        </p:spPr>
        <p:txBody>
          <a:bodyPr wrap="square" lIns="36576" tIns="36576" rIns="36576" bIns="36576" anchor="t">
            <a:noAutofit/>
          </a:bodyPr>
          <a:lstStyle/>
          <a:p>
            <a:pPr algn="l">
              <a:spcAft>
                <a:spcPts val="300"/>
              </a:spcAft>
            </a:pPr>
            <a:r>
              <a:rPr sz="1500" b="1" i="0">
                <a:solidFill>
                  <a:srgbClr val="2F639D"/>
                </a:solidFill>
                <a:latin typeface="Aptos"/>
              </a:rPr>
              <a:t>KHÁI NIỆM OOP → LỢI ÍCH THẬT</a:t>
            </a:r>
          </a:p>
        </p:txBody>
      </p:sp>
      <p:sp>
        <p:nvSpPr>
          <p:cNvPr id="47" name="Rounded Rectangle 46"/>
          <p:cNvSpPr/>
          <p:nvPr/>
        </p:nvSpPr>
        <p:spPr>
          <a:xfrm>
            <a:off x="7178040" y="1344168"/>
            <a:ext cx="4434840" cy="62179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7296912" y="1380744"/>
            <a:ext cx="4206240" cy="274320"/>
          </a:xfrm>
          <a:prstGeom prst="rect">
            <a:avLst/>
          </a:prstGeom>
          <a:noFill/>
        </p:spPr>
        <p:txBody>
          <a:bodyPr wrap="square" lIns="36576" tIns="36576" rIns="36576" bIns="36576" anchor="t">
            <a:noAutofit/>
          </a:bodyPr>
          <a:lstStyle/>
          <a:p>
            <a:pPr algn="l">
              <a:spcAft>
                <a:spcPts val="300"/>
              </a:spcAft>
            </a:pPr>
            <a:r>
              <a:rPr sz="1250" b="1" i="0">
                <a:solidFill>
                  <a:srgbClr val="162C46"/>
                </a:solidFill>
                <a:latin typeface="Aptos"/>
              </a:rPr>
              <a:t>Lớp trừu tượng</a:t>
            </a:r>
          </a:p>
        </p:txBody>
      </p:sp>
      <p:sp>
        <p:nvSpPr>
          <p:cNvPr id="49" name="TextBox 48"/>
          <p:cNvSpPr txBox="1"/>
          <p:nvPr/>
        </p:nvSpPr>
        <p:spPr>
          <a:xfrm>
            <a:off x="7296912" y="1645920"/>
            <a:ext cx="4206240" cy="292608"/>
          </a:xfrm>
          <a:prstGeom prst="rect">
            <a:avLst/>
          </a:prstGeom>
          <a:noFill/>
        </p:spPr>
        <p:txBody>
          <a:bodyPr wrap="square" lIns="36576" tIns="36576" rIns="36576" bIns="36576" anchor="t">
            <a:noAutofit/>
          </a:bodyPr>
          <a:lstStyle/>
          <a:p>
            <a:pPr algn="l">
              <a:spcAft>
                <a:spcPts val="300"/>
              </a:spcAft>
            </a:pPr>
            <a:r>
              <a:rPr sz="1100" b="0" i="0">
                <a:solidFill>
                  <a:srgbClr val="5E6A78"/>
                </a:solidFill>
                <a:latin typeface="Aptos"/>
              </a:rPr>
              <a:t>quên cài _fit() → lỗi ngay lúc khởi tạo, không đợi lúc chạy</a:t>
            </a:r>
          </a:p>
        </p:txBody>
      </p:sp>
      <p:sp>
        <p:nvSpPr>
          <p:cNvPr id="50" name="Rounded Rectangle 49"/>
          <p:cNvSpPr/>
          <p:nvPr/>
        </p:nvSpPr>
        <p:spPr>
          <a:xfrm>
            <a:off x="7178040" y="2057400"/>
            <a:ext cx="4434840" cy="62179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7296912" y="2093976"/>
            <a:ext cx="4206240" cy="274320"/>
          </a:xfrm>
          <a:prstGeom prst="rect">
            <a:avLst/>
          </a:prstGeom>
          <a:noFill/>
        </p:spPr>
        <p:txBody>
          <a:bodyPr wrap="square" lIns="36576" tIns="36576" rIns="36576" bIns="36576" anchor="t">
            <a:noAutofit/>
          </a:bodyPr>
          <a:lstStyle/>
          <a:p>
            <a:pPr algn="l">
              <a:spcAft>
                <a:spcPts val="300"/>
              </a:spcAft>
            </a:pPr>
            <a:r>
              <a:rPr sz="1250" b="1" i="0">
                <a:solidFill>
                  <a:srgbClr val="162C46"/>
                </a:solidFill>
                <a:latin typeface="Aptos"/>
              </a:rPr>
              <a:t>Template method</a:t>
            </a:r>
          </a:p>
        </p:txBody>
      </p:sp>
      <p:sp>
        <p:nvSpPr>
          <p:cNvPr id="52" name="TextBox 51"/>
          <p:cNvSpPr txBox="1"/>
          <p:nvPr/>
        </p:nvSpPr>
        <p:spPr>
          <a:xfrm>
            <a:off x="7296912" y="2359152"/>
            <a:ext cx="4206240" cy="292608"/>
          </a:xfrm>
          <a:prstGeom prst="rect">
            <a:avLst/>
          </a:prstGeom>
          <a:noFill/>
        </p:spPr>
        <p:txBody>
          <a:bodyPr wrap="square" lIns="36576" tIns="36576" rIns="36576" bIns="36576" anchor="t">
            <a:noAutofit/>
          </a:bodyPr>
          <a:lstStyle/>
          <a:p>
            <a:pPr algn="l">
              <a:spcAft>
                <a:spcPts val="300"/>
              </a:spcAft>
            </a:pPr>
            <a:r>
              <a:rPr sz="1100" b="0" i="0">
                <a:solidFill>
                  <a:srgbClr val="5E6A78"/>
                </a:solidFill>
                <a:latin typeface="Aptos"/>
              </a:rPr>
              <a:t>fit() tự kiểm tra đầu vào, chọn cột, kẹp xác suất [0,1]</a:t>
            </a:r>
          </a:p>
        </p:txBody>
      </p:sp>
      <p:sp>
        <p:nvSpPr>
          <p:cNvPr id="53" name="Rounded Rectangle 52"/>
          <p:cNvSpPr/>
          <p:nvPr/>
        </p:nvSpPr>
        <p:spPr>
          <a:xfrm>
            <a:off x="7178040" y="2770632"/>
            <a:ext cx="4434840" cy="62179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7296912" y="2807208"/>
            <a:ext cx="4206240" cy="274320"/>
          </a:xfrm>
          <a:prstGeom prst="rect">
            <a:avLst/>
          </a:prstGeom>
          <a:noFill/>
        </p:spPr>
        <p:txBody>
          <a:bodyPr wrap="square" lIns="36576" tIns="36576" rIns="36576" bIns="36576" anchor="t">
            <a:noAutofit/>
          </a:bodyPr>
          <a:lstStyle/>
          <a:p>
            <a:pPr algn="l">
              <a:spcAft>
                <a:spcPts val="300"/>
              </a:spcAft>
            </a:pPr>
            <a:r>
              <a:rPr sz="1250" b="1" i="0">
                <a:solidFill>
                  <a:srgbClr val="162C46"/>
                </a:solidFill>
                <a:latin typeface="Aptos"/>
              </a:rPr>
              <a:t>Kế thừa</a:t>
            </a:r>
          </a:p>
        </p:txBody>
      </p:sp>
      <p:sp>
        <p:nvSpPr>
          <p:cNvPr id="55" name="TextBox 54"/>
          <p:cNvSpPr txBox="1"/>
          <p:nvPr/>
        </p:nvSpPr>
        <p:spPr>
          <a:xfrm>
            <a:off x="7296912" y="3072384"/>
            <a:ext cx="4206240" cy="292608"/>
          </a:xfrm>
          <a:prstGeom prst="rect">
            <a:avLst/>
          </a:prstGeom>
          <a:noFill/>
        </p:spPr>
        <p:txBody>
          <a:bodyPr wrap="square" lIns="36576" tIns="36576" rIns="36576" bIns="36576" anchor="t">
            <a:noAutofit/>
          </a:bodyPr>
          <a:lstStyle/>
          <a:p>
            <a:pPr algn="l">
              <a:spcAft>
                <a:spcPts val="300"/>
              </a:spcAft>
            </a:pPr>
            <a:r>
              <a:rPr sz="1100" b="0" i="0">
                <a:solidFill>
                  <a:srgbClr val="5E6A78"/>
                </a:solidFill>
                <a:latin typeface="Aptos"/>
              </a:rPr>
              <a:t>tune(), save() viết một lần — ensemble cũng tune/lưu được</a:t>
            </a:r>
          </a:p>
        </p:txBody>
      </p:sp>
      <p:sp>
        <p:nvSpPr>
          <p:cNvPr id="56" name="Rounded Rectangle 55"/>
          <p:cNvSpPr/>
          <p:nvPr/>
        </p:nvSpPr>
        <p:spPr>
          <a:xfrm>
            <a:off x="7178040" y="3483863"/>
            <a:ext cx="4434840" cy="62179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7296912" y="3520439"/>
            <a:ext cx="4206240" cy="274320"/>
          </a:xfrm>
          <a:prstGeom prst="rect">
            <a:avLst/>
          </a:prstGeom>
          <a:noFill/>
        </p:spPr>
        <p:txBody>
          <a:bodyPr wrap="square" lIns="36576" tIns="36576" rIns="36576" bIns="36576" anchor="t">
            <a:noAutofit/>
          </a:bodyPr>
          <a:lstStyle/>
          <a:p>
            <a:pPr algn="l">
              <a:spcAft>
                <a:spcPts val="300"/>
              </a:spcAft>
            </a:pPr>
            <a:r>
              <a:rPr sz="1250" b="1" i="0">
                <a:solidFill>
                  <a:srgbClr val="162C46"/>
                </a:solidFill>
                <a:latin typeface="Aptos"/>
              </a:rPr>
              <a:t>Đa hình</a:t>
            </a:r>
          </a:p>
        </p:txBody>
      </p:sp>
      <p:sp>
        <p:nvSpPr>
          <p:cNvPr id="58" name="TextBox 57"/>
          <p:cNvSpPr txBox="1"/>
          <p:nvPr/>
        </p:nvSpPr>
        <p:spPr>
          <a:xfrm>
            <a:off x="7296912" y="3785615"/>
            <a:ext cx="4206240" cy="292608"/>
          </a:xfrm>
          <a:prstGeom prst="rect">
            <a:avLst/>
          </a:prstGeom>
          <a:noFill/>
        </p:spPr>
        <p:txBody>
          <a:bodyPr wrap="square" lIns="36576" tIns="36576" rIns="36576" bIns="36576" anchor="t">
            <a:noAutofit/>
          </a:bodyPr>
          <a:lstStyle/>
          <a:p>
            <a:pPr algn="l">
              <a:spcAft>
                <a:spcPts val="300"/>
              </a:spcAft>
            </a:pPr>
            <a:r>
              <a:rPr sz="1100" b="0" i="0">
                <a:solidFill>
                  <a:srgbClr val="5E6A78"/>
                </a:solidFill>
                <a:latin typeface="Aptos"/>
              </a:rPr>
              <a:t>thêm mô hình mới không sửa dòng nào của code đánh giá</a:t>
            </a:r>
          </a:p>
        </p:txBody>
      </p:sp>
      <p:sp>
        <p:nvSpPr>
          <p:cNvPr id="59" name="Rounded Rectangle 58"/>
          <p:cNvSpPr/>
          <p:nvPr/>
        </p:nvSpPr>
        <p:spPr>
          <a:xfrm>
            <a:off x="7178040" y="4197096"/>
            <a:ext cx="4434840" cy="62179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7296912" y="4233672"/>
            <a:ext cx="4206240" cy="274320"/>
          </a:xfrm>
          <a:prstGeom prst="rect">
            <a:avLst/>
          </a:prstGeom>
          <a:noFill/>
        </p:spPr>
        <p:txBody>
          <a:bodyPr wrap="square" lIns="36576" tIns="36576" rIns="36576" bIns="36576" anchor="t">
            <a:noAutofit/>
          </a:bodyPr>
          <a:lstStyle/>
          <a:p>
            <a:pPr algn="l">
              <a:spcAft>
                <a:spcPts val="300"/>
              </a:spcAft>
            </a:pPr>
            <a:r>
              <a:rPr sz="1250" b="1" i="0">
                <a:solidFill>
                  <a:srgbClr val="162C46"/>
                </a:solidFill>
                <a:latin typeface="Aptos"/>
              </a:rPr>
              <a:t>Ghi đè</a:t>
            </a:r>
          </a:p>
        </p:txBody>
      </p:sp>
      <p:sp>
        <p:nvSpPr>
          <p:cNvPr id="61" name="TextBox 60"/>
          <p:cNvSpPr txBox="1"/>
          <p:nvPr/>
        </p:nvSpPr>
        <p:spPr>
          <a:xfrm>
            <a:off x="7296912" y="4498848"/>
            <a:ext cx="4206240" cy="292608"/>
          </a:xfrm>
          <a:prstGeom prst="rect">
            <a:avLst/>
          </a:prstGeom>
          <a:noFill/>
        </p:spPr>
        <p:txBody>
          <a:bodyPr wrap="square" lIns="36576" tIns="36576" rIns="36576" bIns="36576" anchor="t">
            <a:noAutofit/>
          </a:bodyPr>
          <a:lstStyle/>
          <a:p>
            <a:pPr algn="l">
              <a:spcAft>
                <a:spcPts val="300"/>
              </a:spcAft>
            </a:pPr>
            <a:r>
              <a:rPr sz="1100" b="0" i="0">
                <a:solidFill>
                  <a:srgbClr val="5E6A78"/>
                </a:solidFill>
                <a:latin typeface="Aptos"/>
              </a:rPr>
              <a:t>score() = PR-AUC thay accuracy (vô nghĩa khi lớp dương ~2%)</a:t>
            </a:r>
          </a:p>
        </p:txBody>
      </p:sp>
      <p:sp>
        <p:nvSpPr>
          <p:cNvPr id="62" name="Rounded Rectangle 61"/>
          <p:cNvSpPr/>
          <p:nvPr/>
        </p:nvSpPr>
        <p:spPr>
          <a:xfrm>
            <a:off x="7178040" y="4910328"/>
            <a:ext cx="4434840" cy="62179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7296912" y="4946904"/>
            <a:ext cx="4206240" cy="274320"/>
          </a:xfrm>
          <a:prstGeom prst="rect">
            <a:avLst/>
          </a:prstGeom>
          <a:noFill/>
        </p:spPr>
        <p:txBody>
          <a:bodyPr wrap="square" lIns="36576" tIns="36576" rIns="36576" bIns="36576" anchor="t">
            <a:noAutofit/>
          </a:bodyPr>
          <a:lstStyle/>
          <a:p>
            <a:pPr algn="l">
              <a:spcAft>
                <a:spcPts val="300"/>
              </a:spcAft>
            </a:pPr>
            <a:r>
              <a:rPr sz="1250" b="1" i="0">
                <a:solidFill>
                  <a:srgbClr val="162C46"/>
                </a:solidFill>
                <a:latin typeface="Aptos"/>
              </a:rPr>
              <a:t>Decorator · Composite</a:t>
            </a:r>
          </a:p>
        </p:txBody>
      </p:sp>
      <p:sp>
        <p:nvSpPr>
          <p:cNvPr id="64" name="TextBox 63"/>
          <p:cNvSpPr txBox="1"/>
          <p:nvPr/>
        </p:nvSpPr>
        <p:spPr>
          <a:xfrm>
            <a:off x="7296912" y="5212080"/>
            <a:ext cx="4206240" cy="292608"/>
          </a:xfrm>
          <a:prstGeom prst="rect">
            <a:avLst/>
          </a:prstGeom>
          <a:noFill/>
        </p:spPr>
        <p:txBody>
          <a:bodyPr wrap="square" lIns="36576" tIns="36576" rIns="36576" bIns="36576" anchor="t">
            <a:noAutofit/>
          </a:bodyPr>
          <a:lstStyle/>
          <a:p>
            <a:pPr algn="l">
              <a:spcAft>
                <a:spcPts val="300"/>
              </a:spcAft>
            </a:pPr>
            <a:r>
              <a:rPr sz="1100" b="0" i="0">
                <a:solidFill>
                  <a:srgbClr val="5E6A78"/>
                </a:solidFill>
                <a:latin typeface="Aptos"/>
              </a:rPr>
              <a:t>hiệu chỉnh / gộp bất kỳ mô hình nào mà không sửa nó</a:t>
            </a:r>
          </a:p>
        </p:txBody>
      </p:sp>
      <p:sp>
        <p:nvSpPr>
          <p:cNvPr id="65" name="Rounded Rectangle 64"/>
          <p:cNvSpPr/>
          <p:nvPr/>
        </p:nvSpPr>
        <p:spPr>
          <a:xfrm>
            <a:off x="603504" y="5760720"/>
            <a:ext cx="11009376" cy="548640"/>
          </a:xfrm>
          <a:prstGeom prst="roundRect">
            <a:avLst>
              <a:gd name="adj" fmla="val 18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300" b="0" i="0">
                <a:solidFill>
                  <a:srgbClr val="FFFFFF"/>
                </a:solidFill>
                <a:latin typeface="Aptos"/>
              </a:rPr>
              <a:t>Mô hình chốt  </a:t>
            </a:r>
            <a:r>
              <a:rPr sz="1400" b="1" i="0">
                <a:solidFill>
                  <a:srgbClr val="FFFFFF"/>
                </a:solidFill>
                <a:latin typeface="Aptos"/>
              </a:rPr>
              <a:t>M7 = CalibratedModel(EnsembleModel(GBM tuned, Logistic tuned))</a:t>
            </a:r>
            <a:r>
              <a:rPr sz="1300" b="0" i="0">
                <a:solidFill>
                  <a:srgbClr val="FFFFFF"/>
                </a:solidFill>
                <a:latin typeface="Aptos"/>
              </a:rPr>
              <a:t>  — vòng đánh giá gọi nó y hệt M0</a:t>
            </a:r>
          </a:p>
        </p:txBody>
      </p:sp>
      <p:sp>
        <p:nvSpPr>
          <p:cNvPr id="66" name="Rounded Rectangle 65"/>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a:t>
            </a:r>
          </a:p>
        </p:txBody>
      </p:sp>
      <p:sp>
        <p:nvSpPr>
          <p:cNvPr id="67" name="Rounded Rectangle 66"/>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Data Collection</a:t>
            </a:r>
          </a:p>
        </p:txBody>
      </p:sp>
      <p:sp>
        <p:nvSpPr>
          <p:cNvPr id="68" name="Rounded Rectangle 67"/>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Cleaning</a:t>
            </a:r>
          </a:p>
        </p:txBody>
      </p:sp>
      <p:sp>
        <p:nvSpPr>
          <p:cNvPr id="69" name="Rounded Rectangle 68"/>
          <p:cNvSpPr/>
          <p:nvPr/>
        </p:nvSpPr>
        <p:spPr>
          <a:xfrm>
            <a:off x="7306056" y="6510528"/>
            <a:ext cx="42062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EDA</a:t>
            </a:r>
          </a:p>
        </p:txBody>
      </p:sp>
      <p:sp>
        <p:nvSpPr>
          <p:cNvPr id="70" name="Rounded Rectangle 69"/>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Features</a:t>
            </a:r>
          </a:p>
        </p:txBody>
      </p:sp>
      <p:sp>
        <p:nvSpPr>
          <p:cNvPr id="71" name="Rounded Rectangle 70"/>
          <p:cNvSpPr/>
          <p:nvPr/>
        </p:nvSpPr>
        <p:spPr>
          <a:xfrm>
            <a:off x="8494776" y="6510528"/>
            <a:ext cx="694944"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Modeling</a:t>
            </a:r>
          </a:p>
        </p:txBody>
      </p:sp>
      <p:sp>
        <p:nvSpPr>
          <p:cNvPr id="72" name="Rounded Rectangle 71"/>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Evaluation</a:t>
            </a:r>
          </a:p>
        </p:txBody>
      </p:sp>
      <p:sp>
        <p:nvSpPr>
          <p:cNvPr id="73" name="Rounded Rectangle 72"/>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 Value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
            <a:ext cx="10424160" cy="566928"/>
          </a:xfrm>
          <a:prstGeom prst="rect">
            <a:avLst/>
          </a:prstGeom>
          <a:noFill/>
        </p:spPr>
        <p:txBody>
          <a:bodyPr wrap="square" anchor="t" lIns="36576" rIns="36576" tIns="36576" bIns="36576">
            <a:noAutofit/>
          </a:bodyPr>
          <a:lstStyle/>
          <a:p>
            <a:pPr algn="l">
              <a:spcAft>
                <a:spcPts val="300"/>
              </a:spcAft>
            </a:pPr>
            <a:r>
              <a:rPr sz="2400" b="1" i="0">
                <a:solidFill>
                  <a:srgbClr val="162C46"/>
                </a:solidFill>
                <a:latin typeface="Aptos Display"/>
              </a:rPr>
              <a:t>MODELING — PIPELINE = TIỀN XỬ LÝ + ESTIMATOR</a:t>
            </a:r>
          </a:p>
        </p:txBody>
      </p:sp>
      <p:cxnSp>
        <p:nvCxnSpPr>
          <p:cNvPr id="3" name="Connector 2"/>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583680"/>
            <a:ext cx="4023360" cy="182880"/>
          </a:xfrm>
          <a:prstGeom prst="rect">
            <a:avLst/>
          </a:prstGeom>
          <a:noFill/>
        </p:spPr>
        <p:txBody>
          <a:bodyPr wrap="square" anchor="t" lIns="36576" rIns="36576" tIns="36576" bIns="36576">
            <a:noAutofit/>
          </a:bodyPr>
          <a:lstStyle/>
          <a:p>
            <a:pPr algn="l">
              <a:spcAft>
                <a:spcPts val="300"/>
              </a:spcAft>
            </a:pPr>
            <a:r>
              <a:rPr sz="850" b="0" i="0">
                <a:solidFill>
                  <a:srgbClr val="5E6A78"/>
                </a:solidFill>
                <a:latin typeface="Aptos"/>
              </a:rPr>
              <a:t>Cơ sở Khoa học Dữ liệu  •  SLA &amp; Customer Experience</a:t>
            </a:r>
          </a:p>
        </p:txBody>
      </p:sp>
      <p:sp>
        <p:nvSpPr>
          <p:cNvPr id="6" name="TextBox 5"/>
          <p:cNvSpPr txBox="1"/>
          <p:nvPr/>
        </p:nvSpPr>
        <p:spPr>
          <a:xfrm>
            <a:off x="11201400" y="6567055"/>
            <a:ext cx="365760" cy="166255"/>
          </a:xfrm>
          <a:prstGeom prst="rect">
            <a:avLst/>
          </a:prstGeom>
          <a:noFill/>
        </p:spPr>
        <p:txBody>
          <a:bodyPr wrap="square" anchor="t" lIns="36576" rIns="36576" tIns="36576" bIns="36576">
            <a:noAutofit/>
          </a:bodyPr>
          <a:lstStyle/>
          <a:p>
            <a:pPr algn="l">
              <a:spcAft>
                <a:spcPts val="300"/>
              </a:spcAft>
            </a:pPr>
            <a:r>
              <a:rPr sz="850" b="0" i="0">
                <a:solidFill>
                  <a:srgbClr val="5E6A78"/>
                </a:solidFill>
                <a:latin typeface="Aptos"/>
              </a:rPr>
              <a:t>20</a:t>
            </a:r>
          </a:p>
        </p:txBody>
      </p:sp>
      <p:sp>
        <p:nvSpPr>
          <p:cNvPr id="7" name="Rounded Rectangle 6"/>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Business</a:t>
            </a:r>
          </a:p>
        </p:txBody>
      </p:sp>
      <p:sp>
        <p:nvSpPr>
          <p:cNvPr id="8" name="Rounded Rectangle 7"/>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Data Collection</a:t>
            </a:r>
          </a:p>
        </p:txBody>
      </p:sp>
      <p:sp>
        <p:nvSpPr>
          <p:cNvPr id="9" name="Rounded Rectangle 8"/>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Cleaning</a:t>
            </a:r>
          </a:p>
        </p:txBody>
      </p:sp>
      <p:sp>
        <p:nvSpPr>
          <p:cNvPr id="10" name="Rounded Rectangle 9"/>
          <p:cNvSpPr/>
          <p:nvPr/>
        </p:nvSpPr>
        <p:spPr>
          <a:xfrm>
            <a:off x="7306056" y="6510528"/>
            <a:ext cx="42062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EDA</a:t>
            </a:r>
          </a:p>
        </p:txBody>
      </p:sp>
      <p:sp>
        <p:nvSpPr>
          <p:cNvPr id="11" name="Rounded Rectangle 10"/>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Features</a:t>
            </a:r>
          </a:p>
        </p:txBody>
      </p:sp>
      <p:sp>
        <p:nvSpPr>
          <p:cNvPr id="12" name="Rounded Rectangle 11"/>
          <p:cNvSpPr/>
          <p:nvPr/>
        </p:nvSpPr>
        <p:spPr>
          <a:xfrm>
            <a:off x="8494776" y="6510528"/>
            <a:ext cx="694944"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1" i="0">
                <a:solidFill>
                  <a:srgbClr val="FFFFFF"/>
                </a:solidFill>
                <a:latin typeface="Aptos"/>
              </a:rPr>
              <a:t>Modeling</a:t>
            </a:r>
          </a:p>
        </p:txBody>
      </p:sp>
      <p:sp>
        <p:nvSpPr>
          <p:cNvPr id="13" name="Rounded Rectangle 12"/>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Evaluation</a:t>
            </a:r>
          </a:p>
        </p:txBody>
      </p:sp>
      <p:sp>
        <p:nvSpPr>
          <p:cNvPr id="14" name="Rounded Rectangle 13"/>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Business Value</a:t>
            </a:r>
          </a:p>
        </p:txBody>
      </p:sp>
      <p:sp>
        <p:nvSpPr>
          <p:cNvPr id="15" name="TextBox 14"/>
          <p:cNvSpPr txBox="1"/>
          <p:nvPr/>
        </p:nvSpPr>
        <p:spPr>
          <a:xfrm>
            <a:off x="603504" y="960120"/>
            <a:ext cx="7315200" cy="310896"/>
          </a:xfrm>
          <a:prstGeom prst="rect">
            <a:avLst/>
          </a:prstGeom>
          <a:noFill/>
        </p:spPr>
        <p:txBody>
          <a:bodyPr wrap="square" anchor="t" lIns="36576" rIns="36576" tIns="36576" bIns="36576">
            <a:noAutofit/>
          </a:bodyPr>
          <a:lstStyle/>
          <a:p>
            <a:pPr algn="l">
              <a:spcAft>
                <a:spcPts val="300"/>
              </a:spcAft>
            </a:pPr>
            <a:r>
              <a:rPr sz="1500" b="1" i="0">
                <a:solidFill>
                  <a:srgbClr val="2F639D"/>
                </a:solidFill>
                <a:latin typeface="Aptos"/>
              </a:rPr>
              <a:t>1. MỘT PIPELINE = MỘT ESTIMATOR DUY NHẤT</a:t>
            </a:r>
          </a:p>
        </p:txBody>
      </p:sp>
      <p:sp>
        <p:nvSpPr>
          <p:cNvPr id="16" name="Rounded Rectangle 15"/>
          <p:cNvSpPr/>
          <p:nvPr/>
        </p:nvSpPr>
        <p:spPr>
          <a:xfrm>
            <a:off x="603504" y="1298448"/>
            <a:ext cx="1874519" cy="126187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1344168"/>
            <a:ext cx="1691639" cy="274320"/>
          </a:xfrm>
          <a:prstGeom prst="rect">
            <a:avLst/>
          </a:prstGeom>
          <a:noFill/>
        </p:spPr>
        <p:txBody>
          <a:bodyPr wrap="square" anchor="t" lIns="36576" rIns="36576" tIns="36576" bIns="36576">
            <a:noAutofit/>
          </a:bodyPr>
          <a:lstStyle/>
          <a:p>
            <a:pPr algn="l">
              <a:spcAft>
                <a:spcPts val="300"/>
              </a:spcAft>
            </a:pPr>
            <a:r>
              <a:rPr sz="1200" b="1" i="0">
                <a:solidFill>
                  <a:srgbClr val="162C46"/>
                </a:solidFill>
                <a:latin typeface="Aptos"/>
              </a:rPr>
              <a:t>X  (DataFrame)</a:t>
            </a:r>
          </a:p>
        </p:txBody>
      </p:sp>
      <p:sp>
        <p:nvSpPr>
          <p:cNvPr id="18" name="TextBox 17"/>
          <p:cNvSpPr txBox="1"/>
          <p:nvPr/>
        </p:nvSpPr>
        <p:spPr>
          <a:xfrm>
            <a:off x="694944" y="1645920"/>
            <a:ext cx="1691639" cy="868680"/>
          </a:xfrm>
          <a:prstGeom prst="rect">
            <a:avLst/>
          </a:prstGeom>
          <a:noFill/>
        </p:spPr>
        <p:txBody>
          <a:bodyPr wrap="square" anchor="t" lIns="36576" rIns="36576" tIns="36576" bIns="36576">
            <a:noAutofit/>
          </a:bodyPr>
          <a:lstStyle/>
          <a:p>
            <a:pPr algn="l">
              <a:spcAft>
                <a:spcPts val="100"/>
              </a:spcAft>
            </a:pPr>
            <a:r>
              <a:rPr sz="1050" b="0" i="0">
                <a:solidFill>
                  <a:srgbClr val="242B33"/>
                </a:solidFill>
                <a:latin typeface="Aptos"/>
              </a:rPr>
              <a:t>17 feature ex-ante</a:t>
            </a:r>
          </a:p>
          <a:p>
            <a:pPr algn="l">
              <a:spcAft>
                <a:spcPts val="100"/>
              </a:spcAft>
            </a:pPr>
            <a:r>
              <a:rPr sz="1050" b="0" i="0">
                <a:solidFill>
                  <a:srgbClr val="242B33"/>
                </a:solidFill>
                <a:latin typeface="Aptos"/>
              </a:rPr>
              <a:t>+ cột meta: year, weight</a:t>
            </a:r>
          </a:p>
        </p:txBody>
      </p:sp>
      <p:cxnSp>
        <p:nvCxnSpPr>
          <p:cNvPr id="19" name="Connector 18"/>
          <p:cNvCxnSpPr/>
          <p:nvPr/>
        </p:nvCxnSpPr>
        <p:spPr>
          <a:xfrm>
            <a:off x="2514600" y="1929384"/>
            <a:ext cx="237744" cy="0"/>
          </a:xfrm>
          <a:prstGeom prst="line">
            <a:avLst/>
          </a:prstGeom>
          <a:ln w="22225">
            <a:solidFill>
              <a:srgbClr val="2F639D"/>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88920" y="1298448"/>
            <a:ext cx="3794760" cy="1261872"/>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80360" y="1344168"/>
            <a:ext cx="3611880" cy="274320"/>
          </a:xfrm>
          <a:prstGeom prst="rect">
            <a:avLst/>
          </a:prstGeom>
          <a:noFill/>
        </p:spPr>
        <p:txBody>
          <a:bodyPr wrap="square" anchor="t" lIns="36576" rIns="36576" tIns="36576" bIns="36576">
            <a:noAutofit/>
          </a:bodyPr>
          <a:lstStyle/>
          <a:p>
            <a:pPr algn="l">
              <a:spcAft>
                <a:spcPts val="300"/>
              </a:spcAft>
            </a:pPr>
            <a:r>
              <a:rPr sz="1200" b="1" i="0">
                <a:solidFill>
                  <a:srgbClr val="162C46"/>
                </a:solidFill>
                <a:latin typeface="Aptos"/>
              </a:rPr>
              <a:t>prep · ColumnTransformer</a:t>
            </a:r>
          </a:p>
        </p:txBody>
      </p:sp>
      <p:sp>
        <p:nvSpPr>
          <p:cNvPr id="22" name="TextBox 21"/>
          <p:cNvSpPr txBox="1"/>
          <p:nvPr/>
        </p:nvSpPr>
        <p:spPr>
          <a:xfrm>
            <a:off x="2880360" y="1645920"/>
            <a:ext cx="3611880" cy="868680"/>
          </a:xfrm>
          <a:prstGeom prst="rect">
            <a:avLst/>
          </a:prstGeom>
          <a:noFill/>
        </p:spPr>
        <p:txBody>
          <a:bodyPr wrap="square" anchor="t" lIns="36576" rIns="36576" tIns="36576" bIns="36576">
            <a:noAutofit/>
          </a:bodyPr>
          <a:lstStyle/>
          <a:p>
            <a:pPr algn="l">
              <a:spcAft>
                <a:spcPts val="100"/>
              </a:spcAft>
            </a:pPr>
            <a:r>
              <a:rPr sz="1000" b="0" i="0">
                <a:solidFill>
                  <a:srgbClr val="242B33"/>
                </a:solidFill>
                <a:latin typeface="Courier New"/>
              </a:rPr>
              <a:t>num → SimpleImputer(median,</a:t>
            </a:r>
          </a:p>
          <a:p>
            <a:pPr algn="l">
              <a:spcAft>
                <a:spcPts val="100"/>
              </a:spcAft>
            </a:pPr>
            <a:r>
              <a:rPr sz="1000" b="0" i="0">
                <a:solidFill>
                  <a:srgbClr val="242B33"/>
                </a:solidFill>
                <a:latin typeface="Courier New"/>
              </a:rPr>
              <a:t>         add_indicator) → StandardScaler</a:t>
            </a:r>
          </a:p>
          <a:p>
            <a:pPr algn="l">
              <a:spcAft>
                <a:spcPts val="100"/>
              </a:spcAft>
            </a:pPr>
            <a:r>
              <a:rPr sz="1000" b="0" i="0">
                <a:solidFill>
                  <a:srgbClr val="242B33"/>
                </a:solidFill>
                <a:latin typeface="Courier New"/>
              </a:rPr>
              <a:t>cat → OneHotEncoder(handle_unknown="ignore")</a:t>
            </a:r>
          </a:p>
        </p:txBody>
      </p:sp>
      <p:cxnSp>
        <p:nvCxnSpPr>
          <p:cNvPr id="23" name="Connector 22"/>
          <p:cNvCxnSpPr/>
          <p:nvPr/>
        </p:nvCxnSpPr>
        <p:spPr>
          <a:xfrm>
            <a:off x="6620256" y="1929384"/>
            <a:ext cx="246888" cy="0"/>
          </a:xfrm>
          <a:prstGeom prst="line">
            <a:avLst/>
          </a:prstGeom>
          <a:ln w="22225">
            <a:solidFill>
              <a:srgbClr val="2F639D"/>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903720" y="1298448"/>
            <a:ext cx="3017520" cy="1261872"/>
          </a:xfrm>
          <a:prstGeom prst="round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95159" y="1344168"/>
            <a:ext cx="2834639" cy="274320"/>
          </a:xfrm>
          <a:prstGeom prst="rect">
            <a:avLst/>
          </a:prstGeom>
          <a:noFill/>
        </p:spPr>
        <p:txBody>
          <a:bodyPr wrap="square" anchor="t" lIns="36576" rIns="36576" tIns="36576" bIns="36576">
            <a:noAutofit/>
          </a:bodyPr>
          <a:lstStyle/>
          <a:p>
            <a:pPr algn="l">
              <a:spcAft>
                <a:spcPts val="300"/>
              </a:spcAft>
            </a:pPr>
            <a:r>
              <a:rPr sz="1200" b="1" i="0">
                <a:solidFill>
                  <a:srgbClr val="162C46"/>
                </a:solidFill>
                <a:latin typeface="Aptos"/>
              </a:rPr>
              <a:t>model · estimator</a:t>
            </a:r>
          </a:p>
        </p:txBody>
      </p:sp>
      <p:sp>
        <p:nvSpPr>
          <p:cNvPr id="26" name="TextBox 25"/>
          <p:cNvSpPr txBox="1"/>
          <p:nvPr/>
        </p:nvSpPr>
        <p:spPr>
          <a:xfrm>
            <a:off x="6995159" y="1645920"/>
            <a:ext cx="2834639" cy="868680"/>
          </a:xfrm>
          <a:prstGeom prst="rect">
            <a:avLst/>
          </a:prstGeom>
          <a:noFill/>
        </p:spPr>
        <p:txBody>
          <a:bodyPr wrap="square" anchor="t" lIns="36576" rIns="36576" tIns="36576" bIns="36576">
            <a:noAutofit/>
          </a:bodyPr>
          <a:lstStyle/>
          <a:p>
            <a:pPr algn="l">
              <a:spcAft>
                <a:spcPts val="100"/>
              </a:spcAft>
            </a:pPr>
            <a:r>
              <a:rPr sz="1050" b="0" i="0">
                <a:solidFill>
                  <a:srgbClr val="242B33"/>
                </a:solidFill>
                <a:latin typeface="Courier New"/>
              </a:rPr>
              <a:t>LogisticRegression</a:t>
            </a:r>
          </a:p>
          <a:p>
            <a:pPr algn="l">
              <a:spcAft>
                <a:spcPts val="100"/>
              </a:spcAft>
            </a:pPr>
            <a:r>
              <a:rPr sz="1050" b="0" i="0">
                <a:solidFill>
                  <a:srgbClr val="242B33"/>
                </a:solidFill>
                <a:latin typeface="Courier New"/>
              </a:rPr>
              <a:t>RandomForestClassifier</a:t>
            </a:r>
          </a:p>
          <a:p>
            <a:pPr algn="l">
              <a:spcAft>
                <a:spcPts val="100"/>
              </a:spcAft>
            </a:pPr>
            <a:r>
              <a:rPr sz="1050" b="0" i="0">
                <a:solidFill>
                  <a:srgbClr val="242B33"/>
                </a:solidFill>
                <a:latin typeface="Courier New"/>
              </a:rPr>
              <a:t>HistGradientBoostingClassifier</a:t>
            </a:r>
          </a:p>
        </p:txBody>
      </p:sp>
      <p:cxnSp>
        <p:nvCxnSpPr>
          <p:cNvPr id="27" name="Connector 26"/>
          <p:cNvCxnSpPr/>
          <p:nvPr/>
        </p:nvCxnSpPr>
        <p:spPr>
          <a:xfrm>
            <a:off x="9957815" y="1929384"/>
            <a:ext cx="246889" cy="0"/>
          </a:xfrm>
          <a:prstGeom prst="line">
            <a:avLst/>
          </a:prstGeom>
          <a:ln w="22225">
            <a:solidFill>
              <a:srgbClr val="2F639D"/>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10241280" y="1298448"/>
            <a:ext cx="1371600" cy="126187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19" y="1344168"/>
            <a:ext cx="1188720" cy="274320"/>
          </a:xfrm>
          <a:prstGeom prst="rect">
            <a:avLst/>
          </a:prstGeom>
          <a:noFill/>
        </p:spPr>
        <p:txBody>
          <a:bodyPr wrap="square" anchor="t" lIns="36576" rIns="36576" tIns="36576" bIns="36576">
            <a:noAutofit/>
          </a:bodyPr>
          <a:lstStyle/>
          <a:p>
            <a:pPr algn="l">
              <a:spcAft>
                <a:spcPts val="300"/>
              </a:spcAft>
            </a:pPr>
            <a:r>
              <a:rPr sz="1200" b="1" i="0">
                <a:solidFill>
                  <a:srgbClr val="162C46"/>
                </a:solidFill>
                <a:latin typeface="Aptos"/>
              </a:rPr>
              <a:t>predict_proba</a:t>
            </a:r>
          </a:p>
        </p:txBody>
      </p:sp>
      <p:sp>
        <p:nvSpPr>
          <p:cNvPr id="30" name="TextBox 29"/>
          <p:cNvSpPr txBox="1"/>
          <p:nvPr/>
        </p:nvSpPr>
        <p:spPr>
          <a:xfrm>
            <a:off x="10332719" y="1645920"/>
            <a:ext cx="1188720" cy="868680"/>
          </a:xfrm>
          <a:prstGeom prst="rect">
            <a:avLst/>
          </a:prstGeom>
          <a:noFill/>
        </p:spPr>
        <p:txBody>
          <a:bodyPr wrap="square" anchor="t" lIns="36576" rIns="36576" tIns="36576" bIns="36576">
            <a:noAutofit/>
          </a:bodyPr>
          <a:lstStyle/>
          <a:p>
            <a:pPr algn="l">
              <a:spcAft>
                <a:spcPts val="100"/>
              </a:spcAft>
            </a:pPr>
            <a:r>
              <a:rPr sz="1050" b="0" i="0">
                <a:solidFill>
                  <a:srgbClr val="242B33"/>
                </a:solidFill>
                <a:latin typeface="Aptos"/>
              </a:rPr>
              <a:t>P(Low Rating)</a:t>
            </a:r>
          </a:p>
        </p:txBody>
      </p:sp>
      <p:sp>
        <p:nvSpPr>
          <p:cNvPr id="31" name="TextBox 30"/>
          <p:cNvSpPr txBox="1"/>
          <p:nvPr/>
        </p:nvSpPr>
        <p:spPr>
          <a:xfrm>
            <a:off x="603504" y="2615184"/>
            <a:ext cx="11009376" cy="274320"/>
          </a:xfrm>
          <a:prstGeom prst="rect">
            <a:avLst/>
          </a:prstGeom>
          <a:noFill/>
        </p:spPr>
        <p:txBody>
          <a:bodyPr wrap="square" anchor="t" lIns="36576" rIns="36576" tIns="36576" bIns="36576">
            <a:noAutofit/>
          </a:bodyPr>
          <a:lstStyle/>
          <a:p>
            <a:pPr algn="l">
              <a:spcAft>
                <a:spcPts val="300"/>
              </a:spcAft>
            </a:pPr>
            <a:r>
              <a:rPr sz="1100" b="1" i="0">
                <a:solidFill>
                  <a:srgbClr val="162C46"/>
                </a:solidFill>
                <a:latin typeface="Courier New"/>
              </a:rPr>
              <a:t>fit()</a:t>
            </a:r>
            <a:r>
              <a:rPr sz="1100" b="0" i="0">
                <a:solidFill>
                  <a:srgbClr val="5E6A78"/>
                </a:solidFill>
                <a:latin typeface="Aptos"/>
              </a:rPr>
              <a:t>  = fit_transform từng bước prep → fit bước model  ·  </a:t>
            </a:r>
            <a:r>
              <a:rPr sz="1100" b="1" i="0">
                <a:solidFill>
                  <a:srgbClr val="162C46"/>
                </a:solidFill>
                <a:latin typeface="Courier New"/>
              </a:rPr>
              <a:t>predict_proba()</a:t>
            </a:r>
            <a:r>
              <a:rPr sz="1100" b="0" i="0">
                <a:solidFill>
                  <a:srgbClr val="5E6A78"/>
                </a:solidFill>
                <a:latin typeface="Aptos"/>
              </a:rPr>
              <a:t>  = transform (dùng tham số đã học) → predict_proba</a:t>
            </a:r>
          </a:p>
        </p:txBody>
      </p:sp>
      <p:sp>
        <p:nvSpPr>
          <p:cNvPr id="32" name="TextBox 31"/>
          <p:cNvSpPr txBox="1"/>
          <p:nvPr/>
        </p:nvSpPr>
        <p:spPr>
          <a:xfrm>
            <a:off x="603504" y="3017520"/>
            <a:ext cx="5943600" cy="310896"/>
          </a:xfrm>
          <a:prstGeom prst="rect">
            <a:avLst/>
          </a:prstGeom>
          <a:noFill/>
        </p:spPr>
        <p:txBody>
          <a:bodyPr wrap="square" anchor="t" lIns="36576" rIns="36576" tIns="36576" bIns="36576">
            <a:noAutofit/>
          </a:bodyPr>
          <a:lstStyle/>
          <a:p>
            <a:pPr algn="l">
              <a:spcAft>
                <a:spcPts val="300"/>
              </a:spcAft>
            </a:pPr>
            <a:r>
              <a:rPr sz="1500" b="1" i="0">
                <a:solidFill>
                  <a:srgbClr val="2F639D"/>
                </a:solidFill>
                <a:latin typeface="Aptos"/>
              </a:rPr>
              <a:t>2. ESTIMATOR CỦA TỪNG MÔ HÌNH</a:t>
            </a:r>
          </a:p>
        </p:txBody>
      </p:sp>
      <p:graphicFrame>
        <p:nvGraphicFramePr>
          <p:cNvPr id="33" name="Table 32"/>
          <p:cNvGraphicFramePr>
            <a:graphicFrameLocks noGrp="1"/>
          </p:cNvGraphicFramePr>
          <p:nvPr/>
        </p:nvGraphicFramePr>
        <p:xfrm>
          <a:off x="603504" y="3355848"/>
          <a:ext cx="6172200" cy="2048256"/>
        </p:xfrm>
        <a:graphic>
          <a:graphicData uri="http://schemas.openxmlformats.org/drawingml/2006/table">
            <a:tbl>
              <a:tblPr firstRow="1">
                <a:tableStyleId>{5C22544A-7EE6-4342-B048-85BDC9FD1C3A}</a:tableStyleId>
              </a:tblPr>
              <a:tblGrid>
                <a:gridCol w="1463040"/>
                <a:gridCol w="2606040"/>
                <a:gridCol w="2103120"/>
              </a:tblGrid>
              <a:tr h="292608">
                <a:tc>
                  <a:txBody>
                    <a:bodyPr wrap="square"/>
                    <a:lstStyle/>
                    <a:p>
                      <a:pPr algn="l"/>
                      <a:r>
                        <a:rPr sz="1050" b="1" i="0">
                          <a:solidFill>
                            <a:srgbClr val="FFFFFF"/>
                          </a:solidFill>
                          <a:latin typeface="Aptos"/>
                        </a:rPr>
                        <a:t>Mô hình</a:t>
                      </a:r>
                    </a:p>
                  </a:txBody>
                  <a:tcPr marL="54864" marR="54864" marT="27432" marB="27432" anchor="ctr">
                    <a:solidFill>
                      <a:srgbClr val="162C46"/>
                    </a:solidFill>
                  </a:tcPr>
                </a:tc>
                <a:tc>
                  <a:txBody>
                    <a:bodyPr wrap="square"/>
                    <a:lstStyle/>
                    <a:p>
                      <a:pPr algn="l"/>
                      <a:r>
                        <a:rPr sz="1050" b="1" i="0">
                          <a:solidFill>
                            <a:srgbClr val="FFFFFF"/>
                          </a:solidFill>
                          <a:latin typeface="Aptos"/>
                        </a:rPr>
                        <a:t>Estimator (bước model)</a:t>
                      </a:r>
                    </a:p>
                  </a:txBody>
                  <a:tcPr marL="54864" marR="54864" marT="27432" marB="27432" anchor="ctr">
                    <a:solidFill>
                      <a:srgbClr val="162C46"/>
                    </a:solidFill>
                  </a:tcPr>
                </a:tc>
                <a:tc>
                  <a:txBody>
                    <a:bodyPr wrap="square"/>
                    <a:lstStyle/>
                    <a:p>
                      <a:pPr algn="l"/>
                      <a:r>
                        <a:rPr sz="1050" b="1" i="0">
                          <a:solidFill>
                            <a:srgbClr val="FFFFFF"/>
                          </a:solidFill>
                          <a:latin typeface="Aptos"/>
                        </a:rPr>
                        <a:t>Tiền xử lý</a:t>
                      </a:r>
                    </a:p>
                  </a:txBody>
                  <a:tcPr marL="54864" marR="54864" marT="27432" marB="27432" anchor="ctr">
                    <a:solidFill>
                      <a:srgbClr val="162C46"/>
                    </a:solidFill>
                  </a:tcPr>
                </a:tc>
              </a:tr>
              <a:tr h="292608">
                <a:tc>
                  <a:txBody>
                    <a:bodyPr wrap="square"/>
                    <a:lstStyle/>
                    <a:p>
                      <a:pPr algn="l"/>
                      <a:r>
                        <a:rPr sz="1050" b="1" i="0">
                          <a:solidFill>
                            <a:srgbClr val="242B33"/>
                          </a:solidFill>
                          <a:latin typeface="Aptos"/>
                        </a:rPr>
                        <a:t>M0 · tỉ lệ chung</a:t>
                      </a:r>
                    </a:p>
                  </a:txBody>
                  <a:tcPr marL="54864" marR="54864" marT="27432" marB="27432" anchor="ctr">
                    <a:solidFill>
                      <a:srgbClr val="FFFFFF"/>
                    </a:solidFill>
                  </a:tcPr>
                </a:tc>
                <a:tc>
                  <a:txBody>
                    <a:bodyPr wrap="square"/>
                    <a:lstStyle/>
                    <a:p>
                      <a:pPr algn="l"/>
                      <a:r>
                        <a:rPr sz="1000" b="0" i="0">
                          <a:solidFill>
                            <a:srgbClr val="242B33"/>
                          </a:solidFill>
                          <a:latin typeface="Courier New"/>
                        </a:rPr>
                        <a:t>PriorBaseline</a:t>
                      </a:r>
                    </a:p>
                  </a:txBody>
                  <a:tcPr marL="54864" marR="54864" marT="27432" marB="27432" anchor="ctr">
                    <a:solidFill>
                      <a:srgbClr val="FFFFFF"/>
                    </a:solidFill>
                  </a:tcPr>
                </a:tc>
                <a:tc>
                  <a:txBody>
                    <a:bodyPr wrap="square"/>
                    <a:lstStyle/>
                    <a:p>
                      <a:pPr algn="l"/>
                      <a:r>
                        <a:rPr sz="1050" b="0" i="0">
                          <a:solidFill>
                            <a:srgbClr val="242B33"/>
                          </a:solidFill>
                          <a:latin typeface="Aptos"/>
                        </a:rPr>
                        <a:t>— (đoán hằng số)</a:t>
                      </a:r>
                    </a:p>
                  </a:txBody>
                  <a:tcPr marL="54864" marR="54864" marT="27432" marB="27432" anchor="ctr">
                    <a:solidFill>
                      <a:srgbClr val="FFFFFF"/>
                    </a:solidFill>
                  </a:tcPr>
                </a:tc>
              </a:tr>
              <a:tr h="292608">
                <a:tc>
                  <a:txBody>
                    <a:bodyPr wrap="square"/>
                    <a:lstStyle/>
                    <a:p>
                      <a:pPr algn="l"/>
                      <a:r>
                        <a:rPr sz="1050" b="1" i="0">
                          <a:solidFill>
                            <a:srgbClr val="242B33"/>
                          </a:solidFill>
                          <a:latin typeface="Aptos"/>
                        </a:rPr>
                        <a:t>M1a · M1b · M2</a:t>
                      </a:r>
                    </a:p>
                  </a:txBody>
                  <a:tcPr marL="54864" marR="54864" marT="27432" marB="27432" anchor="ctr">
                    <a:solidFill>
                      <a:srgbClr val="F6F9FC"/>
                    </a:solidFill>
                  </a:tcPr>
                </a:tc>
                <a:tc>
                  <a:txBody>
                    <a:bodyPr wrap="square"/>
                    <a:lstStyle/>
                    <a:p>
                      <a:pPr algn="l"/>
                      <a:r>
                        <a:rPr sz="1000" b="0" i="0">
                          <a:solidFill>
                            <a:srgbClr val="242B33"/>
                          </a:solidFill>
                          <a:latin typeface="Courier New"/>
                        </a:rPr>
                        <a:t>LogisticRegression</a:t>
                      </a:r>
                    </a:p>
                  </a:txBody>
                  <a:tcPr marL="54864" marR="54864" marT="27432" marB="27432" anchor="ctr">
                    <a:solidFill>
                      <a:srgbClr val="F6F9FC"/>
                    </a:solidFill>
                  </a:tcPr>
                </a:tc>
                <a:tc>
                  <a:txBody>
                    <a:bodyPr wrap="square"/>
                    <a:lstStyle/>
                    <a:p>
                      <a:pPr algn="l"/>
                      <a:r>
                        <a:rPr sz="1050" b="0" i="0">
                          <a:solidFill>
                            <a:srgbClr val="242B33"/>
                          </a:solidFill>
                          <a:latin typeface="Aptos"/>
                        </a:rPr>
                        <a:t>điền thiếu · chuẩn hoá · one-hot</a:t>
                      </a:r>
                    </a:p>
                  </a:txBody>
                  <a:tcPr marL="54864" marR="54864" marT="27432" marB="27432" anchor="ctr">
                    <a:solidFill>
                      <a:srgbClr val="F6F9FC"/>
                    </a:solidFill>
                  </a:tcPr>
                </a:tc>
              </a:tr>
              <a:tr h="292608">
                <a:tc>
                  <a:txBody>
                    <a:bodyPr wrap="square"/>
                    <a:lstStyle/>
                    <a:p>
                      <a:pPr algn="l"/>
                      <a:r>
                        <a:rPr sz="1050" b="1" i="0">
                          <a:solidFill>
                            <a:srgbClr val="242B33"/>
                          </a:solidFill>
                          <a:latin typeface="Aptos"/>
                        </a:rPr>
                        <a:t>M3 · random forest</a:t>
                      </a:r>
                    </a:p>
                  </a:txBody>
                  <a:tcPr marL="54864" marR="54864" marT="27432" marB="27432" anchor="ctr">
                    <a:solidFill>
                      <a:srgbClr val="FFFFFF"/>
                    </a:solidFill>
                  </a:tcPr>
                </a:tc>
                <a:tc>
                  <a:txBody>
                    <a:bodyPr wrap="square"/>
                    <a:lstStyle/>
                    <a:p>
                      <a:pPr algn="l"/>
                      <a:r>
                        <a:rPr sz="1000" b="0" i="0">
                          <a:solidFill>
                            <a:srgbClr val="242B33"/>
                          </a:solidFill>
                          <a:latin typeface="Courier New"/>
                        </a:rPr>
                        <a:t>RandomForestClassifier</a:t>
                      </a:r>
                    </a:p>
                  </a:txBody>
                  <a:tcPr marL="54864" marR="54864" marT="27432" marB="27432" anchor="ctr">
                    <a:solidFill>
                      <a:srgbClr val="FFFFFF"/>
                    </a:solidFill>
                  </a:tcPr>
                </a:tc>
                <a:tc>
                  <a:txBody>
                    <a:bodyPr wrap="square"/>
                    <a:lstStyle/>
                    <a:p>
                      <a:pPr algn="l"/>
                      <a:r>
                        <a:rPr sz="1050" b="0" i="0">
                          <a:solidFill>
                            <a:srgbClr val="242B33"/>
                          </a:solidFill>
                          <a:latin typeface="Aptos"/>
                        </a:rPr>
                        <a:t>điền thiếu</a:t>
                      </a:r>
                    </a:p>
                  </a:txBody>
                  <a:tcPr marL="54864" marR="54864" marT="27432" marB="27432" anchor="ctr">
                    <a:solidFill>
                      <a:srgbClr val="FFFFFF"/>
                    </a:solidFill>
                  </a:tcPr>
                </a:tc>
              </a:tr>
              <a:tr h="292608">
                <a:tc>
                  <a:txBody>
                    <a:bodyPr wrap="square"/>
                    <a:lstStyle/>
                    <a:p>
                      <a:pPr algn="l"/>
                      <a:r>
                        <a:rPr sz="1050" b="1" i="0">
                          <a:solidFill>
                            <a:srgbClr val="242B33"/>
                          </a:solidFill>
                          <a:latin typeface="Aptos"/>
                        </a:rPr>
                        <a:t>M4 · M5 · GBM</a:t>
                      </a:r>
                    </a:p>
                  </a:txBody>
                  <a:tcPr marL="54864" marR="54864" marT="27432" marB="27432" anchor="ctr">
                    <a:solidFill>
                      <a:srgbClr val="F6F9FC"/>
                    </a:solidFill>
                  </a:tcPr>
                </a:tc>
                <a:tc>
                  <a:txBody>
                    <a:bodyPr wrap="square"/>
                    <a:lstStyle/>
                    <a:p>
                      <a:pPr algn="l"/>
                      <a:r>
                        <a:rPr sz="950" b="0" i="0">
                          <a:solidFill>
                            <a:srgbClr val="242B33"/>
                          </a:solidFill>
                          <a:latin typeface="Courier New"/>
                        </a:rPr>
                        <a:t>HistGradientBoostingClassifier</a:t>
                      </a:r>
                    </a:p>
                  </a:txBody>
                  <a:tcPr marL="54864" marR="54864" marT="27432" marB="27432" anchor="ctr">
                    <a:solidFill>
                      <a:srgbClr val="F6F9FC"/>
                    </a:solidFill>
                  </a:tcPr>
                </a:tc>
                <a:tc>
                  <a:txBody>
                    <a:bodyPr wrap="square"/>
                    <a:lstStyle/>
                    <a:p>
                      <a:pPr algn="l"/>
                      <a:r>
                        <a:rPr sz="1050" b="0" i="0">
                          <a:solidFill>
                            <a:srgbClr val="242B33"/>
                          </a:solidFill>
                          <a:latin typeface="Aptos"/>
                        </a:rPr>
                        <a:t>không — tự xử lý NaN</a:t>
                      </a:r>
                    </a:p>
                  </a:txBody>
                  <a:tcPr marL="54864" marR="54864" marT="27432" marB="27432" anchor="ctr">
                    <a:solidFill>
                      <a:srgbClr val="F6F9FC"/>
                    </a:solidFill>
                  </a:tcPr>
                </a:tc>
              </a:tr>
              <a:tr h="292608">
                <a:tc>
                  <a:txBody>
                    <a:bodyPr wrap="square"/>
                    <a:lstStyle/>
                    <a:p>
                      <a:pPr algn="l"/>
                      <a:r>
                        <a:rPr sz="1050" b="1" i="0">
                          <a:solidFill>
                            <a:srgbClr val="242B33"/>
                          </a:solidFill>
                          <a:latin typeface="Aptos"/>
                        </a:rPr>
                        <a:t>M6 · ensemble</a:t>
                      </a:r>
                    </a:p>
                  </a:txBody>
                  <a:tcPr marL="54864" marR="54864" marT="27432" marB="27432" anchor="ctr">
                    <a:solidFill>
                      <a:srgbClr val="FFFFFF"/>
                    </a:solidFill>
                  </a:tcPr>
                </a:tc>
                <a:tc>
                  <a:txBody>
                    <a:bodyPr wrap="square"/>
                    <a:lstStyle/>
                    <a:p>
                      <a:pPr algn="l"/>
                      <a:r>
                        <a:rPr sz="1000" b="0" i="0">
                          <a:solidFill>
                            <a:srgbClr val="242B33"/>
                          </a:solidFill>
                          <a:latin typeface="Courier New"/>
                        </a:rPr>
                        <a:t>EnsembleModel</a:t>
                      </a:r>
                    </a:p>
                  </a:txBody>
                  <a:tcPr marL="54864" marR="54864" marT="27432" marB="27432" anchor="ctr">
                    <a:solidFill>
                      <a:srgbClr val="FFFFFF"/>
                    </a:solidFill>
                  </a:tcPr>
                </a:tc>
                <a:tc>
                  <a:txBody>
                    <a:bodyPr wrap="square"/>
                    <a:lstStyle/>
                    <a:p>
                      <a:pPr algn="l"/>
                      <a:r>
                        <a:rPr sz="1050" b="0" i="0">
                          <a:solidFill>
                            <a:srgbClr val="242B33"/>
                          </a:solidFill>
                          <a:latin typeface="Aptos"/>
                        </a:rPr>
                        <a:t>TB xác suất M2 &amp; M5</a:t>
                      </a:r>
                    </a:p>
                  </a:txBody>
                  <a:tcPr marL="54864" marR="54864" marT="27432" marB="27432" anchor="ctr">
                    <a:solidFill>
                      <a:srgbClr val="FFFFFF"/>
                    </a:solidFill>
                  </a:tcPr>
                </a:tc>
              </a:tr>
              <a:tr h="292608">
                <a:tc>
                  <a:txBody>
                    <a:bodyPr wrap="square"/>
                    <a:lstStyle/>
                    <a:p>
                      <a:pPr algn="l"/>
                      <a:r>
                        <a:rPr sz="1050" b="1" i="0">
                          <a:solidFill>
                            <a:srgbClr val="242B33"/>
                          </a:solidFill>
                          <a:latin typeface="Aptos"/>
                        </a:rPr>
                        <a:t>M7 · CHỐT</a:t>
                      </a:r>
                    </a:p>
                  </a:txBody>
                  <a:tcPr marL="54864" marR="54864" marT="27432" marB="27432" anchor="ctr">
                    <a:solidFill>
                      <a:srgbClr val="E3ECF6"/>
                    </a:solidFill>
                  </a:tcPr>
                </a:tc>
                <a:tc>
                  <a:txBody>
                    <a:bodyPr wrap="square"/>
                    <a:lstStyle/>
                    <a:p>
                      <a:pPr algn="l"/>
                      <a:r>
                        <a:rPr sz="1000" b="1" i="0">
                          <a:solidFill>
                            <a:srgbClr val="242B33"/>
                          </a:solidFill>
                          <a:latin typeface="Courier New"/>
                        </a:rPr>
                        <a:t>CalibratedModel(M6)</a:t>
                      </a:r>
                    </a:p>
                  </a:txBody>
                  <a:tcPr marL="54864" marR="54864" marT="27432" marB="27432" anchor="ctr">
                    <a:solidFill>
                      <a:srgbClr val="E3ECF6"/>
                    </a:solidFill>
                  </a:tcPr>
                </a:tc>
                <a:tc>
                  <a:txBody>
                    <a:bodyPr wrap="square"/>
                    <a:lstStyle/>
                    <a:p>
                      <a:pPr algn="l"/>
                      <a:r>
                        <a:rPr sz="1050" b="1" i="0">
                          <a:solidFill>
                            <a:srgbClr val="242B33"/>
                          </a:solidFill>
                          <a:latin typeface="Aptos"/>
                        </a:rPr>
                        <a:t>Platt: logistic trên logit, năm 2023</a:t>
                      </a:r>
                    </a:p>
                  </a:txBody>
                  <a:tcPr marL="54864" marR="54864" marT="27432" marB="27432" anchor="ctr">
                    <a:solidFill>
                      <a:srgbClr val="E3ECF6"/>
                    </a:solidFill>
                  </a:tcPr>
                </a:tc>
              </a:tr>
            </a:tbl>
          </a:graphicData>
        </a:graphic>
      </p:graphicFrame>
      <p:sp>
        <p:nvSpPr>
          <p:cNvPr id="34" name="TextBox 33"/>
          <p:cNvSpPr txBox="1"/>
          <p:nvPr/>
        </p:nvSpPr>
        <p:spPr>
          <a:xfrm>
            <a:off x="6995160" y="3017520"/>
            <a:ext cx="4663440" cy="310896"/>
          </a:xfrm>
          <a:prstGeom prst="rect">
            <a:avLst/>
          </a:prstGeom>
          <a:noFill/>
        </p:spPr>
        <p:txBody>
          <a:bodyPr wrap="square" anchor="t" lIns="36576" rIns="36576" tIns="36576" bIns="36576">
            <a:noAutofit/>
          </a:bodyPr>
          <a:lstStyle/>
          <a:p>
            <a:pPr algn="l">
              <a:spcAft>
                <a:spcPts val="300"/>
              </a:spcAft>
            </a:pPr>
            <a:r>
              <a:rPr sz="1500" b="1" i="0">
                <a:solidFill>
                  <a:srgbClr val="2F639D"/>
                </a:solidFill>
                <a:latin typeface="Aptos"/>
              </a:rPr>
              <a:t>3. ĐIỀU KHIỂN SIÊU THAM SỐ BẰNG  bước__tham_số</a:t>
            </a:r>
          </a:p>
        </p:txBody>
      </p:sp>
      <p:sp>
        <p:nvSpPr>
          <p:cNvPr id="35" name="Rounded Rectangle 34"/>
          <p:cNvSpPr/>
          <p:nvPr/>
        </p:nvSpPr>
        <p:spPr>
          <a:xfrm>
            <a:off x="6995160" y="3355848"/>
            <a:ext cx="4617720" cy="2048256"/>
          </a:xfrm>
          <a:prstGeom prst="roundRect">
            <a:avLst>
              <a:gd name="adj" fmla="val 4000"/>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04888" y="3429000"/>
            <a:ext cx="4398264" cy="1901952"/>
          </a:xfrm>
          <a:prstGeom prst="rect">
            <a:avLst/>
          </a:prstGeom>
          <a:noFill/>
        </p:spPr>
        <p:txBody>
          <a:bodyPr wrap="square" anchor="t" lIns="36576" rIns="36576" tIns="36576" bIns="36576">
            <a:noAutofit/>
          </a:bodyPr>
          <a:lstStyle/>
          <a:p>
            <a:pPr algn="l">
              <a:spcAft>
                <a:spcPts val="0"/>
              </a:spcAft>
            </a:pPr>
            <a:r>
              <a:rPr sz="1000" b="1" i="0">
                <a:solidFill>
                  <a:srgbClr val="162C46"/>
                </a:solidFill>
                <a:latin typeface="Courier New"/>
              </a:rPr>
              <a:t>prep__num__impute__strategy</a:t>
            </a:r>
            <a:r>
              <a:rPr sz="1000" b="0" i="0">
                <a:solidFill>
                  <a:srgbClr val="242B33"/>
                </a:solidFill>
                <a:latin typeface="Courier New"/>
              </a:rPr>
              <a:t> = "median"</a:t>
            </a:r>
          </a:p>
          <a:p>
            <a:pPr algn="l">
              <a:spcAft>
                <a:spcPts val="0"/>
              </a:spcAft>
            </a:pPr>
            <a:r>
              <a:rPr sz="1000" b="1" i="0">
                <a:solidFill>
                  <a:srgbClr val="162C46"/>
                </a:solidFill>
                <a:latin typeface="Courier New"/>
              </a:rPr>
              <a:t>prep__cat__handle_unknown</a:t>
            </a:r>
            <a:r>
              <a:rPr sz="1000" b="0" i="0">
                <a:solidFill>
                  <a:srgbClr val="242B33"/>
                </a:solidFill>
                <a:latin typeface="Courier New"/>
              </a:rPr>
              <a:t>   = "ignore"</a:t>
            </a:r>
          </a:p>
          <a:p>
            <a:pPr algn="l">
              <a:spcAft>
                <a:spcPts val="0"/>
              </a:spcAft>
            </a:pPr>
            <a:r>
              <a:rPr sz="1000" b="1" i="0">
                <a:solidFill>
                  <a:srgbClr val="162C46"/>
                </a:solidFill>
                <a:latin typeface="Courier New"/>
              </a:rPr>
              <a:t>model__C</a:t>
            </a:r>
            <a:r>
              <a:rPr sz="1000" b="0" i="0">
                <a:solidFill>
                  <a:srgbClr val="242B33"/>
                </a:solidFill>
                <a:latin typeface="Courier New"/>
              </a:rPr>
              <a:t>                    = 1e-4</a:t>
            </a:r>
          </a:p>
          <a:p>
            <a:pPr algn="l">
              <a:spcAft>
                <a:spcPts val="0"/>
              </a:spcAft>
            </a:pPr>
            <a:r>
              <a:rPr sz="1000" b="1" i="0">
                <a:solidFill>
                  <a:srgbClr val="162C46"/>
                </a:solidFill>
                <a:latin typeface="Courier New"/>
              </a:rPr>
              <a:t>model__class_weight</a:t>
            </a:r>
            <a:r>
              <a:rPr sz="1000" b="0" i="0">
                <a:solidFill>
                  <a:srgbClr val="242B33"/>
                </a:solidFill>
                <a:latin typeface="Courier New"/>
              </a:rPr>
              <a:t>         = {1: 21.5}</a:t>
            </a:r>
          </a:p>
          <a:p>
            <a:pPr algn="l">
              <a:spcAft>
                <a:spcPts val="0"/>
              </a:spcAft>
            </a:pPr>
            <a:r>
              <a:rPr sz="1000" b="1" i="0">
                <a:solidFill>
                  <a:srgbClr val="162C46"/>
                </a:solidFill>
                <a:latin typeface="Courier New"/>
              </a:rPr>
              <a:t>model </a:t>
            </a:r>
            <a:r>
              <a:rPr sz="1000" b="0" i="0">
                <a:solidFill>
                  <a:srgbClr val="242B33"/>
                </a:solidFill>
                <a:latin typeface="Courier New"/>
              </a:rPr>
              <a:t>= HistGradientBoostingClassifier()</a:t>
            </a:r>
          </a:p>
          <a:p>
            <a:pPr algn="l">
              <a:spcAft>
                <a:spcPts val="0"/>
              </a:spcAft>
            </a:pPr>
            <a:r>
              <a:rPr sz="1000" b="0" i="0">
                <a:solidFill>
                  <a:srgbClr val="242B33"/>
                </a:solidFill>
                <a:latin typeface="Courier New"/>
              </a:rPr>
              <a:t/>
            </a:r>
          </a:p>
          <a:p>
            <a:pPr algn="l">
              <a:spcAft>
                <a:spcPts val="0"/>
              </a:spcAft>
            </a:pPr>
            <a:r>
              <a:rPr sz="1000" b="0" i="0">
                <a:solidFill>
                  <a:srgbClr val="242B33"/>
                </a:solidFill>
                <a:latin typeface="Courier New"/>
              </a:rPr>
              <a:t>pipe.fit(X, y, </a:t>
            </a:r>
            <a:r>
              <a:rPr sz="1000" b="1" i="0">
                <a:solidFill>
                  <a:srgbClr val="162C46"/>
                </a:solidFill>
                <a:latin typeface="Courier New"/>
              </a:rPr>
              <a:t>model__sample_weight</a:t>
            </a:r>
            <a:r>
              <a:rPr sz="1000" b="0" i="0">
                <a:solidFill>
                  <a:srgbClr val="242B33"/>
                </a:solidFill>
                <a:latin typeface="Courier New"/>
              </a:rPr>
              <a:t>=w)</a:t>
            </a:r>
          </a:p>
          <a:p>
            <a:pPr algn="l">
              <a:spcAft>
                <a:spcPts val="0"/>
              </a:spcAft>
            </a:pPr>
            <a:r>
              <a:rPr sz="1000" b="0" i="0">
                <a:solidFill>
                  <a:srgbClr val="242B33"/>
                </a:solidFill>
                <a:latin typeface="Courier New"/>
              </a:rPr>
              <a:t>GridSearchCV(pipe, param_grid, ...)</a:t>
            </a:r>
            <a:r>
              <a:rPr sz="1000" b="0" i="1">
                <a:solidFill>
                  <a:srgbClr val="5E6A78"/>
                </a:solidFill>
                <a:latin typeface="Courier New"/>
              </a:rPr>
              <a:t>  # slide sau</a:t>
            </a:r>
          </a:p>
          <a:p>
            <a:pPr algn="l">
              <a:spcAft>
                <a:spcPts val="0"/>
              </a:spcAft>
            </a:pPr>
            <a:r>
              <a:rPr sz="1000" b="0" i="1">
                <a:solidFill>
                  <a:srgbClr val="5E6A78"/>
                </a:solidFill>
                <a:latin typeface="Courier New"/>
              </a:rPr>
              <a:t># prep → num → impute → strategy</a:t>
            </a:r>
          </a:p>
        </p:txBody>
      </p:sp>
      <p:sp>
        <p:nvSpPr>
          <p:cNvPr id="37" name="Rounded Rectangle 36"/>
          <p:cNvSpPr/>
          <p:nvPr/>
        </p:nvSpPr>
        <p:spPr>
          <a:xfrm>
            <a:off x="603504" y="5577840"/>
            <a:ext cx="11009376" cy="731520"/>
          </a:xfrm>
          <a:prstGeom prst="roundRect">
            <a:avLst>
              <a:gd name="adj" fmla="val 18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350" b="1" i="0">
                <a:solidFill>
                  <a:srgbClr val="FFFFFF"/>
                </a:solidFill>
                <a:latin typeface="Aptos"/>
              </a:rPr>
              <a:t>Pipeline được clone và fit lại trong TỪNG fold</a:t>
            </a:r>
            <a:r>
              <a:rPr sz="1300" b="0" i="0">
                <a:solidFill>
                  <a:srgbClr val="FFFFFF"/>
                </a:solidFill>
                <a:latin typeface="Aptos"/>
              </a:rPr>
              <a:t> → trung vị, trung bình, độ lệch chuẩn chỉ học từ phần train của fold; dữ liệu kiểm định không rò vào tiền xử lý.</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
            <a:ext cx="10424160" cy="566928"/>
          </a:xfrm>
          <a:prstGeom prst="rect">
            <a:avLst/>
          </a:prstGeom>
          <a:noFill/>
        </p:spPr>
        <p:txBody>
          <a:bodyPr wrap="square" anchor="t" lIns="36576" rIns="36576" tIns="36576" bIns="36576">
            <a:noAutofit/>
          </a:bodyPr>
          <a:lstStyle/>
          <a:p>
            <a:pPr algn="l">
              <a:spcAft>
                <a:spcPts val="300"/>
              </a:spcAft>
            </a:pPr>
            <a:r>
              <a:rPr sz="2400" b="1" i="0">
                <a:solidFill>
                  <a:srgbClr val="162C46"/>
                </a:solidFill>
                <a:latin typeface="Aptos Display"/>
              </a:rPr>
              <a:t>MODELING — GRIDSEARCHCV: ĐIỀU KHIỂN PIPELINE BẰNG bước__tham_số</a:t>
            </a:r>
          </a:p>
        </p:txBody>
      </p:sp>
      <p:cxnSp>
        <p:nvCxnSpPr>
          <p:cNvPr id="3" name="Connector 2"/>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583680"/>
            <a:ext cx="4023360" cy="182880"/>
          </a:xfrm>
          <a:prstGeom prst="rect">
            <a:avLst/>
          </a:prstGeom>
          <a:noFill/>
        </p:spPr>
        <p:txBody>
          <a:bodyPr wrap="square" anchor="t" lIns="36576" rIns="36576" tIns="36576" bIns="36576">
            <a:noAutofit/>
          </a:bodyPr>
          <a:lstStyle/>
          <a:p>
            <a:pPr algn="l">
              <a:spcAft>
                <a:spcPts val="300"/>
              </a:spcAft>
            </a:pPr>
            <a:r>
              <a:rPr sz="850" b="0" i="0">
                <a:solidFill>
                  <a:srgbClr val="5E6A78"/>
                </a:solidFill>
                <a:latin typeface="Aptos"/>
              </a:rPr>
              <a:t>Cơ sở Khoa học Dữ liệu  •  SLA &amp; Customer Experience</a:t>
            </a:r>
          </a:p>
        </p:txBody>
      </p:sp>
      <p:sp>
        <p:nvSpPr>
          <p:cNvPr id="6" name="TextBox 5"/>
          <p:cNvSpPr txBox="1"/>
          <p:nvPr/>
        </p:nvSpPr>
        <p:spPr>
          <a:xfrm>
            <a:off x="11201400" y="6567055"/>
            <a:ext cx="365760" cy="166255"/>
          </a:xfrm>
          <a:prstGeom prst="rect">
            <a:avLst/>
          </a:prstGeom>
          <a:noFill/>
        </p:spPr>
        <p:txBody>
          <a:bodyPr wrap="square" anchor="t" lIns="36576" rIns="36576" tIns="36576" bIns="36576">
            <a:noAutofit/>
          </a:bodyPr>
          <a:lstStyle/>
          <a:p>
            <a:pPr algn="l">
              <a:spcAft>
                <a:spcPts val="300"/>
              </a:spcAft>
            </a:pPr>
            <a:r>
              <a:rPr sz="850" b="0" i="0">
                <a:solidFill>
                  <a:srgbClr val="5E6A78"/>
                </a:solidFill>
                <a:latin typeface="Aptos"/>
              </a:rPr>
              <a:t>21</a:t>
            </a:r>
          </a:p>
        </p:txBody>
      </p:sp>
      <p:sp>
        <p:nvSpPr>
          <p:cNvPr id="7" name="Rounded Rectangle 6"/>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Business</a:t>
            </a:r>
          </a:p>
        </p:txBody>
      </p:sp>
      <p:sp>
        <p:nvSpPr>
          <p:cNvPr id="8" name="Rounded Rectangle 7"/>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Data Collection</a:t>
            </a:r>
          </a:p>
        </p:txBody>
      </p:sp>
      <p:sp>
        <p:nvSpPr>
          <p:cNvPr id="9" name="Rounded Rectangle 8"/>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Cleaning</a:t>
            </a:r>
          </a:p>
        </p:txBody>
      </p:sp>
      <p:sp>
        <p:nvSpPr>
          <p:cNvPr id="10" name="Rounded Rectangle 9"/>
          <p:cNvSpPr/>
          <p:nvPr/>
        </p:nvSpPr>
        <p:spPr>
          <a:xfrm>
            <a:off x="7306056" y="6510528"/>
            <a:ext cx="42062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EDA</a:t>
            </a:r>
          </a:p>
        </p:txBody>
      </p:sp>
      <p:sp>
        <p:nvSpPr>
          <p:cNvPr id="11" name="Rounded Rectangle 10"/>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Features</a:t>
            </a:r>
          </a:p>
        </p:txBody>
      </p:sp>
      <p:sp>
        <p:nvSpPr>
          <p:cNvPr id="12" name="Rounded Rectangle 11"/>
          <p:cNvSpPr/>
          <p:nvPr/>
        </p:nvSpPr>
        <p:spPr>
          <a:xfrm>
            <a:off x="8494776" y="6510528"/>
            <a:ext cx="694944"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1" i="0">
                <a:solidFill>
                  <a:srgbClr val="FFFFFF"/>
                </a:solidFill>
                <a:latin typeface="Aptos"/>
              </a:rPr>
              <a:t>Modeling</a:t>
            </a:r>
          </a:p>
        </p:txBody>
      </p:sp>
      <p:sp>
        <p:nvSpPr>
          <p:cNvPr id="13" name="Rounded Rectangle 12"/>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Evaluation</a:t>
            </a:r>
          </a:p>
        </p:txBody>
      </p:sp>
      <p:sp>
        <p:nvSpPr>
          <p:cNvPr id="14" name="Rounded Rectangle 13"/>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Business Value</a:t>
            </a:r>
          </a:p>
        </p:txBody>
      </p:sp>
      <p:sp>
        <p:nvSpPr>
          <p:cNvPr id="15" name="TextBox 14"/>
          <p:cNvSpPr txBox="1"/>
          <p:nvPr/>
        </p:nvSpPr>
        <p:spPr>
          <a:xfrm>
            <a:off x="603504" y="960120"/>
            <a:ext cx="6035040" cy="310896"/>
          </a:xfrm>
          <a:prstGeom prst="rect">
            <a:avLst/>
          </a:prstGeom>
          <a:noFill/>
        </p:spPr>
        <p:txBody>
          <a:bodyPr wrap="square" anchor="t" lIns="36576" rIns="36576" tIns="36576" bIns="36576">
            <a:noAutofit/>
          </a:bodyPr>
          <a:lstStyle/>
          <a:p>
            <a:pPr algn="l">
              <a:spcAft>
                <a:spcPts val="300"/>
              </a:spcAft>
            </a:pPr>
            <a:r>
              <a:rPr sz="1400" b="1" i="0">
                <a:solidFill>
                  <a:srgbClr val="2F639D"/>
                </a:solidFill>
                <a:latin typeface="Aptos"/>
              </a:rPr>
              <a:t>1. LƯỚI = DANH SÁCH DICT · MỖI DICT MỘT ESTIMATOR</a:t>
            </a:r>
          </a:p>
        </p:txBody>
      </p:sp>
      <p:sp>
        <p:nvSpPr>
          <p:cNvPr id="16" name="Rounded Rectangle 15"/>
          <p:cNvSpPr/>
          <p:nvPr/>
        </p:nvSpPr>
        <p:spPr>
          <a:xfrm>
            <a:off x="603504" y="1280160"/>
            <a:ext cx="6126480" cy="4160520"/>
          </a:xfrm>
          <a:prstGeom prst="roundRect">
            <a:avLst>
              <a:gd name="adj" fmla="val 4000"/>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1353312"/>
            <a:ext cx="5907024" cy="4014215"/>
          </a:xfrm>
          <a:prstGeom prst="rect">
            <a:avLst/>
          </a:prstGeom>
          <a:noFill/>
        </p:spPr>
        <p:txBody>
          <a:bodyPr wrap="square" anchor="t" lIns="36576" rIns="36576" tIns="36576" bIns="36576">
            <a:noAutofit/>
          </a:bodyPr>
          <a:lstStyle/>
          <a:p>
            <a:pPr algn="l">
              <a:spcAft>
                <a:spcPts val="0"/>
              </a:spcAft>
            </a:pPr>
            <a:r>
              <a:rPr sz="1050" b="1" i="0">
                <a:solidFill>
                  <a:srgbClr val="162C46"/>
                </a:solidFill>
                <a:latin typeface="Courier New"/>
              </a:rPr>
              <a:t>pipe</a:t>
            </a:r>
            <a:r>
              <a:rPr sz="1050" b="0" i="0">
                <a:solidFill>
                  <a:srgbClr val="242B33"/>
                </a:solidFill>
                <a:latin typeface="Courier New"/>
              </a:rPr>
              <a:t> = Pipeline([("prep", preprocessor),</a:t>
            </a:r>
          </a:p>
          <a:p>
            <a:pPr algn="l">
              <a:spcAft>
                <a:spcPts val="0"/>
              </a:spcAft>
            </a:pPr>
            <a:r>
              <a:rPr sz="1050" b="0" i="0">
                <a:solidFill>
                  <a:srgbClr val="242B33"/>
                </a:solidFill>
                <a:latin typeface="Courier New"/>
              </a:rPr>
              <a:t>                 ("model", LogisticRegression())])</a:t>
            </a:r>
          </a:p>
          <a:p>
            <a:pPr algn="l">
              <a:spcAft>
                <a:spcPts val="0"/>
              </a:spcAft>
            </a:pPr>
            <a:r>
              <a:rPr sz="1050" b="1" i="0">
                <a:solidFill>
                  <a:srgbClr val="162C46"/>
                </a:solidFill>
                <a:latin typeface="Courier New"/>
              </a:rPr>
              <a:t>param_grid</a:t>
            </a:r>
            <a:r>
              <a:rPr sz="1050" b="0" i="0">
                <a:solidFill>
                  <a:srgbClr val="242B33"/>
                </a:solidFill>
                <a:latin typeface="Courier New"/>
              </a:rPr>
              <a:t> = [</a:t>
            </a:r>
          </a:p>
          <a:p>
            <a:pPr algn="l">
              <a:spcAft>
                <a:spcPts val="0"/>
              </a:spcAft>
            </a:pPr>
            <a:r>
              <a:rPr sz="1050" b="0" i="0">
                <a:solidFill>
                  <a:srgbClr val="242B33"/>
                </a:solidFill>
                <a:latin typeface="Courier New"/>
              </a:rPr>
              <a:t> {"model": [LogisticRegression(max_iter=2000)],</a:t>
            </a:r>
          </a:p>
          <a:p>
            <a:pPr algn="l">
              <a:spcAft>
                <a:spcPts val="0"/>
              </a:spcAft>
            </a:pPr>
            <a:r>
              <a:rPr sz="1050" b="0" i="0">
                <a:solidFill>
                  <a:srgbClr val="242B33"/>
                </a:solidFill>
                <a:latin typeface="Courier New"/>
              </a:rPr>
              <a:t>  "</a:t>
            </a:r>
            <a:r>
              <a:rPr sz="1050" b="1" i="0">
                <a:solidFill>
                  <a:srgbClr val="162C46"/>
                </a:solidFill>
                <a:latin typeface="Courier New"/>
              </a:rPr>
              <a:t>model__C</a:t>
            </a:r>
            <a:r>
              <a:rPr sz="1050" b="0" i="0">
                <a:solidFill>
                  <a:srgbClr val="242B33"/>
                </a:solidFill>
                <a:latin typeface="Courier New"/>
              </a:rPr>
              <a:t>": [1e-6, 1e-5, …, 1],</a:t>
            </a:r>
            <a:r>
              <a:rPr sz="1050" b="0" i="1">
                <a:solidFill>
                  <a:srgbClr val="5E6A78"/>
                </a:solidFill>
                <a:latin typeface="Courier New"/>
              </a:rPr>
              <a:t>      # 7 giá trị</a:t>
            </a:r>
          </a:p>
          <a:p>
            <a:pPr algn="l">
              <a:spcAft>
                <a:spcPts val="0"/>
              </a:spcAft>
            </a:pPr>
            <a:r>
              <a:rPr sz="1050" b="0" i="0">
                <a:solidFill>
                  <a:srgbClr val="242B33"/>
                </a:solidFill>
                <a:latin typeface="Courier New"/>
              </a:rPr>
              <a:t>  "</a:t>
            </a:r>
            <a:r>
              <a:rPr sz="1050" b="1" i="0">
                <a:solidFill>
                  <a:srgbClr val="162C46"/>
                </a:solidFill>
                <a:latin typeface="Courier New"/>
              </a:rPr>
              <a:t>model__class_weight</a:t>
            </a:r>
            <a:r>
              <a:rPr sz="1050" b="0" i="0">
                <a:solidFill>
                  <a:srgbClr val="242B33"/>
                </a:solidFill>
                <a:latin typeface="Courier New"/>
              </a:rPr>
              <a:t>": [None, "balanced", {1: 21.5}],</a:t>
            </a:r>
          </a:p>
          <a:p>
            <a:pPr algn="l">
              <a:spcAft>
                <a:spcPts val="0"/>
              </a:spcAft>
            </a:pPr>
            <a:r>
              <a:rPr sz="1050" b="0" i="0">
                <a:solidFill>
                  <a:srgbClr val="242B33"/>
                </a:solidFill>
                <a:latin typeface="Courier New"/>
              </a:rPr>
              <a:t>  "</a:t>
            </a:r>
            <a:r>
              <a:rPr sz="1050" b="1" i="0">
                <a:solidFill>
                  <a:srgbClr val="162C46"/>
                </a:solidFill>
                <a:latin typeface="Courier New"/>
              </a:rPr>
              <a:t>prep__num__impute__strategy</a:t>
            </a:r>
            <a:r>
              <a:rPr sz="1050" b="0" i="0">
                <a:solidFill>
                  <a:srgbClr val="242B33"/>
                </a:solidFill>
                <a:latin typeface="Courier New"/>
              </a:rPr>
              <a:t>": ["median", "mean"]},</a:t>
            </a:r>
          </a:p>
          <a:p>
            <a:pPr algn="l">
              <a:spcAft>
                <a:spcPts val="0"/>
              </a:spcAft>
            </a:pPr>
            <a:r>
              <a:rPr sz="1050" b="0" i="0">
                <a:solidFill>
                  <a:srgbClr val="242B33"/>
                </a:solidFill>
                <a:latin typeface="Courier New"/>
              </a:rPr>
              <a:t> {"model": [RandomForestClassifier(n_estimators=200)],</a:t>
            </a:r>
          </a:p>
          <a:p>
            <a:pPr algn="l">
              <a:spcAft>
                <a:spcPts val="0"/>
              </a:spcAft>
            </a:pPr>
            <a:r>
              <a:rPr sz="1050" b="0" i="0">
                <a:solidFill>
                  <a:srgbClr val="242B33"/>
                </a:solidFill>
                <a:latin typeface="Courier New"/>
              </a:rPr>
              <a:t>  "</a:t>
            </a:r>
            <a:r>
              <a:rPr sz="1050" b="1" i="0">
                <a:solidFill>
                  <a:srgbClr val="162C46"/>
                </a:solidFill>
                <a:latin typeface="Courier New"/>
              </a:rPr>
              <a:t>model__min_samples_leaf</a:t>
            </a:r>
            <a:r>
              <a:rPr sz="1050" b="0" i="0">
                <a:solidFill>
                  <a:srgbClr val="242B33"/>
                </a:solidFill>
                <a:latin typeface="Courier New"/>
              </a:rPr>
              <a:t>": [50, 200, 800, 2000],</a:t>
            </a:r>
          </a:p>
          <a:p>
            <a:pPr algn="l">
              <a:spcAft>
                <a:spcPts val="0"/>
              </a:spcAft>
            </a:pPr>
            <a:r>
              <a:rPr sz="1050" b="0" i="0">
                <a:solidFill>
                  <a:srgbClr val="242B33"/>
                </a:solidFill>
                <a:latin typeface="Courier New"/>
              </a:rPr>
              <a:t>  "</a:t>
            </a:r>
            <a:r>
              <a:rPr sz="1050" b="1" i="0">
                <a:solidFill>
                  <a:srgbClr val="162C46"/>
                </a:solidFill>
                <a:latin typeface="Courier New"/>
              </a:rPr>
              <a:t>model__max_features</a:t>
            </a:r>
            <a:r>
              <a:rPr sz="1050" b="0" i="0">
                <a:solidFill>
                  <a:srgbClr val="242B33"/>
                </a:solidFill>
                <a:latin typeface="Courier New"/>
              </a:rPr>
              <a:t>": ["sqrt", 0.5],</a:t>
            </a:r>
          </a:p>
          <a:p>
            <a:pPr algn="l">
              <a:spcAft>
                <a:spcPts val="0"/>
              </a:spcAft>
            </a:pPr>
            <a:r>
              <a:rPr sz="1050" b="0" i="0">
                <a:solidFill>
                  <a:srgbClr val="242B33"/>
                </a:solidFill>
                <a:latin typeface="Courier New"/>
              </a:rPr>
              <a:t>  "</a:t>
            </a:r>
            <a:r>
              <a:rPr sz="1050" b="1" i="0">
                <a:solidFill>
                  <a:srgbClr val="162C46"/>
                </a:solidFill>
                <a:latin typeface="Courier New"/>
              </a:rPr>
              <a:t>model__class_weight</a:t>
            </a:r>
            <a:r>
              <a:rPr sz="1050" b="0" i="0">
                <a:solidFill>
                  <a:srgbClr val="242B33"/>
                </a:solidFill>
                <a:latin typeface="Courier New"/>
              </a:rPr>
              <a:t>": [None, "balanced_subsample", {1: 21.5}]},</a:t>
            </a:r>
          </a:p>
          <a:p>
            <a:pPr algn="l">
              <a:spcAft>
                <a:spcPts val="0"/>
              </a:spcAft>
            </a:pPr>
            <a:r>
              <a:rPr sz="1050" b="0" i="0">
                <a:solidFill>
                  <a:srgbClr val="242B33"/>
                </a:solidFill>
                <a:latin typeface="Courier New"/>
              </a:rPr>
              <a:t> {"model": [HistGradientBoostingClassifier(max_iter=2000)],</a:t>
            </a:r>
          </a:p>
          <a:p>
            <a:pPr algn="l">
              <a:spcAft>
                <a:spcPts val="0"/>
              </a:spcAft>
            </a:pPr>
            <a:r>
              <a:rPr sz="1050" b="0" i="0">
                <a:solidFill>
                  <a:srgbClr val="242B33"/>
                </a:solidFill>
                <a:latin typeface="Courier New"/>
              </a:rPr>
              <a:t>  "</a:t>
            </a:r>
            <a:r>
              <a:rPr sz="1050" b="1" i="0">
                <a:solidFill>
                  <a:srgbClr val="162C46"/>
                </a:solidFill>
                <a:latin typeface="Courier New"/>
              </a:rPr>
              <a:t>model__learning_rate</a:t>
            </a:r>
            <a:r>
              <a:rPr sz="1050" b="0" i="0">
                <a:solidFill>
                  <a:srgbClr val="242B33"/>
                </a:solidFill>
                <a:latin typeface="Courier New"/>
              </a:rPr>
              <a:t>": [0.03, 0.1],</a:t>
            </a:r>
          </a:p>
          <a:p>
            <a:pPr algn="l">
              <a:spcAft>
                <a:spcPts val="0"/>
              </a:spcAft>
            </a:pPr>
            <a:r>
              <a:rPr sz="1050" b="0" i="0">
                <a:solidFill>
                  <a:srgbClr val="242B33"/>
                </a:solidFill>
                <a:latin typeface="Courier New"/>
              </a:rPr>
              <a:t>  "</a:t>
            </a:r>
            <a:r>
              <a:rPr sz="1050" b="1" i="0">
                <a:solidFill>
                  <a:srgbClr val="162C46"/>
                </a:solidFill>
                <a:latin typeface="Courier New"/>
              </a:rPr>
              <a:t>model__max_leaf_nodes</a:t>
            </a:r>
            <a:r>
              <a:rPr sz="1050" b="0" i="0">
                <a:solidFill>
                  <a:srgbClr val="242B33"/>
                </a:solidFill>
                <a:latin typeface="Courier New"/>
              </a:rPr>
              <a:t>": [4, 8, 31],</a:t>
            </a:r>
          </a:p>
          <a:p>
            <a:pPr algn="l">
              <a:spcAft>
                <a:spcPts val="0"/>
              </a:spcAft>
            </a:pPr>
            <a:r>
              <a:rPr sz="1050" b="0" i="0">
                <a:solidFill>
                  <a:srgbClr val="242B33"/>
                </a:solidFill>
                <a:latin typeface="Courier New"/>
              </a:rPr>
              <a:t>  "</a:t>
            </a:r>
            <a:r>
              <a:rPr sz="1050" b="1" i="0">
                <a:solidFill>
                  <a:srgbClr val="162C46"/>
                </a:solidFill>
                <a:latin typeface="Courier New"/>
              </a:rPr>
              <a:t>model__min_samples_leaf</a:t>
            </a:r>
            <a:r>
              <a:rPr sz="1050" b="0" i="0">
                <a:solidFill>
                  <a:srgbClr val="242B33"/>
                </a:solidFill>
                <a:latin typeface="Courier New"/>
              </a:rPr>
              <a:t>": [20, 100, 400],</a:t>
            </a:r>
          </a:p>
          <a:p>
            <a:pPr algn="l">
              <a:spcAft>
                <a:spcPts val="0"/>
              </a:spcAft>
            </a:pPr>
            <a:r>
              <a:rPr sz="1050" b="0" i="0">
                <a:solidFill>
                  <a:srgbClr val="242B33"/>
                </a:solidFill>
                <a:latin typeface="Courier New"/>
              </a:rPr>
              <a:t>  "</a:t>
            </a:r>
            <a:r>
              <a:rPr sz="1050" b="1" i="0">
                <a:solidFill>
                  <a:srgbClr val="162C46"/>
                </a:solidFill>
                <a:latin typeface="Courier New"/>
              </a:rPr>
              <a:t>model__class_weight</a:t>
            </a:r>
            <a:r>
              <a:rPr sz="1050" b="0" i="0">
                <a:solidFill>
                  <a:srgbClr val="242B33"/>
                </a:solidFill>
                <a:latin typeface="Courier New"/>
              </a:rPr>
              <a:t>": [None, "balanced", {1: 21.5}]}]</a:t>
            </a:r>
          </a:p>
          <a:p>
            <a:pPr algn="l">
              <a:spcAft>
                <a:spcPts val="0"/>
              </a:spcAft>
            </a:pPr>
            <a:r>
              <a:rPr sz="1050" b="1" i="0">
                <a:solidFill>
                  <a:srgbClr val="162C46"/>
                </a:solidFill>
                <a:latin typeface="Courier New"/>
              </a:rPr>
              <a:t>gs</a:t>
            </a:r>
            <a:r>
              <a:rPr sz="1050" b="0" i="0">
                <a:solidFill>
                  <a:srgbClr val="242B33"/>
                </a:solidFill>
                <a:latin typeface="Courier New"/>
              </a:rPr>
              <a:t> = GridSearchCV(pipe, param_grid, refit=True,</a:t>
            </a:r>
          </a:p>
          <a:p>
            <a:pPr algn="l">
              <a:spcAft>
                <a:spcPts val="0"/>
              </a:spcAft>
            </a:pPr>
            <a:r>
              <a:rPr sz="1050" b="0" i="0">
                <a:solidFill>
                  <a:srgbClr val="242B33"/>
                </a:solidFill>
                <a:latin typeface="Courier New"/>
              </a:rPr>
              <a:t>                  cv=YearForwardSplit((2022, 2023)),</a:t>
            </a:r>
          </a:p>
          <a:p>
            <a:pPr algn="l">
              <a:spcAft>
                <a:spcPts val="0"/>
              </a:spcAft>
            </a:pPr>
            <a:r>
              <a:rPr sz="1050" b="0" i="0">
                <a:solidFill>
                  <a:srgbClr val="242B33"/>
                </a:solidFill>
                <a:latin typeface="Courier New"/>
              </a:rPr>
              <a:t>                  scoring=weighted_pr_auc)</a:t>
            </a:r>
            <a:r>
              <a:rPr sz="1050" b="0" i="1">
                <a:solidFill>
                  <a:srgbClr val="5E6A78"/>
                </a:solidFill>
                <a:latin typeface="Courier New"/>
              </a:rPr>
              <a:t>  # PR-AUC × w</a:t>
            </a:r>
          </a:p>
          <a:p>
            <a:pPr algn="l">
              <a:spcAft>
                <a:spcPts val="0"/>
              </a:spcAft>
            </a:pPr>
            <a:r>
              <a:rPr sz="1050" b="0" i="0">
                <a:solidFill>
                  <a:srgbClr val="242B33"/>
                </a:solidFill>
                <a:latin typeface="Courier New"/>
              </a:rPr>
              <a:t>gs.fit(train, y, </a:t>
            </a:r>
            <a:r>
              <a:rPr sz="1050" b="1" i="0">
                <a:solidFill>
                  <a:srgbClr val="162C46"/>
                </a:solidFill>
                <a:latin typeface="Courier New"/>
              </a:rPr>
              <a:t>model__sample_weight</a:t>
            </a:r>
            <a:r>
              <a:rPr sz="1050" b="0" i="0">
                <a:solidFill>
                  <a:srgbClr val="242B33"/>
                </a:solidFill>
                <a:latin typeface="Courier New"/>
              </a:rPr>
              <a:t>=w)</a:t>
            </a:r>
          </a:p>
        </p:txBody>
      </p:sp>
      <p:sp>
        <p:nvSpPr>
          <p:cNvPr id="18" name="TextBox 17"/>
          <p:cNvSpPr txBox="1"/>
          <p:nvPr/>
        </p:nvSpPr>
        <p:spPr>
          <a:xfrm>
            <a:off x="6949440" y="960120"/>
            <a:ext cx="4663440" cy="310896"/>
          </a:xfrm>
          <a:prstGeom prst="rect">
            <a:avLst/>
          </a:prstGeom>
          <a:noFill/>
        </p:spPr>
        <p:txBody>
          <a:bodyPr wrap="square" anchor="t" lIns="36576" rIns="36576" tIns="36576" bIns="36576">
            <a:noAutofit/>
          </a:bodyPr>
          <a:lstStyle/>
          <a:p>
            <a:pPr algn="l">
              <a:spcAft>
                <a:spcPts val="300"/>
              </a:spcAft>
            </a:pPr>
            <a:r>
              <a:rPr sz="1400" b="1" i="0">
                <a:solidFill>
                  <a:srgbClr val="2F639D"/>
                </a:solidFill>
                <a:latin typeface="Aptos"/>
              </a:rPr>
              <a:t>2. 120 CẤU HÌNH × 2 FOLD = 240 LẦN FIT</a:t>
            </a:r>
          </a:p>
        </p:txBody>
      </p:sp>
      <p:graphicFrame>
        <p:nvGraphicFramePr>
          <p:cNvPr id="19" name="Table 18"/>
          <p:cNvGraphicFramePr>
            <a:graphicFrameLocks noGrp="1"/>
          </p:cNvGraphicFramePr>
          <p:nvPr/>
        </p:nvGraphicFramePr>
        <p:xfrm>
          <a:off x="6949440" y="1298448"/>
          <a:ext cx="4663440" cy="1243584"/>
        </p:xfrm>
        <a:graphic>
          <a:graphicData uri="http://schemas.openxmlformats.org/drawingml/2006/table">
            <a:tbl>
              <a:tblPr firstRow="1">
                <a:tableStyleId>{5C22544A-7EE6-4342-B048-85BDC9FD1C3A}</a:tableStyleId>
              </a:tblPr>
              <a:tblGrid>
                <a:gridCol w="2331720"/>
                <a:gridCol w="868680"/>
                <a:gridCol w="731520"/>
                <a:gridCol w="731520"/>
              </a:tblGrid>
              <a:tr h="310896">
                <a:tc>
                  <a:txBody>
                    <a:bodyPr wrap="square"/>
                    <a:lstStyle/>
                    <a:p>
                      <a:pPr algn="l"/>
                      <a:r>
                        <a:rPr sz="1000" b="1" i="0">
                          <a:solidFill>
                            <a:srgbClr val="FFFFFF"/>
                          </a:solidFill>
                          <a:latin typeface="Aptos"/>
                        </a:rPr>
                        <a:t>Estimator</a:t>
                      </a:r>
                    </a:p>
                  </a:txBody>
                  <a:tcPr marL="54864" marR="54864" marT="27432" marB="27432" anchor="ctr">
                    <a:solidFill>
                      <a:srgbClr val="162C46"/>
                    </a:solidFill>
                  </a:tcPr>
                </a:tc>
                <a:tc>
                  <a:txBody>
                    <a:bodyPr wrap="square"/>
                    <a:lstStyle/>
                    <a:p>
                      <a:pPr algn="l"/>
                      <a:r>
                        <a:rPr sz="1000" b="1" i="0">
                          <a:solidFill>
                            <a:srgbClr val="FFFFFF"/>
                          </a:solidFill>
                          <a:latin typeface="Aptos"/>
                        </a:rPr>
                        <a:t>PR-AUC CV</a:t>
                      </a:r>
                    </a:p>
                  </a:txBody>
                  <a:tcPr marL="54864" marR="54864" marT="27432" marB="27432" anchor="ctr">
                    <a:solidFill>
                      <a:srgbClr val="162C46"/>
                    </a:solidFill>
                  </a:tcPr>
                </a:tc>
                <a:tc>
                  <a:txBody>
                    <a:bodyPr wrap="square"/>
                    <a:lstStyle/>
                    <a:p>
                      <a:pPr algn="l"/>
                      <a:r>
                        <a:rPr sz="1000" b="1" i="0">
                          <a:solidFill>
                            <a:srgbClr val="FFFFFF"/>
                          </a:solidFill>
                          <a:latin typeface="Aptos"/>
                        </a:rPr>
                        <a:t>val 2022</a:t>
                      </a:r>
                    </a:p>
                  </a:txBody>
                  <a:tcPr marL="54864" marR="54864" marT="27432" marB="27432" anchor="ctr">
                    <a:solidFill>
                      <a:srgbClr val="162C46"/>
                    </a:solidFill>
                  </a:tcPr>
                </a:tc>
                <a:tc>
                  <a:txBody>
                    <a:bodyPr wrap="square"/>
                    <a:lstStyle/>
                    <a:p>
                      <a:pPr algn="l"/>
                      <a:r>
                        <a:rPr sz="1000" b="1" i="0">
                          <a:solidFill>
                            <a:srgbClr val="FFFFFF"/>
                          </a:solidFill>
                          <a:latin typeface="Aptos"/>
                        </a:rPr>
                        <a:t>val 2023</a:t>
                      </a:r>
                    </a:p>
                  </a:txBody>
                  <a:tcPr marL="54864" marR="54864" marT="27432" marB="27432" anchor="ctr">
                    <a:solidFill>
                      <a:srgbClr val="162C46"/>
                    </a:solidFill>
                  </a:tcPr>
                </a:tc>
              </a:tr>
              <a:tr h="310896">
                <a:tc>
                  <a:txBody>
                    <a:bodyPr wrap="square"/>
                    <a:lstStyle/>
                    <a:p>
                      <a:pPr algn="l"/>
                      <a:r>
                        <a:rPr sz="850" b="1" i="0">
                          <a:solidFill>
                            <a:srgbClr val="242B33"/>
                          </a:solidFill>
                          <a:latin typeface="Courier New"/>
                        </a:rPr>
                        <a:t>LogisticRegression</a:t>
                      </a:r>
                    </a:p>
                  </a:txBody>
                  <a:tcPr marL="54864" marR="54864" marT="27432" marB="27432" anchor="ctr">
                    <a:solidFill>
                      <a:srgbClr val="FFFFFF"/>
                    </a:solidFill>
                  </a:tcPr>
                </a:tc>
                <a:tc>
                  <a:txBody>
                    <a:bodyPr wrap="square"/>
                    <a:lstStyle/>
                    <a:p>
                      <a:pPr algn="r"/>
                      <a:r>
                        <a:rPr sz="1000" b="0" i="0">
                          <a:solidFill>
                            <a:srgbClr val="242B33"/>
                          </a:solidFill>
                          <a:latin typeface="Aptos"/>
                        </a:rPr>
                        <a:t>0,0569</a:t>
                      </a:r>
                    </a:p>
                  </a:txBody>
                  <a:tcPr marL="54864" marR="54864" marT="27432" marB="27432" anchor="ctr">
                    <a:solidFill>
                      <a:srgbClr val="FFFFFF"/>
                    </a:solidFill>
                  </a:tcPr>
                </a:tc>
                <a:tc>
                  <a:txBody>
                    <a:bodyPr wrap="square"/>
                    <a:lstStyle/>
                    <a:p>
                      <a:pPr algn="r"/>
                      <a:r>
                        <a:rPr sz="1000" b="0" i="0">
                          <a:solidFill>
                            <a:srgbClr val="242B33"/>
                          </a:solidFill>
                          <a:latin typeface="Aptos"/>
                        </a:rPr>
                        <a:t>0,0631</a:t>
                      </a:r>
                    </a:p>
                  </a:txBody>
                  <a:tcPr marL="54864" marR="54864" marT="27432" marB="27432" anchor="ctr">
                    <a:solidFill>
                      <a:srgbClr val="FFFFFF"/>
                    </a:solidFill>
                  </a:tcPr>
                </a:tc>
                <a:tc>
                  <a:txBody>
                    <a:bodyPr wrap="square"/>
                    <a:lstStyle/>
                    <a:p>
                      <a:pPr algn="r"/>
                      <a:r>
                        <a:rPr sz="1000" b="0" i="0">
                          <a:solidFill>
                            <a:srgbClr val="242B33"/>
                          </a:solidFill>
                          <a:latin typeface="Aptos"/>
                        </a:rPr>
                        <a:t>0,0506</a:t>
                      </a:r>
                    </a:p>
                  </a:txBody>
                  <a:tcPr marL="54864" marR="54864" marT="27432" marB="27432" anchor="ctr">
                    <a:solidFill>
                      <a:srgbClr val="FFFFFF"/>
                    </a:solidFill>
                  </a:tcPr>
                </a:tc>
              </a:tr>
              <a:tr h="310896">
                <a:tc>
                  <a:txBody>
                    <a:bodyPr wrap="square"/>
                    <a:lstStyle/>
                    <a:p>
                      <a:pPr algn="l"/>
                      <a:r>
                        <a:rPr sz="850" b="1" i="0">
                          <a:solidFill>
                            <a:srgbClr val="242B33"/>
                          </a:solidFill>
                          <a:latin typeface="Courier New"/>
                        </a:rPr>
                        <a:t>RandomForestClassifier</a:t>
                      </a:r>
                    </a:p>
                  </a:txBody>
                  <a:tcPr marL="54864" marR="54864" marT="27432" marB="27432" anchor="ctr">
                    <a:solidFill>
                      <a:srgbClr val="F6F9FC"/>
                    </a:solidFill>
                  </a:tcPr>
                </a:tc>
                <a:tc>
                  <a:txBody>
                    <a:bodyPr wrap="square"/>
                    <a:lstStyle/>
                    <a:p>
                      <a:pPr algn="r"/>
                      <a:r>
                        <a:rPr sz="1000" b="0" i="0">
                          <a:solidFill>
                            <a:srgbClr val="242B33"/>
                          </a:solidFill>
                          <a:latin typeface="Aptos"/>
                        </a:rPr>
                        <a:t>0,0570</a:t>
                      </a:r>
                    </a:p>
                  </a:txBody>
                  <a:tcPr marL="54864" marR="54864" marT="27432" marB="27432" anchor="ctr">
                    <a:solidFill>
                      <a:srgbClr val="F6F9FC"/>
                    </a:solidFill>
                  </a:tcPr>
                </a:tc>
                <a:tc>
                  <a:txBody>
                    <a:bodyPr wrap="square"/>
                    <a:lstStyle/>
                    <a:p>
                      <a:pPr algn="r"/>
                      <a:r>
                        <a:rPr sz="1000" b="0" i="0">
                          <a:solidFill>
                            <a:srgbClr val="242B33"/>
                          </a:solidFill>
                          <a:latin typeface="Aptos"/>
                        </a:rPr>
                        <a:t>0,0652</a:t>
                      </a:r>
                    </a:p>
                  </a:txBody>
                  <a:tcPr marL="54864" marR="54864" marT="27432" marB="27432" anchor="ctr">
                    <a:solidFill>
                      <a:srgbClr val="F6F9FC"/>
                    </a:solidFill>
                  </a:tcPr>
                </a:tc>
                <a:tc>
                  <a:txBody>
                    <a:bodyPr wrap="square"/>
                    <a:lstStyle/>
                    <a:p>
                      <a:pPr algn="r"/>
                      <a:r>
                        <a:rPr sz="1000" b="0" i="0">
                          <a:solidFill>
                            <a:srgbClr val="242B33"/>
                          </a:solidFill>
                          <a:latin typeface="Aptos"/>
                        </a:rPr>
                        <a:t>0,0488</a:t>
                      </a:r>
                    </a:p>
                  </a:txBody>
                  <a:tcPr marL="54864" marR="54864" marT="27432" marB="27432" anchor="ctr">
                    <a:solidFill>
                      <a:srgbClr val="F6F9FC"/>
                    </a:solidFill>
                  </a:tcPr>
                </a:tc>
              </a:tr>
              <a:tr h="310896">
                <a:tc>
                  <a:txBody>
                    <a:bodyPr wrap="square"/>
                    <a:lstStyle/>
                    <a:p>
                      <a:pPr algn="l"/>
                      <a:r>
                        <a:rPr sz="850" b="1" i="0">
                          <a:solidFill>
                            <a:srgbClr val="242B33"/>
                          </a:solidFill>
                          <a:latin typeface="Courier New"/>
                        </a:rPr>
                        <a:t>HistGradientBoostingClassifier</a:t>
                      </a:r>
                    </a:p>
                  </a:txBody>
                  <a:tcPr marL="54864" marR="54864" marT="27432" marB="27432" anchor="ctr">
                    <a:solidFill>
                      <a:srgbClr val="E3ECF6"/>
                    </a:solidFill>
                  </a:tcPr>
                </a:tc>
                <a:tc>
                  <a:txBody>
                    <a:bodyPr wrap="square"/>
                    <a:lstStyle/>
                    <a:p>
                      <a:pPr algn="r"/>
                      <a:r>
                        <a:rPr sz="1000" b="1" i="0">
                          <a:solidFill>
                            <a:srgbClr val="162C46"/>
                          </a:solidFill>
                          <a:latin typeface="Aptos"/>
                        </a:rPr>
                        <a:t>0,0582</a:t>
                      </a:r>
                    </a:p>
                  </a:txBody>
                  <a:tcPr marL="54864" marR="54864" marT="27432" marB="27432" anchor="ctr">
                    <a:solidFill>
                      <a:srgbClr val="E3ECF6"/>
                    </a:solidFill>
                  </a:tcPr>
                </a:tc>
                <a:tc>
                  <a:txBody>
                    <a:bodyPr wrap="square"/>
                    <a:lstStyle/>
                    <a:p>
                      <a:pPr algn="r"/>
                      <a:r>
                        <a:rPr sz="1000" b="1" i="0">
                          <a:solidFill>
                            <a:srgbClr val="242B33"/>
                          </a:solidFill>
                          <a:latin typeface="Aptos"/>
                        </a:rPr>
                        <a:t>0,0657</a:t>
                      </a:r>
                    </a:p>
                  </a:txBody>
                  <a:tcPr marL="54864" marR="54864" marT="27432" marB="27432" anchor="ctr">
                    <a:solidFill>
                      <a:srgbClr val="E3ECF6"/>
                    </a:solidFill>
                  </a:tcPr>
                </a:tc>
                <a:tc>
                  <a:txBody>
                    <a:bodyPr wrap="square"/>
                    <a:lstStyle/>
                    <a:p>
                      <a:pPr algn="r"/>
                      <a:r>
                        <a:rPr sz="1000" b="1" i="0">
                          <a:solidFill>
                            <a:srgbClr val="242B33"/>
                          </a:solidFill>
                          <a:latin typeface="Aptos"/>
                        </a:rPr>
                        <a:t>0,0508</a:t>
                      </a:r>
                    </a:p>
                  </a:txBody>
                  <a:tcPr marL="54864" marR="54864" marT="27432" marB="27432" anchor="ctr">
                    <a:solidFill>
                      <a:srgbClr val="E3ECF6"/>
                    </a:solidFill>
                  </a:tcPr>
                </a:tc>
              </a:tr>
            </a:tbl>
          </a:graphicData>
        </a:graphic>
      </p:graphicFrame>
      <p:sp>
        <p:nvSpPr>
          <p:cNvPr id="20" name="TextBox 19"/>
          <p:cNvSpPr txBox="1"/>
          <p:nvPr/>
        </p:nvSpPr>
        <p:spPr>
          <a:xfrm>
            <a:off x="6949440" y="2606040"/>
            <a:ext cx="4663440" cy="256032"/>
          </a:xfrm>
          <a:prstGeom prst="rect">
            <a:avLst/>
          </a:prstGeom>
          <a:noFill/>
        </p:spPr>
        <p:txBody>
          <a:bodyPr wrap="square" anchor="t" lIns="36576" rIns="36576" tIns="36576" bIns="36576">
            <a:noAutofit/>
          </a:bodyPr>
          <a:lstStyle/>
          <a:p>
            <a:pPr algn="l">
              <a:spcAft>
                <a:spcPts val="300"/>
              </a:spcAft>
            </a:pPr>
            <a:r>
              <a:rPr sz="1050" b="0" i="0">
                <a:solidFill>
                  <a:srgbClr val="5E6A78"/>
                </a:solidFill>
                <a:latin typeface="Aptos"/>
              </a:rPr>
              <a:t>Cấu hình thắng của từng họ (đọc từ </a:t>
            </a:r>
            <a:r>
              <a:rPr sz="1050" b="1" i="0">
                <a:solidFill>
                  <a:srgbClr val="162C46"/>
                </a:solidFill>
                <a:latin typeface="Courier New"/>
              </a:rPr>
              <a:t>cv_results_</a:t>
            </a:r>
            <a:r>
              <a:rPr sz="1050" b="0" i="0">
                <a:solidFill>
                  <a:srgbClr val="5E6A78"/>
                </a:solidFill>
                <a:latin typeface="Aptos"/>
              </a:rPr>
              <a:t>)</a:t>
            </a:r>
          </a:p>
        </p:txBody>
      </p:sp>
      <p:sp>
        <p:nvSpPr>
          <p:cNvPr id="21" name="Rounded Rectangle 20"/>
          <p:cNvSpPr/>
          <p:nvPr/>
        </p:nvSpPr>
        <p:spPr>
          <a:xfrm>
            <a:off x="6949440" y="2880360"/>
            <a:ext cx="4663440" cy="502920"/>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0" y="2907791"/>
            <a:ext cx="4480560" cy="457200"/>
          </a:xfrm>
          <a:prstGeom prst="rect">
            <a:avLst/>
          </a:prstGeom>
          <a:noFill/>
        </p:spPr>
        <p:txBody>
          <a:bodyPr wrap="square" anchor="t" lIns="36576" rIns="36576" tIns="36576" bIns="36576">
            <a:noAutofit/>
          </a:bodyPr>
          <a:lstStyle/>
          <a:p>
            <a:pPr algn="l">
              <a:spcAft>
                <a:spcPts val="300"/>
              </a:spcAft>
            </a:pPr>
            <a:r>
              <a:rPr sz="1050" b="1" i="0">
                <a:solidFill>
                  <a:srgbClr val="162C46"/>
                </a:solidFill>
                <a:latin typeface="Aptos"/>
              </a:rPr>
              <a:t>Logistic: </a:t>
            </a:r>
            <a:r>
              <a:rPr sz="850" b="0" i="0">
                <a:solidFill>
                  <a:srgbClr val="242B33"/>
                </a:solidFill>
                <a:latin typeface="Courier New"/>
              </a:rPr>
              <a:t>C=1e-4, class_weight={1: 21,5}, impute_strategy=mean</a:t>
            </a:r>
          </a:p>
        </p:txBody>
      </p:sp>
      <p:sp>
        <p:nvSpPr>
          <p:cNvPr id="23" name="Rounded Rectangle 22"/>
          <p:cNvSpPr/>
          <p:nvPr/>
        </p:nvSpPr>
        <p:spPr>
          <a:xfrm>
            <a:off x="6949440" y="3447288"/>
            <a:ext cx="4663440" cy="502920"/>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0" y="3474720"/>
            <a:ext cx="4480560" cy="457200"/>
          </a:xfrm>
          <a:prstGeom prst="rect">
            <a:avLst/>
          </a:prstGeom>
          <a:noFill/>
        </p:spPr>
        <p:txBody>
          <a:bodyPr wrap="square" anchor="t" lIns="36576" rIns="36576" tIns="36576" bIns="36576">
            <a:noAutofit/>
          </a:bodyPr>
          <a:lstStyle/>
          <a:p>
            <a:pPr algn="l">
              <a:spcAft>
                <a:spcPts val="300"/>
              </a:spcAft>
            </a:pPr>
            <a:r>
              <a:rPr sz="1050" b="1" i="0">
                <a:solidFill>
                  <a:srgbClr val="162C46"/>
                </a:solidFill>
                <a:latin typeface="Aptos"/>
              </a:rPr>
              <a:t>RandomForest: </a:t>
            </a:r>
            <a:r>
              <a:rPr sz="850" b="0" i="0">
                <a:solidFill>
                  <a:srgbClr val="242B33"/>
                </a:solidFill>
                <a:latin typeface="Courier New"/>
              </a:rPr>
              <a:t>class_weight={1: 21,5}, max_features=sqrt, min_samples_leaf=200</a:t>
            </a:r>
          </a:p>
        </p:txBody>
      </p:sp>
      <p:sp>
        <p:nvSpPr>
          <p:cNvPr id="25" name="Rounded Rectangle 24"/>
          <p:cNvSpPr/>
          <p:nvPr/>
        </p:nvSpPr>
        <p:spPr>
          <a:xfrm>
            <a:off x="6949440" y="4014215"/>
            <a:ext cx="4663440" cy="502920"/>
          </a:xfrm>
          <a:prstGeom prst="round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0" y="4041648"/>
            <a:ext cx="4480560" cy="457200"/>
          </a:xfrm>
          <a:prstGeom prst="rect">
            <a:avLst/>
          </a:prstGeom>
          <a:noFill/>
        </p:spPr>
        <p:txBody>
          <a:bodyPr wrap="square" anchor="t" lIns="36576" rIns="36576" tIns="36576" bIns="36576">
            <a:noAutofit/>
          </a:bodyPr>
          <a:lstStyle/>
          <a:p>
            <a:pPr algn="l">
              <a:spcAft>
                <a:spcPts val="300"/>
              </a:spcAft>
            </a:pPr>
            <a:r>
              <a:rPr sz="1050" b="1" i="0">
                <a:solidFill>
                  <a:srgbClr val="162C46"/>
                </a:solidFill>
                <a:latin typeface="Aptos"/>
              </a:rPr>
              <a:t>HistGBM: </a:t>
            </a:r>
            <a:r>
              <a:rPr sz="850" b="0" i="0">
                <a:solidFill>
                  <a:srgbClr val="242B33"/>
                </a:solidFill>
                <a:latin typeface="Courier New"/>
              </a:rPr>
              <a:t>class_weight=balanced, min_samples_leaf=400, learning_rate=0,03, max_leaf_nodes=4</a:t>
            </a:r>
          </a:p>
        </p:txBody>
      </p:sp>
      <p:sp>
        <p:nvSpPr>
          <p:cNvPr id="27" name="TextBox 26"/>
          <p:cNvSpPr txBox="1"/>
          <p:nvPr/>
        </p:nvSpPr>
        <p:spPr>
          <a:xfrm>
            <a:off x="6949440" y="4645152"/>
            <a:ext cx="4663440" cy="777240"/>
          </a:xfrm>
          <a:prstGeom prst="rect">
            <a:avLst/>
          </a:prstGeom>
          <a:noFill/>
        </p:spPr>
        <p:txBody>
          <a:bodyPr wrap="square" anchor="t" lIns="36576" rIns="36576" tIns="36576" bIns="36576">
            <a:noAutofit/>
          </a:bodyPr>
          <a:lstStyle/>
          <a:p>
            <a:pPr algn="l">
              <a:spcAft>
                <a:spcPts val="300"/>
              </a:spcAft>
            </a:pPr>
            <a:r>
              <a:rPr sz="1000" b="1" i="0">
                <a:solidFill>
                  <a:srgbClr val="162C46"/>
                </a:solidFill>
                <a:latin typeface="Courier New"/>
              </a:rPr>
              <a:t>gs.best_params_</a:t>
            </a:r>
            <a:r>
              <a:rPr sz="1000" b="0" i="0">
                <a:solidFill>
                  <a:srgbClr val="5E6A78"/>
                </a:solidFill>
                <a:latin typeface="Aptos"/>
              </a:rPr>
              <a:t> → HistGradientBoostingClassifier  ·  </a:t>
            </a:r>
            <a:r>
              <a:rPr sz="1000" b="1" i="0">
                <a:solidFill>
                  <a:srgbClr val="162C46"/>
                </a:solidFill>
                <a:latin typeface="Courier New"/>
              </a:rPr>
              <a:t>gs.best_score_</a:t>
            </a:r>
            <a:r>
              <a:rPr sz="1000" b="0" i="0">
                <a:solidFill>
                  <a:srgbClr val="5E6A78"/>
                </a:solidFill>
                <a:latin typeface="Aptos"/>
              </a:rPr>
              <a:t> = 0,0582</a:t>
            </a:r>
          </a:p>
          <a:p>
            <a:pPr algn="l">
              <a:spcAft>
                <a:spcPts val="300"/>
              </a:spcAft>
            </a:pPr>
            <a:r>
              <a:rPr sz="1000" b="0" i="0">
                <a:solidFill>
                  <a:srgbClr val="5E6A78"/>
                </a:solidFill>
                <a:latin typeface="Aptos"/>
              </a:rPr>
              <a:t>Ba họ cách nhau chưa tới 0,0014 PR-AUC trên CV — nhỏ hơn chênh lệch giữa hai năm kiểm định.</a:t>
            </a:r>
          </a:p>
          <a:p>
            <a:pPr algn="l">
              <a:spcAft>
                <a:spcPts val="300"/>
              </a:spcAft>
            </a:pPr>
            <a:r>
              <a:rPr sz="1000" b="0" i="0">
                <a:solidFill>
                  <a:srgbClr val="5E6A78"/>
                </a:solidFill>
                <a:latin typeface="Aptos"/>
              </a:rPr>
              <a:t>M7 không dùng bộ này — M7 dùng bộ random search (slide 23).</a:t>
            </a:r>
          </a:p>
        </p:txBody>
      </p:sp>
      <p:sp>
        <p:nvSpPr>
          <p:cNvPr id="28" name="Rounded Rectangle 27"/>
          <p:cNvSpPr/>
          <p:nvPr/>
        </p:nvSpPr>
        <p:spPr>
          <a:xfrm>
            <a:off x="603504" y="5577840"/>
            <a:ext cx="11009376" cy="731520"/>
          </a:xfrm>
          <a:prstGeom prst="roundRect">
            <a:avLst>
              <a:gd name="adj" fmla="val 18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350" b="1" i="0">
                <a:solidFill>
                  <a:srgbClr val="FFFFFF"/>
                </a:solidFill>
                <a:latin typeface="Aptos"/>
              </a:rPr>
              <a:t>best_score_ = 0,0582 là điểm LẠC QUAN</a:t>
            </a:r>
            <a:r>
              <a:rPr sz="1300" b="0" i="0">
                <a:solidFill>
                  <a:srgbClr val="FFFFFF"/>
                </a:solidFill>
                <a:latin typeface="Aptos"/>
              </a:rPr>
              <a:t> — max của 120 ước lượng nhiễu trên chính các fold dùng để chọn. Điểm thật chỉ đo trên test, sau khi đã chọn xong.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
            <a:ext cx="10424160" cy="566928"/>
          </a:xfrm>
          <a:prstGeom prst="rect">
            <a:avLst/>
          </a:prstGeom>
          <a:noFill/>
        </p:spPr>
        <p:txBody>
          <a:bodyPr wrap="square" anchor="t" lIns="36576" rIns="36576" tIns="36576" bIns="36576">
            <a:noAutofit/>
          </a:bodyPr>
          <a:lstStyle/>
          <a:p>
            <a:pPr algn="l">
              <a:spcAft>
                <a:spcPts val="300"/>
              </a:spcAft>
            </a:pPr>
            <a:r>
              <a:rPr sz="2400" b="1" i="0">
                <a:solidFill>
                  <a:srgbClr val="162C46"/>
                </a:solidFill>
                <a:latin typeface="Aptos Display"/>
              </a:rPr>
              <a:t>MODELING — VÌ SAO CHỌN GIÁ TRỊ NÀY? VALIDATION CURVE</a:t>
            </a:r>
          </a:p>
        </p:txBody>
      </p:sp>
      <p:cxnSp>
        <p:nvCxnSpPr>
          <p:cNvPr id="3" name="Connector 2"/>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583680"/>
            <a:ext cx="4023360" cy="182880"/>
          </a:xfrm>
          <a:prstGeom prst="rect">
            <a:avLst/>
          </a:prstGeom>
          <a:noFill/>
        </p:spPr>
        <p:txBody>
          <a:bodyPr wrap="square" anchor="t" lIns="36576" rIns="36576" tIns="36576" bIns="36576">
            <a:noAutofit/>
          </a:bodyPr>
          <a:lstStyle/>
          <a:p>
            <a:pPr algn="l">
              <a:spcAft>
                <a:spcPts val="300"/>
              </a:spcAft>
            </a:pPr>
            <a:r>
              <a:rPr sz="850" b="0" i="0">
                <a:solidFill>
                  <a:srgbClr val="5E6A78"/>
                </a:solidFill>
                <a:latin typeface="Aptos"/>
              </a:rPr>
              <a:t>Cơ sở Khoa học Dữ liệu  •  SLA &amp; Customer Experience</a:t>
            </a:r>
          </a:p>
        </p:txBody>
      </p:sp>
      <p:sp>
        <p:nvSpPr>
          <p:cNvPr id="6" name="TextBox 5"/>
          <p:cNvSpPr txBox="1"/>
          <p:nvPr/>
        </p:nvSpPr>
        <p:spPr>
          <a:xfrm>
            <a:off x="11201400" y="6567055"/>
            <a:ext cx="365760" cy="166255"/>
          </a:xfrm>
          <a:prstGeom prst="rect">
            <a:avLst/>
          </a:prstGeom>
          <a:noFill/>
        </p:spPr>
        <p:txBody>
          <a:bodyPr wrap="square" anchor="t" lIns="36576" rIns="36576" tIns="36576" bIns="36576">
            <a:noAutofit/>
          </a:bodyPr>
          <a:lstStyle/>
          <a:p>
            <a:pPr algn="l">
              <a:spcAft>
                <a:spcPts val="300"/>
              </a:spcAft>
            </a:pPr>
            <a:r>
              <a:rPr sz="850" b="0" i="0">
                <a:solidFill>
                  <a:srgbClr val="5E6A78"/>
                </a:solidFill>
                <a:latin typeface="Aptos"/>
              </a:rPr>
              <a:t>22</a:t>
            </a:r>
          </a:p>
        </p:txBody>
      </p:sp>
      <p:sp>
        <p:nvSpPr>
          <p:cNvPr id="7" name="Rounded Rectangle 6"/>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Business</a:t>
            </a:r>
          </a:p>
        </p:txBody>
      </p:sp>
      <p:sp>
        <p:nvSpPr>
          <p:cNvPr id="8" name="Rounded Rectangle 7"/>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Data Collection</a:t>
            </a:r>
          </a:p>
        </p:txBody>
      </p:sp>
      <p:sp>
        <p:nvSpPr>
          <p:cNvPr id="9" name="Rounded Rectangle 8"/>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Cleaning</a:t>
            </a:r>
          </a:p>
        </p:txBody>
      </p:sp>
      <p:sp>
        <p:nvSpPr>
          <p:cNvPr id="10" name="Rounded Rectangle 9"/>
          <p:cNvSpPr/>
          <p:nvPr/>
        </p:nvSpPr>
        <p:spPr>
          <a:xfrm>
            <a:off x="7306056" y="6510528"/>
            <a:ext cx="42062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EDA</a:t>
            </a:r>
          </a:p>
        </p:txBody>
      </p:sp>
      <p:sp>
        <p:nvSpPr>
          <p:cNvPr id="11" name="Rounded Rectangle 10"/>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Features</a:t>
            </a:r>
          </a:p>
        </p:txBody>
      </p:sp>
      <p:sp>
        <p:nvSpPr>
          <p:cNvPr id="12" name="Rounded Rectangle 11"/>
          <p:cNvSpPr/>
          <p:nvPr/>
        </p:nvSpPr>
        <p:spPr>
          <a:xfrm>
            <a:off x="8494776" y="6510528"/>
            <a:ext cx="694944"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1" i="0">
                <a:solidFill>
                  <a:srgbClr val="FFFFFF"/>
                </a:solidFill>
                <a:latin typeface="Aptos"/>
              </a:rPr>
              <a:t>Modeling</a:t>
            </a:r>
          </a:p>
        </p:txBody>
      </p:sp>
      <p:sp>
        <p:nvSpPr>
          <p:cNvPr id="13" name="Rounded Rectangle 12"/>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Evaluation</a:t>
            </a:r>
          </a:p>
        </p:txBody>
      </p:sp>
      <p:sp>
        <p:nvSpPr>
          <p:cNvPr id="14" name="Rounded Rectangle 13"/>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Business Value</a:t>
            </a:r>
          </a:p>
        </p:txBody>
      </p:sp>
      <p:pic>
        <p:nvPicPr>
          <p:cNvPr id="19" name="Picture 14" descr="C20_slide.png"/>
          <p:cNvPicPr>
            <a:picLocks noChangeAspect="1"/>
          </p:cNvPicPr>
          <p:nvPr/>
        </p:nvPicPr>
        <p:blipFill>
          <a:blip r:embed="rId4"/>
          <a:stretch>
            <a:fillRect/>
          </a:stretch>
        </p:blipFill>
        <p:spPr>
          <a:xfrm>
            <a:off x="548640" y="1014153"/>
            <a:ext cx="6151418" cy="3573189"/>
          </a:xfrm>
          <a:prstGeom prst="rect">
            <a:avLst/>
          </a:prstGeom>
        </p:spPr>
      </p:pic>
      <p:sp>
        <p:nvSpPr>
          <p:cNvPr id="16" name="TextBox 15"/>
          <p:cNvSpPr txBox="1"/>
          <p:nvPr/>
        </p:nvSpPr>
        <p:spPr>
          <a:xfrm>
            <a:off x="6766560" y="960120"/>
            <a:ext cx="4846320" cy="310896"/>
          </a:xfrm>
          <a:prstGeom prst="rect">
            <a:avLst/>
          </a:prstGeom>
          <a:noFill/>
        </p:spPr>
        <p:txBody>
          <a:bodyPr wrap="square" anchor="t" lIns="36576" rIns="36576" tIns="36576" bIns="36576">
            <a:noAutofit/>
          </a:bodyPr>
          <a:lstStyle/>
          <a:p>
            <a:pPr algn="l">
              <a:spcAft>
                <a:spcPts val="300"/>
              </a:spcAft>
            </a:pPr>
            <a:r>
              <a:rPr sz="1300" b="1" i="0">
                <a:solidFill>
                  <a:srgbClr val="2F639D"/>
                </a:solidFill>
                <a:latin typeface="Aptos"/>
              </a:rPr>
              <a:t>ĐỌC HÌNH: Ô DỐC = THAM SỐ QUYẾT ĐỊNH</a:t>
            </a:r>
          </a:p>
        </p:txBody>
      </p:sp>
      <p:graphicFrame>
        <p:nvGraphicFramePr>
          <p:cNvPr id="17" name="Table 16"/>
          <p:cNvGraphicFramePr>
            <a:graphicFrameLocks noGrp="1"/>
          </p:cNvGraphicFramePr>
          <p:nvPr/>
        </p:nvGraphicFramePr>
        <p:xfrm>
          <a:off x="6766560" y="1280160"/>
          <a:ext cx="4846320" cy="3456432"/>
        </p:xfrm>
        <a:graphic>
          <a:graphicData uri="http://schemas.openxmlformats.org/drawingml/2006/table">
            <a:tbl>
              <a:tblPr firstRow="1">
                <a:tableStyleId>{5C22544A-7EE6-4342-B048-85BDC9FD1C3A}</a:tableStyleId>
              </a:tblPr>
              <a:tblGrid>
                <a:gridCol w="1810512"/>
                <a:gridCol w="566928"/>
                <a:gridCol w="2468880"/>
              </a:tblGrid>
              <a:tr h="384048">
                <a:tc>
                  <a:txBody>
                    <a:bodyPr wrap="square"/>
                    <a:lstStyle/>
                    <a:p>
                      <a:pPr algn="l"/>
                      <a:r>
                        <a:rPr sz="900" b="1" i="0">
                          <a:solidFill>
                            <a:srgbClr val="FFFFFF"/>
                          </a:solidFill>
                          <a:latin typeface="Aptos"/>
                        </a:rPr>
                        <a:t>Tham số</a:t>
                      </a:r>
                    </a:p>
                  </a:txBody>
                  <a:tcPr marL="54864" marR="54864" marT="27432" marB="27432" anchor="ctr">
                    <a:solidFill>
                      <a:srgbClr val="162C46"/>
                    </a:solidFill>
                  </a:tcPr>
                </a:tc>
                <a:tc>
                  <a:txBody>
                    <a:bodyPr wrap="square"/>
                    <a:lstStyle/>
                    <a:p>
                      <a:pPr algn="l"/>
                      <a:r>
                        <a:rPr sz="900" b="1" i="0">
                          <a:solidFill>
                            <a:srgbClr val="FFFFFF"/>
                          </a:solidFill>
                          <a:latin typeface="Aptos"/>
                        </a:rPr>
                        <a:t>Chọn</a:t>
                      </a:r>
                    </a:p>
                  </a:txBody>
                  <a:tcPr marL="54864" marR="54864" marT="27432" marB="27432" anchor="ctr">
                    <a:solidFill>
                      <a:srgbClr val="162C46"/>
                    </a:solidFill>
                  </a:tcPr>
                </a:tc>
                <a:tc>
                  <a:txBody>
                    <a:bodyPr wrap="square"/>
                    <a:lstStyle/>
                    <a:p>
                      <a:pPr algn="l"/>
                      <a:r>
                        <a:rPr sz="900" b="1" i="0">
                          <a:solidFill>
                            <a:srgbClr val="FFFFFF"/>
                          </a:solidFill>
                          <a:latin typeface="Aptos"/>
                        </a:rPr>
                        <a:t>Vì sao — bằng chứng từ CV</a:t>
                      </a:r>
                    </a:p>
                  </a:txBody>
                  <a:tcPr marL="54864" marR="54864" marT="27432" marB="27432" anchor="ctr">
                    <a:solidFill>
                      <a:srgbClr val="162C46"/>
                    </a:solidFill>
                  </a:tcPr>
                </a:tc>
              </a:tr>
              <a:tr h="384048">
                <a:tc>
                  <a:txBody>
                    <a:bodyPr wrap="square"/>
                    <a:lstStyle/>
                    <a:p>
                      <a:pPr algn="l"/>
                      <a:r>
                        <a:rPr sz="800" b="1" i="0">
                          <a:solidFill>
                            <a:srgbClr val="242B33"/>
                          </a:solidFill>
                          <a:latin typeface="Courier New"/>
                        </a:rPr>
                        <a:t>model__C</a:t>
                      </a:r>
                    </a:p>
                  </a:txBody>
                  <a:tcPr marL="54864" marR="54864" marT="27432" marB="27432" anchor="ctr">
                    <a:solidFill>
                      <a:srgbClr val="FFFFFF"/>
                    </a:solidFill>
                  </a:tcPr>
                </a:tc>
                <a:tc>
                  <a:txBody>
                    <a:bodyPr wrap="square"/>
                    <a:lstStyle/>
                    <a:p>
                      <a:pPr algn="l"/>
                      <a:r>
                        <a:rPr sz="900" b="0" i="0">
                          <a:solidFill>
                            <a:srgbClr val="242B33"/>
                          </a:solidFill>
                          <a:latin typeface="Aptos"/>
                        </a:rPr>
                        <a:t>1e-4</a:t>
                      </a:r>
                    </a:p>
                  </a:txBody>
                  <a:tcPr marL="54864" marR="54864" marT="27432" marB="27432" anchor="ctr">
                    <a:solidFill>
                      <a:srgbClr val="FFFFFF"/>
                    </a:solidFill>
                  </a:tcPr>
                </a:tc>
                <a:tc>
                  <a:txBody>
                    <a:bodyPr wrap="square"/>
                    <a:lstStyle/>
                    <a:p>
                      <a:pPr algn="l"/>
                      <a:r>
                        <a:rPr sz="900" b="0" i="0">
                          <a:solidFill>
                            <a:srgbClr val="242B33"/>
                          </a:solidFill>
                          <a:latin typeface="Aptos"/>
                        </a:rPr>
                        <a:t>Logistic · đỉnh nằm giữa lưới: 1e-6 phạt quá mạnh (0,0545), ≥ 0,01 coi như không phạt (0,0553)</a:t>
                      </a:r>
                    </a:p>
                  </a:txBody>
                  <a:tcPr marL="54864" marR="54864" marT="27432" marB="27432" anchor="ctr">
                    <a:solidFill>
                      <a:srgbClr val="FFFFFF"/>
                    </a:solidFill>
                  </a:tcPr>
                </a:tc>
              </a:tr>
              <a:tr h="384048">
                <a:tc>
                  <a:txBody>
                    <a:bodyPr wrap="square"/>
                    <a:lstStyle/>
                    <a:p>
                      <a:pPr algn="l"/>
                      <a:r>
                        <a:rPr sz="800" b="1" i="0">
                          <a:solidFill>
                            <a:srgbClr val="242B33"/>
                          </a:solidFill>
                          <a:latin typeface="Courier New"/>
                        </a:rPr>
                        <a:t>model__min_samples_leaf</a:t>
                      </a:r>
                    </a:p>
                  </a:txBody>
                  <a:tcPr marL="54864" marR="54864" marT="27432" marB="27432" anchor="ctr">
                    <a:solidFill>
                      <a:srgbClr val="F6F9FC"/>
                    </a:solidFill>
                  </a:tcPr>
                </a:tc>
                <a:tc>
                  <a:txBody>
                    <a:bodyPr wrap="square"/>
                    <a:lstStyle/>
                    <a:p>
                      <a:pPr algn="l"/>
                      <a:r>
                        <a:rPr sz="900" b="0" i="0">
                          <a:solidFill>
                            <a:srgbClr val="242B33"/>
                          </a:solidFill>
                          <a:latin typeface="Aptos"/>
                        </a:rPr>
                        <a:t>200</a:t>
                      </a:r>
                    </a:p>
                  </a:txBody>
                  <a:tcPr marL="54864" marR="54864" marT="27432" marB="27432" anchor="ctr">
                    <a:solidFill>
                      <a:srgbClr val="F6F9FC"/>
                    </a:solidFill>
                  </a:tcPr>
                </a:tc>
                <a:tc>
                  <a:txBody>
                    <a:bodyPr wrap="square"/>
                    <a:lstStyle/>
                    <a:p>
                      <a:pPr algn="l"/>
                      <a:r>
                        <a:rPr sz="900" b="0" i="0">
                          <a:solidFill>
                            <a:srgbClr val="242B33"/>
                          </a:solidFill>
                          <a:latin typeface="Aptos"/>
                        </a:rPr>
                        <a:t>RF · 50: train 0,27 ≫ CV 0,054 → học nhiễu; 2000: thiếu khớp (0,0549)</a:t>
                      </a:r>
                    </a:p>
                  </a:txBody>
                  <a:tcPr marL="54864" marR="54864" marT="27432" marB="27432" anchor="ctr">
                    <a:solidFill>
                      <a:srgbClr val="F6F9FC"/>
                    </a:solidFill>
                  </a:tcPr>
                </a:tc>
              </a:tr>
              <a:tr h="384048">
                <a:tc>
                  <a:txBody>
                    <a:bodyPr wrap="square"/>
                    <a:lstStyle/>
                    <a:p>
                      <a:pPr algn="l"/>
                      <a:r>
                        <a:rPr sz="800" b="1" i="0">
                          <a:solidFill>
                            <a:srgbClr val="242B33"/>
                          </a:solidFill>
                          <a:latin typeface="Courier New"/>
                        </a:rPr>
                        <a:t>model__max_features</a:t>
                      </a:r>
                    </a:p>
                  </a:txBody>
                  <a:tcPr marL="54864" marR="54864" marT="27432" marB="27432" anchor="ctr">
                    <a:solidFill>
                      <a:srgbClr val="FFFFFF"/>
                    </a:solidFill>
                  </a:tcPr>
                </a:tc>
                <a:tc>
                  <a:txBody>
                    <a:bodyPr wrap="square"/>
                    <a:lstStyle/>
                    <a:p>
                      <a:pPr algn="l"/>
                      <a:r>
                        <a:rPr sz="900" b="0" i="0">
                          <a:solidFill>
                            <a:srgbClr val="242B33"/>
                          </a:solidFill>
                          <a:latin typeface="Aptos"/>
                        </a:rPr>
                        <a:t>sqrt</a:t>
                      </a:r>
                    </a:p>
                  </a:txBody>
                  <a:tcPr marL="54864" marR="54864" marT="27432" marB="27432" anchor="ctr">
                    <a:solidFill>
                      <a:srgbClr val="FFFFFF"/>
                    </a:solidFill>
                  </a:tcPr>
                </a:tc>
                <a:tc>
                  <a:txBody>
                    <a:bodyPr wrap="square"/>
                    <a:lstStyle/>
                    <a:p>
                      <a:pPr algn="l"/>
                      <a:r>
                        <a:rPr sz="900" b="0" i="0">
                          <a:solidFill>
                            <a:srgbClr val="242B33"/>
                          </a:solidFill>
                          <a:latin typeface="Aptos"/>
                        </a:rPr>
                        <a:t>RF · ít feature mỗi lần tách → cây ít tương quan: 0,0570 vs 0,0557</a:t>
                      </a:r>
                    </a:p>
                  </a:txBody>
                  <a:tcPr marL="54864" marR="54864" marT="27432" marB="27432" anchor="ctr">
                    <a:solidFill>
                      <a:srgbClr val="FFFFFF"/>
                    </a:solidFill>
                  </a:tcPr>
                </a:tc>
              </a:tr>
              <a:tr h="384048">
                <a:tc>
                  <a:txBody>
                    <a:bodyPr wrap="square"/>
                    <a:lstStyle/>
                    <a:p>
                      <a:pPr algn="l"/>
                      <a:r>
                        <a:rPr sz="800" b="1" i="0">
                          <a:solidFill>
                            <a:srgbClr val="242B33"/>
                          </a:solidFill>
                          <a:latin typeface="Courier New"/>
                        </a:rPr>
                        <a:t>model__max_leaf_nodes</a:t>
                      </a:r>
                    </a:p>
                  </a:txBody>
                  <a:tcPr marL="54864" marR="54864" marT="27432" marB="27432" anchor="ctr">
                    <a:solidFill>
                      <a:srgbClr val="F6F9FC"/>
                    </a:solidFill>
                  </a:tcPr>
                </a:tc>
                <a:tc>
                  <a:txBody>
                    <a:bodyPr wrap="square"/>
                    <a:lstStyle/>
                    <a:p>
                      <a:pPr algn="l"/>
                      <a:r>
                        <a:rPr sz="900" b="0" i="0">
                          <a:solidFill>
                            <a:srgbClr val="242B33"/>
                          </a:solidFill>
                          <a:latin typeface="Aptos"/>
                        </a:rPr>
                        <a:t>4</a:t>
                      </a:r>
                    </a:p>
                    <a:p>
                      <a:pPr algn="l"/>
                      <a:r>
                        <a:rPr sz="750" b="0" i="0">
                          <a:solidFill>
                            <a:srgbClr val="242B33"/>
                          </a:solidFill>
                          <a:latin typeface="Aptos"/>
                        </a:rPr>
                        <a:t>mép lưới</a:t>
                      </a:r>
                    </a:p>
                  </a:txBody>
                  <a:tcPr marL="54864" marR="54864" marT="27432" marB="27432" anchor="ctr">
                    <a:solidFill>
                      <a:srgbClr val="F6F9FC"/>
                    </a:solidFill>
                  </a:tcPr>
                </a:tc>
                <a:tc>
                  <a:txBody>
                    <a:bodyPr wrap="square"/>
                    <a:lstStyle/>
                    <a:p>
                      <a:pPr algn="l"/>
                      <a:r>
                        <a:rPr sz="900" b="0" i="0">
                          <a:solidFill>
                            <a:srgbClr val="242B33"/>
                          </a:solidFill>
                          <a:latin typeface="Aptos"/>
                        </a:rPr>
                        <a:t>GBM · 31 lá: train 0,21, CV 0,0559 → quá khớp; 4 ≈ 8 (chênh 0,0004)</a:t>
                      </a:r>
                    </a:p>
                  </a:txBody>
                  <a:tcPr marL="54864" marR="54864" marT="27432" marB="27432" anchor="ctr">
                    <a:solidFill>
                      <a:srgbClr val="F6F9FC"/>
                    </a:solidFill>
                  </a:tcPr>
                </a:tc>
              </a:tr>
              <a:tr h="384048">
                <a:tc>
                  <a:txBody>
                    <a:bodyPr wrap="square"/>
                    <a:lstStyle/>
                    <a:p>
                      <a:pPr algn="l"/>
                      <a:r>
                        <a:rPr sz="800" b="1" i="0">
                          <a:solidFill>
                            <a:srgbClr val="242B33"/>
                          </a:solidFill>
                          <a:latin typeface="Courier New"/>
                        </a:rPr>
                        <a:t>model__min_samples_leaf</a:t>
                      </a:r>
                    </a:p>
                  </a:txBody>
                  <a:tcPr marL="54864" marR="54864" marT="27432" marB="27432" anchor="ctr">
                    <a:solidFill>
                      <a:srgbClr val="FFFFFF"/>
                    </a:solidFill>
                  </a:tcPr>
                </a:tc>
                <a:tc>
                  <a:txBody>
                    <a:bodyPr wrap="square"/>
                    <a:lstStyle/>
                    <a:p>
                      <a:pPr algn="l"/>
                      <a:r>
                        <a:rPr sz="900" b="0" i="0">
                          <a:solidFill>
                            <a:srgbClr val="242B33"/>
                          </a:solidFill>
                          <a:latin typeface="Aptos"/>
                        </a:rPr>
                        <a:t>400</a:t>
                      </a:r>
                    </a:p>
                    <a:p>
                      <a:pPr algn="l"/>
                      <a:r>
                        <a:rPr sz="750" b="0" i="0">
                          <a:solidFill>
                            <a:srgbClr val="242B33"/>
                          </a:solidFill>
                          <a:latin typeface="Aptos"/>
                        </a:rPr>
                        <a:t>mép lưới</a:t>
                      </a:r>
                    </a:p>
                  </a:txBody>
                  <a:tcPr marL="54864" marR="54864" marT="27432" marB="27432" anchor="ctr">
                    <a:solidFill>
                      <a:srgbClr val="FFFFFF"/>
                    </a:solidFill>
                  </a:tcPr>
                </a:tc>
                <a:tc>
                  <a:txBody>
                    <a:bodyPr wrap="square"/>
                    <a:lstStyle/>
                    <a:p>
                      <a:pPr algn="l"/>
                      <a:r>
                        <a:rPr sz="900" b="0" i="0">
                          <a:solidFill>
                            <a:srgbClr val="242B33"/>
                          </a:solidFill>
                          <a:latin typeface="Aptos"/>
                        </a:rPr>
                        <a:t>GBM · lá lớn ổn định với lớp hiếm; 20 và 100 kém ~0,001</a:t>
                      </a:r>
                    </a:p>
                  </a:txBody>
                  <a:tcPr marL="54864" marR="54864" marT="27432" marB="27432" anchor="ctr">
                    <a:solidFill>
                      <a:srgbClr val="FFFFFF"/>
                    </a:solidFill>
                  </a:tcPr>
                </a:tc>
              </a:tr>
              <a:tr h="384048">
                <a:tc>
                  <a:txBody>
                    <a:bodyPr wrap="square"/>
                    <a:lstStyle/>
                    <a:p>
                      <a:pPr algn="l"/>
                      <a:r>
                        <a:rPr sz="800" b="1" i="0">
                          <a:solidFill>
                            <a:srgbClr val="242B33"/>
                          </a:solidFill>
                          <a:latin typeface="Courier New"/>
                        </a:rPr>
                        <a:t>model__learning_rate</a:t>
                      </a:r>
                    </a:p>
                  </a:txBody>
                  <a:tcPr marL="54864" marR="54864" marT="27432" marB="27432" anchor="ctr">
                    <a:solidFill>
                      <a:srgbClr val="F6F9FC"/>
                    </a:solidFill>
                  </a:tcPr>
                </a:tc>
                <a:tc>
                  <a:txBody>
                    <a:bodyPr wrap="square"/>
                    <a:lstStyle/>
                    <a:p>
                      <a:pPr algn="l"/>
                      <a:r>
                        <a:rPr sz="900" b="0" i="0">
                          <a:solidFill>
                            <a:srgbClr val="242B33"/>
                          </a:solidFill>
                          <a:latin typeface="Aptos"/>
                        </a:rPr>
                        <a:t>0,03</a:t>
                      </a:r>
                    </a:p>
                    <a:p>
                      <a:pPr algn="l"/>
                      <a:r>
                        <a:rPr sz="750" b="0" i="0">
                          <a:solidFill>
                            <a:srgbClr val="242B33"/>
                          </a:solidFill>
                          <a:latin typeface="Aptos"/>
                        </a:rPr>
                        <a:t>mép lưới</a:t>
                      </a:r>
                    </a:p>
                  </a:txBody>
                  <a:tcPr marL="54864" marR="54864" marT="27432" marB="27432" anchor="ctr">
                    <a:solidFill>
                      <a:srgbClr val="F6F9FC"/>
                    </a:solidFill>
                  </a:tcPr>
                </a:tc>
                <a:tc>
                  <a:txBody>
                    <a:bodyPr wrap="square"/>
                    <a:lstStyle/>
                    <a:p>
                      <a:pPr algn="l"/>
                      <a:r>
                        <a:rPr sz="900" b="0" i="0">
                          <a:solidFill>
                            <a:srgbClr val="242B33"/>
                          </a:solidFill>
                          <a:latin typeface="Aptos"/>
                        </a:rPr>
                        <a:t>GBM · nhỏ hơn tốt hơn chút (+0,0003) nhưng chậm 2,7×; số cây do dừng sớm</a:t>
                      </a:r>
                    </a:p>
                  </a:txBody>
                  <a:tcPr marL="54864" marR="54864" marT="27432" marB="27432" anchor="ctr">
                    <a:solidFill>
                      <a:srgbClr val="F6F9FC"/>
                    </a:solidFill>
                  </a:tcPr>
                </a:tc>
              </a:tr>
              <a:tr h="384048">
                <a:tc>
                  <a:txBody>
                    <a:bodyPr wrap="square"/>
                    <a:lstStyle/>
                    <a:p>
                      <a:pPr algn="l"/>
                      <a:r>
                        <a:rPr sz="800" b="1" i="0">
                          <a:solidFill>
                            <a:srgbClr val="242B33"/>
                          </a:solidFill>
                          <a:latin typeface="Courier New"/>
                        </a:rPr>
                        <a:t>model__class_weight</a:t>
                      </a:r>
                    </a:p>
                  </a:txBody>
                  <a:tcPr marL="54864" marR="54864" marT="27432" marB="27432" anchor="ctr">
                    <a:solidFill>
                      <a:srgbClr val="FFFFFF"/>
                    </a:solidFill>
                  </a:tcPr>
                </a:tc>
                <a:tc>
                  <a:txBody>
                    <a:bodyPr wrap="square"/>
                    <a:lstStyle/>
                    <a:p>
                      <a:pPr algn="l"/>
                      <a:r>
                        <a:rPr sz="900" b="0" i="0">
                          <a:solidFill>
                            <a:srgbClr val="242B33"/>
                          </a:solidFill>
                          <a:latin typeface="Aptos"/>
                        </a:rPr>
                        <a:t>cân lớp</a:t>
                      </a:r>
                    </a:p>
                  </a:txBody>
                  <a:tcPr marL="54864" marR="54864" marT="27432" marB="27432" anchor="ctr">
                    <a:solidFill>
                      <a:srgbClr val="FFFFFF"/>
                    </a:solidFill>
                  </a:tcPr>
                </a:tc>
                <a:tc>
                  <a:txBody>
                    <a:bodyPr wrap="square"/>
                    <a:lstStyle/>
                    <a:p>
                      <a:pPr algn="l"/>
                      <a:r>
                        <a:rPr sz="900" b="0" i="0">
                          <a:solidFill>
                            <a:srgbClr val="242B33"/>
                          </a:solidFill>
                          <a:latin typeface="Aptos"/>
                        </a:rPr>
                        <a:t>cả 3 họ · None thua (−0,0005 → −0,0009): cân lớp có ích với lớp hiếm</a:t>
                      </a:r>
                    </a:p>
                  </a:txBody>
                  <a:tcPr marL="54864" marR="54864" marT="27432" marB="27432" anchor="ctr">
                    <a:solidFill>
                      <a:srgbClr val="FFFFFF"/>
                    </a:solidFill>
                  </a:tcPr>
                </a:tc>
              </a:tr>
              <a:tr h="384048">
                <a:tc>
                  <a:txBody>
                    <a:bodyPr wrap="square"/>
                    <a:lstStyle/>
                    <a:p>
                      <a:pPr algn="l"/>
                      <a:r>
                        <a:rPr sz="800" b="1" i="0">
                          <a:solidFill>
                            <a:srgbClr val="242B33"/>
                          </a:solidFill>
                          <a:latin typeface="Courier New"/>
                        </a:rPr>
                        <a:t>prep__num__impute__strategy</a:t>
                      </a:r>
                    </a:p>
                  </a:txBody>
                  <a:tcPr marL="54864" marR="54864" marT="27432" marB="27432" anchor="ctr">
                    <a:solidFill>
                      <a:srgbClr val="F6F9FC"/>
                    </a:solidFill>
                  </a:tcPr>
                </a:tc>
                <a:tc>
                  <a:txBody>
                    <a:bodyPr wrap="square"/>
                    <a:lstStyle/>
                    <a:p>
                      <a:pPr algn="l"/>
                      <a:r>
                        <a:rPr sz="900" b="0" i="0">
                          <a:solidFill>
                            <a:srgbClr val="242B33"/>
                          </a:solidFill>
                          <a:latin typeface="Aptos"/>
                        </a:rPr>
                        <a:t>mean</a:t>
                      </a:r>
                    </a:p>
                  </a:txBody>
                  <a:tcPr marL="54864" marR="54864" marT="27432" marB="27432" anchor="ctr">
                    <a:solidFill>
                      <a:srgbClr val="F6F9FC"/>
                    </a:solidFill>
                  </a:tcPr>
                </a:tc>
                <a:tc>
                  <a:txBody>
                    <a:bodyPr wrap="square"/>
                    <a:lstStyle/>
                    <a:p>
                      <a:pPr algn="l"/>
                      <a:r>
                        <a:rPr sz="900" b="0" i="0">
                          <a:solidFill>
                            <a:srgbClr val="242B33"/>
                          </a:solidFill>
                          <a:latin typeface="Aptos"/>
                        </a:rPr>
                        <a:t>Logistic · mean ≈ median (chênh 0,0001) → không nhạy cách điền thiếu</a:t>
                      </a:r>
                    </a:p>
                  </a:txBody>
                  <a:tcPr marL="54864" marR="54864" marT="27432" marB="27432" anchor="ctr">
                    <a:solidFill>
                      <a:srgbClr val="F6F9FC"/>
                    </a:solidFill>
                  </a:tcPr>
                </a:tc>
              </a:tr>
            </a:tbl>
          </a:graphicData>
        </a:graphic>
      </p:graphicFrame>
      <p:sp>
        <p:nvSpPr>
          <p:cNvPr id="18" name="Rounded Rectangle 17"/>
          <p:cNvSpPr/>
          <p:nvPr/>
        </p:nvSpPr>
        <p:spPr>
          <a:xfrm>
            <a:off x="603504" y="5577840"/>
            <a:ext cx="11009376" cy="731520"/>
          </a:xfrm>
          <a:prstGeom prst="roundRect">
            <a:avLst>
              <a:gd name="adj" fmla="val 18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350" b="1" i="0">
                <a:solidFill>
                  <a:srgbClr val="FFFFFF"/>
                </a:solidFill>
                <a:latin typeface="Aptos"/>
              </a:rPr>
              <a:t>Tham số cấu trúc thắng ở CẢ HAI fold 2022 và 2023</a:t>
            </a:r>
            <a:r>
              <a:rPr sz="1300" b="0" i="0">
                <a:solidFill>
                  <a:srgbClr val="FFFFFF"/>
                </a:solidFill>
                <a:latin typeface="Aptos"/>
              </a:rPr>
              <a:t> — không phải may của một năm. Đỉnh nằm giữa lưới: Logistic C, RF min_samples_leaf. Ba tham số GBM ở mép lưới nhưng đường gần phẳng: giá trị kề bên chỉ kém ≤ 0,001.</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265176"/>
            <a:ext cx="10424160" cy="566928"/>
          </a:xfrm>
          <a:prstGeom prst="rect">
            <a:avLst/>
          </a:prstGeom>
          <a:noFill/>
        </p:spPr>
        <p:txBody>
          <a:bodyPr wrap="square" lIns="36576" tIns="36576" rIns="36576" bIns="36576" anchor="t">
            <a:noAutofit/>
          </a:bodyPr>
          <a:lstStyle/>
          <a:p>
            <a:pPr algn="l">
              <a:spcAft>
                <a:spcPts val="300"/>
              </a:spcAft>
            </a:pPr>
            <a:r>
              <a:rPr sz="2400" b="1" i="0">
                <a:solidFill>
                  <a:srgbClr val="162C46"/>
                </a:solidFill>
                <a:latin typeface="Aptos Display"/>
              </a:rPr>
              <a:t>MODELING — TUNE SIÊU THAM SỐ: LÀM THẾ NÀO &amp; VÌ SAO</a:t>
            </a:r>
          </a:p>
        </p:txBody>
      </p:sp>
      <p:cxnSp>
        <p:nvCxnSpPr>
          <p:cNvPr id="3" name="Connector 2"/>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583680"/>
            <a:ext cx="4023360" cy="182880"/>
          </a:xfrm>
          <a:prstGeom prst="rect">
            <a:avLst/>
          </a:prstGeom>
          <a:noFill/>
        </p:spPr>
        <p:txBody>
          <a:bodyPr wrap="square" lIns="36576" tIns="36576" rIns="36576" bIns="36576" anchor="t">
            <a:noAutofit/>
          </a:bodyPr>
          <a:lstStyle/>
          <a:p>
            <a:pPr algn="l">
              <a:spcAft>
                <a:spcPts val="300"/>
              </a:spcAft>
            </a:pPr>
            <a:r>
              <a:rPr sz="850" b="0" i="0">
                <a:solidFill>
                  <a:srgbClr val="5E6A78"/>
                </a:solidFill>
                <a:latin typeface="Aptos"/>
              </a:rPr>
              <a:t>Cơ sở Khoa học Dữ liệu  •  SLA &amp; Customer Experience</a:t>
            </a:r>
          </a:p>
        </p:txBody>
      </p:sp>
      <p:sp>
        <p:nvSpPr>
          <p:cNvPr id="6" name="TextBox 5"/>
          <p:cNvSpPr txBox="1"/>
          <p:nvPr/>
        </p:nvSpPr>
        <p:spPr>
          <a:xfrm>
            <a:off x="11201400" y="6567055"/>
            <a:ext cx="365760" cy="166255"/>
          </a:xfrm>
          <a:prstGeom prst="rect">
            <a:avLst/>
          </a:prstGeom>
          <a:noFill/>
        </p:spPr>
        <p:txBody>
          <a:bodyPr wrap="square" lIns="36576" tIns="36576" rIns="36576" bIns="36576" anchor="t">
            <a:noAutofit/>
          </a:bodyPr>
          <a:lstStyle/>
          <a:p>
            <a:pPr algn="l">
              <a:spcAft>
                <a:spcPts val="300"/>
              </a:spcAft>
            </a:pPr>
            <a:r>
              <a:rPr sz="850" b="0" i="0">
                <a:solidFill>
                  <a:srgbClr val="5E6A78"/>
                </a:solidFill>
                <a:latin typeface="Aptos"/>
              </a:rPr>
              <a:t>23</a:t>
            </a:r>
          </a:p>
        </p:txBody>
      </p:sp>
      <p:sp>
        <p:nvSpPr>
          <p:cNvPr id="7" name="Rounded Rectangle 6"/>
          <p:cNvSpPr/>
          <p:nvPr/>
        </p:nvSpPr>
        <p:spPr>
          <a:xfrm>
            <a:off x="603504" y="1024128"/>
            <a:ext cx="3566160" cy="1371600"/>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13232" y="1069848"/>
            <a:ext cx="3383280" cy="274320"/>
          </a:xfrm>
          <a:prstGeom prst="rect">
            <a:avLst/>
          </a:prstGeom>
          <a:noFill/>
        </p:spPr>
        <p:txBody>
          <a:bodyPr wrap="square" lIns="36576" tIns="36576" rIns="36576" bIns="36576" anchor="t">
            <a:noAutofit/>
          </a:bodyPr>
          <a:lstStyle/>
          <a:p>
            <a:pPr algn="l">
              <a:spcAft>
                <a:spcPts val="300"/>
              </a:spcAft>
            </a:pPr>
            <a:r>
              <a:rPr sz="1250" b="1" i="0">
                <a:solidFill>
                  <a:srgbClr val="162C46"/>
                </a:solidFill>
                <a:latin typeface="Aptos"/>
              </a:rPr>
              <a:t>RANDOM SEARCH · 40 CẤU HÌNH (GBM)</a:t>
            </a:r>
          </a:p>
        </p:txBody>
      </p:sp>
      <p:sp>
        <p:nvSpPr>
          <p:cNvPr id="9" name="TextBox 8"/>
          <p:cNvSpPr txBox="1"/>
          <p:nvPr/>
        </p:nvSpPr>
        <p:spPr>
          <a:xfrm>
            <a:off x="713232" y="1371600"/>
            <a:ext cx="3383280" cy="1005840"/>
          </a:xfrm>
          <a:prstGeom prst="rect">
            <a:avLst/>
          </a:prstGeom>
          <a:noFill/>
        </p:spPr>
        <p:txBody>
          <a:bodyPr wrap="square" lIns="36576" tIns="36576" rIns="36576" bIns="36576" anchor="t">
            <a:noAutofit/>
          </a:bodyPr>
          <a:lstStyle/>
          <a:p>
            <a:pPr marL="164592" indent="-164592" algn="l">
              <a:spcAft>
                <a:spcPts val="300"/>
              </a:spcAft>
              <a:buClr>
                <a:srgbClr val="2F639D"/>
              </a:buClr>
              <a:buChar char="•"/>
            </a:pPr>
            <a:r>
              <a:rPr sz="1100" b="0" i="0">
                <a:solidFill>
                  <a:srgbClr val="5E6A78"/>
                </a:solidFill>
                <a:latin typeface="Aptos"/>
              </a:rPr>
              <a:t>ParameterSampler, seed 42</a:t>
            </a:r>
          </a:p>
          <a:p>
            <a:pPr marL="164592" indent="-164592" algn="l">
              <a:spcAft>
                <a:spcPts val="300"/>
              </a:spcAft>
              <a:buClr>
                <a:srgbClr val="2F639D"/>
              </a:buClr>
              <a:buChar char="•"/>
            </a:pPr>
            <a:r>
              <a:rPr sz="1100" b="0" i="0">
                <a:solidFill>
                  <a:srgbClr val="5E6A78"/>
                </a:solidFill>
                <a:latin typeface="Aptos"/>
              </a:rPr>
              <a:t>6 chiều cho GBM (liên tục + rời rạc) · logistic thêm 15 cấu hình C</a:t>
            </a:r>
          </a:p>
          <a:p>
            <a:pPr marL="164592" indent="-164592" algn="l">
              <a:spcAft>
                <a:spcPts val="300"/>
              </a:spcAft>
              <a:buClr>
                <a:srgbClr val="2F639D"/>
              </a:buClr>
              <a:buChar char="•"/>
            </a:pPr>
            <a:r>
              <a:rPr sz="1100" b="0" i="0">
                <a:solidFill>
                  <a:srgbClr val="5E6A78"/>
                </a:solidFill>
                <a:latin typeface="Aptos"/>
              </a:rPr>
              <a:t>Bộ thắng ở đây mới đi vào M7; GridSearchCV (slide 21–22) dùng để so ba họ &amp; giải thích</a:t>
            </a:r>
          </a:p>
        </p:txBody>
      </p:sp>
      <p:sp>
        <p:nvSpPr>
          <p:cNvPr id="10" name="Rounded Rectangle 9"/>
          <p:cNvSpPr/>
          <p:nvPr/>
        </p:nvSpPr>
        <p:spPr>
          <a:xfrm>
            <a:off x="4306824" y="1024128"/>
            <a:ext cx="3566160" cy="1371600"/>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16552" y="1069848"/>
            <a:ext cx="3383280" cy="274320"/>
          </a:xfrm>
          <a:prstGeom prst="rect">
            <a:avLst/>
          </a:prstGeom>
          <a:noFill/>
        </p:spPr>
        <p:txBody>
          <a:bodyPr wrap="square" lIns="36576" tIns="36576" rIns="36576" bIns="36576" anchor="t">
            <a:noAutofit/>
          </a:bodyPr>
          <a:lstStyle/>
          <a:p>
            <a:pPr algn="l">
              <a:spcAft>
                <a:spcPts val="300"/>
              </a:spcAft>
            </a:pPr>
            <a:r>
              <a:rPr sz="1250" b="1" i="0">
                <a:solidFill>
                  <a:srgbClr val="162C46"/>
                </a:solidFill>
                <a:latin typeface="Aptos"/>
              </a:rPr>
              <a:t>CV THEO THỜI GIAN · 2 FOLD</a:t>
            </a:r>
          </a:p>
        </p:txBody>
      </p:sp>
      <p:sp>
        <p:nvSpPr>
          <p:cNvPr id="12" name="TextBox 11"/>
          <p:cNvSpPr txBox="1"/>
          <p:nvPr/>
        </p:nvSpPr>
        <p:spPr>
          <a:xfrm>
            <a:off x="4416552" y="1371600"/>
            <a:ext cx="3383280" cy="1005840"/>
          </a:xfrm>
          <a:prstGeom prst="rect">
            <a:avLst/>
          </a:prstGeom>
          <a:noFill/>
        </p:spPr>
        <p:txBody>
          <a:bodyPr wrap="square" lIns="36576" tIns="36576" rIns="36576" bIns="36576" anchor="t">
            <a:noAutofit/>
          </a:bodyPr>
          <a:lstStyle/>
          <a:p>
            <a:pPr marL="164592" indent="-164592" algn="l">
              <a:spcAft>
                <a:spcPts val="300"/>
              </a:spcAft>
              <a:buClr>
                <a:srgbClr val="2F639D"/>
              </a:buClr>
              <a:buChar char="•"/>
            </a:pPr>
            <a:r>
              <a:rPr sz="1100" b="0" i="0">
                <a:solidFill>
                  <a:srgbClr val="5E6A78"/>
                </a:solidFill>
                <a:latin typeface="Aptos"/>
              </a:rPr>
              <a:t>train ≤2021 → val 2022 · train ≤2022 → val 2023</a:t>
            </a:r>
          </a:p>
          <a:p>
            <a:pPr marL="164592" indent="-164592" algn="l">
              <a:spcAft>
                <a:spcPts val="300"/>
              </a:spcAft>
              <a:buClr>
                <a:srgbClr val="2F639D"/>
              </a:buClr>
              <a:buChar char="•"/>
            </a:pPr>
            <a:r>
              <a:rPr sz="1100" b="0" i="0">
                <a:solidFill>
                  <a:srgbClr val="5E6A78"/>
                </a:solidFill>
                <a:latin typeface="Aptos"/>
              </a:rPr>
              <a:t>Không KFold: xáo trộn cho PR-AUC </a:t>
            </a:r>
            <a:r>
              <a:rPr sz="1100" b="1" i="0">
                <a:solidFill>
                  <a:srgbClr val="B14242"/>
                </a:solidFill>
                <a:latin typeface="Aptos"/>
              </a:rPr>
              <a:t>0,130</a:t>
            </a:r>
            <a:r>
              <a:rPr sz="1100" b="0" i="0">
                <a:solidFill>
                  <a:srgbClr val="5E6A78"/>
                </a:solidFill>
                <a:latin typeface="Aptos"/>
              </a:rPr>
              <a:t> vs </a:t>
            </a:r>
            <a:r>
              <a:rPr sz="1100" b="1" i="0">
                <a:solidFill>
                  <a:srgbClr val="162C46"/>
                </a:solidFill>
                <a:latin typeface="Aptos"/>
              </a:rPr>
              <a:t>0,055</a:t>
            </a:r>
            <a:r>
              <a:rPr sz="1100" b="0" i="0">
                <a:solidFill>
                  <a:srgbClr val="5E6A78"/>
                </a:solidFill>
                <a:latin typeface="Aptos"/>
              </a:rPr>
              <a:t> theo năm — điểm ảo ×2,3</a:t>
            </a:r>
          </a:p>
        </p:txBody>
      </p:sp>
      <p:sp>
        <p:nvSpPr>
          <p:cNvPr id="13" name="Rounded Rectangle 12"/>
          <p:cNvSpPr/>
          <p:nvPr/>
        </p:nvSpPr>
        <p:spPr>
          <a:xfrm>
            <a:off x="8010144" y="1024128"/>
            <a:ext cx="3566160" cy="1371600"/>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19871" y="1069848"/>
            <a:ext cx="3383280" cy="274320"/>
          </a:xfrm>
          <a:prstGeom prst="rect">
            <a:avLst/>
          </a:prstGeom>
          <a:noFill/>
        </p:spPr>
        <p:txBody>
          <a:bodyPr wrap="square" lIns="36576" tIns="36576" rIns="36576" bIns="36576" anchor="t">
            <a:noAutofit/>
          </a:bodyPr>
          <a:lstStyle/>
          <a:p>
            <a:pPr algn="l">
              <a:spcAft>
                <a:spcPts val="300"/>
              </a:spcAft>
            </a:pPr>
            <a:r>
              <a:rPr sz="1250" b="1" i="0">
                <a:solidFill>
                  <a:srgbClr val="162C46"/>
                </a:solidFill>
                <a:latin typeface="Aptos"/>
              </a:rPr>
              <a:t>ĐIỂM = PR-AUC CÓ TRỌNG SỐ</a:t>
            </a:r>
          </a:p>
        </p:txBody>
      </p:sp>
      <p:sp>
        <p:nvSpPr>
          <p:cNvPr id="15" name="TextBox 14"/>
          <p:cNvSpPr txBox="1"/>
          <p:nvPr/>
        </p:nvSpPr>
        <p:spPr>
          <a:xfrm>
            <a:off x="8119871" y="1371600"/>
            <a:ext cx="3383280" cy="1005840"/>
          </a:xfrm>
          <a:prstGeom prst="rect">
            <a:avLst/>
          </a:prstGeom>
          <a:noFill/>
        </p:spPr>
        <p:txBody>
          <a:bodyPr wrap="square" lIns="36576" tIns="36576" rIns="36576" bIns="36576" anchor="t">
            <a:noAutofit/>
          </a:bodyPr>
          <a:lstStyle/>
          <a:p>
            <a:pPr marL="164592" indent="-164592" algn="l">
              <a:spcAft>
                <a:spcPts val="300"/>
              </a:spcAft>
              <a:buClr>
                <a:srgbClr val="2F639D"/>
              </a:buClr>
              <a:buChar char="•"/>
            </a:pPr>
            <a:r>
              <a:rPr sz="1100" b="0" i="0">
                <a:solidFill>
                  <a:srgbClr val="5E6A78"/>
                </a:solidFill>
                <a:latin typeface="Aptos"/>
              </a:rPr>
              <a:t>lớp dương ~2–4% → accuracy vô nghĩa (đoán toàn "không" đã 97%)</a:t>
            </a:r>
          </a:p>
          <a:p>
            <a:pPr marL="164592" indent="-164592" algn="l">
              <a:spcAft>
                <a:spcPts val="300"/>
              </a:spcAft>
              <a:buClr>
                <a:srgbClr val="2F639D"/>
              </a:buClr>
              <a:buChar char="•"/>
            </a:pPr>
            <a:r>
              <a:rPr sz="1100" b="0" i="0">
                <a:solidFill>
                  <a:srgbClr val="5E6A78"/>
                </a:solidFill>
                <a:latin typeface="Aptos"/>
              </a:rPr>
              <a:t>chấm bằng trọng số khảo sát → điểm của quần thể</a:t>
            </a:r>
          </a:p>
        </p:txBody>
      </p:sp>
      <p:graphicFrame>
        <p:nvGraphicFramePr>
          <p:cNvPr id="16" name="Table 15"/>
          <p:cNvGraphicFramePr>
            <a:graphicFrameLocks noGrp="1"/>
          </p:cNvGraphicFramePr>
          <p:nvPr/>
        </p:nvGraphicFramePr>
        <p:xfrm>
          <a:off x="603504" y="2542032"/>
          <a:ext cx="11009376" cy="2962656"/>
        </p:xfrm>
        <a:graphic>
          <a:graphicData uri="http://schemas.openxmlformats.org/drawingml/2006/table">
            <a:tbl>
              <a:tblPr firstRow="1">
                <a:tableStyleId>{5C22544A-7EE6-4342-B048-85BDC9FD1C3A}</a:tableStyleId>
              </a:tblPr>
              <a:tblGrid>
                <a:gridCol w="178308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5394960">
                  <a:extLst>
                    <a:ext uri="{9D8B030D-6E8A-4147-A177-3AD203B41FA5}">
                      <a16:colId xmlns:a16="http://schemas.microsoft.com/office/drawing/2014/main" val="20002"/>
                    </a:ext>
                  </a:extLst>
                </a:gridCol>
                <a:gridCol w="1499616">
                  <a:extLst>
                    <a:ext uri="{9D8B030D-6E8A-4147-A177-3AD203B41FA5}">
                      <a16:colId xmlns:a16="http://schemas.microsoft.com/office/drawing/2014/main" val="20003"/>
                    </a:ext>
                  </a:extLst>
                </a:gridCol>
              </a:tblGrid>
              <a:tr h="329184">
                <a:tc>
                  <a:txBody>
                    <a:bodyPr/>
                    <a:lstStyle/>
                    <a:p>
                      <a:pPr algn="l"/>
                      <a:r>
                        <a:rPr sz="1100" b="1" i="0">
                          <a:solidFill>
                            <a:srgbClr val="FFFFFF"/>
                          </a:solidFill>
                          <a:latin typeface="Aptos"/>
                        </a:rPr>
                        <a:t>Siêu tham số</a:t>
                      </a:r>
                    </a:p>
                  </a:txBody>
                  <a:tcPr marL="54864" marR="54864" marT="27432" marB="27432" anchor="ctr">
                    <a:solidFill>
                      <a:srgbClr val="162C46"/>
                    </a:solidFill>
                  </a:tcPr>
                </a:tc>
                <a:tc>
                  <a:txBody>
                    <a:bodyPr/>
                    <a:lstStyle/>
                    <a:p>
                      <a:pPr algn="l"/>
                      <a:r>
                        <a:rPr sz="1100" b="1" i="0">
                          <a:solidFill>
                            <a:srgbClr val="FFFFFF"/>
                          </a:solidFill>
                          <a:latin typeface="Aptos"/>
                        </a:rPr>
                        <a:t>Khoảng tìm</a:t>
                      </a:r>
                    </a:p>
                  </a:txBody>
                  <a:tcPr marL="54864" marR="54864" marT="27432" marB="27432" anchor="ctr">
                    <a:solidFill>
                      <a:srgbClr val="162C46"/>
                    </a:solidFill>
                  </a:tcPr>
                </a:tc>
                <a:tc>
                  <a:txBody>
                    <a:bodyPr/>
                    <a:lstStyle/>
                    <a:p>
                      <a:pPr algn="l"/>
                      <a:r>
                        <a:rPr sz="1100" b="1" i="0">
                          <a:solidFill>
                            <a:srgbClr val="FFFFFF"/>
                          </a:solidFill>
                          <a:latin typeface="Aptos"/>
                        </a:rPr>
                        <a:t>Tác động — vì sao tìm ở đó</a:t>
                      </a:r>
                    </a:p>
                  </a:txBody>
                  <a:tcPr marL="54864" marR="54864" marT="27432" marB="27432" anchor="ctr">
                    <a:solidFill>
                      <a:srgbClr val="162C46"/>
                    </a:solidFill>
                  </a:tcPr>
                </a:tc>
                <a:tc>
                  <a:txBody>
                    <a:bodyPr/>
                    <a:lstStyle/>
                    <a:p>
                      <a:pPr algn="l"/>
                      <a:r>
                        <a:rPr sz="1100" b="1" i="0">
                          <a:solidFill>
                            <a:srgbClr val="FFFFFF"/>
                          </a:solidFill>
                          <a:latin typeface="Aptos"/>
                        </a:rPr>
                        <a:t>Giá trị thắng</a:t>
                      </a:r>
                    </a:p>
                  </a:txBody>
                  <a:tcPr marL="54864" marR="54864" marT="27432" marB="27432" anchor="ctr">
                    <a:solidFill>
                      <a:srgbClr val="162C46"/>
                    </a:solidFill>
                  </a:tcPr>
                </a:tc>
                <a:extLst>
                  <a:ext uri="{0D108BD9-81ED-4DB2-BD59-A6C34878D82A}">
                    <a16:rowId xmlns:a16="http://schemas.microsoft.com/office/drawing/2014/main" val="10000"/>
                  </a:ext>
                </a:extLst>
              </a:tr>
              <a:tr h="329184">
                <a:tc>
                  <a:txBody>
                    <a:bodyPr/>
                    <a:lstStyle/>
                    <a:p>
                      <a:pPr algn="l"/>
                      <a:r>
                        <a:rPr sz="1100" b="1" i="0">
                          <a:solidFill>
                            <a:srgbClr val="242B33"/>
                          </a:solidFill>
                          <a:latin typeface="Aptos"/>
                        </a:rPr>
                        <a:t>learning_rate η</a:t>
                      </a:r>
                    </a:p>
                  </a:txBody>
                  <a:tcPr marL="54864" marR="54864" marT="27432" marB="27432" anchor="ctr">
                    <a:solidFill>
                      <a:srgbClr val="FFFFFF"/>
                    </a:solidFill>
                  </a:tcPr>
                </a:tc>
                <a:tc>
                  <a:txBody>
                    <a:bodyPr/>
                    <a:lstStyle/>
                    <a:p>
                      <a:pPr algn="l"/>
                      <a:r>
                        <a:rPr sz="1100" b="0" i="0">
                          <a:solidFill>
                            <a:srgbClr val="242B33"/>
                          </a:solidFill>
                          <a:latin typeface="Aptos"/>
                        </a:rPr>
                        <a:t>log-uniform [0,02; 0,2]</a:t>
                      </a:r>
                    </a:p>
                  </a:txBody>
                  <a:tcPr marL="54864" marR="54864" marT="27432" marB="27432" anchor="ctr">
                    <a:solidFill>
                      <a:srgbClr val="FFFFFF"/>
                    </a:solidFill>
                  </a:tcPr>
                </a:tc>
                <a:tc>
                  <a:txBody>
                    <a:bodyPr/>
                    <a:lstStyle/>
                    <a:p>
                      <a:pPr algn="l"/>
                      <a:r>
                        <a:rPr sz="1100" b="0" i="0">
                          <a:solidFill>
                            <a:srgbClr val="242B33"/>
                          </a:solidFill>
                          <a:latin typeface="Aptos"/>
                        </a:rPr>
                        <a:t>nhỏ → nhiều cây, mượt, ít quá khớp; log vì tác động theo bậc độ lớn</a:t>
                      </a:r>
                    </a:p>
                  </a:txBody>
                  <a:tcPr marL="54864" marR="54864" marT="27432" marB="27432" anchor="ctr">
                    <a:solidFill>
                      <a:srgbClr val="FFFFFF"/>
                    </a:solidFill>
                  </a:tcPr>
                </a:tc>
                <a:tc>
                  <a:txBody>
                    <a:bodyPr/>
                    <a:lstStyle/>
                    <a:p>
                      <a:pPr algn="r"/>
                      <a:r>
                        <a:rPr sz="1100" b="0" i="0">
                          <a:solidFill>
                            <a:srgbClr val="242B33"/>
                          </a:solidFill>
                          <a:latin typeface="Aptos"/>
                        </a:rPr>
                        <a:t>0,0225</a:t>
                      </a:r>
                    </a:p>
                  </a:txBody>
                  <a:tcPr marL="54864" marR="54864" marT="27432" marB="27432" anchor="ctr">
                    <a:solidFill>
                      <a:srgbClr val="FFFFFF"/>
                    </a:solidFill>
                  </a:tcPr>
                </a:tc>
                <a:extLst>
                  <a:ext uri="{0D108BD9-81ED-4DB2-BD59-A6C34878D82A}">
                    <a16:rowId xmlns:a16="http://schemas.microsoft.com/office/drawing/2014/main" val="10001"/>
                  </a:ext>
                </a:extLst>
              </a:tr>
              <a:tr h="329184">
                <a:tc>
                  <a:txBody>
                    <a:bodyPr/>
                    <a:lstStyle/>
                    <a:p>
                      <a:pPr algn="l"/>
                      <a:r>
                        <a:rPr sz="1100" b="1" i="0">
                          <a:solidFill>
                            <a:srgbClr val="242B33"/>
                          </a:solidFill>
                          <a:latin typeface="Aptos"/>
                        </a:rPr>
                        <a:t>max_leaf_nodes</a:t>
                      </a:r>
                    </a:p>
                  </a:txBody>
                  <a:tcPr marL="54864" marR="54864" marT="27432" marB="27432" anchor="ctr">
                    <a:solidFill>
                      <a:srgbClr val="F6F9FC"/>
                    </a:solidFill>
                  </a:tcPr>
                </a:tc>
                <a:tc>
                  <a:txBody>
                    <a:bodyPr/>
                    <a:lstStyle/>
                    <a:p>
                      <a:pPr algn="l"/>
                      <a:r>
                        <a:rPr sz="1100" b="0" i="0">
                          <a:solidFill>
                            <a:srgbClr val="242B33"/>
                          </a:solidFill>
                          <a:latin typeface="Aptos"/>
                        </a:rPr>
                        <a:t>nguyên [8; 64)</a:t>
                      </a:r>
                    </a:p>
                  </a:txBody>
                  <a:tcPr marL="54864" marR="54864" marT="27432" marB="27432" anchor="ctr">
                    <a:solidFill>
                      <a:srgbClr val="F6F9FC"/>
                    </a:solidFill>
                  </a:tcPr>
                </a:tc>
                <a:tc>
                  <a:txBody>
                    <a:bodyPr/>
                    <a:lstStyle/>
                    <a:p>
                      <a:pPr algn="l"/>
                      <a:r>
                        <a:rPr sz="1100" b="0" i="0">
                          <a:solidFill>
                            <a:srgbClr val="242B33"/>
                          </a:solidFill>
                          <a:latin typeface="Aptos"/>
                        </a:rPr>
                        <a:t>số lá = bậc tương tác; nhiều lá → chệch thấp, phương sai cao</a:t>
                      </a:r>
                    </a:p>
                  </a:txBody>
                  <a:tcPr marL="54864" marR="54864" marT="27432" marB="27432" anchor="ctr">
                    <a:solidFill>
                      <a:srgbClr val="F6F9FC"/>
                    </a:solidFill>
                  </a:tcPr>
                </a:tc>
                <a:tc>
                  <a:txBody>
                    <a:bodyPr/>
                    <a:lstStyle/>
                    <a:p>
                      <a:pPr algn="r"/>
                      <a:r>
                        <a:rPr sz="1100" b="0" i="0">
                          <a:solidFill>
                            <a:srgbClr val="242B33"/>
                          </a:solidFill>
                          <a:latin typeface="Aptos"/>
                        </a:rPr>
                        <a:t>8 (mép dưới)</a:t>
                      </a:r>
                    </a:p>
                  </a:txBody>
                  <a:tcPr marL="54864" marR="54864" marT="27432" marB="27432" anchor="ctr">
                    <a:solidFill>
                      <a:srgbClr val="F6F9FC"/>
                    </a:solidFill>
                  </a:tcPr>
                </a:tc>
                <a:extLst>
                  <a:ext uri="{0D108BD9-81ED-4DB2-BD59-A6C34878D82A}">
                    <a16:rowId xmlns:a16="http://schemas.microsoft.com/office/drawing/2014/main" val="10002"/>
                  </a:ext>
                </a:extLst>
              </a:tr>
              <a:tr h="329184">
                <a:tc>
                  <a:txBody>
                    <a:bodyPr/>
                    <a:lstStyle/>
                    <a:p>
                      <a:pPr algn="l"/>
                      <a:r>
                        <a:rPr sz="1100" b="1" i="0">
                          <a:solidFill>
                            <a:srgbClr val="242B33"/>
                          </a:solidFill>
                          <a:latin typeface="Aptos"/>
                        </a:rPr>
                        <a:t>min_samples_leaf</a:t>
                      </a:r>
                    </a:p>
                  </a:txBody>
                  <a:tcPr marL="54864" marR="54864" marT="27432" marB="27432" anchor="ctr">
                    <a:solidFill>
                      <a:srgbClr val="FFFFFF"/>
                    </a:solidFill>
                  </a:tcPr>
                </a:tc>
                <a:tc>
                  <a:txBody>
                    <a:bodyPr/>
                    <a:lstStyle/>
                    <a:p>
                      <a:pPr algn="l"/>
                      <a:r>
                        <a:rPr sz="1100" b="0" i="0">
                          <a:solidFill>
                            <a:srgbClr val="242B33"/>
                          </a:solidFill>
                          <a:latin typeface="Aptos"/>
                        </a:rPr>
                        <a:t>{20, 50, 100, 200, 400, 800}</a:t>
                      </a:r>
                    </a:p>
                  </a:txBody>
                  <a:tcPr marL="54864" marR="54864" marT="27432" marB="27432" anchor="ctr">
                    <a:solidFill>
                      <a:srgbClr val="FFFFFF"/>
                    </a:solidFill>
                  </a:tcPr>
                </a:tc>
                <a:tc>
                  <a:txBody>
                    <a:bodyPr/>
                    <a:lstStyle/>
                    <a:p>
                      <a:pPr algn="l"/>
                      <a:r>
                        <a:rPr sz="1100" b="0" i="0">
                          <a:solidFill>
                            <a:srgbClr val="242B33"/>
                          </a:solidFill>
                          <a:latin typeface="Aptos"/>
                        </a:rPr>
                        <a:t>lớp dương hiếm: lá quá nhỏ chỉ có 0–1 ca dương → học nhiễu</a:t>
                      </a:r>
                    </a:p>
                  </a:txBody>
                  <a:tcPr marL="54864" marR="54864" marT="27432" marB="27432" anchor="ctr">
                    <a:solidFill>
                      <a:srgbClr val="FFFFFF"/>
                    </a:solidFill>
                  </a:tcPr>
                </a:tc>
                <a:tc>
                  <a:txBody>
                    <a:bodyPr/>
                    <a:lstStyle/>
                    <a:p>
                      <a:pPr algn="r"/>
                      <a:r>
                        <a:rPr sz="1100" b="0" i="0">
                          <a:solidFill>
                            <a:srgbClr val="242B33"/>
                          </a:solidFill>
                          <a:latin typeface="Aptos"/>
                        </a:rPr>
                        <a:t>100</a:t>
                      </a:r>
                    </a:p>
                  </a:txBody>
                  <a:tcPr marL="54864" marR="54864" marT="27432" marB="27432" anchor="ctr">
                    <a:solidFill>
                      <a:srgbClr val="FFFFFF"/>
                    </a:solidFill>
                  </a:tcPr>
                </a:tc>
                <a:extLst>
                  <a:ext uri="{0D108BD9-81ED-4DB2-BD59-A6C34878D82A}">
                    <a16:rowId xmlns:a16="http://schemas.microsoft.com/office/drawing/2014/main" val="10003"/>
                  </a:ext>
                </a:extLst>
              </a:tr>
              <a:tr h="329184">
                <a:tc>
                  <a:txBody>
                    <a:bodyPr/>
                    <a:lstStyle/>
                    <a:p>
                      <a:pPr algn="l"/>
                      <a:r>
                        <a:rPr sz="1100" b="1" i="0">
                          <a:solidFill>
                            <a:srgbClr val="242B33"/>
                          </a:solidFill>
                          <a:latin typeface="Aptos"/>
                        </a:rPr>
                        <a:t>l2_regularization λ</a:t>
                      </a:r>
                    </a:p>
                  </a:txBody>
                  <a:tcPr marL="54864" marR="54864" marT="27432" marB="27432" anchor="ctr">
                    <a:solidFill>
                      <a:srgbClr val="F6F9FC"/>
                    </a:solidFill>
                  </a:tcPr>
                </a:tc>
                <a:tc>
                  <a:txBody>
                    <a:bodyPr/>
                    <a:lstStyle/>
                    <a:p>
                      <a:pPr algn="l"/>
                      <a:r>
                        <a:rPr sz="1100" b="0" i="0">
                          <a:solidFill>
                            <a:srgbClr val="242B33"/>
                          </a:solidFill>
                          <a:latin typeface="Aptos"/>
                        </a:rPr>
                        <a:t>log-uniform [10⁻³; 10]</a:t>
                      </a:r>
                    </a:p>
                  </a:txBody>
                  <a:tcPr marL="54864" marR="54864" marT="27432" marB="27432" anchor="ctr">
                    <a:solidFill>
                      <a:srgbClr val="F6F9FC"/>
                    </a:solidFill>
                  </a:tcPr>
                </a:tc>
                <a:tc>
                  <a:txBody>
                    <a:bodyPr/>
                    <a:lstStyle/>
                    <a:p>
                      <a:pPr algn="l"/>
                      <a:r>
                        <a:rPr sz="1100" b="0" i="0">
                          <a:solidFill>
                            <a:srgbClr val="242B33"/>
                          </a:solidFill>
                          <a:latin typeface="Aptos"/>
                        </a:rPr>
                        <a:t>co giá trị lá về 0: w* = −G / (H + λ)</a:t>
                      </a:r>
                    </a:p>
                  </a:txBody>
                  <a:tcPr marL="54864" marR="54864" marT="27432" marB="27432" anchor="ctr">
                    <a:solidFill>
                      <a:srgbClr val="F6F9FC"/>
                    </a:solidFill>
                  </a:tcPr>
                </a:tc>
                <a:tc>
                  <a:txBody>
                    <a:bodyPr/>
                    <a:lstStyle/>
                    <a:p>
                      <a:pPr algn="r"/>
                      <a:r>
                        <a:rPr sz="1100" b="0" i="0">
                          <a:solidFill>
                            <a:srgbClr val="242B33"/>
                          </a:solidFill>
                          <a:latin typeface="Aptos"/>
                        </a:rPr>
                        <a:t>0,1025</a:t>
                      </a:r>
                    </a:p>
                  </a:txBody>
                  <a:tcPr marL="54864" marR="54864" marT="27432" marB="27432" anchor="ctr">
                    <a:solidFill>
                      <a:srgbClr val="F6F9FC"/>
                    </a:solidFill>
                  </a:tcPr>
                </a:tc>
                <a:extLst>
                  <a:ext uri="{0D108BD9-81ED-4DB2-BD59-A6C34878D82A}">
                    <a16:rowId xmlns:a16="http://schemas.microsoft.com/office/drawing/2014/main" val="10004"/>
                  </a:ext>
                </a:extLst>
              </a:tr>
              <a:tr h="329184">
                <a:tc>
                  <a:txBody>
                    <a:bodyPr/>
                    <a:lstStyle/>
                    <a:p>
                      <a:pPr algn="l"/>
                      <a:r>
                        <a:rPr sz="1100" b="1" i="0">
                          <a:solidFill>
                            <a:srgbClr val="242B33"/>
                          </a:solidFill>
                          <a:latin typeface="Aptos"/>
                        </a:rPr>
                        <a:t>max_features</a:t>
                      </a:r>
                    </a:p>
                  </a:txBody>
                  <a:tcPr marL="54864" marR="54864" marT="27432" marB="27432" anchor="ctr">
                    <a:solidFill>
                      <a:srgbClr val="FFFFFF"/>
                    </a:solidFill>
                  </a:tcPr>
                </a:tc>
                <a:tc>
                  <a:txBody>
                    <a:bodyPr/>
                    <a:lstStyle/>
                    <a:p>
                      <a:pPr algn="l"/>
                      <a:r>
                        <a:rPr sz="1100" b="0" i="0">
                          <a:solidFill>
                            <a:srgbClr val="242B33"/>
                          </a:solidFill>
                          <a:latin typeface="Aptos"/>
                        </a:rPr>
                        <a:t>uniform [0,4; 1,0]</a:t>
                      </a:r>
                    </a:p>
                  </a:txBody>
                  <a:tcPr marL="54864" marR="54864" marT="27432" marB="27432" anchor="ctr">
                    <a:solidFill>
                      <a:srgbClr val="FFFFFF"/>
                    </a:solidFill>
                  </a:tcPr>
                </a:tc>
                <a:tc>
                  <a:txBody>
                    <a:bodyPr/>
                    <a:lstStyle/>
                    <a:p>
                      <a:pPr algn="l"/>
                      <a:r>
                        <a:rPr sz="1100" b="0" i="0">
                          <a:solidFill>
                            <a:srgbClr val="242B33"/>
                          </a:solidFill>
                          <a:latin typeface="Aptos"/>
                        </a:rPr>
                        <a:t>chọn ngẫu nhiên feature mỗi lần tách → các cây ít tương quan</a:t>
                      </a:r>
                    </a:p>
                  </a:txBody>
                  <a:tcPr marL="54864" marR="54864" marT="27432" marB="27432" anchor="ctr">
                    <a:solidFill>
                      <a:srgbClr val="FFFFFF"/>
                    </a:solidFill>
                  </a:tcPr>
                </a:tc>
                <a:tc>
                  <a:txBody>
                    <a:bodyPr/>
                    <a:lstStyle/>
                    <a:p>
                      <a:pPr algn="r"/>
                      <a:r>
                        <a:rPr sz="1100" b="0" i="0">
                          <a:solidFill>
                            <a:srgbClr val="242B33"/>
                          </a:solidFill>
                          <a:latin typeface="Aptos"/>
                        </a:rPr>
                        <a:t>0,607</a:t>
                      </a:r>
                    </a:p>
                  </a:txBody>
                  <a:tcPr marL="54864" marR="54864" marT="27432" marB="27432" anchor="ctr">
                    <a:solidFill>
                      <a:srgbClr val="FFFFFF"/>
                    </a:solidFill>
                  </a:tcPr>
                </a:tc>
                <a:extLst>
                  <a:ext uri="{0D108BD9-81ED-4DB2-BD59-A6C34878D82A}">
                    <a16:rowId xmlns:a16="http://schemas.microsoft.com/office/drawing/2014/main" val="10005"/>
                  </a:ext>
                </a:extLst>
              </a:tr>
              <a:tr h="329184">
                <a:tc>
                  <a:txBody>
                    <a:bodyPr/>
                    <a:lstStyle/>
                    <a:p>
                      <a:pPr algn="l"/>
                      <a:r>
                        <a:rPr sz="1100" b="1" i="0">
                          <a:solidFill>
                            <a:srgbClr val="242B33"/>
                          </a:solidFill>
                          <a:latin typeface="Aptos"/>
                        </a:rPr>
                        <a:t>max_depth</a:t>
                      </a:r>
                    </a:p>
                  </a:txBody>
                  <a:tcPr marL="54864" marR="54864" marT="27432" marB="27432" anchor="ctr">
                    <a:solidFill>
                      <a:srgbClr val="F6F9FC"/>
                    </a:solidFill>
                  </a:tcPr>
                </a:tc>
                <a:tc>
                  <a:txBody>
                    <a:bodyPr/>
                    <a:lstStyle/>
                    <a:p>
                      <a:pPr algn="l"/>
                      <a:r>
                        <a:rPr sz="1100" b="0" i="0">
                          <a:solidFill>
                            <a:srgbClr val="242B33"/>
                          </a:solidFill>
                          <a:latin typeface="Aptos"/>
                        </a:rPr>
                        <a:t>{None, 4, 6, 8}</a:t>
                      </a:r>
                    </a:p>
                  </a:txBody>
                  <a:tcPr marL="54864" marR="54864" marT="27432" marB="27432" anchor="ctr">
                    <a:solidFill>
                      <a:srgbClr val="F6F9FC"/>
                    </a:solidFill>
                  </a:tcPr>
                </a:tc>
                <a:tc>
                  <a:txBody>
                    <a:bodyPr/>
                    <a:lstStyle/>
                    <a:p>
                      <a:pPr algn="l"/>
                      <a:r>
                        <a:rPr sz="1100" b="0" i="0">
                          <a:solidFill>
                            <a:srgbClr val="242B33"/>
                          </a:solidFill>
                          <a:latin typeface="Aptos"/>
                        </a:rPr>
                        <a:t>chặn độ sâu thêm một lớp</a:t>
                      </a:r>
                    </a:p>
                  </a:txBody>
                  <a:tcPr marL="54864" marR="54864" marT="27432" marB="27432" anchor="ctr">
                    <a:solidFill>
                      <a:srgbClr val="F6F9FC"/>
                    </a:solidFill>
                  </a:tcPr>
                </a:tc>
                <a:tc>
                  <a:txBody>
                    <a:bodyPr/>
                    <a:lstStyle/>
                    <a:p>
                      <a:pPr algn="r"/>
                      <a:r>
                        <a:rPr sz="1100" b="0" i="0">
                          <a:solidFill>
                            <a:srgbClr val="242B33"/>
                          </a:solidFill>
                          <a:latin typeface="Aptos"/>
                        </a:rPr>
                        <a:t>None</a:t>
                      </a:r>
                    </a:p>
                  </a:txBody>
                  <a:tcPr marL="54864" marR="54864" marT="27432" marB="27432" anchor="ctr">
                    <a:solidFill>
                      <a:srgbClr val="F6F9FC"/>
                    </a:solidFill>
                  </a:tcPr>
                </a:tc>
                <a:extLst>
                  <a:ext uri="{0D108BD9-81ED-4DB2-BD59-A6C34878D82A}">
                    <a16:rowId xmlns:a16="http://schemas.microsoft.com/office/drawing/2014/main" val="10006"/>
                  </a:ext>
                </a:extLst>
              </a:tr>
              <a:tr h="329184">
                <a:tc>
                  <a:txBody>
                    <a:bodyPr/>
                    <a:lstStyle/>
                    <a:p>
                      <a:pPr algn="l"/>
                      <a:r>
                        <a:rPr sz="1100" b="1" i="0">
                          <a:solidFill>
                            <a:srgbClr val="242B33"/>
                          </a:solidFill>
                          <a:latin typeface="Aptos"/>
                        </a:rPr>
                        <a:t>max_iter (số cây)</a:t>
                      </a:r>
                    </a:p>
                  </a:txBody>
                  <a:tcPr marL="54864" marR="54864" marT="27432" marB="27432" anchor="ctr">
                    <a:solidFill>
                      <a:srgbClr val="FFFFFF"/>
                    </a:solidFill>
                  </a:tcPr>
                </a:tc>
                <a:tc>
                  <a:txBody>
                    <a:bodyPr/>
                    <a:lstStyle/>
                    <a:p>
                      <a:pPr algn="l"/>
                      <a:r>
                        <a:rPr sz="1100" b="0" i="0">
                          <a:solidFill>
                            <a:srgbClr val="242B33"/>
                          </a:solidFill>
                          <a:latin typeface="Aptos"/>
                        </a:rPr>
                        <a:t>không tune: trần 2.000</a:t>
                      </a:r>
                    </a:p>
                  </a:txBody>
                  <a:tcPr marL="54864" marR="54864" marT="27432" marB="27432" anchor="ctr">
                    <a:solidFill>
                      <a:srgbClr val="FFFFFF"/>
                    </a:solidFill>
                  </a:tcPr>
                </a:tc>
                <a:tc>
                  <a:txBody>
                    <a:bodyPr/>
                    <a:lstStyle/>
                    <a:p>
                      <a:pPr algn="l"/>
                      <a:r>
                        <a:rPr sz="1100" b="0" i="0">
                          <a:solidFill>
                            <a:srgbClr val="242B33"/>
                          </a:solidFill>
                          <a:latin typeface="Aptos"/>
                        </a:rPr>
                        <a:t>dừng sớm khi log-loss trên 10% val nội bộ không giảm sau 30 vòng</a:t>
                      </a:r>
                    </a:p>
                  </a:txBody>
                  <a:tcPr marL="54864" marR="54864" marT="27432" marB="27432" anchor="ctr">
                    <a:solidFill>
                      <a:srgbClr val="FFFFFF"/>
                    </a:solidFill>
                  </a:tcPr>
                </a:tc>
                <a:tc>
                  <a:txBody>
                    <a:bodyPr/>
                    <a:lstStyle/>
                    <a:p>
                      <a:pPr algn="r"/>
                      <a:r>
                        <a:rPr sz="1100" b="0" i="0">
                          <a:solidFill>
                            <a:srgbClr val="242B33"/>
                          </a:solidFill>
                          <a:latin typeface="Aptos"/>
                        </a:rPr>
                        <a:t>n_iter_ = 1.531</a:t>
                      </a:r>
                    </a:p>
                  </a:txBody>
                  <a:tcPr marL="54864" marR="54864" marT="27432" marB="27432" anchor="ctr">
                    <a:solidFill>
                      <a:srgbClr val="FFFFFF"/>
                    </a:solidFill>
                  </a:tcPr>
                </a:tc>
                <a:extLst>
                  <a:ext uri="{0D108BD9-81ED-4DB2-BD59-A6C34878D82A}">
                    <a16:rowId xmlns:a16="http://schemas.microsoft.com/office/drawing/2014/main" val="10007"/>
                  </a:ext>
                </a:extLst>
              </a:tr>
              <a:tr h="329184">
                <a:tc>
                  <a:txBody>
                    <a:bodyPr/>
                    <a:lstStyle/>
                    <a:p>
                      <a:pPr algn="l"/>
                      <a:r>
                        <a:rPr sz="1100" b="1" i="0">
                          <a:solidFill>
                            <a:srgbClr val="242B33"/>
                          </a:solidFill>
                          <a:latin typeface="Aptos"/>
                        </a:rPr>
                        <a:t>C (logistic)</a:t>
                      </a:r>
                    </a:p>
                  </a:txBody>
                  <a:tcPr marL="54864" marR="54864" marT="27432" marB="27432" anchor="ctr">
                    <a:solidFill>
                      <a:srgbClr val="F6F9FC"/>
                    </a:solidFill>
                  </a:tcPr>
                </a:tc>
                <a:tc>
                  <a:txBody>
                    <a:bodyPr/>
                    <a:lstStyle/>
                    <a:p>
                      <a:pPr algn="l"/>
                      <a:r>
                        <a:rPr sz="1100" b="0" i="0">
                          <a:solidFill>
                            <a:srgbClr val="242B33"/>
                          </a:solidFill>
                          <a:latin typeface="Aptos"/>
                        </a:rPr>
                        <a:t>log-uniform [10⁻⁶; 1]</a:t>
                      </a:r>
                    </a:p>
                  </a:txBody>
                  <a:tcPr marL="54864" marR="54864" marT="27432" marB="27432" anchor="ctr">
                    <a:solidFill>
                      <a:srgbClr val="F6F9FC"/>
                    </a:solidFill>
                  </a:tcPr>
                </a:tc>
                <a:tc>
                  <a:txBody>
                    <a:bodyPr/>
                    <a:lstStyle/>
                    <a:p>
                      <a:pPr algn="l"/>
                      <a:r>
                        <a:rPr sz="1100" b="0" i="0">
                          <a:solidFill>
                            <a:srgbClr val="242B33"/>
                          </a:solidFill>
                          <a:latin typeface="Aptos"/>
                        </a:rPr>
                        <a:t>C = 1/λ, nhân với tổng trọng số khảo sát → C tối ưu rất nhỏ</a:t>
                      </a:r>
                    </a:p>
                  </a:txBody>
                  <a:tcPr marL="54864" marR="54864" marT="27432" marB="27432" anchor="ctr">
                    <a:solidFill>
                      <a:srgbClr val="F6F9FC"/>
                    </a:solidFill>
                  </a:tcPr>
                </a:tc>
                <a:tc>
                  <a:txBody>
                    <a:bodyPr/>
                    <a:lstStyle/>
                    <a:p>
                      <a:pPr algn="r"/>
                      <a:r>
                        <a:rPr sz="1100" b="0" i="0">
                          <a:solidFill>
                            <a:srgbClr val="242B33"/>
                          </a:solidFill>
                          <a:latin typeface="Aptos"/>
                        </a:rPr>
                        <a:t>1,88·10⁻⁵</a:t>
                      </a:r>
                    </a:p>
                  </a:txBody>
                  <a:tcPr marL="54864" marR="54864" marT="27432" marB="27432" anchor="ctr">
                    <a:solidFill>
                      <a:srgbClr val="F6F9FC"/>
                    </a:solidFill>
                  </a:tcPr>
                </a:tc>
                <a:extLst>
                  <a:ext uri="{0D108BD9-81ED-4DB2-BD59-A6C34878D82A}">
                    <a16:rowId xmlns:a16="http://schemas.microsoft.com/office/drawing/2014/main" val="10008"/>
                  </a:ext>
                </a:extLst>
              </a:tr>
            </a:tbl>
          </a:graphicData>
        </a:graphic>
      </p:graphicFrame>
      <p:sp>
        <p:nvSpPr>
          <p:cNvPr id="17" name="Rounded Rectangle 16"/>
          <p:cNvSpPr/>
          <p:nvPr/>
        </p:nvSpPr>
        <p:spPr>
          <a:xfrm>
            <a:off x="603504" y="5577840"/>
            <a:ext cx="11009376" cy="731520"/>
          </a:xfrm>
          <a:prstGeom prst="roundRect">
            <a:avLst>
              <a:gd name="adj" fmla="val 18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350" b="1" i="0">
                <a:solidFill>
                  <a:srgbClr val="FFFFFF"/>
                </a:solidFill>
                <a:latin typeface="Aptos"/>
              </a:rPr>
              <a:t>best_score_ = 0,0584 (CV) là điểm LẠC QUAN</a:t>
            </a:r>
            <a:r>
              <a:rPr sz="1300" b="0" i="0">
                <a:solidFill>
                  <a:srgbClr val="FFFFFF"/>
                </a:solidFill>
                <a:latin typeface="Aptos"/>
              </a:rPr>
              <a:t> — max của 40 ước lượng nhiễu (lời nguyền người thắng). Test 2024–2026 không dùng để chọn: chỉ mở ra chấm sau khi đã chốt mô hình.</a:t>
            </a:r>
          </a:p>
        </p:txBody>
      </p:sp>
      <p:sp>
        <p:nvSpPr>
          <p:cNvPr id="18" name="Rounded Rectangle 17"/>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a:t>
            </a:r>
          </a:p>
        </p:txBody>
      </p:sp>
      <p:sp>
        <p:nvSpPr>
          <p:cNvPr id="19" name="Rounded Rectangle 18"/>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Data Collection</a:t>
            </a:r>
          </a:p>
        </p:txBody>
      </p:sp>
      <p:sp>
        <p:nvSpPr>
          <p:cNvPr id="20" name="Rounded Rectangle 19"/>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Cleaning</a:t>
            </a:r>
          </a:p>
        </p:txBody>
      </p:sp>
      <p:sp>
        <p:nvSpPr>
          <p:cNvPr id="21" name="Rounded Rectangle 20"/>
          <p:cNvSpPr/>
          <p:nvPr/>
        </p:nvSpPr>
        <p:spPr>
          <a:xfrm>
            <a:off x="7306056" y="6510528"/>
            <a:ext cx="42062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EDA</a:t>
            </a:r>
          </a:p>
        </p:txBody>
      </p:sp>
      <p:sp>
        <p:nvSpPr>
          <p:cNvPr id="22" name="Rounded Rectangle 21"/>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Features</a:t>
            </a:r>
          </a:p>
        </p:txBody>
      </p:sp>
      <p:sp>
        <p:nvSpPr>
          <p:cNvPr id="23" name="Rounded Rectangle 22"/>
          <p:cNvSpPr/>
          <p:nvPr/>
        </p:nvSpPr>
        <p:spPr>
          <a:xfrm>
            <a:off x="8494776" y="6510528"/>
            <a:ext cx="694944"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Modeling</a:t>
            </a:r>
          </a:p>
        </p:txBody>
      </p:sp>
      <p:sp>
        <p:nvSpPr>
          <p:cNvPr id="24" name="Rounded Rectangle 23"/>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Evaluation</a:t>
            </a:r>
          </a:p>
        </p:txBody>
      </p:sp>
      <p:sp>
        <p:nvSpPr>
          <p:cNvPr id="25" name="Rounded Rectangle 24"/>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 Value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265176"/>
            <a:ext cx="10424160" cy="566928"/>
          </a:xfrm>
          <a:prstGeom prst="rect">
            <a:avLst/>
          </a:prstGeom>
          <a:noFill/>
        </p:spPr>
        <p:txBody>
          <a:bodyPr wrap="square" lIns="36576" tIns="36576" rIns="36576" bIns="36576" anchor="t">
            <a:noAutofit/>
          </a:bodyPr>
          <a:lstStyle/>
          <a:p>
            <a:pPr algn="l">
              <a:spcAft>
                <a:spcPts val="300"/>
              </a:spcAft>
            </a:pPr>
            <a:r>
              <a:rPr sz="2400" b="1" i="0">
                <a:solidFill>
                  <a:srgbClr val="162C46"/>
                </a:solidFill>
                <a:latin typeface="Aptos Display"/>
              </a:rPr>
              <a:t>MODELING — SIÊU THAM SỐ SAU TUNE ĐƯỢC LƯU Ở ĐÂU?</a:t>
            </a:r>
          </a:p>
        </p:txBody>
      </p:sp>
      <p:cxnSp>
        <p:nvCxnSpPr>
          <p:cNvPr id="3" name="Connector 2"/>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583680"/>
            <a:ext cx="4023360" cy="182880"/>
          </a:xfrm>
          <a:prstGeom prst="rect">
            <a:avLst/>
          </a:prstGeom>
          <a:noFill/>
        </p:spPr>
        <p:txBody>
          <a:bodyPr wrap="square" lIns="36576" tIns="36576" rIns="36576" bIns="36576" anchor="t">
            <a:noAutofit/>
          </a:bodyPr>
          <a:lstStyle/>
          <a:p>
            <a:pPr algn="l">
              <a:spcAft>
                <a:spcPts val="300"/>
              </a:spcAft>
            </a:pPr>
            <a:r>
              <a:rPr sz="850" b="0" i="0">
                <a:solidFill>
                  <a:srgbClr val="5E6A78"/>
                </a:solidFill>
                <a:latin typeface="Aptos"/>
              </a:rPr>
              <a:t>Cơ sở Khoa học Dữ liệu  •  SLA &amp; Customer Experience</a:t>
            </a:r>
          </a:p>
        </p:txBody>
      </p:sp>
      <p:sp>
        <p:nvSpPr>
          <p:cNvPr id="6" name="TextBox 5"/>
          <p:cNvSpPr txBox="1"/>
          <p:nvPr/>
        </p:nvSpPr>
        <p:spPr>
          <a:xfrm>
            <a:off x="11201400" y="6567055"/>
            <a:ext cx="365760" cy="166255"/>
          </a:xfrm>
          <a:prstGeom prst="rect">
            <a:avLst/>
          </a:prstGeom>
          <a:noFill/>
        </p:spPr>
        <p:txBody>
          <a:bodyPr wrap="square" lIns="36576" tIns="36576" rIns="36576" bIns="36576" anchor="t">
            <a:noAutofit/>
          </a:bodyPr>
          <a:lstStyle/>
          <a:p>
            <a:pPr algn="l">
              <a:spcAft>
                <a:spcPts val="300"/>
              </a:spcAft>
            </a:pPr>
            <a:r>
              <a:rPr sz="850" b="0" i="0">
                <a:solidFill>
                  <a:srgbClr val="5E6A78"/>
                </a:solidFill>
                <a:latin typeface="Aptos"/>
              </a:rPr>
              <a:t>24</a:t>
            </a:r>
          </a:p>
        </p:txBody>
      </p:sp>
      <p:sp>
        <p:nvSpPr>
          <p:cNvPr id="7" name="Rounded Rectangle 6"/>
          <p:cNvSpPr/>
          <p:nvPr/>
        </p:nvSpPr>
        <p:spPr>
          <a:xfrm>
            <a:off x="603504" y="1024128"/>
            <a:ext cx="5989320" cy="3017520"/>
          </a:xfrm>
          <a:prstGeom prst="roundRect">
            <a:avLst>
              <a:gd name="adj" fmla="val 4000"/>
            </a:avLst>
          </a:prstGeom>
          <a:solidFill>
            <a:srgbClr val="F4F6F9"/>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097280"/>
            <a:ext cx="5760720" cy="2926080"/>
          </a:xfrm>
          <a:prstGeom prst="rect">
            <a:avLst/>
          </a:prstGeom>
          <a:noFill/>
        </p:spPr>
        <p:txBody>
          <a:bodyPr wrap="square" lIns="36576" tIns="36576" rIns="36576" bIns="36576" anchor="t">
            <a:noAutofit/>
          </a:bodyPr>
          <a:lstStyle/>
          <a:p>
            <a:pPr algn="l">
              <a:spcAft>
                <a:spcPts val="250"/>
              </a:spcAft>
            </a:pPr>
            <a:r>
              <a:rPr sz="1200" b="0" i="0">
                <a:solidFill>
                  <a:srgbClr val="242B33"/>
                </a:solidFill>
                <a:latin typeface="Courier New"/>
              </a:rPr>
              <a:t>gbm = GBMModel(features=EX_ANTE_FEATURES, max_iter=2000)</a:t>
            </a:r>
          </a:p>
          <a:p>
            <a:pPr algn="l">
              <a:spcAft>
                <a:spcPts val="250"/>
              </a:spcAft>
            </a:pPr>
            <a:r>
              <a:rPr sz="1200" b="0" i="0">
                <a:solidFill>
                  <a:srgbClr val="242B33"/>
                </a:solidFill>
                <a:latin typeface="Courier New"/>
              </a:rPr>
              <a:t>gbm.tune(train, y, GBM_SEARCH_SPACE, n_iter=40,</a:t>
            </a:r>
          </a:p>
          <a:p>
            <a:pPr algn="l">
              <a:spcAft>
                <a:spcPts val="250"/>
              </a:spcAft>
            </a:pPr>
            <a:r>
              <a:rPr sz="1200" b="0" i="0">
                <a:solidFill>
                  <a:srgbClr val="242B33"/>
                </a:solidFill>
                <a:latin typeface="Courier New"/>
              </a:rPr>
              <a:t>         cv=YearForwardSplit((2022, 2023)),</a:t>
            </a:r>
          </a:p>
          <a:p>
            <a:pPr algn="l">
              <a:spcAft>
                <a:spcPts val="250"/>
              </a:spcAft>
            </a:pPr>
            <a:r>
              <a:rPr sz="1200" b="0" i="0">
                <a:solidFill>
                  <a:srgbClr val="242B33"/>
                </a:solidFill>
                <a:latin typeface="Courier New"/>
              </a:rPr>
              <a:t>         sample_weight=w_train, eval_weight=w_survey)</a:t>
            </a:r>
          </a:p>
          <a:p>
            <a:pPr algn="l">
              <a:spcAft>
                <a:spcPts val="250"/>
              </a:spcAft>
            </a:pPr>
            <a:r>
              <a:rPr sz="1200" b="0" i="0">
                <a:solidFill>
                  <a:srgbClr val="2E7D4F"/>
                </a:solidFill>
                <a:latin typeface="Courier New"/>
              </a:rPr>
              <a:t># bên trong BaseModel.tune():</a:t>
            </a:r>
          </a:p>
          <a:p>
            <a:pPr algn="l">
              <a:spcAft>
                <a:spcPts val="250"/>
              </a:spcAft>
            </a:pPr>
            <a:r>
              <a:rPr sz="1200" b="1" i="0">
                <a:solidFill>
                  <a:srgbClr val="242B33"/>
                </a:solidFill>
                <a:latin typeface="Courier New"/>
              </a:rPr>
              <a:t>self.set_params(**best)     </a:t>
            </a:r>
            <a:r>
              <a:rPr sz="1200" b="0" i="0">
                <a:solidFill>
                  <a:srgbClr val="2E7D4F"/>
                </a:solidFill>
                <a:latin typeface="Courier New"/>
              </a:rPr>
              <a:t># ① ghi đè CHÍNH nó</a:t>
            </a:r>
          </a:p>
          <a:p>
            <a:pPr algn="l">
              <a:spcAft>
                <a:spcPts val="250"/>
              </a:spcAft>
            </a:pPr>
            <a:r>
              <a:rPr sz="1200" b="1" i="0">
                <a:solidFill>
                  <a:srgbClr val="242B33"/>
                </a:solidFill>
                <a:latin typeface="Courier New"/>
              </a:rPr>
              <a:t>self.best_params_ = best    </a:t>
            </a:r>
            <a:r>
              <a:rPr sz="1200" b="0" i="0">
                <a:solidFill>
                  <a:srgbClr val="2E7D4F"/>
                </a:solidFill>
                <a:latin typeface="Courier New"/>
              </a:rPr>
              <a:t># ② bản ghi quá trình</a:t>
            </a:r>
          </a:p>
          <a:p>
            <a:pPr algn="l">
              <a:spcAft>
                <a:spcPts val="250"/>
              </a:spcAft>
            </a:pPr>
            <a:r>
              <a:rPr sz="1200" b="0" i="0">
                <a:solidFill>
                  <a:srgbClr val="242B33"/>
                </a:solidFill>
                <a:latin typeface="Courier New"/>
              </a:rPr>
              <a:t>self.best_score_  = 0.0584  </a:t>
            </a:r>
            <a:r>
              <a:rPr sz="1200" b="0" i="0">
                <a:solidFill>
                  <a:srgbClr val="2E7D4F"/>
                </a:solidFill>
                <a:latin typeface="Courier New"/>
              </a:rPr>
              <a:t>#    + tuning_results_</a:t>
            </a:r>
          </a:p>
          <a:p>
            <a:pPr algn="l">
              <a:spcAft>
                <a:spcPts val="250"/>
              </a:spcAft>
            </a:pPr>
            <a:r>
              <a:rPr sz="1200" b="1" i="0">
                <a:solidFill>
                  <a:srgbClr val="242B33"/>
                </a:solidFill>
                <a:latin typeface="Courier New"/>
              </a:rPr>
              <a:t>self.fit(X, y)              </a:t>
            </a:r>
            <a:r>
              <a:rPr sz="1200" b="0" i="0">
                <a:solidFill>
                  <a:srgbClr val="2E7D4F"/>
                </a:solidFill>
                <a:latin typeface="Courier New"/>
              </a:rPr>
              <a:t># ③ train lại toàn bộ</a:t>
            </a:r>
          </a:p>
          <a:p>
            <a:pPr algn="l">
              <a:spcAft>
                <a:spcPts val="250"/>
              </a:spcAft>
            </a:pPr>
            <a:r>
              <a:rPr sz="1200" b="1" i="0">
                <a:solidFill>
                  <a:srgbClr val="242B33"/>
                </a:solidFill>
                <a:latin typeface="Courier New"/>
              </a:rPr>
              <a:t>gbm.learning_rate     </a:t>
            </a:r>
            <a:r>
              <a:rPr sz="1200" b="0" i="0">
                <a:solidFill>
                  <a:srgbClr val="2E7D4F"/>
                </a:solidFill>
                <a:latin typeface="Courier New"/>
              </a:rPr>
              <a:t># → 0.0225 (mặc định 0.1)</a:t>
            </a:r>
          </a:p>
          <a:p>
            <a:pPr algn="l">
              <a:spcAft>
                <a:spcPts val="250"/>
              </a:spcAft>
            </a:pPr>
            <a:r>
              <a:rPr sz="1200" b="1" i="0">
                <a:solidFill>
                  <a:srgbClr val="242B33"/>
                </a:solidFill>
                <a:latin typeface="Courier New"/>
              </a:rPr>
              <a:t>gbm.min_samples_leaf  </a:t>
            </a:r>
            <a:r>
              <a:rPr sz="1200" b="0" i="0">
                <a:solidFill>
                  <a:srgbClr val="2E7D4F"/>
                </a:solidFill>
                <a:latin typeface="Courier New"/>
              </a:rPr>
              <a:t># → 100    (mặc định 20)</a:t>
            </a:r>
          </a:p>
          <a:p>
            <a:pPr algn="l">
              <a:spcAft>
                <a:spcPts val="250"/>
              </a:spcAft>
            </a:pPr>
            <a:r>
              <a:rPr sz="1200" b="1" i="0">
                <a:solidFill>
                  <a:srgbClr val="242B33"/>
                </a:solidFill>
                <a:latin typeface="Courier New"/>
              </a:rPr>
              <a:t>gbm.n_iter_           </a:t>
            </a:r>
            <a:r>
              <a:rPr sz="1200" b="0" i="0">
                <a:solidFill>
                  <a:srgbClr val="2E7D4F"/>
                </a:solidFill>
                <a:latin typeface="Courier New"/>
              </a:rPr>
              <a:t># → 1531 cây — HỌC ĐƯỢC</a:t>
            </a:r>
          </a:p>
        </p:txBody>
      </p:sp>
      <p:sp>
        <p:nvSpPr>
          <p:cNvPr id="9" name="TextBox 8"/>
          <p:cNvSpPr txBox="1"/>
          <p:nvPr/>
        </p:nvSpPr>
        <p:spPr>
          <a:xfrm>
            <a:off x="603504" y="4133087"/>
            <a:ext cx="5989320" cy="274320"/>
          </a:xfrm>
          <a:prstGeom prst="rect">
            <a:avLst/>
          </a:prstGeom>
          <a:noFill/>
        </p:spPr>
        <p:txBody>
          <a:bodyPr wrap="square" lIns="36576" tIns="36576" rIns="36576" bIns="36576" anchor="t">
            <a:noAutofit/>
          </a:bodyPr>
          <a:lstStyle/>
          <a:p>
            <a:pPr algn="l">
              <a:spcAft>
                <a:spcPts val="300"/>
              </a:spcAft>
            </a:pPr>
            <a:r>
              <a:rPr sz="1150" b="1" i="0">
                <a:solidFill>
                  <a:srgbClr val="162C46"/>
                </a:solidFill>
                <a:latin typeface="Courier New"/>
              </a:rPr>
              <a:t>reports/models/gbm_tuned.json</a:t>
            </a:r>
            <a:r>
              <a:rPr sz="1100" b="0" i="0">
                <a:solidFill>
                  <a:srgbClr val="5E6A78"/>
                </a:solidFill>
                <a:latin typeface="Aptos"/>
              </a:rPr>
              <a:t>  — ghi bởi export_hyperparams()</a:t>
            </a:r>
          </a:p>
        </p:txBody>
      </p:sp>
      <p:sp>
        <p:nvSpPr>
          <p:cNvPr id="10" name="Rounded Rectangle 9"/>
          <p:cNvSpPr/>
          <p:nvPr/>
        </p:nvSpPr>
        <p:spPr>
          <a:xfrm>
            <a:off x="603504" y="4443984"/>
            <a:ext cx="5989320" cy="1097280"/>
          </a:xfrm>
          <a:prstGeom prst="roundRect">
            <a:avLst>
              <a:gd name="adj" fmla="val 6000"/>
            </a:avLst>
          </a:prstGeom>
          <a:solidFill>
            <a:srgbClr val="F4F6F9"/>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4489704"/>
            <a:ext cx="5760720" cy="1024128"/>
          </a:xfrm>
          <a:prstGeom prst="rect">
            <a:avLst/>
          </a:prstGeom>
          <a:noFill/>
        </p:spPr>
        <p:txBody>
          <a:bodyPr wrap="square" lIns="36576" tIns="36576" rIns="36576" bIns="36576" anchor="t">
            <a:noAutofit/>
          </a:bodyPr>
          <a:lstStyle/>
          <a:p>
            <a:pPr algn="l">
              <a:spcAft>
                <a:spcPts val="100"/>
              </a:spcAft>
            </a:pPr>
            <a:r>
              <a:rPr sz="950" b="0" i="0">
                <a:solidFill>
                  <a:srgbClr val="242B33"/>
                </a:solidFill>
                <a:latin typeface="Courier New"/>
              </a:rPr>
              <a:t>{"model": "GBMModel", "n_candidates": 40, "sklearn": "1.5.1",</a:t>
            </a:r>
          </a:p>
          <a:p>
            <a:pPr algn="l">
              <a:spcAft>
                <a:spcPts val="100"/>
              </a:spcAft>
            </a:pPr>
            <a:r>
              <a:rPr sz="950" b="0" i="0">
                <a:solidFill>
                  <a:srgbClr val="242B33"/>
                </a:solidFill>
                <a:latin typeface="Courier New"/>
              </a:rPr>
              <a:t> "best_params": {"learning_rate": 0.0225, "max_leaf_nodes": 8,</a:t>
            </a:r>
          </a:p>
          <a:p>
            <a:pPr algn="l">
              <a:spcAft>
                <a:spcPts val="100"/>
              </a:spcAft>
            </a:pPr>
            <a:r>
              <a:rPr sz="950" b="0" i="0">
                <a:solidFill>
                  <a:srgbClr val="242B33"/>
                </a:solidFill>
                <a:latin typeface="Courier New"/>
              </a:rPr>
              <a:t>   "min_samples_leaf": 100, "l2_regularization": 0.1025, ...},</a:t>
            </a:r>
          </a:p>
          <a:p>
            <a:pPr algn="l">
              <a:spcAft>
                <a:spcPts val="100"/>
              </a:spcAft>
            </a:pPr>
            <a:r>
              <a:rPr sz="950" b="0" i="0">
                <a:solidFill>
                  <a:srgbClr val="242B33"/>
                </a:solidFill>
                <a:latin typeface="Courier New"/>
              </a:rPr>
              <a:t> "best_score_pr_auc_cv": 0.0584,</a:t>
            </a:r>
          </a:p>
          <a:p>
            <a:pPr algn="l">
              <a:spcAft>
                <a:spcPts val="100"/>
              </a:spcAft>
            </a:pPr>
            <a:r>
              <a:rPr sz="950" b="0" i="0">
                <a:solidFill>
                  <a:srgbClr val="242B33"/>
                </a:solidFill>
                <a:latin typeface="Courier New"/>
              </a:rPr>
              <a:t> "tuning_cv": "YearForwardSplit(val_years=(2022, 2023))"}</a:t>
            </a:r>
          </a:p>
        </p:txBody>
      </p:sp>
      <p:sp>
        <p:nvSpPr>
          <p:cNvPr id="12" name="TextBox 11"/>
          <p:cNvSpPr txBox="1"/>
          <p:nvPr/>
        </p:nvSpPr>
        <p:spPr>
          <a:xfrm>
            <a:off x="6812280" y="1005840"/>
            <a:ext cx="4846320" cy="310896"/>
          </a:xfrm>
          <a:prstGeom prst="rect">
            <a:avLst/>
          </a:prstGeom>
          <a:noFill/>
        </p:spPr>
        <p:txBody>
          <a:bodyPr wrap="square" lIns="36576" tIns="36576" rIns="36576" bIns="36576" anchor="t">
            <a:noAutofit/>
          </a:bodyPr>
          <a:lstStyle/>
          <a:p>
            <a:pPr algn="l">
              <a:spcAft>
                <a:spcPts val="300"/>
              </a:spcAft>
            </a:pPr>
            <a:r>
              <a:rPr sz="1500" b="1" i="0">
                <a:solidFill>
                  <a:srgbClr val="2F639D"/>
                </a:solidFill>
                <a:latin typeface="Aptos"/>
              </a:rPr>
              <a:t>HAI LOẠI THUỘC TÍNH (quy ước scikit-learn)</a:t>
            </a:r>
          </a:p>
        </p:txBody>
      </p:sp>
      <p:sp>
        <p:nvSpPr>
          <p:cNvPr id="13" name="Rounded Rectangle 12"/>
          <p:cNvSpPr/>
          <p:nvPr/>
        </p:nvSpPr>
        <p:spPr>
          <a:xfrm>
            <a:off x="6812280" y="1344168"/>
            <a:ext cx="2331720" cy="2286000"/>
          </a:xfrm>
          <a:prstGeom prst="roundRect">
            <a:avLst>
              <a:gd name="adj" fmla="val 8000"/>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903720" y="1389888"/>
            <a:ext cx="2148840" cy="2194560"/>
          </a:xfrm>
          <a:prstGeom prst="rect">
            <a:avLst/>
          </a:prstGeom>
          <a:noFill/>
        </p:spPr>
        <p:txBody>
          <a:bodyPr wrap="square" lIns="36576" tIns="36576" rIns="36576" bIns="36576" anchor="t">
            <a:noAutofit/>
          </a:bodyPr>
          <a:lstStyle/>
          <a:p>
            <a:pPr algn="l">
              <a:spcAft>
                <a:spcPts val="300"/>
              </a:spcAft>
            </a:pPr>
            <a:r>
              <a:rPr sz="1250" b="1" i="0">
                <a:solidFill>
                  <a:srgbClr val="162C46"/>
                </a:solidFill>
                <a:latin typeface="Aptos"/>
              </a:rPr>
              <a:t>SIÊU THAM SỐ</a:t>
            </a:r>
          </a:p>
          <a:p>
            <a:pPr algn="l">
              <a:spcAft>
                <a:spcPts val="300"/>
              </a:spcAft>
            </a:pPr>
            <a:r>
              <a:rPr sz="1100" b="0" i="0">
                <a:solidFill>
                  <a:srgbClr val="5E6A78"/>
                </a:solidFill>
                <a:latin typeface="Aptos"/>
              </a:rPr>
              <a:t>người chọn, TRƯỚC fit</a:t>
            </a:r>
          </a:p>
          <a:p>
            <a:pPr algn="l">
              <a:spcAft>
                <a:spcPts val="300"/>
              </a:spcAft>
            </a:pPr>
            <a:r>
              <a:rPr sz="1100" b="0" i="0">
                <a:solidFill>
                  <a:srgbClr val="5E6A78"/>
                </a:solidFill>
                <a:latin typeface="Aptos"/>
              </a:rPr>
              <a:t>= tham số __init__, gán nguyên văn</a:t>
            </a:r>
          </a:p>
          <a:p>
            <a:pPr algn="l">
              <a:spcAft>
                <a:spcPts val="300"/>
              </a:spcAft>
            </a:pPr>
            <a:r>
              <a:rPr sz="950" b="0" i="0">
                <a:solidFill>
                  <a:srgbClr val="242B33"/>
                </a:solidFill>
                <a:latin typeface="Courier New"/>
              </a:rPr>
              <a:t>learning_rate, max_leaf_nodes, min_samples_leaf…</a:t>
            </a:r>
          </a:p>
          <a:p>
            <a:pPr algn="l">
              <a:spcAft>
                <a:spcPts val="300"/>
              </a:spcAft>
            </a:pPr>
            <a:r>
              <a:rPr sz="1050" b="1" i="0">
                <a:solidFill>
                  <a:srgbClr val="5E6A78"/>
                </a:solidFill>
                <a:latin typeface="Aptos"/>
              </a:rPr>
              <a:t>→ get_params · set_params · clone</a:t>
            </a:r>
          </a:p>
        </p:txBody>
      </p:sp>
      <p:sp>
        <p:nvSpPr>
          <p:cNvPr id="15" name="Rounded Rectangle 14"/>
          <p:cNvSpPr/>
          <p:nvPr/>
        </p:nvSpPr>
        <p:spPr>
          <a:xfrm>
            <a:off x="9281160" y="1344168"/>
            <a:ext cx="2331720" cy="2286000"/>
          </a:xfrm>
          <a:prstGeom prst="roundRect">
            <a:avLst>
              <a:gd name="adj" fmla="val 8000"/>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372600" y="1389888"/>
            <a:ext cx="2148840" cy="2194560"/>
          </a:xfrm>
          <a:prstGeom prst="rect">
            <a:avLst/>
          </a:prstGeom>
          <a:noFill/>
        </p:spPr>
        <p:txBody>
          <a:bodyPr wrap="square" lIns="36576" tIns="36576" rIns="36576" bIns="36576" anchor="t">
            <a:noAutofit/>
          </a:bodyPr>
          <a:lstStyle/>
          <a:p>
            <a:pPr algn="l">
              <a:spcAft>
                <a:spcPts val="300"/>
              </a:spcAft>
            </a:pPr>
            <a:r>
              <a:rPr sz="1250" b="1" i="0">
                <a:solidFill>
                  <a:srgbClr val="162C46"/>
                </a:solidFill>
                <a:latin typeface="Aptos"/>
              </a:rPr>
              <a:t>HỌC ĐƯỢC (đuôi _)</a:t>
            </a:r>
          </a:p>
          <a:p>
            <a:pPr algn="l">
              <a:spcAft>
                <a:spcPts val="300"/>
              </a:spcAft>
            </a:pPr>
            <a:r>
              <a:rPr sz="1100" b="0" i="0">
                <a:solidFill>
                  <a:srgbClr val="5E6A78"/>
                </a:solidFill>
                <a:latin typeface="Aptos"/>
              </a:rPr>
              <a:t>dữ liệu quyết định, chỉ có SAU fit / tune</a:t>
            </a:r>
          </a:p>
          <a:p>
            <a:pPr algn="l">
              <a:spcAft>
                <a:spcPts val="300"/>
              </a:spcAft>
            </a:pPr>
            <a:r>
              <a:rPr sz="950" b="0" i="0">
                <a:solidFill>
                  <a:srgbClr val="242B33"/>
                </a:solidFill>
                <a:latin typeface="Courier New"/>
              </a:rPr>
              <a:t>estimator_, classes_, n_iter_, best_params_, best_score_, tuning_results_</a:t>
            </a:r>
          </a:p>
          <a:p>
            <a:pPr algn="l">
              <a:spcAft>
                <a:spcPts val="300"/>
              </a:spcAft>
            </a:pPr>
            <a:r>
              <a:rPr sz="1050" b="1" i="0">
                <a:solidFill>
                  <a:srgbClr val="5E6A78"/>
                </a:solidFill>
                <a:latin typeface="Aptos"/>
              </a:rPr>
              <a:t>→ check_is_fitted</a:t>
            </a:r>
          </a:p>
        </p:txBody>
      </p:sp>
      <p:sp>
        <p:nvSpPr>
          <p:cNvPr id="17" name="TextBox 16"/>
          <p:cNvSpPr txBox="1"/>
          <p:nvPr/>
        </p:nvSpPr>
        <p:spPr>
          <a:xfrm>
            <a:off x="6812280" y="3730752"/>
            <a:ext cx="4846320" cy="310896"/>
          </a:xfrm>
          <a:prstGeom prst="rect">
            <a:avLst/>
          </a:prstGeom>
          <a:noFill/>
        </p:spPr>
        <p:txBody>
          <a:bodyPr wrap="square" lIns="36576" tIns="36576" rIns="36576" bIns="36576" anchor="t">
            <a:noAutofit/>
          </a:bodyPr>
          <a:lstStyle/>
          <a:p>
            <a:pPr algn="l">
              <a:spcAft>
                <a:spcPts val="300"/>
              </a:spcAft>
            </a:pPr>
            <a:r>
              <a:rPr sz="1500" b="1" i="0">
                <a:solidFill>
                  <a:srgbClr val="2F639D"/>
                </a:solidFill>
                <a:latin typeface="Aptos"/>
              </a:rPr>
              <a:t>BA NƠI LƯU — BA MỤC ĐÍCH</a:t>
            </a:r>
          </a:p>
        </p:txBody>
      </p:sp>
      <p:sp>
        <p:nvSpPr>
          <p:cNvPr id="18" name="TextBox 17"/>
          <p:cNvSpPr txBox="1"/>
          <p:nvPr/>
        </p:nvSpPr>
        <p:spPr>
          <a:xfrm>
            <a:off x="6812280" y="4059936"/>
            <a:ext cx="4846320" cy="246888"/>
          </a:xfrm>
          <a:prstGeom prst="rect">
            <a:avLst/>
          </a:prstGeom>
          <a:noFill/>
        </p:spPr>
        <p:txBody>
          <a:bodyPr wrap="square" lIns="36576" tIns="36576" rIns="36576" bIns="36576" anchor="t">
            <a:noAutofit/>
          </a:bodyPr>
          <a:lstStyle/>
          <a:p>
            <a:pPr algn="l">
              <a:spcAft>
                <a:spcPts val="300"/>
              </a:spcAft>
            </a:pPr>
            <a:r>
              <a:rPr sz="1150" b="1" i="0">
                <a:solidFill>
                  <a:srgbClr val="162C46"/>
                </a:solidFill>
                <a:latin typeface="Aptos"/>
              </a:rPr>
              <a:t>① Thuộc tính đối tượng</a:t>
            </a:r>
          </a:p>
        </p:txBody>
      </p:sp>
      <p:sp>
        <p:nvSpPr>
          <p:cNvPr id="19" name="TextBox 18"/>
          <p:cNvSpPr txBox="1"/>
          <p:nvPr/>
        </p:nvSpPr>
        <p:spPr>
          <a:xfrm>
            <a:off x="6812280" y="4288536"/>
            <a:ext cx="4846320" cy="274320"/>
          </a:xfrm>
          <a:prstGeom prst="rect">
            <a:avLst/>
          </a:prstGeom>
          <a:noFill/>
        </p:spPr>
        <p:txBody>
          <a:bodyPr wrap="square" lIns="36576" tIns="36576" rIns="36576" bIns="36576" anchor="t">
            <a:noAutofit/>
          </a:bodyPr>
          <a:lstStyle/>
          <a:p>
            <a:pPr algn="l">
              <a:spcAft>
                <a:spcPts val="300"/>
              </a:spcAft>
            </a:pPr>
            <a:r>
              <a:rPr sz="1050" b="0" i="0">
                <a:solidFill>
                  <a:srgbClr val="5E6A78"/>
                </a:solidFill>
                <a:latin typeface="Aptos"/>
              </a:rPr>
              <a:t>dùng ngay trong phiên; clone() giữ siêu tham số, bỏ trạng thái</a:t>
            </a:r>
          </a:p>
        </p:txBody>
      </p:sp>
      <p:sp>
        <p:nvSpPr>
          <p:cNvPr id="20" name="TextBox 19"/>
          <p:cNvSpPr txBox="1"/>
          <p:nvPr/>
        </p:nvSpPr>
        <p:spPr>
          <a:xfrm>
            <a:off x="6812280" y="4572000"/>
            <a:ext cx="4846320" cy="246888"/>
          </a:xfrm>
          <a:prstGeom prst="rect">
            <a:avLst/>
          </a:prstGeom>
          <a:noFill/>
        </p:spPr>
        <p:txBody>
          <a:bodyPr wrap="square" lIns="36576" tIns="36576" rIns="36576" bIns="36576" anchor="t">
            <a:noAutofit/>
          </a:bodyPr>
          <a:lstStyle/>
          <a:p>
            <a:pPr algn="l">
              <a:spcAft>
                <a:spcPts val="300"/>
              </a:spcAft>
            </a:pPr>
            <a:r>
              <a:rPr sz="1150" b="1" i="0">
                <a:solidFill>
                  <a:srgbClr val="162C46"/>
                </a:solidFill>
                <a:latin typeface="Courier New"/>
              </a:rPr>
              <a:t>② reports/models/gbm_tuned.json</a:t>
            </a:r>
          </a:p>
        </p:txBody>
      </p:sp>
      <p:sp>
        <p:nvSpPr>
          <p:cNvPr id="21" name="TextBox 20"/>
          <p:cNvSpPr txBox="1"/>
          <p:nvPr/>
        </p:nvSpPr>
        <p:spPr>
          <a:xfrm>
            <a:off x="6812280" y="4800600"/>
            <a:ext cx="4846320" cy="274320"/>
          </a:xfrm>
          <a:prstGeom prst="rect">
            <a:avLst/>
          </a:prstGeom>
          <a:noFill/>
        </p:spPr>
        <p:txBody>
          <a:bodyPr wrap="square" lIns="36576" tIns="36576" rIns="36576" bIns="36576" anchor="t">
            <a:noAutofit/>
          </a:bodyPr>
          <a:lstStyle/>
          <a:p>
            <a:pPr algn="l">
              <a:spcAft>
                <a:spcPts val="300"/>
              </a:spcAft>
            </a:pPr>
            <a:r>
              <a:rPr sz="1050" b="0" i="0">
                <a:solidFill>
                  <a:srgbClr val="5E6A78"/>
                </a:solidFill>
                <a:latin typeface="Aptos"/>
              </a:rPr>
              <a:t>export_hyperparams(): đọc bằng mắt, kèm không gian tìm &amp; bản sklearn</a:t>
            </a:r>
          </a:p>
        </p:txBody>
      </p:sp>
      <p:sp>
        <p:nvSpPr>
          <p:cNvPr id="22" name="TextBox 21"/>
          <p:cNvSpPr txBox="1"/>
          <p:nvPr/>
        </p:nvSpPr>
        <p:spPr>
          <a:xfrm>
            <a:off x="6812280" y="5084064"/>
            <a:ext cx="4846320" cy="246888"/>
          </a:xfrm>
          <a:prstGeom prst="rect">
            <a:avLst/>
          </a:prstGeom>
          <a:noFill/>
        </p:spPr>
        <p:txBody>
          <a:bodyPr wrap="square" lIns="36576" tIns="36576" rIns="36576" bIns="36576" anchor="t">
            <a:noAutofit/>
          </a:bodyPr>
          <a:lstStyle/>
          <a:p>
            <a:pPr algn="l">
              <a:spcAft>
                <a:spcPts val="300"/>
              </a:spcAft>
            </a:pPr>
            <a:r>
              <a:rPr sz="1150" b="1" i="0">
                <a:solidFill>
                  <a:srgbClr val="162C46"/>
                </a:solidFill>
                <a:latin typeface="Courier New"/>
              </a:rPr>
              <a:t>③ reports/models/gbm_tuned.joblib</a:t>
            </a:r>
          </a:p>
        </p:txBody>
      </p:sp>
      <p:sp>
        <p:nvSpPr>
          <p:cNvPr id="23" name="TextBox 22"/>
          <p:cNvSpPr txBox="1"/>
          <p:nvPr/>
        </p:nvSpPr>
        <p:spPr>
          <a:xfrm>
            <a:off x="6812280" y="5312664"/>
            <a:ext cx="4846320" cy="274320"/>
          </a:xfrm>
          <a:prstGeom prst="rect">
            <a:avLst/>
          </a:prstGeom>
          <a:noFill/>
        </p:spPr>
        <p:txBody>
          <a:bodyPr wrap="square" lIns="36576" tIns="36576" rIns="36576" bIns="36576" anchor="t">
            <a:noAutofit/>
          </a:bodyPr>
          <a:lstStyle/>
          <a:p>
            <a:pPr algn="l">
              <a:spcAft>
                <a:spcPts val="300"/>
              </a:spcAft>
            </a:pPr>
            <a:r>
              <a:rPr sz="1050" b="0" i="0">
                <a:solidFill>
                  <a:srgbClr val="5E6A78"/>
                </a:solidFill>
                <a:latin typeface="Aptos"/>
              </a:rPr>
              <a:t>save() / load(): toàn bộ đối tượng, không phải tune lại</a:t>
            </a:r>
          </a:p>
        </p:txBody>
      </p:sp>
      <p:sp>
        <p:nvSpPr>
          <p:cNvPr id="24" name="Rounded Rectangle 23"/>
          <p:cNvSpPr/>
          <p:nvPr/>
        </p:nvSpPr>
        <p:spPr>
          <a:xfrm>
            <a:off x="603504" y="5669280"/>
            <a:ext cx="11009376" cy="640080"/>
          </a:xfrm>
          <a:prstGeom prst="roundRect">
            <a:avLst>
              <a:gd name="adj" fmla="val 18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300" b="1" i="0">
                <a:solidFill>
                  <a:srgbClr val="FFFFFF"/>
                </a:solidFill>
                <a:latin typeface="Aptos"/>
              </a:rPr>
              <a:t>Tái lập: </a:t>
            </a:r>
            <a:r>
              <a:rPr sz="1250" b="0" i="0">
                <a:solidFill>
                  <a:srgbClr val="FFFFFF"/>
                </a:solidFill>
                <a:latin typeface="Aptos"/>
              </a:rPr>
              <a:t>chạy lại trên scikit-learn 1.9.1 cho bộ siêu tham số GBM khác (logistic trùng 16 chữ số) → ghim scikit-learn==1.5.1 và chặn run_modeling nếu sai phiên bản.</a:t>
            </a:r>
          </a:p>
        </p:txBody>
      </p:sp>
      <p:sp>
        <p:nvSpPr>
          <p:cNvPr id="25" name="Rounded Rectangle 24"/>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a:t>
            </a:r>
          </a:p>
        </p:txBody>
      </p:sp>
      <p:sp>
        <p:nvSpPr>
          <p:cNvPr id="26" name="Rounded Rectangle 25"/>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Data Collection</a:t>
            </a:r>
          </a:p>
        </p:txBody>
      </p:sp>
      <p:sp>
        <p:nvSpPr>
          <p:cNvPr id="27" name="Rounded Rectangle 26"/>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Cleaning</a:t>
            </a:r>
          </a:p>
        </p:txBody>
      </p:sp>
      <p:sp>
        <p:nvSpPr>
          <p:cNvPr id="28" name="Rounded Rectangle 27"/>
          <p:cNvSpPr/>
          <p:nvPr/>
        </p:nvSpPr>
        <p:spPr>
          <a:xfrm>
            <a:off x="7306056" y="6510528"/>
            <a:ext cx="42062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EDA</a:t>
            </a:r>
          </a:p>
        </p:txBody>
      </p:sp>
      <p:sp>
        <p:nvSpPr>
          <p:cNvPr id="29" name="Rounded Rectangle 28"/>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Features</a:t>
            </a:r>
          </a:p>
        </p:txBody>
      </p:sp>
      <p:sp>
        <p:nvSpPr>
          <p:cNvPr id="30" name="Rounded Rectangle 29"/>
          <p:cNvSpPr/>
          <p:nvPr/>
        </p:nvSpPr>
        <p:spPr>
          <a:xfrm>
            <a:off x="8494776" y="6510528"/>
            <a:ext cx="694944"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Modeling</a:t>
            </a:r>
          </a:p>
        </p:txBody>
      </p:sp>
      <p:sp>
        <p:nvSpPr>
          <p:cNvPr id="31" name="Rounded Rectangle 30"/>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Evaluation</a:t>
            </a:r>
          </a:p>
        </p:txBody>
      </p:sp>
      <p:sp>
        <p:nvSpPr>
          <p:cNvPr id="32" name="Rounded Rectangle 31"/>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 Value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265176"/>
            <a:ext cx="10424160" cy="566928"/>
          </a:xfrm>
          <a:prstGeom prst="rect">
            <a:avLst/>
          </a:prstGeom>
          <a:noFill/>
        </p:spPr>
        <p:txBody>
          <a:bodyPr wrap="square" lIns="36576" tIns="36576" rIns="36576" bIns="36576" anchor="t">
            <a:noAutofit/>
          </a:bodyPr>
          <a:lstStyle/>
          <a:p>
            <a:pPr algn="l">
              <a:spcAft>
                <a:spcPts val="300"/>
              </a:spcAft>
            </a:pPr>
            <a:r>
              <a:rPr sz="2400" b="1" i="0">
                <a:solidFill>
                  <a:srgbClr val="162C46"/>
                </a:solidFill>
                <a:latin typeface="Aptos Display"/>
              </a:rPr>
              <a:t>MODELING — VÌ SAO CHỌN MÔ HÌNH NÀY, ĐỐI SỐ NÀY?</a:t>
            </a:r>
          </a:p>
        </p:txBody>
      </p:sp>
      <p:cxnSp>
        <p:nvCxnSpPr>
          <p:cNvPr id="3" name="Connector 2"/>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583680"/>
            <a:ext cx="4023360" cy="182880"/>
          </a:xfrm>
          <a:prstGeom prst="rect">
            <a:avLst/>
          </a:prstGeom>
          <a:noFill/>
        </p:spPr>
        <p:txBody>
          <a:bodyPr wrap="square" lIns="36576" tIns="36576" rIns="36576" bIns="36576" anchor="t">
            <a:noAutofit/>
          </a:bodyPr>
          <a:lstStyle/>
          <a:p>
            <a:pPr algn="l">
              <a:spcAft>
                <a:spcPts val="300"/>
              </a:spcAft>
            </a:pPr>
            <a:r>
              <a:rPr sz="850" b="0" i="0">
                <a:solidFill>
                  <a:srgbClr val="5E6A78"/>
                </a:solidFill>
                <a:latin typeface="Aptos"/>
              </a:rPr>
              <a:t>Cơ sở Khoa học Dữ liệu  •  SLA &amp; Customer Experience</a:t>
            </a:r>
          </a:p>
        </p:txBody>
      </p:sp>
      <p:sp>
        <p:nvSpPr>
          <p:cNvPr id="6" name="TextBox 5"/>
          <p:cNvSpPr txBox="1"/>
          <p:nvPr/>
        </p:nvSpPr>
        <p:spPr>
          <a:xfrm>
            <a:off x="11201400" y="6567055"/>
            <a:ext cx="365760" cy="166255"/>
          </a:xfrm>
          <a:prstGeom prst="rect">
            <a:avLst/>
          </a:prstGeom>
          <a:noFill/>
        </p:spPr>
        <p:txBody>
          <a:bodyPr wrap="square" lIns="36576" tIns="36576" rIns="36576" bIns="36576" anchor="t">
            <a:noAutofit/>
          </a:bodyPr>
          <a:lstStyle/>
          <a:p>
            <a:pPr algn="l">
              <a:spcAft>
                <a:spcPts val="300"/>
              </a:spcAft>
            </a:pPr>
            <a:r>
              <a:rPr sz="850" b="0" i="0">
                <a:solidFill>
                  <a:srgbClr val="5E6A78"/>
                </a:solidFill>
                <a:latin typeface="Aptos"/>
              </a:rPr>
              <a:t>25</a:t>
            </a:r>
          </a:p>
        </p:txBody>
      </p:sp>
      <p:sp>
        <p:nvSpPr>
          <p:cNvPr id="7" name="TextBox 6"/>
          <p:cNvSpPr txBox="1"/>
          <p:nvPr/>
        </p:nvSpPr>
        <p:spPr>
          <a:xfrm>
            <a:off x="603504" y="1005840"/>
            <a:ext cx="5486400" cy="310896"/>
          </a:xfrm>
          <a:prstGeom prst="rect">
            <a:avLst/>
          </a:prstGeom>
          <a:noFill/>
        </p:spPr>
        <p:txBody>
          <a:bodyPr wrap="square" lIns="36576" tIns="36576" rIns="36576" bIns="36576" anchor="t">
            <a:noAutofit/>
          </a:bodyPr>
          <a:lstStyle/>
          <a:p>
            <a:pPr algn="l">
              <a:spcAft>
                <a:spcPts val="300"/>
              </a:spcAft>
            </a:pPr>
            <a:r>
              <a:rPr sz="1500" b="1" i="0">
                <a:solidFill>
                  <a:srgbClr val="2F639D"/>
                </a:solidFill>
                <a:latin typeface="Aptos"/>
              </a:rPr>
              <a:t>1. TRỌNG SỐ KHI TRAIN — CHỌN BẰNG CV</a:t>
            </a:r>
          </a:p>
        </p:txBody>
      </p:sp>
      <p:graphicFrame>
        <p:nvGraphicFramePr>
          <p:cNvPr id="8" name="Table 7"/>
          <p:cNvGraphicFramePr>
            <a:graphicFrameLocks noGrp="1"/>
          </p:cNvGraphicFramePr>
          <p:nvPr/>
        </p:nvGraphicFramePr>
        <p:xfrm>
          <a:off x="603504" y="1344168"/>
          <a:ext cx="5440680" cy="1316736"/>
        </p:xfrm>
        <a:graphic>
          <a:graphicData uri="http://schemas.openxmlformats.org/drawingml/2006/table">
            <a:tbl>
              <a:tblPr firstRow="1">
                <a:tableStyleId>{5C22544A-7EE6-4342-B048-85BDC9FD1C3A}</a:tableStyleId>
              </a:tblPr>
              <a:tblGrid>
                <a:gridCol w="22402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tblGrid>
              <a:tr h="329184">
                <a:tc>
                  <a:txBody>
                    <a:bodyPr/>
                    <a:lstStyle/>
                    <a:p>
                      <a:pPr algn="l"/>
                      <a:r>
                        <a:rPr sz="1150" b="1" i="0">
                          <a:solidFill>
                            <a:srgbClr val="FFFFFF"/>
                          </a:solidFill>
                          <a:latin typeface="Aptos"/>
                        </a:rPr>
                        <a:t>PR-AUC CV (có trọng số)</a:t>
                      </a:r>
                    </a:p>
                  </a:txBody>
                  <a:tcPr marL="54864" marR="54864" marT="27432" marB="27432" anchor="ctr">
                    <a:solidFill>
                      <a:srgbClr val="162C46"/>
                    </a:solidFill>
                  </a:tcPr>
                </a:tc>
                <a:tc>
                  <a:txBody>
                    <a:bodyPr/>
                    <a:lstStyle/>
                    <a:p>
                      <a:pPr algn="l"/>
                      <a:r>
                        <a:rPr sz="1150" b="1" i="0">
                          <a:solidFill>
                            <a:srgbClr val="FFFFFF"/>
                          </a:solidFill>
                          <a:latin typeface="Aptos"/>
                        </a:rPr>
                        <a:t>none</a:t>
                      </a:r>
                    </a:p>
                  </a:txBody>
                  <a:tcPr marL="54864" marR="54864" marT="27432" marB="27432" anchor="ctr">
                    <a:solidFill>
                      <a:srgbClr val="162C46"/>
                    </a:solidFill>
                  </a:tcPr>
                </a:tc>
                <a:tc>
                  <a:txBody>
                    <a:bodyPr/>
                    <a:lstStyle/>
                    <a:p>
                      <a:pPr algn="l"/>
                      <a:r>
                        <a:rPr sz="1150" b="1" i="0">
                          <a:solidFill>
                            <a:srgbClr val="FFFFFF"/>
                          </a:solidFill>
                          <a:latin typeface="Aptos"/>
                        </a:rPr>
                        <a:t>survey</a:t>
                      </a:r>
                    </a:p>
                  </a:txBody>
                  <a:tcPr marL="54864" marR="54864" marT="27432" marB="27432" anchor="ctr">
                    <a:solidFill>
                      <a:srgbClr val="162C46"/>
                    </a:solidFill>
                  </a:tcPr>
                </a:tc>
                <a:tc>
                  <a:txBody>
                    <a:bodyPr/>
                    <a:lstStyle/>
                    <a:p>
                      <a:pPr algn="l"/>
                      <a:r>
                        <a:rPr sz="1150" b="1" i="0">
                          <a:solidFill>
                            <a:srgbClr val="FFFFFF"/>
                          </a:solidFill>
                          <a:latin typeface="Aptos"/>
                        </a:rPr>
                        <a:t>survey_bal.</a:t>
                      </a:r>
                    </a:p>
                  </a:txBody>
                  <a:tcPr marL="54864" marR="54864" marT="27432" marB="27432" anchor="ctr">
                    <a:solidFill>
                      <a:srgbClr val="162C46"/>
                    </a:solidFill>
                  </a:tcPr>
                </a:tc>
                <a:extLst>
                  <a:ext uri="{0D108BD9-81ED-4DB2-BD59-A6C34878D82A}">
                    <a16:rowId xmlns:a16="http://schemas.microsoft.com/office/drawing/2014/main" val="10000"/>
                  </a:ext>
                </a:extLst>
              </a:tr>
              <a:tr h="329184">
                <a:tc>
                  <a:txBody>
                    <a:bodyPr/>
                    <a:lstStyle/>
                    <a:p>
                      <a:pPr algn="l"/>
                      <a:r>
                        <a:rPr sz="1150" b="1" i="0">
                          <a:solidFill>
                            <a:srgbClr val="242B33"/>
                          </a:solidFill>
                          <a:latin typeface="Aptos"/>
                        </a:rPr>
                        <a:t>Logistic (L2)</a:t>
                      </a:r>
                    </a:p>
                  </a:txBody>
                  <a:tcPr marL="54864" marR="54864" marT="27432" marB="27432" anchor="ctr">
                    <a:solidFill>
                      <a:srgbClr val="FFFFFF"/>
                    </a:solidFill>
                  </a:tcPr>
                </a:tc>
                <a:tc>
                  <a:txBody>
                    <a:bodyPr/>
                    <a:lstStyle/>
                    <a:p>
                      <a:pPr algn="r"/>
                      <a:r>
                        <a:rPr sz="1150" b="0" i="0">
                          <a:solidFill>
                            <a:srgbClr val="242B33"/>
                          </a:solidFill>
                          <a:latin typeface="Aptos"/>
                        </a:rPr>
                        <a:t>0,0352</a:t>
                      </a:r>
                    </a:p>
                  </a:txBody>
                  <a:tcPr marL="54864" marR="54864" marT="27432" marB="27432" anchor="ctr">
                    <a:solidFill>
                      <a:srgbClr val="FFFFFF"/>
                    </a:solidFill>
                  </a:tcPr>
                </a:tc>
                <a:tc>
                  <a:txBody>
                    <a:bodyPr/>
                    <a:lstStyle/>
                    <a:p>
                      <a:pPr algn="r"/>
                      <a:r>
                        <a:rPr sz="1150" b="0" i="0">
                          <a:solidFill>
                            <a:srgbClr val="242B33"/>
                          </a:solidFill>
                          <a:latin typeface="Aptos"/>
                        </a:rPr>
                        <a:t>0,0548</a:t>
                      </a:r>
                    </a:p>
                  </a:txBody>
                  <a:tcPr marL="54864" marR="54864" marT="27432" marB="27432" anchor="ctr">
                    <a:solidFill>
                      <a:srgbClr val="FFFFFF"/>
                    </a:solidFill>
                  </a:tcPr>
                </a:tc>
                <a:tc>
                  <a:txBody>
                    <a:bodyPr/>
                    <a:lstStyle/>
                    <a:p>
                      <a:pPr algn="r"/>
                      <a:r>
                        <a:rPr sz="1150" b="1" i="0">
                          <a:solidFill>
                            <a:srgbClr val="162C46"/>
                          </a:solidFill>
                          <a:latin typeface="Aptos"/>
                        </a:rPr>
                        <a:t>0,0553</a:t>
                      </a:r>
                    </a:p>
                  </a:txBody>
                  <a:tcPr marL="54864" marR="54864" marT="27432" marB="27432" anchor="ctr">
                    <a:solidFill>
                      <a:srgbClr val="FFFFFF"/>
                    </a:solidFill>
                  </a:tcPr>
                </a:tc>
                <a:extLst>
                  <a:ext uri="{0D108BD9-81ED-4DB2-BD59-A6C34878D82A}">
                    <a16:rowId xmlns:a16="http://schemas.microsoft.com/office/drawing/2014/main" val="10001"/>
                  </a:ext>
                </a:extLst>
              </a:tr>
              <a:tr h="329184">
                <a:tc>
                  <a:txBody>
                    <a:bodyPr/>
                    <a:lstStyle/>
                    <a:p>
                      <a:pPr algn="l"/>
                      <a:r>
                        <a:rPr sz="1150" b="1" i="0">
                          <a:solidFill>
                            <a:srgbClr val="242B33"/>
                          </a:solidFill>
                          <a:latin typeface="Aptos"/>
                        </a:rPr>
                        <a:t>Random forest</a:t>
                      </a:r>
                    </a:p>
                  </a:txBody>
                  <a:tcPr marL="54864" marR="54864" marT="27432" marB="27432" anchor="ctr">
                    <a:solidFill>
                      <a:srgbClr val="F6F9FC"/>
                    </a:solidFill>
                  </a:tcPr>
                </a:tc>
                <a:tc>
                  <a:txBody>
                    <a:bodyPr/>
                    <a:lstStyle/>
                    <a:p>
                      <a:pPr algn="r"/>
                      <a:r>
                        <a:rPr sz="1150" b="0" i="0">
                          <a:solidFill>
                            <a:srgbClr val="242B33"/>
                          </a:solidFill>
                          <a:latin typeface="Aptos"/>
                        </a:rPr>
                        <a:t>0,0284</a:t>
                      </a:r>
                    </a:p>
                  </a:txBody>
                  <a:tcPr marL="54864" marR="54864" marT="27432" marB="27432" anchor="ctr">
                    <a:solidFill>
                      <a:srgbClr val="F6F9FC"/>
                    </a:solidFill>
                  </a:tcPr>
                </a:tc>
                <a:tc>
                  <a:txBody>
                    <a:bodyPr/>
                    <a:lstStyle/>
                    <a:p>
                      <a:pPr algn="r"/>
                      <a:r>
                        <a:rPr sz="1150" b="1" i="0">
                          <a:solidFill>
                            <a:srgbClr val="162C46"/>
                          </a:solidFill>
                          <a:latin typeface="Aptos"/>
                        </a:rPr>
                        <a:t>0,0511</a:t>
                      </a:r>
                    </a:p>
                  </a:txBody>
                  <a:tcPr marL="54864" marR="54864" marT="27432" marB="27432" anchor="ctr">
                    <a:solidFill>
                      <a:srgbClr val="F6F9FC"/>
                    </a:solidFill>
                  </a:tcPr>
                </a:tc>
                <a:tc>
                  <a:txBody>
                    <a:bodyPr/>
                    <a:lstStyle/>
                    <a:p>
                      <a:pPr algn="r"/>
                      <a:r>
                        <a:rPr sz="1150" b="0" i="0">
                          <a:solidFill>
                            <a:srgbClr val="242B33"/>
                          </a:solidFill>
                          <a:latin typeface="Aptos"/>
                        </a:rPr>
                        <a:t>0,0479</a:t>
                      </a:r>
                    </a:p>
                  </a:txBody>
                  <a:tcPr marL="54864" marR="54864" marT="27432" marB="27432" anchor="ctr">
                    <a:solidFill>
                      <a:srgbClr val="F6F9FC"/>
                    </a:solidFill>
                  </a:tcPr>
                </a:tc>
                <a:extLst>
                  <a:ext uri="{0D108BD9-81ED-4DB2-BD59-A6C34878D82A}">
                    <a16:rowId xmlns:a16="http://schemas.microsoft.com/office/drawing/2014/main" val="10002"/>
                  </a:ext>
                </a:extLst>
              </a:tr>
              <a:tr h="329184">
                <a:tc>
                  <a:txBody>
                    <a:bodyPr/>
                    <a:lstStyle/>
                    <a:p>
                      <a:pPr algn="l"/>
                      <a:r>
                        <a:rPr sz="1150" b="1" i="0">
                          <a:solidFill>
                            <a:srgbClr val="242B33"/>
                          </a:solidFill>
                          <a:latin typeface="Aptos"/>
                        </a:rPr>
                        <a:t>Gradient boosting</a:t>
                      </a:r>
                    </a:p>
                  </a:txBody>
                  <a:tcPr marL="54864" marR="54864" marT="27432" marB="27432" anchor="ctr">
                    <a:solidFill>
                      <a:srgbClr val="FFFFFF"/>
                    </a:solidFill>
                  </a:tcPr>
                </a:tc>
                <a:tc>
                  <a:txBody>
                    <a:bodyPr/>
                    <a:lstStyle/>
                    <a:p>
                      <a:pPr algn="r"/>
                      <a:r>
                        <a:rPr sz="1150" b="0" i="0">
                          <a:solidFill>
                            <a:srgbClr val="242B33"/>
                          </a:solidFill>
                          <a:latin typeface="Aptos"/>
                        </a:rPr>
                        <a:t>0,0293</a:t>
                      </a:r>
                    </a:p>
                  </a:txBody>
                  <a:tcPr marL="54864" marR="54864" marT="27432" marB="27432" anchor="ctr">
                    <a:solidFill>
                      <a:srgbClr val="FFFFFF"/>
                    </a:solidFill>
                  </a:tcPr>
                </a:tc>
                <a:tc>
                  <a:txBody>
                    <a:bodyPr/>
                    <a:lstStyle/>
                    <a:p>
                      <a:pPr algn="r"/>
                      <a:r>
                        <a:rPr sz="1150" b="0" i="0">
                          <a:solidFill>
                            <a:srgbClr val="242B33"/>
                          </a:solidFill>
                          <a:latin typeface="Aptos"/>
                        </a:rPr>
                        <a:t>0,0502</a:t>
                      </a:r>
                    </a:p>
                  </a:txBody>
                  <a:tcPr marL="54864" marR="54864" marT="27432" marB="27432" anchor="ctr">
                    <a:solidFill>
                      <a:srgbClr val="FFFFFF"/>
                    </a:solidFill>
                  </a:tcPr>
                </a:tc>
                <a:tc>
                  <a:txBody>
                    <a:bodyPr/>
                    <a:lstStyle/>
                    <a:p>
                      <a:pPr algn="r"/>
                      <a:r>
                        <a:rPr sz="1150" b="1" i="0">
                          <a:solidFill>
                            <a:srgbClr val="162C46"/>
                          </a:solidFill>
                          <a:latin typeface="Aptos"/>
                        </a:rPr>
                        <a:t>0,0552</a:t>
                      </a:r>
                    </a:p>
                  </a:txBody>
                  <a:tcPr marL="54864" marR="54864"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9" name="TextBox 8"/>
          <p:cNvSpPr txBox="1"/>
          <p:nvPr/>
        </p:nvSpPr>
        <p:spPr>
          <a:xfrm>
            <a:off x="603504" y="2724912"/>
            <a:ext cx="5440680" cy="1005840"/>
          </a:xfrm>
          <a:prstGeom prst="rect">
            <a:avLst/>
          </a:prstGeom>
          <a:noFill/>
        </p:spPr>
        <p:txBody>
          <a:bodyPr wrap="square" lIns="36576" tIns="36576" rIns="36576" bIns="36576" anchor="t">
            <a:noAutofit/>
          </a:bodyPr>
          <a:lstStyle/>
          <a:p>
            <a:pPr algn="l">
              <a:spcAft>
                <a:spcPts val="300"/>
              </a:spcAft>
            </a:pPr>
            <a:r>
              <a:rPr sz="1150" b="1" i="0">
                <a:solidFill>
                  <a:srgbClr val="B14242"/>
                </a:solidFill>
                <a:latin typeface="Aptos"/>
              </a:rPr>
              <a:t>Train không trọng số thua ở cả 3 họ. </a:t>
            </a:r>
            <a:r>
              <a:rPr sz="1150" b="0" i="0">
                <a:solidFill>
                  <a:srgbClr val="5E6A78"/>
                </a:solidFill>
                <a:latin typeface="Aptos"/>
              </a:rPr>
              <a:t>Xác suất cào một review 5★ phụ thuộc sản phẩm, không chỉ nhãn → 3/16 biến số đảo chiều giữa mẫu thô và quần thể. Chọn </a:t>
            </a:r>
            <a:r>
              <a:rPr sz="1100" b="1" i="0">
                <a:solidFill>
                  <a:srgbClr val="162C46"/>
                </a:solidFill>
                <a:latin typeface="Courier New"/>
              </a:rPr>
              <a:t>survey_balanced</a:t>
            </a:r>
            <a:r>
              <a:rPr sz="1150" b="0" i="0">
                <a:solidFill>
                  <a:srgbClr val="5E6A78"/>
                </a:solidFill>
                <a:latin typeface="Aptos"/>
              </a:rPr>
              <a:t>: sửa chệch lấy mẫu + cân bằng lớp hiếm.</a:t>
            </a:r>
          </a:p>
        </p:txBody>
      </p:sp>
      <p:sp>
        <p:nvSpPr>
          <p:cNvPr id="10" name="TextBox 9"/>
          <p:cNvSpPr txBox="1"/>
          <p:nvPr/>
        </p:nvSpPr>
        <p:spPr>
          <a:xfrm>
            <a:off x="603504" y="3767328"/>
            <a:ext cx="5486400" cy="310896"/>
          </a:xfrm>
          <a:prstGeom prst="rect">
            <a:avLst/>
          </a:prstGeom>
          <a:noFill/>
        </p:spPr>
        <p:txBody>
          <a:bodyPr wrap="square" lIns="36576" tIns="36576" rIns="36576" bIns="36576" anchor="t">
            <a:noAutofit/>
          </a:bodyPr>
          <a:lstStyle/>
          <a:p>
            <a:pPr algn="l">
              <a:spcAft>
                <a:spcPts val="300"/>
              </a:spcAft>
            </a:pPr>
            <a:r>
              <a:rPr sz="1500" b="1" i="0">
                <a:solidFill>
                  <a:srgbClr val="2F639D"/>
                </a:solidFill>
                <a:latin typeface="Aptos"/>
              </a:rPr>
              <a:t>3. TRUNG THỰC VỀ KẾT QUẢ TUNE (test 2024–2026)</a:t>
            </a:r>
          </a:p>
        </p:txBody>
      </p:sp>
      <p:graphicFrame>
        <p:nvGraphicFramePr>
          <p:cNvPr id="11" name="Table 10"/>
          <p:cNvGraphicFramePr>
            <a:graphicFrameLocks noGrp="1"/>
          </p:cNvGraphicFramePr>
          <p:nvPr/>
        </p:nvGraphicFramePr>
        <p:xfrm>
          <a:off x="603504" y="4105656"/>
          <a:ext cx="5440680" cy="1316736"/>
        </p:xfrm>
        <a:graphic>
          <a:graphicData uri="http://schemas.openxmlformats.org/drawingml/2006/table">
            <a:tbl>
              <a:tblPr firstRow="1">
                <a:tableStyleId>{5C22544A-7EE6-4342-B048-85BDC9FD1C3A}</a:tableStyleId>
              </a:tblPr>
              <a:tblGrid>
                <a:gridCol w="26974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329184">
                <a:tc>
                  <a:txBody>
                    <a:bodyPr/>
                    <a:lstStyle/>
                    <a:p>
                      <a:pPr algn="l"/>
                      <a:r>
                        <a:rPr sz="1150" b="1" i="0">
                          <a:solidFill>
                            <a:srgbClr val="FFFFFF"/>
                          </a:solidFill>
                          <a:latin typeface="Aptos"/>
                        </a:rPr>
                        <a:t>So sánh ghép cặp</a:t>
                      </a:r>
                    </a:p>
                  </a:txBody>
                  <a:tcPr marL="54864" marR="54864" marT="27432" marB="27432" anchor="ctr">
                    <a:solidFill>
                      <a:srgbClr val="162C46"/>
                    </a:solidFill>
                  </a:tcPr>
                </a:tc>
                <a:tc>
                  <a:txBody>
                    <a:bodyPr/>
                    <a:lstStyle/>
                    <a:p>
                      <a:pPr algn="l"/>
                      <a:r>
                        <a:rPr sz="1150" b="1" i="0">
                          <a:solidFill>
                            <a:srgbClr val="FFFFFF"/>
                          </a:solidFill>
                          <a:latin typeface="Aptos"/>
                        </a:rPr>
                        <a:t>ΔPR-AUC</a:t>
                      </a:r>
                    </a:p>
                  </a:txBody>
                  <a:tcPr marL="54864" marR="54864" marT="27432" marB="27432" anchor="ctr">
                    <a:solidFill>
                      <a:srgbClr val="162C46"/>
                    </a:solidFill>
                  </a:tcPr>
                </a:tc>
                <a:tc>
                  <a:txBody>
                    <a:bodyPr/>
                    <a:lstStyle/>
                    <a:p>
                      <a:pPr algn="l"/>
                      <a:r>
                        <a:rPr sz="1150" b="1" i="0">
                          <a:solidFill>
                            <a:srgbClr val="FFFFFF"/>
                          </a:solidFill>
                          <a:latin typeface="Aptos"/>
                        </a:rPr>
                        <a:t>KTC 95%</a:t>
                      </a:r>
                    </a:p>
                  </a:txBody>
                  <a:tcPr marL="54864" marR="54864" marT="27432" marB="27432" anchor="ctr">
                    <a:solidFill>
                      <a:srgbClr val="162C46"/>
                    </a:solidFill>
                  </a:tcPr>
                </a:tc>
                <a:extLst>
                  <a:ext uri="{0D108BD9-81ED-4DB2-BD59-A6C34878D82A}">
                    <a16:rowId xmlns:a16="http://schemas.microsoft.com/office/drawing/2014/main" val="10000"/>
                  </a:ext>
                </a:extLst>
              </a:tr>
              <a:tr h="329184">
                <a:tc>
                  <a:txBody>
                    <a:bodyPr/>
                    <a:lstStyle/>
                    <a:p>
                      <a:pPr algn="l"/>
                      <a:r>
                        <a:rPr sz="1150" b="0" i="0">
                          <a:solidFill>
                            <a:srgbClr val="242B33"/>
                          </a:solidFill>
                          <a:latin typeface="Aptos"/>
                        </a:rPr>
                        <a:t>GBM tuned − GBM mặc định</a:t>
                      </a:r>
                    </a:p>
                  </a:txBody>
                  <a:tcPr marL="54864" marR="54864" marT="27432" marB="27432" anchor="ctr">
                    <a:solidFill>
                      <a:srgbClr val="FFFFFF"/>
                    </a:solidFill>
                  </a:tcPr>
                </a:tc>
                <a:tc>
                  <a:txBody>
                    <a:bodyPr/>
                    <a:lstStyle/>
                    <a:p>
                      <a:pPr algn="r"/>
                      <a:r>
                        <a:rPr sz="1150" b="0" i="0">
                          <a:solidFill>
                            <a:srgbClr val="242B33"/>
                          </a:solidFill>
                          <a:latin typeface="Aptos"/>
                        </a:rPr>
                        <a:t>−0,0034</a:t>
                      </a:r>
                    </a:p>
                  </a:txBody>
                  <a:tcPr marL="54864" marR="54864" marT="27432" marB="27432" anchor="ctr">
                    <a:solidFill>
                      <a:srgbClr val="FFFFFF"/>
                    </a:solidFill>
                  </a:tcPr>
                </a:tc>
                <a:tc>
                  <a:txBody>
                    <a:bodyPr/>
                    <a:lstStyle/>
                    <a:p>
                      <a:pPr algn="r"/>
                      <a:r>
                        <a:rPr sz="1150" b="0" i="0">
                          <a:solidFill>
                            <a:srgbClr val="242B33"/>
                          </a:solidFill>
                          <a:latin typeface="Aptos"/>
                        </a:rPr>
                        <a:t>[−0,0078; 0,0002]</a:t>
                      </a:r>
                    </a:p>
                  </a:txBody>
                  <a:tcPr marL="54864" marR="54864" marT="27432" marB="27432" anchor="ctr">
                    <a:solidFill>
                      <a:srgbClr val="FFFFFF"/>
                    </a:solidFill>
                  </a:tcPr>
                </a:tc>
                <a:extLst>
                  <a:ext uri="{0D108BD9-81ED-4DB2-BD59-A6C34878D82A}">
                    <a16:rowId xmlns:a16="http://schemas.microsoft.com/office/drawing/2014/main" val="10001"/>
                  </a:ext>
                </a:extLst>
              </a:tr>
              <a:tr h="329184">
                <a:tc>
                  <a:txBody>
                    <a:bodyPr/>
                    <a:lstStyle/>
                    <a:p>
                      <a:pPr algn="l"/>
                      <a:r>
                        <a:rPr sz="1150" b="0" i="0">
                          <a:solidFill>
                            <a:srgbClr val="242B33"/>
                          </a:solidFill>
                          <a:latin typeface="Aptos"/>
                        </a:rPr>
                        <a:t>Ensemble chốt − Logistic tuned</a:t>
                      </a:r>
                    </a:p>
                  </a:txBody>
                  <a:tcPr marL="54864" marR="54864" marT="27432" marB="27432" anchor="ctr">
                    <a:solidFill>
                      <a:srgbClr val="F6F9FC"/>
                    </a:solidFill>
                  </a:tcPr>
                </a:tc>
                <a:tc>
                  <a:txBody>
                    <a:bodyPr/>
                    <a:lstStyle/>
                    <a:p>
                      <a:pPr algn="r"/>
                      <a:r>
                        <a:rPr sz="1150" b="0" i="0">
                          <a:solidFill>
                            <a:srgbClr val="242B33"/>
                          </a:solidFill>
                          <a:latin typeface="Aptos"/>
                        </a:rPr>
                        <a:t>−0,0010</a:t>
                      </a:r>
                    </a:p>
                  </a:txBody>
                  <a:tcPr marL="54864" marR="54864" marT="27432" marB="27432" anchor="ctr">
                    <a:solidFill>
                      <a:srgbClr val="F6F9FC"/>
                    </a:solidFill>
                  </a:tcPr>
                </a:tc>
                <a:tc>
                  <a:txBody>
                    <a:bodyPr/>
                    <a:lstStyle/>
                    <a:p>
                      <a:pPr algn="r"/>
                      <a:r>
                        <a:rPr sz="1150" b="0" i="0">
                          <a:solidFill>
                            <a:srgbClr val="242B33"/>
                          </a:solidFill>
                          <a:latin typeface="Aptos"/>
                        </a:rPr>
                        <a:t>[−0,0043; 0,0026]</a:t>
                      </a:r>
                    </a:p>
                  </a:txBody>
                  <a:tcPr marL="54864" marR="54864" marT="27432" marB="27432" anchor="ctr">
                    <a:solidFill>
                      <a:srgbClr val="F6F9FC"/>
                    </a:solidFill>
                  </a:tcPr>
                </a:tc>
                <a:extLst>
                  <a:ext uri="{0D108BD9-81ED-4DB2-BD59-A6C34878D82A}">
                    <a16:rowId xmlns:a16="http://schemas.microsoft.com/office/drawing/2014/main" val="10002"/>
                  </a:ext>
                </a:extLst>
              </a:tr>
              <a:tr h="329184">
                <a:tc>
                  <a:txBody>
                    <a:bodyPr/>
                    <a:lstStyle/>
                    <a:p>
                      <a:pPr algn="l"/>
                      <a:r>
                        <a:rPr sz="1150" b="0" i="0">
                          <a:solidFill>
                            <a:srgbClr val="242B33"/>
                          </a:solidFill>
                          <a:latin typeface="Aptos"/>
                        </a:rPr>
                        <a:t>Ensemble chốt − GBM tuned</a:t>
                      </a:r>
                    </a:p>
                  </a:txBody>
                  <a:tcPr marL="54864" marR="54864" marT="27432" marB="27432" anchor="ctr">
                    <a:solidFill>
                      <a:srgbClr val="FFFFFF"/>
                    </a:solidFill>
                  </a:tcPr>
                </a:tc>
                <a:tc>
                  <a:txBody>
                    <a:bodyPr/>
                    <a:lstStyle/>
                    <a:p>
                      <a:pPr algn="r"/>
                      <a:r>
                        <a:rPr sz="1150" b="1" i="0">
                          <a:solidFill>
                            <a:srgbClr val="162C46"/>
                          </a:solidFill>
                          <a:latin typeface="Aptos"/>
                        </a:rPr>
                        <a:t>+0,0083</a:t>
                      </a:r>
                    </a:p>
                  </a:txBody>
                  <a:tcPr marL="54864" marR="54864" marT="27432" marB="27432" anchor="ctr">
                    <a:solidFill>
                      <a:srgbClr val="FFFFFF"/>
                    </a:solidFill>
                  </a:tcPr>
                </a:tc>
                <a:tc>
                  <a:txBody>
                    <a:bodyPr/>
                    <a:lstStyle/>
                    <a:p>
                      <a:pPr algn="r"/>
                      <a:r>
                        <a:rPr sz="1150" b="0" i="0">
                          <a:solidFill>
                            <a:srgbClr val="242B33"/>
                          </a:solidFill>
                          <a:latin typeface="Aptos"/>
                        </a:rPr>
                        <a:t>[0,0052; 0,0128]</a:t>
                      </a:r>
                    </a:p>
                  </a:txBody>
                  <a:tcPr marL="54864" marR="54864"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6309360" y="1005840"/>
            <a:ext cx="5303520" cy="310896"/>
          </a:xfrm>
          <a:prstGeom prst="rect">
            <a:avLst/>
          </a:prstGeom>
          <a:noFill/>
        </p:spPr>
        <p:txBody>
          <a:bodyPr wrap="square" lIns="36576" tIns="36576" rIns="36576" bIns="36576" anchor="t">
            <a:noAutofit/>
          </a:bodyPr>
          <a:lstStyle/>
          <a:p>
            <a:pPr algn="l">
              <a:spcAft>
                <a:spcPts val="300"/>
              </a:spcAft>
            </a:pPr>
            <a:r>
              <a:rPr sz="1500" b="1" i="0">
                <a:solidFill>
                  <a:srgbClr val="2F639D"/>
                </a:solidFill>
                <a:latin typeface="Aptos"/>
              </a:rPr>
              <a:t>2. VÌ SAO GBM + LOGISTIC, KHÔNG PHẢI MÔ HÌNH KHÁC</a:t>
            </a:r>
          </a:p>
        </p:txBody>
      </p:sp>
      <p:sp>
        <p:nvSpPr>
          <p:cNvPr id="13" name="Rounded Rectangle 12"/>
          <p:cNvSpPr/>
          <p:nvPr/>
        </p:nvSpPr>
        <p:spPr>
          <a:xfrm>
            <a:off x="6309360" y="1344168"/>
            <a:ext cx="5303520" cy="57607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19088" y="1371600"/>
            <a:ext cx="5120640" cy="256032"/>
          </a:xfrm>
          <a:prstGeom prst="rect">
            <a:avLst/>
          </a:prstGeom>
          <a:noFill/>
        </p:spPr>
        <p:txBody>
          <a:bodyPr wrap="square" lIns="36576" tIns="36576" rIns="36576" bIns="36576" anchor="t">
            <a:noAutofit/>
          </a:bodyPr>
          <a:lstStyle/>
          <a:p>
            <a:pPr algn="l">
              <a:spcAft>
                <a:spcPts val="300"/>
              </a:spcAft>
            </a:pPr>
            <a:r>
              <a:rPr sz="1200" b="1" i="0">
                <a:solidFill>
                  <a:srgbClr val="162C46"/>
                </a:solidFill>
                <a:latin typeface="Aptos"/>
              </a:rPr>
              <a:t>Logistic</a:t>
            </a:r>
          </a:p>
        </p:txBody>
      </p:sp>
      <p:sp>
        <p:nvSpPr>
          <p:cNvPr id="15" name="TextBox 14"/>
          <p:cNvSpPr txBox="1"/>
          <p:nvPr/>
        </p:nvSpPr>
        <p:spPr>
          <a:xfrm>
            <a:off x="6419088" y="1618488"/>
            <a:ext cx="5120640" cy="274320"/>
          </a:xfrm>
          <a:prstGeom prst="rect">
            <a:avLst/>
          </a:prstGeom>
          <a:noFill/>
        </p:spPr>
        <p:txBody>
          <a:bodyPr wrap="square" lIns="36576" tIns="36576" rIns="36576" bIns="36576" anchor="t">
            <a:noAutofit/>
          </a:bodyPr>
          <a:lstStyle/>
          <a:p>
            <a:pPr algn="l">
              <a:spcAft>
                <a:spcPts val="300"/>
              </a:spcAft>
            </a:pPr>
            <a:r>
              <a:rPr sz="1050" b="0" i="0">
                <a:solidFill>
                  <a:srgbClr val="5E6A78"/>
                </a:solidFill>
                <a:latin typeface="Aptos"/>
              </a:rPr>
              <a:t>tuyến tính, diễn giải được (e^β = tỉ số odds), ngoại suy mượt khi dữ liệu trôi</a:t>
            </a:r>
          </a:p>
        </p:txBody>
      </p:sp>
      <p:sp>
        <p:nvSpPr>
          <p:cNvPr id="16" name="Rounded Rectangle 15"/>
          <p:cNvSpPr/>
          <p:nvPr/>
        </p:nvSpPr>
        <p:spPr>
          <a:xfrm>
            <a:off x="6309360" y="2002536"/>
            <a:ext cx="5303520" cy="57607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19088" y="2029967"/>
            <a:ext cx="5120640" cy="256032"/>
          </a:xfrm>
          <a:prstGeom prst="rect">
            <a:avLst/>
          </a:prstGeom>
          <a:noFill/>
        </p:spPr>
        <p:txBody>
          <a:bodyPr wrap="square" lIns="36576" tIns="36576" rIns="36576" bIns="36576" anchor="t">
            <a:noAutofit/>
          </a:bodyPr>
          <a:lstStyle/>
          <a:p>
            <a:pPr algn="l">
              <a:spcAft>
                <a:spcPts val="300"/>
              </a:spcAft>
            </a:pPr>
            <a:r>
              <a:rPr sz="1200" b="1" i="0">
                <a:solidFill>
                  <a:srgbClr val="162C46"/>
                </a:solidFill>
                <a:latin typeface="Aptos"/>
              </a:rPr>
              <a:t>GBM histogram</a:t>
            </a:r>
          </a:p>
        </p:txBody>
      </p:sp>
      <p:sp>
        <p:nvSpPr>
          <p:cNvPr id="18" name="TextBox 17"/>
          <p:cNvSpPr txBox="1"/>
          <p:nvPr/>
        </p:nvSpPr>
        <p:spPr>
          <a:xfrm>
            <a:off x="6419088" y="2276856"/>
            <a:ext cx="5120640" cy="274320"/>
          </a:xfrm>
          <a:prstGeom prst="rect">
            <a:avLst/>
          </a:prstGeom>
          <a:noFill/>
        </p:spPr>
        <p:txBody>
          <a:bodyPr wrap="square" lIns="36576" tIns="36576" rIns="36576" bIns="36576" anchor="t">
            <a:noAutofit/>
          </a:bodyPr>
          <a:lstStyle/>
          <a:p>
            <a:pPr algn="l">
              <a:spcAft>
                <a:spcPts val="300"/>
              </a:spcAft>
            </a:pPr>
            <a:r>
              <a:rPr sz="1050" b="0" i="0">
                <a:solidFill>
                  <a:srgbClr val="5E6A78"/>
                </a:solidFill>
                <a:latin typeface="Aptos"/>
              </a:rPr>
              <a:t>học tương tác &amp; ngưỡng; tự xử lý NaN (cust_tenure thiếu 10%) và biến phân loại</a:t>
            </a:r>
          </a:p>
        </p:txBody>
      </p:sp>
      <p:sp>
        <p:nvSpPr>
          <p:cNvPr id="19" name="Rounded Rectangle 18"/>
          <p:cNvSpPr/>
          <p:nvPr/>
        </p:nvSpPr>
        <p:spPr>
          <a:xfrm>
            <a:off x="6309360" y="2660904"/>
            <a:ext cx="5303520" cy="57607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19088" y="2688336"/>
            <a:ext cx="5120640" cy="256032"/>
          </a:xfrm>
          <a:prstGeom prst="rect">
            <a:avLst/>
          </a:prstGeom>
          <a:noFill/>
        </p:spPr>
        <p:txBody>
          <a:bodyPr wrap="square" lIns="36576" tIns="36576" rIns="36576" bIns="36576" anchor="t">
            <a:noAutofit/>
          </a:bodyPr>
          <a:lstStyle/>
          <a:p>
            <a:pPr algn="l">
              <a:spcAft>
                <a:spcPts val="300"/>
              </a:spcAft>
            </a:pPr>
            <a:r>
              <a:rPr sz="1200" b="1" i="0">
                <a:solidFill>
                  <a:srgbClr val="162C46"/>
                </a:solidFill>
                <a:latin typeface="Aptos"/>
              </a:rPr>
              <a:t>Random forest</a:t>
            </a:r>
          </a:p>
        </p:txBody>
      </p:sp>
      <p:sp>
        <p:nvSpPr>
          <p:cNvPr id="21" name="TextBox 20"/>
          <p:cNvSpPr txBox="1"/>
          <p:nvPr/>
        </p:nvSpPr>
        <p:spPr>
          <a:xfrm>
            <a:off x="6419088" y="2935224"/>
            <a:ext cx="5120640" cy="274320"/>
          </a:xfrm>
          <a:prstGeom prst="rect">
            <a:avLst/>
          </a:prstGeom>
          <a:noFill/>
        </p:spPr>
        <p:txBody>
          <a:bodyPr wrap="square" lIns="36576" tIns="36576" rIns="36576" bIns="36576" anchor="t">
            <a:noAutofit/>
          </a:bodyPr>
          <a:lstStyle/>
          <a:p>
            <a:pPr algn="l">
              <a:spcAft>
                <a:spcPts val="300"/>
              </a:spcAft>
            </a:pPr>
            <a:r>
              <a:rPr sz="1050" b="0" i="0">
                <a:solidFill>
                  <a:srgbClr val="5E6A78"/>
                </a:solidFill>
                <a:latin typeface="Aptos"/>
              </a:rPr>
              <a:t>mặc định thua (CV 0,051); tune xong ngang logistic (0,0570), cùng họ cây GBM</a:t>
            </a:r>
          </a:p>
        </p:txBody>
      </p:sp>
      <p:sp>
        <p:nvSpPr>
          <p:cNvPr id="22" name="Rounded Rectangle 21"/>
          <p:cNvSpPr/>
          <p:nvPr/>
        </p:nvSpPr>
        <p:spPr>
          <a:xfrm>
            <a:off x="6309360" y="3319272"/>
            <a:ext cx="5303520" cy="57607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19088" y="3346703"/>
            <a:ext cx="5120640" cy="256032"/>
          </a:xfrm>
          <a:prstGeom prst="rect">
            <a:avLst/>
          </a:prstGeom>
          <a:noFill/>
        </p:spPr>
        <p:txBody>
          <a:bodyPr wrap="square" lIns="36576" tIns="36576" rIns="36576" bIns="36576" anchor="t">
            <a:noAutofit/>
          </a:bodyPr>
          <a:lstStyle/>
          <a:p>
            <a:pPr algn="l">
              <a:spcAft>
                <a:spcPts val="300"/>
              </a:spcAft>
            </a:pPr>
            <a:r>
              <a:rPr sz="1200" b="1" i="0">
                <a:solidFill>
                  <a:srgbClr val="162C46"/>
                </a:solidFill>
                <a:latin typeface="Aptos"/>
              </a:rPr>
              <a:t>Không deep learning</a:t>
            </a:r>
          </a:p>
        </p:txBody>
      </p:sp>
      <p:sp>
        <p:nvSpPr>
          <p:cNvPr id="24" name="TextBox 23"/>
          <p:cNvSpPr txBox="1"/>
          <p:nvPr/>
        </p:nvSpPr>
        <p:spPr>
          <a:xfrm>
            <a:off x="6419088" y="3593591"/>
            <a:ext cx="5120640" cy="274320"/>
          </a:xfrm>
          <a:prstGeom prst="rect">
            <a:avLst/>
          </a:prstGeom>
          <a:noFill/>
        </p:spPr>
        <p:txBody>
          <a:bodyPr wrap="square" lIns="36576" tIns="36576" rIns="36576" bIns="36576" anchor="t">
            <a:noAutofit/>
          </a:bodyPr>
          <a:lstStyle/>
          <a:p>
            <a:pPr algn="l">
              <a:spcAft>
                <a:spcPts val="300"/>
              </a:spcAft>
            </a:pPr>
            <a:r>
              <a:rPr sz="1050" b="0" i="0">
                <a:solidFill>
                  <a:srgbClr val="5E6A78"/>
                </a:solidFill>
                <a:latin typeface="Aptos"/>
              </a:rPr>
              <a:t>dữ liệu bảng 17 biến: cây thường thắng mạng nơ-ron (Grinsztajn et al., 2022)</a:t>
            </a:r>
          </a:p>
        </p:txBody>
      </p:sp>
      <p:sp>
        <p:nvSpPr>
          <p:cNvPr id="25" name="Rounded Rectangle 24"/>
          <p:cNvSpPr/>
          <p:nvPr/>
        </p:nvSpPr>
        <p:spPr>
          <a:xfrm>
            <a:off x="6309360" y="3977639"/>
            <a:ext cx="5303520" cy="57607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19088" y="4005072"/>
            <a:ext cx="5120640" cy="256032"/>
          </a:xfrm>
          <a:prstGeom prst="rect">
            <a:avLst/>
          </a:prstGeom>
          <a:noFill/>
        </p:spPr>
        <p:txBody>
          <a:bodyPr wrap="square" lIns="36576" tIns="36576" rIns="36576" bIns="36576" anchor="t">
            <a:noAutofit/>
          </a:bodyPr>
          <a:lstStyle/>
          <a:p>
            <a:pPr algn="l">
              <a:spcAft>
                <a:spcPts val="300"/>
              </a:spcAft>
            </a:pPr>
            <a:r>
              <a:rPr sz="1200" b="1" i="0">
                <a:solidFill>
                  <a:srgbClr val="162C46"/>
                </a:solidFill>
                <a:latin typeface="Aptos"/>
              </a:rPr>
              <a:t>Ensemble 2 mô hình</a:t>
            </a:r>
          </a:p>
        </p:txBody>
      </p:sp>
      <p:sp>
        <p:nvSpPr>
          <p:cNvPr id="27" name="TextBox 26"/>
          <p:cNvSpPr txBox="1"/>
          <p:nvPr/>
        </p:nvSpPr>
        <p:spPr>
          <a:xfrm>
            <a:off x="6419088" y="4251959"/>
            <a:ext cx="5120640" cy="274320"/>
          </a:xfrm>
          <a:prstGeom prst="rect">
            <a:avLst/>
          </a:prstGeom>
          <a:noFill/>
        </p:spPr>
        <p:txBody>
          <a:bodyPr wrap="square" lIns="36576" tIns="36576" rIns="36576" bIns="36576" anchor="t">
            <a:noAutofit/>
          </a:bodyPr>
          <a:lstStyle/>
          <a:p>
            <a:pPr algn="l">
              <a:spcAft>
                <a:spcPts val="300"/>
              </a:spcAft>
            </a:pPr>
            <a:r>
              <a:rPr sz="1050" b="0" i="0">
                <a:solidFill>
                  <a:srgbClr val="5E6A78"/>
                </a:solidFill>
                <a:latin typeface="Aptos"/>
              </a:rPr>
              <a:t>sai số TB = TB sai số riêng − độ bất đồng; CV cao nhất 0,0589</a:t>
            </a:r>
          </a:p>
        </p:txBody>
      </p:sp>
      <p:sp>
        <p:nvSpPr>
          <p:cNvPr id="28" name="Rounded Rectangle 27"/>
          <p:cNvSpPr/>
          <p:nvPr/>
        </p:nvSpPr>
        <p:spPr>
          <a:xfrm>
            <a:off x="6309360" y="4636007"/>
            <a:ext cx="5303520" cy="57607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19088" y="4663440"/>
            <a:ext cx="5120640" cy="256032"/>
          </a:xfrm>
          <a:prstGeom prst="rect">
            <a:avLst/>
          </a:prstGeom>
          <a:noFill/>
        </p:spPr>
        <p:txBody>
          <a:bodyPr wrap="square" lIns="36576" tIns="36576" rIns="36576" bIns="36576" anchor="t">
            <a:noAutofit/>
          </a:bodyPr>
          <a:lstStyle/>
          <a:p>
            <a:pPr algn="l">
              <a:spcAft>
                <a:spcPts val="300"/>
              </a:spcAft>
            </a:pPr>
            <a:r>
              <a:rPr sz="1200" b="1" i="0">
                <a:solidFill>
                  <a:srgbClr val="162C46"/>
                </a:solidFill>
                <a:latin typeface="Aptos"/>
              </a:rPr>
              <a:t>Hiệu chỉnh Platt (2023)</a:t>
            </a:r>
          </a:p>
        </p:txBody>
      </p:sp>
      <p:sp>
        <p:nvSpPr>
          <p:cNvPr id="30" name="TextBox 29"/>
          <p:cNvSpPr txBox="1"/>
          <p:nvPr/>
        </p:nvSpPr>
        <p:spPr>
          <a:xfrm>
            <a:off x="6419088" y="4910327"/>
            <a:ext cx="5120640" cy="274320"/>
          </a:xfrm>
          <a:prstGeom prst="rect">
            <a:avLst/>
          </a:prstGeom>
          <a:noFill/>
        </p:spPr>
        <p:txBody>
          <a:bodyPr wrap="square" lIns="36576" tIns="36576" rIns="36576" bIns="36576" anchor="t">
            <a:noAutofit/>
          </a:bodyPr>
          <a:lstStyle/>
          <a:p>
            <a:pPr algn="l">
              <a:spcAft>
                <a:spcPts val="300"/>
              </a:spcAft>
            </a:pPr>
            <a:r>
              <a:rPr sz="1050" b="0" i="0">
                <a:solidFill>
                  <a:srgbClr val="5E6A78"/>
                </a:solidFill>
                <a:latin typeface="Aptos"/>
              </a:rPr>
              <a:t>xác suất TB 1,63% ≈ thật 1,68% · ECE 0,003 · Brier skill dương duy nhất</a:t>
            </a:r>
          </a:p>
        </p:txBody>
      </p:sp>
      <p:sp>
        <p:nvSpPr>
          <p:cNvPr id="31" name="Rounded Rectangle 30"/>
          <p:cNvSpPr/>
          <p:nvPr/>
        </p:nvSpPr>
        <p:spPr>
          <a:xfrm>
            <a:off x="603504" y="5577840"/>
            <a:ext cx="11009376" cy="731520"/>
          </a:xfrm>
          <a:prstGeom prst="roundRect">
            <a:avLst>
              <a:gd name="adj" fmla="val 18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300" b="1" i="0" dirty="0">
                <a:solidFill>
                  <a:srgbClr val="FFFFFF"/>
                </a:solidFill>
                <a:latin typeface="Aptos"/>
              </a:rPr>
              <a:t>Mọi lựa chọn — trọng số, họ mô hình, siêu tham số, mô hình cuối — quyết định bằng CV theo thời gian trên train. </a:t>
            </a:r>
            <a:r>
              <a:rPr sz="1300" b="1" i="0" dirty="0">
                <a:solidFill>
                  <a:srgbClr val="F2C94C"/>
                </a:solidFill>
                <a:latin typeface="Aptos"/>
              </a:rPr>
              <a:t>Ngoại lệ đã khai: ensemble được thêm vào danh sách ứng viên sau một lần chạy thử test → điểm M7 có thể hơi lạc quan; dù vậy M7 vẫn không hơn logistic.</a:t>
            </a:r>
          </a:p>
        </p:txBody>
      </p:sp>
      <p:sp>
        <p:nvSpPr>
          <p:cNvPr id="32" name="Rounded Rectangle 31"/>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a:t>
            </a:r>
          </a:p>
        </p:txBody>
      </p:sp>
      <p:sp>
        <p:nvSpPr>
          <p:cNvPr id="33" name="Rounded Rectangle 32"/>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Data Collection</a:t>
            </a:r>
          </a:p>
        </p:txBody>
      </p:sp>
      <p:sp>
        <p:nvSpPr>
          <p:cNvPr id="34" name="Rounded Rectangle 33"/>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Cleaning</a:t>
            </a:r>
          </a:p>
        </p:txBody>
      </p:sp>
      <p:sp>
        <p:nvSpPr>
          <p:cNvPr id="35" name="Rounded Rectangle 34"/>
          <p:cNvSpPr/>
          <p:nvPr/>
        </p:nvSpPr>
        <p:spPr>
          <a:xfrm>
            <a:off x="7306056" y="6510528"/>
            <a:ext cx="42062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EDA</a:t>
            </a:r>
          </a:p>
        </p:txBody>
      </p:sp>
      <p:sp>
        <p:nvSpPr>
          <p:cNvPr id="36" name="Rounded Rectangle 35"/>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Features</a:t>
            </a:r>
          </a:p>
        </p:txBody>
      </p:sp>
      <p:sp>
        <p:nvSpPr>
          <p:cNvPr id="37" name="Rounded Rectangle 36"/>
          <p:cNvSpPr/>
          <p:nvPr/>
        </p:nvSpPr>
        <p:spPr>
          <a:xfrm>
            <a:off x="8494776" y="6510528"/>
            <a:ext cx="694944"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Modeling</a:t>
            </a:r>
          </a:p>
        </p:txBody>
      </p:sp>
      <p:sp>
        <p:nvSpPr>
          <p:cNvPr id="38" name="Rounded Rectangle 37"/>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Evaluation</a:t>
            </a:r>
          </a:p>
        </p:txBody>
      </p:sp>
      <p:sp>
        <p:nvSpPr>
          <p:cNvPr id="39" name="Rounded Rectangle 38"/>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 Value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292608"/>
            <a:ext cx="10972800" cy="535531"/>
          </a:xfrm>
          <a:prstGeom prst="rect">
            <a:avLst/>
          </a:prstGeom>
          <a:noFill/>
        </p:spPr>
        <p:txBody>
          <a:bodyPr wrap="square" lIns="36576" tIns="36576" rIns="36576" bIns="36576" anchor="t">
            <a:spAutoFit/>
          </a:bodyPr>
          <a:lstStyle/>
          <a:p>
            <a:pPr algn="l"/>
            <a:r>
              <a:rPr sz="3000" b="1" dirty="0">
                <a:solidFill>
                  <a:srgbClr val="162C46"/>
                </a:solidFill>
                <a:latin typeface="Aptos Display"/>
              </a:rPr>
              <a:t>EVALUATION — ĐÁNH GIÁ HIỆU QUẢ DỰ BÁO LOW RATING</a:t>
            </a:r>
          </a:p>
        </p:txBody>
      </p:sp>
      <p:cxnSp>
        <p:nvCxnSpPr>
          <p:cNvPr id="3" name="Connector 2"/>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1078992"/>
            <a:ext cx="2743200" cy="320088"/>
          </a:xfrm>
          <a:prstGeom prst="rect">
            <a:avLst/>
          </a:prstGeom>
          <a:noFill/>
        </p:spPr>
        <p:txBody>
          <a:bodyPr wrap="square" lIns="36576" tIns="36576" rIns="36576" bIns="36576" anchor="t">
            <a:spAutoFit/>
          </a:bodyPr>
          <a:lstStyle/>
          <a:p>
            <a:pPr algn="l"/>
            <a:r>
              <a:rPr sz="1600" b="1" dirty="0">
                <a:solidFill>
                  <a:srgbClr val="2F639D"/>
                </a:solidFill>
                <a:latin typeface="Aptos"/>
              </a:rPr>
              <a:t>1. EVALUATION METRICS</a:t>
            </a:r>
          </a:p>
        </p:txBody>
      </p:sp>
      <p:sp>
        <p:nvSpPr>
          <p:cNvPr id="6" name="Rounded Rectangle 5"/>
          <p:cNvSpPr/>
          <p:nvPr/>
        </p:nvSpPr>
        <p:spPr>
          <a:xfrm>
            <a:off x="658368" y="1563066"/>
            <a:ext cx="2011680" cy="1005218"/>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7" name="TextBox 6"/>
          <p:cNvSpPr txBox="1"/>
          <p:nvPr/>
        </p:nvSpPr>
        <p:spPr>
          <a:xfrm>
            <a:off x="768096" y="1613334"/>
            <a:ext cx="1792224" cy="320088"/>
          </a:xfrm>
          <a:prstGeom prst="rect">
            <a:avLst/>
          </a:prstGeom>
          <a:noFill/>
        </p:spPr>
        <p:txBody>
          <a:bodyPr wrap="square" lIns="36576" tIns="36576" rIns="36576" bIns="36576" anchor="t">
            <a:spAutoFit/>
          </a:bodyPr>
          <a:lstStyle/>
          <a:p>
            <a:pPr algn="ctr"/>
            <a:r>
              <a:rPr sz="1600" b="1">
                <a:solidFill>
                  <a:srgbClr val="2F639D"/>
                </a:solidFill>
                <a:latin typeface="Aptos"/>
              </a:rPr>
              <a:t>PR-AUC</a:t>
            </a:r>
          </a:p>
        </p:txBody>
      </p:sp>
      <p:sp>
        <p:nvSpPr>
          <p:cNvPr id="8" name="TextBox 7"/>
          <p:cNvSpPr txBox="1"/>
          <p:nvPr/>
        </p:nvSpPr>
        <p:spPr>
          <a:xfrm>
            <a:off x="658368" y="1948976"/>
            <a:ext cx="2011680" cy="320088"/>
          </a:xfrm>
          <a:prstGeom prst="rect">
            <a:avLst/>
          </a:prstGeom>
          <a:noFill/>
        </p:spPr>
        <p:txBody>
          <a:bodyPr wrap="square" lIns="36576" tIns="36576" rIns="36576" bIns="36576" anchor="t">
            <a:spAutoFit/>
          </a:bodyPr>
          <a:lstStyle/>
          <a:p>
            <a:pPr algn="ctr"/>
            <a:r>
              <a:rPr sz="1600" b="0" dirty="0" err="1">
                <a:solidFill>
                  <a:srgbClr val="5E6A78"/>
                </a:solidFill>
                <a:latin typeface="Aptos"/>
              </a:rPr>
              <a:t>Nhận</a:t>
            </a:r>
            <a:r>
              <a:rPr sz="1600" b="0" dirty="0">
                <a:solidFill>
                  <a:srgbClr val="5E6A78"/>
                </a:solidFill>
                <a:latin typeface="Aptos"/>
              </a:rPr>
              <a:t> </a:t>
            </a:r>
            <a:r>
              <a:rPr sz="1600" b="0" dirty="0" err="1">
                <a:solidFill>
                  <a:srgbClr val="5E6A78"/>
                </a:solidFill>
                <a:latin typeface="Aptos"/>
              </a:rPr>
              <a:t>diện</a:t>
            </a:r>
            <a:r>
              <a:rPr sz="1600" b="0" dirty="0">
                <a:solidFill>
                  <a:srgbClr val="5E6A78"/>
                </a:solidFill>
                <a:latin typeface="Aptos"/>
              </a:rPr>
              <a:t> Low Rating</a:t>
            </a:r>
          </a:p>
        </p:txBody>
      </p:sp>
      <p:sp>
        <p:nvSpPr>
          <p:cNvPr id="9" name="Rounded Rectangle 8"/>
          <p:cNvSpPr/>
          <p:nvPr/>
        </p:nvSpPr>
        <p:spPr>
          <a:xfrm>
            <a:off x="2898648" y="1563066"/>
            <a:ext cx="2011680" cy="1005220"/>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0" name="TextBox 9"/>
          <p:cNvSpPr txBox="1"/>
          <p:nvPr/>
        </p:nvSpPr>
        <p:spPr>
          <a:xfrm>
            <a:off x="3008376" y="1613334"/>
            <a:ext cx="1792224" cy="320088"/>
          </a:xfrm>
          <a:prstGeom prst="rect">
            <a:avLst/>
          </a:prstGeom>
          <a:noFill/>
        </p:spPr>
        <p:txBody>
          <a:bodyPr wrap="square" lIns="36576" tIns="36576" rIns="36576" bIns="36576" anchor="t">
            <a:spAutoFit/>
          </a:bodyPr>
          <a:lstStyle/>
          <a:p>
            <a:pPr algn="ctr"/>
            <a:r>
              <a:rPr sz="1600" b="1">
                <a:solidFill>
                  <a:srgbClr val="2F639D"/>
                </a:solidFill>
                <a:latin typeface="Aptos"/>
              </a:rPr>
              <a:t>LIFT</a:t>
            </a:r>
          </a:p>
        </p:txBody>
      </p:sp>
      <p:sp>
        <p:nvSpPr>
          <p:cNvPr id="11" name="TextBox 10"/>
          <p:cNvSpPr txBox="1"/>
          <p:nvPr/>
        </p:nvSpPr>
        <p:spPr>
          <a:xfrm>
            <a:off x="2898648" y="2001977"/>
            <a:ext cx="2011680" cy="566309"/>
          </a:xfrm>
          <a:prstGeom prst="rect">
            <a:avLst/>
          </a:prstGeom>
          <a:noFill/>
        </p:spPr>
        <p:txBody>
          <a:bodyPr wrap="square" lIns="36576" tIns="36576" rIns="36576" bIns="36576" anchor="t">
            <a:spAutoFit/>
          </a:bodyPr>
          <a:lstStyle/>
          <a:p>
            <a:pPr algn="ctr"/>
            <a:r>
              <a:rPr sz="1600" b="0" dirty="0" err="1">
                <a:solidFill>
                  <a:srgbClr val="5E6A78"/>
                </a:solidFill>
                <a:latin typeface="Aptos"/>
              </a:rPr>
              <a:t>Cải</a:t>
            </a:r>
            <a:r>
              <a:rPr sz="1600" b="0" dirty="0">
                <a:solidFill>
                  <a:srgbClr val="5E6A78"/>
                </a:solidFill>
                <a:latin typeface="Aptos"/>
              </a:rPr>
              <a:t> </a:t>
            </a:r>
            <a:r>
              <a:rPr sz="1600" b="0" dirty="0" err="1">
                <a:solidFill>
                  <a:srgbClr val="5E6A78"/>
                </a:solidFill>
                <a:latin typeface="Aptos"/>
              </a:rPr>
              <a:t>thiện</a:t>
            </a:r>
            <a:r>
              <a:rPr sz="1600" b="0" dirty="0">
                <a:solidFill>
                  <a:srgbClr val="5E6A78"/>
                </a:solidFill>
                <a:latin typeface="Aptos"/>
              </a:rPr>
              <a:t> so </a:t>
            </a:r>
            <a:r>
              <a:rPr sz="1600" b="0" dirty="0" err="1">
                <a:solidFill>
                  <a:srgbClr val="5E6A78"/>
                </a:solidFill>
                <a:latin typeface="Aptos"/>
              </a:rPr>
              <a:t>với</a:t>
            </a:r>
            <a:r>
              <a:rPr sz="1600" b="0" dirty="0">
                <a:solidFill>
                  <a:srgbClr val="5E6A78"/>
                </a:solidFill>
                <a:latin typeface="Aptos"/>
              </a:rPr>
              <a:t> random</a:t>
            </a:r>
          </a:p>
        </p:txBody>
      </p:sp>
      <p:sp>
        <p:nvSpPr>
          <p:cNvPr id="12" name="Rounded Rectangle 11"/>
          <p:cNvSpPr/>
          <p:nvPr/>
        </p:nvSpPr>
        <p:spPr>
          <a:xfrm>
            <a:off x="5138928" y="1563065"/>
            <a:ext cx="2011680" cy="1005219"/>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3" name="TextBox 12"/>
          <p:cNvSpPr txBox="1"/>
          <p:nvPr/>
        </p:nvSpPr>
        <p:spPr>
          <a:xfrm>
            <a:off x="5248656" y="1613334"/>
            <a:ext cx="1792224" cy="320088"/>
          </a:xfrm>
          <a:prstGeom prst="rect">
            <a:avLst/>
          </a:prstGeom>
          <a:noFill/>
        </p:spPr>
        <p:txBody>
          <a:bodyPr wrap="square" lIns="36576" tIns="36576" rIns="36576" bIns="36576" anchor="t">
            <a:spAutoFit/>
          </a:bodyPr>
          <a:lstStyle/>
          <a:p>
            <a:pPr algn="ctr"/>
            <a:r>
              <a:rPr sz="1600" b="1">
                <a:solidFill>
                  <a:srgbClr val="2F639D"/>
                </a:solidFill>
                <a:latin typeface="Aptos"/>
              </a:rPr>
              <a:t>CALIBRATION</a:t>
            </a:r>
          </a:p>
        </p:txBody>
      </p:sp>
      <p:sp>
        <p:nvSpPr>
          <p:cNvPr id="14" name="TextBox 13"/>
          <p:cNvSpPr txBox="1"/>
          <p:nvPr/>
        </p:nvSpPr>
        <p:spPr>
          <a:xfrm>
            <a:off x="5199889" y="1947594"/>
            <a:ext cx="1792224" cy="320088"/>
          </a:xfrm>
          <a:prstGeom prst="rect">
            <a:avLst/>
          </a:prstGeom>
          <a:noFill/>
        </p:spPr>
        <p:txBody>
          <a:bodyPr wrap="square" lIns="36576" tIns="36576" rIns="36576" bIns="36576" anchor="t">
            <a:spAutoFit/>
          </a:bodyPr>
          <a:lstStyle/>
          <a:p>
            <a:pPr algn="ctr"/>
            <a:r>
              <a:rPr sz="1600" b="0" dirty="0" err="1">
                <a:solidFill>
                  <a:srgbClr val="5E6A78"/>
                </a:solidFill>
                <a:latin typeface="Aptos"/>
              </a:rPr>
              <a:t>Độ</a:t>
            </a:r>
            <a:r>
              <a:rPr sz="1600" b="0" dirty="0">
                <a:solidFill>
                  <a:srgbClr val="5E6A78"/>
                </a:solidFill>
                <a:latin typeface="Aptos"/>
              </a:rPr>
              <a:t> tin </a:t>
            </a:r>
            <a:r>
              <a:rPr sz="1600" b="0" dirty="0" err="1">
                <a:solidFill>
                  <a:srgbClr val="5E6A78"/>
                </a:solidFill>
                <a:latin typeface="Aptos"/>
              </a:rPr>
              <a:t>cậy</a:t>
            </a:r>
            <a:r>
              <a:rPr sz="1600" b="0" dirty="0">
                <a:solidFill>
                  <a:srgbClr val="5E6A78"/>
                </a:solidFill>
                <a:latin typeface="Aptos"/>
              </a:rPr>
              <a:t> </a:t>
            </a:r>
            <a:r>
              <a:rPr sz="1600" b="0" dirty="0" err="1">
                <a:solidFill>
                  <a:srgbClr val="5E6A78"/>
                </a:solidFill>
                <a:latin typeface="Aptos"/>
              </a:rPr>
              <a:t>xác</a:t>
            </a:r>
            <a:r>
              <a:rPr sz="1600" b="0" dirty="0">
                <a:solidFill>
                  <a:srgbClr val="5E6A78"/>
                </a:solidFill>
                <a:latin typeface="Aptos"/>
              </a:rPr>
              <a:t> </a:t>
            </a:r>
            <a:r>
              <a:rPr sz="1600" b="0" dirty="0" err="1">
                <a:solidFill>
                  <a:srgbClr val="5E6A78"/>
                </a:solidFill>
                <a:latin typeface="Aptos"/>
              </a:rPr>
              <a:t>suất</a:t>
            </a:r>
            <a:endParaRPr sz="1600" b="0" dirty="0">
              <a:solidFill>
                <a:srgbClr val="5E6A78"/>
              </a:solidFill>
              <a:latin typeface="Aptos"/>
            </a:endParaRPr>
          </a:p>
        </p:txBody>
      </p:sp>
      <p:sp>
        <p:nvSpPr>
          <p:cNvPr id="15" name="TextBox 14"/>
          <p:cNvSpPr txBox="1"/>
          <p:nvPr/>
        </p:nvSpPr>
        <p:spPr>
          <a:xfrm>
            <a:off x="652273" y="2870880"/>
            <a:ext cx="4206240" cy="320088"/>
          </a:xfrm>
          <a:prstGeom prst="rect">
            <a:avLst/>
          </a:prstGeom>
          <a:noFill/>
        </p:spPr>
        <p:txBody>
          <a:bodyPr wrap="square" lIns="36576" tIns="36576" rIns="36576" bIns="36576" anchor="t">
            <a:spAutoFit/>
          </a:bodyPr>
          <a:lstStyle/>
          <a:p>
            <a:pPr algn="l"/>
            <a:r>
              <a:rPr sz="1600" b="1">
                <a:solidFill>
                  <a:srgbClr val="2F639D"/>
                </a:solidFill>
                <a:latin typeface="Aptos"/>
              </a:rPr>
              <a:t>2. MODEL PERFORMANCE — TEST 2024–2026</a:t>
            </a:r>
          </a:p>
        </p:txBody>
      </p:sp>
      <p:sp>
        <p:nvSpPr>
          <p:cNvPr id="16" name="Rectangle 15"/>
          <p:cNvSpPr/>
          <p:nvPr/>
        </p:nvSpPr>
        <p:spPr>
          <a:xfrm>
            <a:off x="652273" y="3209208"/>
            <a:ext cx="2743200" cy="438912"/>
          </a:xfrm>
          <a:prstGeom prst="rect">
            <a:avLst/>
          </a:prstGeom>
          <a:solidFill>
            <a:srgbClr val="162C46"/>
          </a:solidFill>
          <a:ln w="12700">
            <a:solidFill>
              <a:srgbClr val="162C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7" name="TextBox 16"/>
          <p:cNvSpPr txBox="1"/>
          <p:nvPr/>
        </p:nvSpPr>
        <p:spPr>
          <a:xfrm>
            <a:off x="707137" y="3309792"/>
            <a:ext cx="2633472" cy="320088"/>
          </a:xfrm>
          <a:prstGeom prst="rect">
            <a:avLst/>
          </a:prstGeom>
          <a:noFill/>
        </p:spPr>
        <p:txBody>
          <a:bodyPr wrap="square" lIns="36576" tIns="36576" rIns="36576" bIns="36576" anchor="t">
            <a:spAutoFit/>
          </a:bodyPr>
          <a:lstStyle/>
          <a:p>
            <a:pPr algn="l"/>
            <a:r>
              <a:rPr sz="1600" b="1">
                <a:solidFill>
                  <a:srgbClr val="FFFFFF"/>
                </a:solidFill>
                <a:latin typeface="Aptos"/>
              </a:rPr>
              <a:t>Model</a:t>
            </a:r>
          </a:p>
        </p:txBody>
      </p:sp>
      <p:sp>
        <p:nvSpPr>
          <p:cNvPr id="18" name="Rectangle 17"/>
          <p:cNvSpPr/>
          <p:nvPr/>
        </p:nvSpPr>
        <p:spPr>
          <a:xfrm>
            <a:off x="3395473" y="3209208"/>
            <a:ext cx="1143000" cy="438912"/>
          </a:xfrm>
          <a:prstGeom prst="rect">
            <a:avLst/>
          </a:prstGeom>
          <a:solidFill>
            <a:srgbClr val="162C46"/>
          </a:solidFill>
          <a:ln w="12700">
            <a:solidFill>
              <a:srgbClr val="162C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9" name="TextBox 18"/>
          <p:cNvSpPr txBox="1"/>
          <p:nvPr/>
        </p:nvSpPr>
        <p:spPr>
          <a:xfrm>
            <a:off x="3450337" y="3309792"/>
            <a:ext cx="1033271" cy="320088"/>
          </a:xfrm>
          <a:prstGeom prst="rect">
            <a:avLst/>
          </a:prstGeom>
          <a:noFill/>
        </p:spPr>
        <p:txBody>
          <a:bodyPr wrap="square" lIns="36576" tIns="36576" rIns="36576" bIns="36576" anchor="t">
            <a:spAutoFit/>
          </a:bodyPr>
          <a:lstStyle/>
          <a:p>
            <a:pPr algn="ctr"/>
            <a:r>
              <a:rPr sz="1600" b="1">
                <a:solidFill>
                  <a:srgbClr val="FFFFFF"/>
                </a:solidFill>
                <a:latin typeface="Aptos"/>
              </a:rPr>
              <a:t>PR-AUC</a:t>
            </a:r>
          </a:p>
        </p:txBody>
      </p:sp>
      <p:sp>
        <p:nvSpPr>
          <p:cNvPr id="20" name="Rectangle 19"/>
          <p:cNvSpPr/>
          <p:nvPr/>
        </p:nvSpPr>
        <p:spPr>
          <a:xfrm>
            <a:off x="4538473" y="3209208"/>
            <a:ext cx="1097280" cy="438912"/>
          </a:xfrm>
          <a:prstGeom prst="rect">
            <a:avLst/>
          </a:prstGeom>
          <a:solidFill>
            <a:srgbClr val="162C46"/>
          </a:solidFill>
          <a:ln w="12700">
            <a:solidFill>
              <a:srgbClr val="162C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1" name="TextBox 20"/>
          <p:cNvSpPr txBox="1"/>
          <p:nvPr/>
        </p:nvSpPr>
        <p:spPr>
          <a:xfrm>
            <a:off x="4593336" y="3309792"/>
            <a:ext cx="987552" cy="320088"/>
          </a:xfrm>
          <a:prstGeom prst="rect">
            <a:avLst/>
          </a:prstGeom>
          <a:noFill/>
        </p:spPr>
        <p:txBody>
          <a:bodyPr wrap="square" lIns="36576" tIns="36576" rIns="36576" bIns="36576" anchor="t">
            <a:spAutoFit/>
          </a:bodyPr>
          <a:lstStyle/>
          <a:p>
            <a:pPr algn="ctr"/>
            <a:r>
              <a:rPr sz="1600" b="1">
                <a:solidFill>
                  <a:srgbClr val="FFFFFF"/>
                </a:solidFill>
                <a:latin typeface="Aptos"/>
              </a:rPr>
              <a:t>Lift</a:t>
            </a:r>
          </a:p>
        </p:txBody>
      </p:sp>
      <p:sp>
        <p:nvSpPr>
          <p:cNvPr id="22" name="Rectangle 21"/>
          <p:cNvSpPr/>
          <p:nvPr/>
        </p:nvSpPr>
        <p:spPr>
          <a:xfrm>
            <a:off x="652273" y="3648120"/>
            <a:ext cx="2743200" cy="411480"/>
          </a:xfrm>
          <a:prstGeom prst="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3" name="TextBox 22"/>
          <p:cNvSpPr txBox="1"/>
          <p:nvPr/>
        </p:nvSpPr>
        <p:spPr>
          <a:xfrm>
            <a:off x="707137" y="3739560"/>
            <a:ext cx="2633472" cy="320088"/>
          </a:xfrm>
          <a:prstGeom prst="rect">
            <a:avLst/>
          </a:prstGeom>
          <a:noFill/>
        </p:spPr>
        <p:txBody>
          <a:bodyPr wrap="square" lIns="36576" tIns="36576" rIns="36576" bIns="36576" anchor="t">
            <a:spAutoFit/>
          </a:bodyPr>
          <a:lstStyle/>
          <a:p>
            <a:pPr algn="l"/>
            <a:r>
              <a:rPr sz="1600" b="0">
                <a:solidFill>
                  <a:srgbClr val="242B33"/>
                </a:solidFill>
                <a:latin typeface="Aptos"/>
              </a:rPr>
              <a:t>M0 — Prevalence</a:t>
            </a:r>
          </a:p>
        </p:txBody>
      </p:sp>
      <p:sp>
        <p:nvSpPr>
          <p:cNvPr id="24" name="Rectangle 23"/>
          <p:cNvSpPr/>
          <p:nvPr/>
        </p:nvSpPr>
        <p:spPr>
          <a:xfrm>
            <a:off x="3395473" y="3648120"/>
            <a:ext cx="1143000" cy="411480"/>
          </a:xfrm>
          <a:prstGeom prst="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5" name="TextBox 24"/>
          <p:cNvSpPr txBox="1"/>
          <p:nvPr/>
        </p:nvSpPr>
        <p:spPr>
          <a:xfrm>
            <a:off x="3450337" y="3739560"/>
            <a:ext cx="1033271" cy="320088"/>
          </a:xfrm>
          <a:prstGeom prst="rect">
            <a:avLst/>
          </a:prstGeom>
          <a:noFill/>
        </p:spPr>
        <p:txBody>
          <a:bodyPr wrap="square" lIns="36576" tIns="36576" rIns="36576" bIns="36576" anchor="t">
            <a:spAutoFit/>
          </a:bodyPr>
          <a:lstStyle/>
          <a:p>
            <a:pPr algn="ctr"/>
            <a:r>
              <a:rPr sz="1600" b="0">
                <a:solidFill>
                  <a:srgbClr val="242B33"/>
                </a:solidFill>
                <a:latin typeface="Aptos"/>
              </a:rPr>
              <a:t>0,0168</a:t>
            </a:r>
          </a:p>
        </p:txBody>
      </p:sp>
      <p:sp>
        <p:nvSpPr>
          <p:cNvPr id="26" name="Rectangle 25"/>
          <p:cNvSpPr/>
          <p:nvPr/>
        </p:nvSpPr>
        <p:spPr>
          <a:xfrm>
            <a:off x="4538473" y="3648120"/>
            <a:ext cx="1097280" cy="411480"/>
          </a:xfrm>
          <a:prstGeom prst="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7" name="TextBox 26"/>
          <p:cNvSpPr txBox="1"/>
          <p:nvPr/>
        </p:nvSpPr>
        <p:spPr>
          <a:xfrm>
            <a:off x="4593336" y="3739560"/>
            <a:ext cx="987552" cy="320088"/>
          </a:xfrm>
          <a:prstGeom prst="rect">
            <a:avLst/>
          </a:prstGeom>
          <a:noFill/>
        </p:spPr>
        <p:txBody>
          <a:bodyPr wrap="square" lIns="36576" tIns="36576" rIns="36576" bIns="36576" anchor="t">
            <a:spAutoFit/>
          </a:bodyPr>
          <a:lstStyle/>
          <a:p>
            <a:pPr algn="ctr"/>
            <a:r>
              <a:rPr sz="1600" b="0">
                <a:solidFill>
                  <a:srgbClr val="242B33"/>
                </a:solidFill>
                <a:latin typeface="Aptos"/>
              </a:rPr>
              <a:t>1,00×</a:t>
            </a:r>
          </a:p>
        </p:txBody>
      </p:sp>
      <p:sp>
        <p:nvSpPr>
          <p:cNvPr id="28" name="Rectangle 27"/>
          <p:cNvSpPr/>
          <p:nvPr/>
        </p:nvSpPr>
        <p:spPr>
          <a:xfrm>
            <a:off x="652273" y="4059600"/>
            <a:ext cx="2743200" cy="411480"/>
          </a:xfrm>
          <a:prstGeom prst="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9" name="TextBox 28"/>
          <p:cNvSpPr txBox="1"/>
          <p:nvPr/>
        </p:nvSpPr>
        <p:spPr>
          <a:xfrm>
            <a:off x="707137" y="4151039"/>
            <a:ext cx="2633472" cy="320088"/>
          </a:xfrm>
          <a:prstGeom prst="rect">
            <a:avLst/>
          </a:prstGeom>
          <a:noFill/>
        </p:spPr>
        <p:txBody>
          <a:bodyPr wrap="square" lIns="36576" tIns="36576" rIns="36576" bIns="36576" anchor="t">
            <a:spAutoFit/>
          </a:bodyPr>
          <a:lstStyle/>
          <a:p>
            <a:pPr algn="l"/>
            <a:r>
              <a:rPr sz="1600" b="1">
                <a:solidFill>
                  <a:srgbClr val="2F639D"/>
                </a:solidFill>
                <a:latin typeface="Aptos"/>
              </a:rPr>
              <a:t>M1a — SLA Breach</a:t>
            </a:r>
          </a:p>
        </p:txBody>
      </p:sp>
      <p:sp>
        <p:nvSpPr>
          <p:cNvPr id="30" name="Rectangle 29"/>
          <p:cNvSpPr/>
          <p:nvPr/>
        </p:nvSpPr>
        <p:spPr>
          <a:xfrm>
            <a:off x="3395473" y="4059600"/>
            <a:ext cx="1143000" cy="411480"/>
          </a:xfrm>
          <a:prstGeom prst="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1" name="TextBox 30"/>
          <p:cNvSpPr txBox="1"/>
          <p:nvPr/>
        </p:nvSpPr>
        <p:spPr>
          <a:xfrm>
            <a:off x="3450337" y="4151039"/>
            <a:ext cx="1033271" cy="320088"/>
          </a:xfrm>
          <a:prstGeom prst="rect">
            <a:avLst/>
          </a:prstGeom>
          <a:noFill/>
        </p:spPr>
        <p:txBody>
          <a:bodyPr wrap="square" lIns="36576" tIns="36576" rIns="36576" bIns="36576" anchor="t">
            <a:spAutoFit/>
          </a:bodyPr>
          <a:lstStyle/>
          <a:p>
            <a:pPr algn="ctr"/>
            <a:r>
              <a:rPr sz="1600" b="1">
                <a:solidFill>
                  <a:srgbClr val="2F639D"/>
                </a:solidFill>
                <a:latin typeface="Aptos"/>
              </a:rPr>
              <a:t>0,0179</a:t>
            </a:r>
          </a:p>
        </p:txBody>
      </p:sp>
      <p:sp>
        <p:nvSpPr>
          <p:cNvPr id="32" name="Rectangle 31"/>
          <p:cNvSpPr/>
          <p:nvPr/>
        </p:nvSpPr>
        <p:spPr>
          <a:xfrm>
            <a:off x="4538473" y="4059600"/>
            <a:ext cx="1097280" cy="411480"/>
          </a:xfrm>
          <a:prstGeom prst="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3" name="TextBox 32"/>
          <p:cNvSpPr txBox="1"/>
          <p:nvPr/>
        </p:nvSpPr>
        <p:spPr>
          <a:xfrm>
            <a:off x="4593336" y="4151039"/>
            <a:ext cx="987552" cy="320088"/>
          </a:xfrm>
          <a:prstGeom prst="rect">
            <a:avLst/>
          </a:prstGeom>
          <a:noFill/>
        </p:spPr>
        <p:txBody>
          <a:bodyPr wrap="square" lIns="36576" tIns="36576" rIns="36576" bIns="36576" anchor="t">
            <a:spAutoFit/>
          </a:bodyPr>
          <a:lstStyle/>
          <a:p>
            <a:pPr algn="ctr"/>
            <a:r>
              <a:rPr sz="1600" b="1">
                <a:solidFill>
                  <a:srgbClr val="2F639D"/>
                </a:solidFill>
                <a:latin typeface="Aptos"/>
              </a:rPr>
              <a:t>1,06×</a:t>
            </a:r>
          </a:p>
        </p:txBody>
      </p:sp>
      <p:sp>
        <p:nvSpPr>
          <p:cNvPr id="34" name="Rectangle 33"/>
          <p:cNvSpPr/>
          <p:nvPr/>
        </p:nvSpPr>
        <p:spPr>
          <a:xfrm>
            <a:off x="652273" y="4471080"/>
            <a:ext cx="2743200" cy="411480"/>
          </a:xfrm>
          <a:prstGeom prst="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5" name="TextBox 34"/>
          <p:cNvSpPr txBox="1"/>
          <p:nvPr/>
        </p:nvSpPr>
        <p:spPr>
          <a:xfrm>
            <a:off x="707137" y="4562520"/>
            <a:ext cx="2633472" cy="320088"/>
          </a:xfrm>
          <a:prstGeom prst="rect">
            <a:avLst/>
          </a:prstGeom>
          <a:noFill/>
        </p:spPr>
        <p:txBody>
          <a:bodyPr wrap="square" lIns="36576" tIns="36576" rIns="36576" bIns="36576" anchor="t">
            <a:spAutoFit/>
          </a:bodyPr>
          <a:lstStyle/>
          <a:p>
            <a:pPr algn="l"/>
            <a:r>
              <a:rPr sz="1600" b="1">
                <a:solidFill>
                  <a:srgbClr val="2F639D"/>
                </a:solidFill>
                <a:latin typeface="Aptos"/>
              </a:rPr>
              <a:t>M1b — Lead Time</a:t>
            </a:r>
          </a:p>
        </p:txBody>
      </p:sp>
      <p:sp>
        <p:nvSpPr>
          <p:cNvPr id="36" name="Rectangle 35"/>
          <p:cNvSpPr/>
          <p:nvPr/>
        </p:nvSpPr>
        <p:spPr>
          <a:xfrm>
            <a:off x="3395473" y="4471080"/>
            <a:ext cx="1143000" cy="411480"/>
          </a:xfrm>
          <a:prstGeom prst="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7" name="TextBox 36"/>
          <p:cNvSpPr txBox="1"/>
          <p:nvPr/>
        </p:nvSpPr>
        <p:spPr>
          <a:xfrm>
            <a:off x="3450337" y="4562520"/>
            <a:ext cx="1033271" cy="320088"/>
          </a:xfrm>
          <a:prstGeom prst="rect">
            <a:avLst/>
          </a:prstGeom>
          <a:noFill/>
        </p:spPr>
        <p:txBody>
          <a:bodyPr wrap="square" lIns="36576" tIns="36576" rIns="36576" bIns="36576" anchor="t">
            <a:spAutoFit/>
          </a:bodyPr>
          <a:lstStyle/>
          <a:p>
            <a:pPr algn="ctr"/>
            <a:r>
              <a:rPr sz="1600" b="1">
                <a:solidFill>
                  <a:srgbClr val="2F639D"/>
                </a:solidFill>
                <a:latin typeface="Aptos"/>
              </a:rPr>
              <a:t>0,0244</a:t>
            </a:r>
          </a:p>
        </p:txBody>
      </p:sp>
      <p:sp>
        <p:nvSpPr>
          <p:cNvPr id="38" name="Rectangle 37"/>
          <p:cNvSpPr/>
          <p:nvPr/>
        </p:nvSpPr>
        <p:spPr>
          <a:xfrm>
            <a:off x="4538473" y="4471080"/>
            <a:ext cx="1097280" cy="411480"/>
          </a:xfrm>
          <a:prstGeom prst="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9" name="TextBox 38"/>
          <p:cNvSpPr txBox="1"/>
          <p:nvPr/>
        </p:nvSpPr>
        <p:spPr>
          <a:xfrm>
            <a:off x="4593336" y="4562520"/>
            <a:ext cx="987552" cy="320088"/>
          </a:xfrm>
          <a:prstGeom prst="rect">
            <a:avLst/>
          </a:prstGeom>
          <a:noFill/>
        </p:spPr>
        <p:txBody>
          <a:bodyPr wrap="square" lIns="36576" tIns="36576" rIns="36576" bIns="36576" anchor="t">
            <a:spAutoFit/>
          </a:bodyPr>
          <a:lstStyle/>
          <a:p>
            <a:pPr algn="ctr"/>
            <a:r>
              <a:rPr sz="1600" b="1">
                <a:solidFill>
                  <a:srgbClr val="2F639D"/>
                </a:solidFill>
                <a:latin typeface="Aptos"/>
              </a:rPr>
              <a:t>1,45×</a:t>
            </a:r>
          </a:p>
        </p:txBody>
      </p:sp>
      <p:sp>
        <p:nvSpPr>
          <p:cNvPr id="40" name="Rectangle 39"/>
          <p:cNvSpPr/>
          <p:nvPr/>
        </p:nvSpPr>
        <p:spPr>
          <a:xfrm>
            <a:off x="652273" y="4882560"/>
            <a:ext cx="2743200" cy="411480"/>
          </a:xfrm>
          <a:prstGeom prst="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41" name="TextBox 40"/>
          <p:cNvSpPr txBox="1"/>
          <p:nvPr/>
        </p:nvSpPr>
        <p:spPr>
          <a:xfrm>
            <a:off x="707137" y="4974000"/>
            <a:ext cx="2633472" cy="320088"/>
          </a:xfrm>
          <a:prstGeom prst="rect">
            <a:avLst/>
          </a:prstGeom>
          <a:noFill/>
        </p:spPr>
        <p:txBody>
          <a:bodyPr wrap="square" lIns="36576" tIns="36576" rIns="36576" bIns="36576" anchor="t">
            <a:spAutoFit/>
          </a:bodyPr>
          <a:lstStyle/>
          <a:p>
            <a:pPr algn="l"/>
            <a:r>
              <a:rPr sz="1600" b="1">
                <a:solidFill>
                  <a:srgbClr val="2F639D"/>
                </a:solidFill>
                <a:latin typeface="Aptos"/>
              </a:rPr>
              <a:t>M2 — Logistic Regression</a:t>
            </a:r>
          </a:p>
        </p:txBody>
      </p:sp>
      <p:sp>
        <p:nvSpPr>
          <p:cNvPr id="42" name="Rectangle 41"/>
          <p:cNvSpPr/>
          <p:nvPr/>
        </p:nvSpPr>
        <p:spPr>
          <a:xfrm>
            <a:off x="3395473" y="4882560"/>
            <a:ext cx="1143000" cy="411480"/>
          </a:xfrm>
          <a:prstGeom prst="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43" name="TextBox 42"/>
          <p:cNvSpPr txBox="1"/>
          <p:nvPr/>
        </p:nvSpPr>
        <p:spPr>
          <a:xfrm>
            <a:off x="3450337" y="4974000"/>
            <a:ext cx="1033271" cy="320088"/>
          </a:xfrm>
          <a:prstGeom prst="rect">
            <a:avLst/>
          </a:prstGeom>
          <a:noFill/>
        </p:spPr>
        <p:txBody>
          <a:bodyPr wrap="square" lIns="36576" tIns="36576" rIns="36576" bIns="36576" anchor="t">
            <a:spAutoFit/>
          </a:bodyPr>
          <a:lstStyle/>
          <a:p>
            <a:pPr algn="ctr"/>
            <a:r>
              <a:rPr sz="1600" b="1">
                <a:solidFill>
                  <a:srgbClr val="2F639D"/>
                </a:solidFill>
                <a:latin typeface="Aptos"/>
              </a:rPr>
              <a:t>0,0641</a:t>
            </a:r>
          </a:p>
        </p:txBody>
      </p:sp>
      <p:sp>
        <p:nvSpPr>
          <p:cNvPr id="44" name="Rectangle 43"/>
          <p:cNvSpPr/>
          <p:nvPr/>
        </p:nvSpPr>
        <p:spPr>
          <a:xfrm>
            <a:off x="4538473" y="4882560"/>
            <a:ext cx="1097280" cy="411480"/>
          </a:xfrm>
          <a:prstGeom prst="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45" name="TextBox 44"/>
          <p:cNvSpPr txBox="1"/>
          <p:nvPr/>
        </p:nvSpPr>
        <p:spPr>
          <a:xfrm>
            <a:off x="4593336" y="4974000"/>
            <a:ext cx="987552" cy="320088"/>
          </a:xfrm>
          <a:prstGeom prst="rect">
            <a:avLst/>
          </a:prstGeom>
          <a:noFill/>
        </p:spPr>
        <p:txBody>
          <a:bodyPr wrap="square" lIns="36576" tIns="36576" rIns="36576" bIns="36576" anchor="t">
            <a:spAutoFit/>
          </a:bodyPr>
          <a:lstStyle/>
          <a:p>
            <a:pPr algn="ctr"/>
            <a:r>
              <a:rPr sz="1600" b="1">
                <a:solidFill>
                  <a:srgbClr val="2F639D"/>
                </a:solidFill>
                <a:latin typeface="Aptos"/>
              </a:rPr>
              <a:t>3,82×</a:t>
            </a:r>
          </a:p>
        </p:txBody>
      </p:sp>
      <p:sp>
        <p:nvSpPr>
          <p:cNvPr id="46" name="Rectangle 45"/>
          <p:cNvSpPr/>
          <p:nvPr/>
        </p:nvSpPr>
        <p:spPr>
          <a:xfrm>
            <a:off x="652273" y="5294040"/>
            <a:ext cx="2743200" cy="411480"/>
          </a:xfrm>
          <a:prstGeom prst="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47" name="TextBox 46"/>
          <p:cNvSpPr txBox="1"/>
          <p:nvPr/>
        </p:nvSpPr>
        <p:spPr>
          <a:xfrm>
            <a:off x="707137" y="5385480"/>
            <a:ext cx="2633472" cy="320088"/>
          </a:xfrm>
          <a:prstGeom prst="rect">
            <a:avLst/>
          </a:prstGeom>
          <a:noFill/>
        </p:spPr>
        <p:txBody>
          <a:bodyPr wrap="square" lIns="36576" tIns="36576" rIns="36576" bIns="36576" anchor="t">
            <a:spAutoFit/>
          </a:bodyPr>
          <a:lstStyle/>
          <a:p>
            <a:pPr algn="l"/>
            <a:r>
              <a:rPr sz="1600" b="0">
                <a:solidFill>
                  <a:srgbClr val="242B33"/>
                </a:solidFill>
                <a:latin typeface="Aptos"/>
              </a:rPr>
              <a:t>M5 — GBM</a:t>
            </a:r>
          </a:p>
        </p:txBody>
      </p:sp>
      <p:sp>
        <p:nvSpPr>
          <p:cNvPr id="48" name="Rectangle 47"/>
          <p:cNvSpPr/>
          <p:nvPr/>
        </p:nvSpPr>
        <p:spPr>
          <a:xfrm>
            <a:off x="3395473" y="5294040"/>
            <a:ext cx="1143000" cy="411480"/>
          </a:xfrm>
          <a:prstGeom prst="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49" name="TextBox 48"/>
          <p:cNvSpPr txBox="1"/>
          <p:nvPr/>
        </p:nvSpPr>
        <p:spPr>
          <a:xfrm>
            <a:off x="3450337" y="5385480"/>
            <a:ext cx="1033271" cy="320088"/>
          </a:xfrm>
          <a:prstGeom prst="rect">
            <a:avLst/>
          </a:prstGeom>
          <a:noFill/>
        </p:spPr>
        <p:txBody>
          <a:bodyPr wrap="square" lIns="36576" tIns="36576" rIns="36576" bIns="36576" anchor="t">
            <a:spAutoFit/>
          </a:bodyPr>
          <a:lstStyle/>
          <a:p>
            <a:pPr algn="ctr"/>
            <a:r>
              <a:rPr sz="1600" b="0">
                <a:solidFill>
                  <a:srgbClr val="242B33"/>
                </a:solidFill>
                <a:latin typeface="Aptos"/>
              </a:rPr>
              <a:t>0,0548</a:t>
            </a:r>
          </a:p>
        </p:txBody>
      </p:sp>
      <p:sp>
        <p:nvSpPr>
          <p:cNvPr id="50" name="Rectangle 49"/>
          <p:cNvSpPr/>
          <p:nvPr/>
        </p:nvSpPr>
        <p:spPr>
          <a:xfrm>
            <a:off x="4538473" y="5294040"/>
            <a:ext cx="1097280" cy="411480"/>
          </a:xfrm>
          <a:prstGeom prst="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51" name="TextBox 50"/>
          <p:cNvSpPr txBox="1"/>
          <p:nvPr/>
        </p:nvSpPr>
        <p:spPr>
          <a:xfrm>
            <a:off x="4593336" y="5385480"/>
            <a:ext cx="987552" cy="320088"/>
          </a:xfrm>
          <a:prstGeom prst="rect">
            <a:avLst/>
          </a:prstGeom>
          <a:noFill/>
        </p:spPr>
        <p:txBody>
          <a:bodyPr wrap="square" lIns="36576" tIns="36576" rIns="36576" bIns="36576" anchor="t">
            <a:spAutoFit/>
          </a:bodyPr>
          <a:lstStyle/>
          <a:p>
            <a:pPr algn="ctr"/>
            <a:r>
              <a:rPr sz="1600" b="0">
                <a:solidFill>
                  <a:srgbClr val="242B33"/>
                </a:solidFill>
                <a:latin typeface="Aptos"/>
              </a:rPr>
              <a:t>3,27×</a:t>
            </a:r>
          </a:p>
        </p:txBody>
      </p:sp>
      <p:sp>
        <p:nvSpPr>
          <p:cNvPr id="52" name="Rectangle 51"/>
          <p:cNvSpPr/>
          <p:nvPr/>
        </p:nvSpPr>
        <p:spPr>
          <a:xfrm>
            <a:off x="652273" y="5705520"/>
            <a:ext cx="2743200" cy="411480"/>
          </a:xfrm>
          <a:prstGeom prst="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53" name="TextBox 52"/>
          <p:cNvSpPr txBox="1"/>
          <p:nvPr/>
        </p:nvSpPr>
        <p:spPr>
          <a:xfrm>
            <a:off x="707137" y="5796959"/>
            <a:ext cx="2633472" cy="320088"/>
          </a:xfrm>
          <a:prstGeom prst="rect">
            <a:avLst/>
          </a:prstGeom>
          <a:noFill/>
        </p:spPr>
        <p:txBody>
          <a:bodyPr wrap="square" lIns="36576" tIns="36576" rIns="36576" bIns="36576" anchor="t">
            <a:spAutoFit/>
          </a:bodyPr>
          <a:lstStyle/>
          <a:p>
            <a:pPr algn="l"/>
            <a:r>
              <a:rPr sz="1600" b="1">
                <a:solidFill>
                  <a:srgbClr val="2F639D"/>
                </a:solidFill>
                <a:latin typeface="Aptos"/>
              </a:rPr>
              <a:t>M7 — Ensemble</a:t>
            </a:r>
          </a:p>
        </p:txBody>
      </p:sp>
      <p:sp>
        <p:nvSpPr>
          <p:cNvPr id="54" name="Rectangle 53"/>
          <p:cNvSpPr/>
          <p:nvPr/>
        </p:nvSpPr>
        <p:spPr>
          <a:xfrm>
            <a:off x="3395473" y="5705520"/>
            <a:ext cx="1143000" cy="411480"/>
          </a:xfrm>
          <a:prstGeom prst="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55" name="TextBox 54"/>
          <p:cNvSpPr txBox="1"/>
          <p:nvPr/>
        </p:nvSpPr>
        <p:spPr>
          <a:xfrm>
            <a:off x="3450337" y="5796959"/>
            <a:ext cx="1033271" cy="320088"/>
          </a:xfrm>
          <a:prstGeom prst="rect">
            <a:avLst/>
          </a:prstGeom>
          <a:noFill/>
        </p:spPr>
        <p:txBody>
          <a:bodyPr wrap="square" lIns="36576" tIns="36576" rIns="36576" bIns="36576" anchor="t">
            <a:spAutoFit/>
          </a:bodyPr>
          <a:lstStyle/>
          <a:p>
            <a:pPr algn="ctr"/>
            <a:r>
              <a:rPr sz="1600" b="1">
                <a:solidFill>
                  <a:srgbClr val="2F639D"/>
                </a:solidFill>
                <a:latin typeface="Aptos"/>
              </a:rPr>
              <a:t>0,0632</a:t>
            </a:r>
          </a:p>
        </p:txBody>
      </p:sp>
      <p:sp>
        <p:nvSpPr>
          <p:cNvPr id="56" name="Rectangle 55"/>
          <p:cNvSpPr/>
          <p:nvPr/>
        </p:nvSpPr>
        <p:spPr>
          <a:xfrm>
            <a:off x="4538473" y="5705520"/>
            <a:ext cx="1097280" cy="411480"/>
          </a:xfrm>
          <a:prstGeom prst="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57" name="TextBox 56"/>
          <p:cNvSpPr txBox="1"/>
          <p:nvPr/>
        </p:nvSpPr>
        <p:spPr>
          <a:xfrm>
            <a:off x="4593336" y="5796959"/>
            <a:ext cx="987552" cy="320088"/>
          </a:xfrm>
          <a:prstGeom prst="rect">
            <a:avLst/>
          </a:prstGeom>
          <a:noFill/>
        </p:spPr>
        <p:txBody>
          <a:bodyPr wrap="square" lIns="36576" tIns="36576" rIns="36576" bIns="36576" anchor="t">
            <a:spAutoFit/>
          </a:bodyPr>
          <a:lstStyle/>
          <a:p>
            <a:pPr algn="ctr"/>
            <a:r>
              <a:rPr sz="1600" b="1">
                <a:solidFill>
                  <a:srgbClr val="2F639D"/>
                </a:solidFill>
                <a:latin typeface="Aptos"/>
              </a:rPr>
              <a:t>3,76×</a:t>
            </a:r>
          </a:p>
        </p:txBody>
      </p:sp>
      <p:sp>
        <p:nvSpPr>
          <p:cNvPr id="58" name="TextBox 57"/>
          <p:cNvSpPr txBox="1"/>
          <p:nvPr/>
        </p:nvSpPr>
        <p:spPr>
          <a:xfrm>
            <a:off x="7333488" y="1078992"/>
            <a:ext cx="2926080" cy="320088"/>
          </a:xfrm>
          <a:prstGeom prst="rect">
            <a:avLst/>
          </a:prstGeom>
          <a:noFill/>
        </p:spPr>
        <p:txBody>
          <a:bodyPr wrap="square" lIns="36576" tIns="36576" rIns="36576" bIns="36576" anchor="t">
            <a:spAutoFit/>
          </a:bodyPr>
          <a:lstStyle/>
          <a:p>
            <a:pPr algn="l"/>
            <a:r>
              <a:rPr sz="1600" b="1" dirty="0">
                <a:solidFill>
                  <a:srgbClr val="2F639D"/>
                </a:solidFill>
                <a:latin typeface="Aptos"/>
              </a:rPr>
              <a:t>3. PRACTICAL PERFORMANCE</a:t>
            </a:r>
          </a:p>
        </p:txBody>
      </p:sp>
      <p:sp>
        <p:nvSpPr>
          <p:cNvPr id="59" name="Rounded Rectangle 58"/>
          <p:cNvSpPr/>
          <p:nvPr/>
        </p:nvSpPr>
        <p:spPr>
          <a:xfrm>
            <a:off x="7327394" y="1443524"/>
            <a:ext cx="4434840" cy="2926080"/>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60" name="TextBox 59"/>
          <p:cNvSpPr txBox="1"/>
          <p:nvPr/>
        </p:nvSpPr>
        <p:spPr>
          <a:xfrm>
            <a:off x="7601713" y="1518021"/>
            <a:ext cx="3703320" cy="320088"/>
          </a:xfrm>
          <a:prstGeom prst="rect">
            <a:avLst/>
          </a:prstGeom>
          <a:noFill/>
        </p:spPr>
        <p:txBody>
          <a:bodyPr wrap="square" lIns="36576" tIns="36576" rIns="36576" bIns="36576" anchor="t">
            <a:spAutoFit/>
          </a:bodyPr>
          <a:lstStyle/>
          <a:p>
            <a:pPr algn="ctr"/>
            <a:r>
              <a:rPr sz="1600" b="1">
                <a:solidFill>
                  <a:srgbClr val="162C46"/>
                </a:solidFill>
                <a:latin typeface="Aptos"/>
              </a:rPr>
              <a:t>TOP 5% RISK · M7</a:t>
            </a:r>
          </a:p>
        </p:txBody>
      </p:sp>
      <p:sp>
        <p:nvSpPr>
          <p:cNvPr id="61" name="TextBox 60"/>
          <p:cNvSpPr txBox="1"/>
          <p:nvPr/>
        </p:nvSpPr>
        <p:spPr>
          <a:xfrm>
            <a:off x="7601713" y="1845425"/>
            <a:ext cx="3703320" cy="432262"/>
          </a:xfrm>
          <a:prstGeom prst="rect">
            <a:avLst/>
          </a:prstGeom>
          <a:noFill/>
        </p:spPr>
        <p:txBody>
          <a:bodyPr wrap="square" lIns="36576" tIns="36576" rIns="36576" bIns="36576" anchor="t">
            <a:spAutoFit/>
          </a:bodyPr>
          <a:lstStyle/>
          <a:p>
            <a:pPr algn="ctr"/>
            <a:r>
              <a:rPr sz="2800" b="1">
                <a:solidFill>
                  <a:srgbClr val="2F639D"/>
                </a:solidFill>
                <a:latin typeface="Aptos"/>
              </a:rPr>
              <a:t>23,3%</a:t>
            </a:r>
          </a:p>
        </p:txBody>
      </p:sp>
      <p:sp>
        <p:nvSpPr>
          <p:cNvPr id="62" name="TextBox 61"/>
          <p:cNvSpPr txBox="1"/>
          <p:nvPr/>
        </p:nvSpPr>
        <p:spPr>
          <a:xfrm>
            <a:off x="7601713" y="2294313"/>
            <a:ext cx="3703320" cy="320088"/>
          </a:xfrm>
          <a:prstGeom prst="rect">
            <a:avLst/>
          </a:prstGeom>
          <a:noFill/>
        </p:spPr>
        <p:txBody>
          <a:bodyPr wrap="square" lIns="36576" tIns="36576" rIns="36576" bIns="36576" anchor="t">
            <a:spAutoFit/>
          </a:bodyPr>
          <a:lstStyle/>
          <a:p>
            <a:pPr algn="ctr"/>
            <a:r>
              <a:rPr sz="1600" b="0" dirty="0" err="1">
                <a:solidFill>
                  <a:srgbClr val="5E6A78"/>
                </a:solidFill>
                <a:latin typeface="Aptos"/>
              </a:rPr>
              <a:t>tổng</a:t>
            </a:r>
            <a:r>
              <a:rPr sz="1600" b="0" dirty="0">
                <a:solidFill>
                  <a:srgbClr val="5E6A78"/>
                </a:solidFill>
                <a:latin typeface="Aptos"/>
              </a:rPr>
              <a:t> </a:t>
            </a:r>
            <a:r>
              <a:rPr sz="1600" b="0" dirty="0" err="1">
                <a:solidFill>
                  <a:srgbClr val="5E6A78"/>
                </a:solidFill>
                <a:latin typeface="Aptos"/>
              </a:rPr>
              <a:t>số</a:t>
            </a:r>
            <a:r>
              <a:rPr sz="1600" b="0" dirty="0">
                <a:solidFill>
                  <a:srgbClr val="5E6A78"/>
                </a:solidFill>
                <a:latin typeface="Aptos"/>
              </a:rPr>
              <a:t> Low Rating </a:t>
            </a:r>
            <a:r>
              <a:rPr sz="1600" b="0" dirty="0" err="1">
                <a:solidFill>
                  <a:srgbClr val="5E6A78"/>
                </a:solidFill>
                <a:latin typeface="Aptos"/>
              </a:rPr>
              <a:t>được</a:t>
            </a:r>
            <a:r>
              <a:rPr sz="1600" b="0" dirty="0">
                <a:solidFill>
                  <a:srgbClr val="5E6A78"/>
                </a:solidFill>
                <a:latin typeface="Aptos"/>
              </a:rPr>
              <a:t> </a:t>
            </a:r>
            <a:r>
              <a:rPr sz="1600" b="0" dirty="0" err="1">
                <a:solidFill>
                  <a:srgbClr val="5E6A78"/>
                </a:solidFill>
                <a:latin typeface="Aptos"/>
              </a:rPr>
              <a:t>nhận</a:t>
            </a:r>
            <a:r>
              <a:rPr sz="1600" b="0" dirty="0">
                <a:solidFill>
                  <a:srgbClr val="5E6A78"/>
                </a:solidFill>
                <a:latin typeface="Aptos"/>
              </a:rPr>
              <a:t> </a:t>
            </a:r>
            <a:r>
              <a:rPr sz="1600" b="0" dirty="0" err="1">
                <a:solidFill>
                  <a:srgbClr val="5E6A78"/>
                </a:solidFill>
                <a:latin typeface="Aptos"/>
              </a:rPr>
              <a:t>diện</a:t>
            </a:r>
            <a:endParaRPr sz="1600" b="0" dirty="0">
              <a:solidFill>
                <a:srgbClr val="5E6A78"/>
              </a:solidFill>
              <a:latin typeface="Aptos"/>
            </a:endParaRPr>
          </a:p>
        </p:txBody>
      </p:sp>
      <p:sp>
        <p:nvSpPr>
          <p:cNvPr id="63" name="TextBox 62"/>
          <p:cNvSpPr txBox="1"/>
          <p:nvPr/>
        </p:nvSpPr>
        <p:spPr>
          <a:xfrm>
            <a:off x="7601713" y="2793076"/>
            <a:ext cx="1691640" cy="320088"/>
          </a:xfrm>
          <a:prstGeom prst="rect">
            <a:avLst/>
          </a:prstGeom>
          <a:noFill/>
        </p:spPr>
        <p:txBody>
          <a:bodyPr wrap="square" lIns="36576" tIns="36576" rIns="36576" bIns="36576" anchor="t">
            <a:spAutoFit/>
          </a:bodyPr>
          <a:lstStyle/>
          <a:p>
            <a:pPr algn="ctr"/>
            <a:r>
              <a:rPr sz="1600" b="1">
                <a:solidFill>
                  <a:srgbClr val="162C46"/>
                </a:solidFill>
                <a:latin typeface="Aptos"/>
              </a:rPr>
              <a:t>Precision 7,8%</a:t>
            </a:r>
          </a:p>
        </p:txBody>
      </p:sp>
      <p:sp>
        <p:nvSpPr>
          <p:cNvPr id="64" name="TextBox 63"/>
          <p:cNvSpPr txBox="1"/>
          <p:nvPr/>
        </p:nvSpPr>
        <p:spPr>
          <a:xfrm>
            <a:off x="9384793" y="2793076"/>
            <a:ext cx="1874519" cy="320088"/>
          </a:xfrm>
          <a:prstGeom prst="rect">
            <a:avLst/>
          </a:prstGeom>
          <a:noFill/>
        </p:spPr>
        <p:txBody>
          <a:bodyPr wrap="square" lIns="36576" tIns="36576" rIns="36576" bIns="36576" anchor="t">
            <a:spAutoFit/>
          </a:bodyPr>
          <a:lstStyle/>
          <a:p>
            <a:pPr algn="ctr"/>
            <a:r>
              <a:rPr sz="1600" b="1">
                <a:solidFill>
                  <a:srgbClr val="162C46"/>
                </a:solidFill>
                <a:latin typeface="Aptos"/>
              </a:rPr>
              <a:t>4,7× vs random</a:t>
            </a:r>
          </a:p>
        </p:txBody>
      </p:sp>
      <p:sp>
        <p:nvSpPr>
          <p:cNvPr id="65" name="TextBox 64"/>
          <p:cNvSpPr txBox="1"/>
          <p:nvPr/>
        </p:nvSpPr>
        <p:spPr>
          <a:xfrm>
            <a:off x="7391401" y="3408218"/>
            <a:ext cx="4114800" cy="566309"/>
          </a:xfrm>
          <a:prstGeom prst="rect">
            <a:avLst/>
          </a:prstGeom>
          <a:noFill/>
        </p:spPr>
        <p:txBody>
          <a:bodyPr wrap="square" lIns="36576" tIns="36576" rIns="36576" bIns="36576" anchor="t">
            <a:spAutoFit/>
          </a:bodyPr>
          <a:lstStyle/>
          <a:p>
            <a:pPr algn="ctr"/>
            <a:r>
              <a:rPr sz="1600" b="0">
                <a:solidFill>
                  <a:srgbClr val="5E6A78"/>
                </a:solidFill>
                <a:latin typeface="Aptos"/>
              </a:rPr>
              <a:t>Ensemble calibration: Predicted 1,63% ≈ Actual 1,68% · ECE 0,003</a:t>
            </a:r>
          </a:p>
        </p:txBody>
      </p:sp>
      <p:sp>
        <p:nvSpPr>
          <p:cNvPr id="66" name="Rounded Rectangle 65"/>
          <p:cNvSpPr/>
          <p:nvPr/>
        </p:nvSpPr>
        <p:spPr>
          <a:xfrm>
            <a:off x="7333488" y="4640580"/>
            <a:ext cx="4434840" cy="1425850"/>
          </a:xfrm>
          <a:prstGeom prst="roundRect">
            <a:avLst/>
          </a:prstGeom>
          <a:solidFill>
            <a:srgbClr val="FFFFFF"/>
          </a:solidFill>
          <a:ln w="12700">
            <a:solidFill>
              <a:srgbClr val="2F639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67" name="TextBox 66"/>
          <p:cNvSpPr txBox="1"/>
          <p:nvPr/>
        </p:nvSpPr>
        <p:spPr>
          <a:xfrm>
            <a:off x="7580376" y="4841748"/>
            <a:ext cx="1097280" cy="320088"/>
          </a:xfrm>
          <a:prstGeom prst="rect">
            <a:avLst/>
          </a:prstGeom>
          <a:noFill/>
        </p:spPr>
        <p:txBody>
          <a:bodyPr wrap="square" lIns="36576" tIns="36576" rIns="36576" bIns="36576" anchor="t">
            <a:spAutoFit/>
          </a:bodyPr>
          <a:lstStyle/>
          <a:p>
            <a:pPr algn="l"/>
            <a:r>
              <a:rPr sz="1600" b="1" dirty="0">
                <a:solidFill>
                  <a:srgbClr val="2F639D"/>
                </a:solidFill>
                <a:latin typeface="Aptos"/>
              </a:rPr>
              <a:t>KẾT LUẬN</a:t>
            </a:r>
          </a:p>
        </p:txBody>
      </p:sp>
      <p:sp>
        <p:nvSpPr>
          <p:cNvPr id="68" name="TextBox 67"/>
          <p:cNvSpPr txBox="1"/>
          <p:nvPr/>
        </p:nvSpPr>
        <p:spPr>
          <a:xfrm>
            <a:off x="7580376" y="5161788"/>
            <a:ext cx="3886200" cy="812530"/>
          </a:xfrm>
          <a:prstGeom prst="rect">
            <a:avLst/>
          </a:prstGeom>
          <a:noFill/>
        </p:spPr>
        <p:txBody>
          <a:bodyPr wrap="square" lIns="36576" tIns="36576" rIns="36576" bIns="36576" anchor="t">
            <a:spAutoFit/>
          </a:bodyPr>
          <a:lstStyle/>
          <a:p>
            <a:pPr algn="l"/>
            <a:r>
              <a:rPr sz="1600" b="1" dirty="0">
                <a:solidFill>
                  <a:srgbClr val="162C46"/>
                </a:solidFill>
                <a:latin typeface="Aptos"/>
              </a:rPr>
              <a:t>SLA </a:t>
            </a:r>
            <a:r>
              <a:rPr sz="1600" b="1" dirty="0" err="1">
                <a:solidFill>
                  <a:srgbClr val="162C46"/>
                </a:solidFill>
                <a:latin typeface="Aptos"/>
              </a:rPr>
              <a:t>đơn</a:t>
            </a:r>
            <a:r>
              <a:rPr sz="1600" b="1" dirty="0">
                <a:solidFill>
                  <a:srgbClr val="162C46"/>
                </a:solidFill>
                <a:latin typeface="Aptos"/>
              </a:rPr>
              <a:t> </a:t>
            </a:r>
            <a:r>
              <a:rPr sz="1600" b="1" dirty="0" err="1">
                <a:solidFill>
                  <a:srgbClr val="162C46"/>
                </a:solidFill>
                <a:latin typeface="Aptos"/>
              </a:rPr>
              <a:t>lẻ</a:t>
            </a:r>
            <a:r>
              <a:rPr sz="1600" b="1" dirty="0">
                <a:solidFill>
                  <a:srgbClr val="162C46"/>
                </a:solidFill>
                <a:latin typeface="Aptos"/>
              </a:rPr>
              <a:t> </a:t>
            </a:r>
            <a:r>
              <a:rPr sz="1600" b="1" dirty="0" err="1">
                <a:solidFill>
                  <a:srgbClr val="162C46"/>
                </a:solidFill>
                <a:latin typeface="Aptos"/>
              </a:rPr>
              <a:t>cung</a:t>
            </a:r>
            <a:r>
              <a:rPr sz="1600" b="1" dirty="0">
                <a:solidFill>
                  <a:srgbClr val="162C46"/>
                </a:solidFill>
                <a:latin typeface="Aptos"/>
              </a:rPr>
              <a:t> </a:t>
            </a:r>
            <a:r>
              <a:rPr sz="1600" b="1" dirty="0" err="1">
                <a:solidFill>
                  <a:srgbClr val="162C46"/>
                </a:solidFill>
                <a:latin typeface="Aptos"/>
              </a:rPr>
              <a:t>cấp</a:t>
            </a:r>
            <a:r>
              <a:rPr sz="1600" b="1" dirty="0">
                <a:solidFill>
                  <a:srgbClr val="162C46"/>
                </a:solidFill>
                <a:latin typeface="Aptos"/>
              </a:rPr>
              <a:t> </a:t>
            </a:r>
            <a:r>
              <a:rPr sz="1600" b="1" dirty="0" err="1">
                <a:solidFill>
                  <a:srgbClr val="162C46"/>
                </a:solidFill>
                <a:latin typeface="Aptos"/>
              </a:rPr>
              <a:t>ít</a:t>
            </a:r>
            <a:r>
              <a:rPr sz="1600" b="1" dirty="0">
                <a:solidFill>
                  <a:srgbClr val="162C46"/>
                </a:solidFill>
                <a:latin typeface="Aptos"/>
              </a:rPr>
              <a:t> </a:t>
            </a:r>
            <a:r>
              <a:rPr sz="1600" b="1" dirty="0" err="1">
                <a:solidFill>
                  <a:srgbClr val="162C46"/>
                </a:solidFill>
                <a:latin typeface="Aptos"/>
              </a:rPr>
              <a:t>khả</a:t>
            </a:r>
            <a:r>
              <a:rPr sz="1600" b="1" dirty="0">
                <a:solidFill>
                  <a:srgbClr val="162C46"/>
                </a:solidFill>
                <a:latin typeface="Aptos"/>
              </a:rPr>
              <a:t> </a:t>
            </a:r>
            <a:r>
              <a:rPr sz="1600" b="1" dirty="0" err="1">
                <a:solidFill>
                  <a:srgbClr val="162C46"/>
                </a:solidFill>
                <a:latin typeface="Aptos"/>
              </a:rPr>
              <a:t>năng</a:t>
            </a:r>
            <a:r>
              <a:rPr sz="1600" b="1" dirty="0">
                <a:solidFill>
                  <a:srgbClr val="162C46"/>
                </a:solidFill>
                <a:latin typeface="Aptos"/>
              </a:rPr>
              <a:t> </a:t>
            </a:r>
            <a:r>
              <a:rPr sz="1600" b="1" dirty="0" err="1">
                <a:solidFill>
                  <a:srgbClr val="162C46"/>
                </a:solidFill>
                <a:latin typeface="Aptos"/>
              </a:rPr>
              <a:t>nhận</a:t>
            </a:r>
            <a:r>
              <a:rPr sz="1600" b="1" dirty="0">
                <a:solidFill>
                  <a:srgbClr val="162C46"/>
                </a:solidFill>
                <a:latin typeface="Aptos"/>
              </a:rPr>
              <a:t> </a:t>
            </a:r>
            <a:r>
              <a:rPr sz="1600" b="1" dirty="0" err="1">
                <a:solidFill>
                  <a:srgbClr val="162C46"/>
                </a:solidFill>
                <a:latin typeface="Aptos"/>
              </a:rPr>
              <a:t>diện</a:t>
            </a:r>
            <a:r>
              <a:rPr sz="1600" b="1" dirty="0">
                <a:solidFill>
                  <a:srgbClr val="162C46"/>
                </a:solidFill>
                <a:latin typeface="Aptos"/>
              </a:rPr>
              <a:t> Low Rating </a:t>
            </a:r>
            <a:r>
              <a:rPr sz="1600" b="1" dirty="0" err="1">
                <a:solidFill>
                  <a:srgbClr val="162C46"/>
                </a:solidFill>
                <a:latin typeface="Aptos"/>
              </a:rPr>
              <a:t>hơn</a:t>
            </a:r>
            <a:r>
              <a:rPr sz="1600" b="1" dirty="0">
                <a:solidFill>
                  <a:srgbClr val="162C46"/>
                </a:solidFill>
                <a:latin typeface="Aptos"/>
              </a:rPr>
              <a:t> </a:t>
            </a:r>
            <a:r>
              <a:rPr sz="1600" b="1" dirty="0" err="1">
                <a:solidFill>
                  <a:srgbClr val="162C46"/>
                </a:solidFill>
                <a:latin typeface="Aptos"/>
              </a:rPr>
              <a:t>mô</a:t>
            </a:r>
            <a:r>
              <a:rPr sz="1600" b="1" dirty="0">
                <a:solidFill>
                  <a:srgbClr val="162C46"/>
                </a:solidFill>
                <a:latin typeface="Aptos"/>
              </a:rPr>
              <a:t> </a:t>
            </a:r>
            <a:r>
              <a:rPr sz="1600" b="1" dirty="0" err="1">
                <a:solidFill>
                  <a:srgbClr val="162C46"/>
                </a:solidFill>
                <a:latin typeface="Aptos"/>
              </a:rPr>
              <a:t>hình</a:t>
            </a:r>
            <a:r>
              <a:rPr sz="1600" b="1" dirty="0">
                <a:solidFill>
                  <a:srgbClr val="162C46"/>
                </a:solidFill>
                <a:latin typeface="Aptos"/>
              </a:rPr>
              <a:t> </a:t>
            </a:r>
            <a:r>
              <a:rPr sz="1600" b="1" dirty="0" err="1">
                <a:solidFill>
                  <a:srgbClr val="162C46"/>
                </a:solidFill>
                <a:latin typeface="Aptos"/>
              </a:rPr>
              <a:t>kết</a:t>
            </a:r>
            <a:r>
              <a:rPr sz="1600" b="1" dirty="0">
                <a:solidFill>
                  <a:srgbClr val="162C46"/>
                </a:solidFill>
                <a:latin typeface="Aptos"/>
              </a:rPr>
              <a:t> </a:t>
            </a:r>
            <a:r>
              <a:rPr sz="1600" b="1" dirty="0" err="1">
                <a:solidFill>
                  <a:srgbClr val="162C46"/>
                </a:solidFill>
                <a:latin typeface="Aptos"/>
              </a:rPr>
              <a:t>hợp</a:t>
            </a:r>
            <a:r>
              <a:rPr sz="1600" b="1" dirty="0">
                <a:solidFill>
                  <a:srgbClr val="162C46"/>
                </a:solidFill>
                <a:latin typeface="Aptos"/>
              </a:rPr>
              <a:t> </a:t>
            </a:r>
            <a:r>
              <a:rPr sz="1600" b="1" dirty="0" err="1">
                <a:solidFill>
                  <a:srgbClr val="162C46"/>
                </a:solidFill>
                <a:latin typeface="Aptos"/>
              </a:rPr>
              <a:t>nhiều</a:t>
            </a:r>
            <a:r>
              <a:rPr sz="1600" b="1" dirty="0">
                <a:solidFill>
                  <a:srgbClr val="162C46"/>
                </a:solidFill>
                <a:latin typeface="Aptos"/>
              </a:rPr>
              <a:t> Features.</a:t>
            </a:r>
          </a:p>
        </p:txBody>
      </p:sp>
      <p:sp>
        <p:nvSpPr>
          <p:cNvPr id="69" name="TextBox 68"/>
          <p:cNvSpPr txBox="1"/>
          <p:nvPr/>
        </p:nvSpPr>
        <p:spPr>
          <a:xfrm>
            <a:off x="594360" y="6565392"/>
            <a:ext cx="4023360" cy="164592"/>
          </a:xfrm>
          <a:prstGeom prst="rect">
            <a:avLst/>
          </a:prstGeom>
          <a:noFill/>
        </p:spPr>
        <p:txBody>
          <a:bodyPr wrap="square" lIns="36576" tIns="36576" rIns="36576" bIns="36576" anchor="t">
            <a:spAutoFit/>
          </a:bodyPr>
          <a:lstStyle/>
          <a:p>
            <a:pPr algn="l"/>
            <a:r>
              <a:rPr sz="850" b="0">
                <a:solidFill>
                  <a:srgbClr val="5E6A78"/>
                </a:solidFill>
                <a:latin typeface="Aptos"/>
              </a:rPr>
              <a:t>Cơ sở Khoa học Dữ liệu  •  SLA &amp; Customer Experience</a:t>
            </a:r>
          </a:p>
        </p:txBody>
      </p:sp>
      <p:sp>
        <p:nvSpPr>
          <p:cNvPr id="70" name="TextBox 69"/>
          <p:cNvSpPr txBox="1"/>
          <p:nvPr/>
        </p:nvSpPr>
        <p:spPr>
          <a:xfrm>
            <a:off x="11201400" y="6567055"/>
            <a:ext cx="365760" cy="166255"/>
          </a:xfrm>
          <a:prstGeom prst="rect">
            <a:avLst/>
          </a:prstGeom>
          <a:noFill/>
        </p:spPr>
        <p:txBody>
          <a:bodyPr wrap="square" lIns="36576" tIns="36576" rIns="36576" bIns="36576" anchor="t">
            <a:spAutoFit/>
          </a:bodyPr>
          <a:lstStyle/>
          <a:p>
            <a:pPr algn="r"/>
            <a:r>
              <a:rPr sz="850" b="0">
                <a:solidFill>
                  <a:srgbClr val="5E6A78"/>
                </a:solidFill>
                <a:latin typeface="Aptos"/>
              </a:rPr>
              <a:t>26</a:t>
            </a:r>
          </a:p>
        </p:txBody>
      </p:sp>
      <p:sp>
        <p:nvSpPr>
          <p:cNvPr id="71" name="Rounded Rectangle 70"/>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a:t>
            </a:r>
          </a:p>
        </p:txBody>
      </p:sp>
      <p:sp>
        <p:nvSpPr>
          <p:cNvPr id="72" name="Rounded Rectangle 71"/>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Data Collection</a:t>
            </a:r>
          </a:p>
        </p:txBody>
      </p:sp>
      <p:sp>
        <p:nvSpPr>
          <p:cNvPr id="73" name="Rounded Rectangle 72"/>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Cleaning</a:t>
            </a:r>
          </a:p>
        </p:txBody>
      </p:sp>
      <p:sp>
        <p:nvSpPr>
          <p:cNvPr id="74" name="Rounded Rectangle 73"/>
          <p:cNvSpPr/>
          <p:nvPr/>
        </p:nvSpPr>
        <p:spPr>
          <a:xfrm>
            <a:off x="7306056" y="6510528"/>
            <a:ext cx="42062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EDA</a:t>
            </a:r>
          </a:p>
        </p:txBody>
      </p:sp>
      <p:sp>
        <p:nvSpPr>
          <p:cNvPr id="75" name="Rounded Rectangle 74"/>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Features</a:t>
            </a:r>
          </a:p>
        </p:txBody>
      </p:sp>
      <p:sp>
        <p:nvSpPr>
          <p:cNvPr id="76" name="Rounded Rectangle 75"/>
          <p:cNvSpPr/>
          <p:nvPr/>
        </p:nvSpPr>
        <p:spPr>
          <a:xfrm>
            <a:off x="8494776" y="6510528"/>
            <a:ext cx="69494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Modeling</a:t>
            </a:r>
          </a:p>
        </p:txBody>
      </p:sp>
      <p:sp>
        <p:nvSpPr>
          <p:cNvPr id="77" name="Rounded Rectangle 76"/>
          <p:cNvSpPr/>
          <p:nvPr/>
        </p:nvSpPr>
        <p:spPr>
          <a:xfrm>
            <a:off x="9235440" y="6510528"/>
            <a:ext cx="768096"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Evaluation</a:t>
            </a:r>
          </a:p>
        </p:txBody>
      </p:sp>
      <p:sp>
        <p:nvSpPr>
          <p:cNvPr id="78" name="Rounded Rectangle 77"/>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 Value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
            <a:ext cx="10424160" cy="566928"/>
          </a:xfrm>
          <a:prstGeom prst="rect">
            <a:avLst/>
          </a:prstGeom>
          <a:noFill/>
        </p:spPr>
        <p:txBody>
          <a:bodyPr wrap="square" anchor="t" lIns="36576" rIns="36576" tIns="36576" bIns="36576">
            <a:noAutofit/>
          </a:bodyPr>
          <a:lstStyle/>
          <a:p>
            <a:pPr algn="l">
              <a:spcAft>
                <a:spcPts val="300"/>
              </a:spcAft>
            </a:pPr>
            <a:r>
              <a:rPr sz="2400" b="1" i="0">
                <a:solidFill>
                  <a:srgbClr val="162C46"/>
                </a:solidFill>
                <a:latin typeface="Aptos Display"/>
              </a:rPr>
              <a:t>EVALUATION — “ĐO MỘT LẦN”? TRAIN NHIỀU LẦN, CHẤM TEST MỘT LẦN</a:t>
            </a:r>
          </a:p>
        </p:txBody>
      </p:sp>
      <p:cxnSp>
        <p:nvCxnSpPr>
          <p:cNvPr id="3" name="Connector 2"/>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583680"/>
            <a:ext cx="4023360" cy="182880"/>
          </a:xfrm>
          <a:prstGeom prst="rect">
            <a:avLst/>
          </a:prstGeom>
          <a:noFill/>
        </p:spPr>
        <p:txBody>
          <a:bodyPr wrap="square" anchor="t" lIns="36576" rIns="36576" tIns="36576" bIns="36576">
            <a:noAutofit/>
          </a:bodyPr>
          <a:lstStyle/>
          <a:p>
            <a:pPr algn="l">
              <a:spcAft>
                <a:spcPts val="300"/>
              </a:spcAft>
            </a:pPr>
            <a:r>
              <a:rPr sz="850" b="0" i="0">
                <a:solidFill>
                  <a:srgbClr val="5E6A78"/>
                </a:solidFill>
                <a:latin typeface="Aptos"/>
              </a:rPr>
              <a:t>Cơ sở Khoa học Dữ liệu  •  SLA &amp; Customer Experience</a:t>
            </a:r>
          </a:p>
        </p:txBody>
      </p:sp>
      <p:sp>
        <p:nvSpPr>
          <p:cNvPr id="6" name="TextBox 5"/>
          <p:cNvSpPr txBox="1"/>
          <p:nvPr/>
        </p:nvSpPr>
        <p:spPr>
          <a:xfrm>
            <a:off x="11201400" y="6567055"/>
            <a:ext cx="365760" cy="166255"/>
          </a:xfrm>
          <a:prstGeom prst="rect">
            <a:avLst/>
          </a:prstGeom>
          <a:noFill/>
        </p:spPr>
        <p:txBody>
          <a:bodyPr wrap="square" anchor="t" lIns="36576" rIns="36576" tIns="36576" bIns="36576">
            <a:noAutofit/>
          </a:bodyPr>
          <a:lstStyle/>
          <a:p>
            <a:pPr algn="l">
              <a:spcAft>
                <a:spcPts val="300"/>
              </a:spcAft>
            </a:pPr>
            <a:r>
              <a:rPr sz="850" b="0" i="0">
                <a:solidFill>
                  <a:srgbClr val="5E6A78"/>
                </a:solidFill>
                <a:latin typeface="Aptos"/>
              </a:rPr>
              <a:t>27</a:t>
            </a:r>
          </a:p>
        </p:txBody>
      </p:sp>
      <p:sp>
        <p:nvSpPr>
          <p:cNvPr id="7" name="Rounded Rectangle 6"/>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Business</a:t>
            </a:r>
          </a:p>
        </p:txBody>
      </p:sp>
      <p:sp>
        <p:nvSpPr>
          <p:cNvPr id="8" name="Rounded Rectangle 7"/>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Data Collection</a:t>
            </a:r>
          </a:p>
        </p:txBody>
      </p:sp>
      <p:sp>
        <p:nvSpPr>
          <p:cNvPr id="9" name="Rounded Rectangle 8"/>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Cleaning</a:t>
            </a:r>
          </a:p>
        </p:txBody>
      </p:sp>
      <p:sp>
        <p:nvSpPr>
          <p:cNvPr id="10" name="Rounded Rectangle 9"/>
          <p:cNvSpPr/>
          <p:nvPr/>
        </p:nvSpPr>
        <p:spPr>
          <a:xfrm>
            <a:off x="7306056" y="6510528"/>
            <a:ext cx="42062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EDA</a:t>
            </a:r>
          </a:p>
        </p:txBody>
      </p:sp>
      <p:sp>
        <p:nvSpPr>
          <p:cNvPr id="11" name="Rounded Rectangle 10"/>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Features</a:t>
            </a:r>
          </a:p>
        </p:txBody>
      </p:sp>
      <p:sp>
        <p:nvSpPr>
          <p:cNvPr id="12" name="Rounded Rectangle 11"/>
          <p:cNvSpPr/>
          <p:nvPr/>
        </p:nvSpPr>
        <p:spPr>
          <a:xfrm>
            <a:off x="8494776" y="6510528"/>
            <a:ext cx="69494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Modeling</a:t>
            </a:r>
          </a:p>
        </p:txBody>
      </p:sp>
      <p:sp>
        <p:nvSpPr>
          <p:cNvPr id="13" name="Rounded Rectangle 12"/>
          <p:cNvSpPr/>
          <p:nvPr/>
        </p:nvSpPr>
        <p:spPr>
          <a:xfrm>
            <a:off x="9235440" y="6510528"/>
            <a:ext cx="768096"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1" i="0">
                <a:solidFill>
                  <a:srgbClr val="FFFFFF"/>
                </a:solidFill>
                <a:latin typeface="Aptos"/>
              </a:rPr>
              <a:t>Evaluation</a:t>
            </a:r>
          </a:p>
        </p:txBody>
      </p:sp>
      <p:sp>
        <p:nvSpPr>
          <p:cNvPr id="14" name="Rounded Rectangle 13"/>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lIns="9144" rIns="9144" tIns="9144" bIns="9144"/>
          <a:lstStyle/>
          <a:p>
            <a:pPr algn="ctr"/>
            <a:r>
              <a:rPr sz="800" b="0" i="0">
                <a:solidFill>
                  <a:srgbClr val="5E6A78"/>
                </a:solidFill>
                <a:latin typeface="Aptos"/>
              </a:rPr>
              <a:t>Business Value</a:t>
            </a:r>
          </a:p>
        </p:txBody>
      </p:sp>
      <p:sp>
        <p:nvSpPr>
          <p:cNvPr id="15" name="TextBox 14"/>
          <p:cNvSpPr txBox="1"/>
          <p:nvPr/>
        </p:nvSpPr>
        <p:spPr>
          <a:xfrm>
            <a:off x="603504" y="960120"/>
            <a:ext cx="5120640" cy="310896"/>
          </a:xfrm>
          <a:prstGeom prst="rect">
            <a:avLst/>
          </a:prstGeom>
          <a:noFill/>
        </p:spPr>
        <p:txBody>
          <a:bodyPr wrap="square" anchor="t" lIns="36576" rIns="36576" tIns="36576" bIns="36576">
            <a:noAutofit/>
          </a:bodyPr>
          <a:lstStyle/>
          <a:p>
            <a:pPr algn="l">
              <a:spcAft>
                <a:spcPts val="300"/>
              </a:spcAft>
            </a:pPr>
            <a:r>
              <a:rPr sz="1400" b="1" i="0">
                <a:solidFill>
                  <a:srgbClr val="2F639D"/>
                </a:solidFill>
                <a:latin typeface="Aptos"/>
              </a:rPr>
              <a:t>1. BA TẦNG LẶP LẠI — BA NGUỒN DAO ĐỘNG</a:t>
            </a:r>
          </a:p>
        </p:txBody>
      </p:sp>
      <p:sp>
        <p:nvSpPr>
          <p:cNvPr id="16" name="Rounded Rectangle 15"/>
          <p:cNvSpPr/>
          <p:nvPr/>
        </p:nvSpPr>
        <p:spPr>
          <a:xfrm>
            <a:off x="603504" y="1298448"/>
            <a:ext cx="5120640" cy="941832"/>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1353312"/>
            <a:ext cx="4892040" cy="274320"/>
          </a:xfrm>
          <a:prstGeom prst="rect">
            <a:avLst/>
          </a:prstGeom>
          <a:noFill/>
        </p:spPr>
        <p:txBody>
          <a:bodyPr wrap="square" anchor="t" lIns="36576" rIns="36576" tIns="36576" bIns="36576">
            <a:noAutofit/>
          </a:bodyPr>
          <a:lstStyle/>
          <a:p>
            <a:pPr algn="l">
              <a:spcAft>
                <a:spcPts val="300"/>
              </a:spcAft>
            </a:pPr>
            <a:r>
              <a:rPr sz="1300" b="1" i="0">
                <a:solidFill>
                  <a:srgbClr val="2F639D"/>
                </a:solidFill>
                <a:latin typeface="Aptos"/>
              </a:rPr>
              <a:t>1  </a:t>
            </a:r>
            <a:r>
              <a:rPr sz="1200" b="1" i="0">
                <a:solidFill>
                  <a:srgbClr val="162C46"/>
                </a:solidFill>
                <a:latin typeface="Aptos"/>
              </a:rPr>
              <a:t>Nhiều mô hình × cấu hình (trên CV)</a:t>
            </a:r>
          </a:p>
        </p:txBody>
      </p:sp>
      <p:sp>
        <p:nvSpPr>
          <p:cNvPr id="18" name="TextBox 17"/>
          <p:cNvSpPr txBox="1"/>
          <p:nvPr/>
        </p:nvSpPr>
        <p:spPr>
          <a:xfrm>
            <a:off x="731520" y="1645919"/>
            <a:ext cx="4892040" cy="566928"/>
          </a:xfrm>
          <a:prstGeom prst="rect">
            <a:avLst/>
          </a:prstGeom>
          <a:noFill/>
        </p:spPr>
        <p:txBody>
          <a:bodyPr wrap="square" anchor="t" lIns="36576" rIns="36576" tIns="36576" bIns="36576">
            <a:noAutofit/>
          </a:bodyPr>
          <a:lstStyle/>
          <a:p>
            <a:pPr algn="l">
              <a:spcAft>
                <a:spcPts val="300"/>
              </a:spcAft>
            </a:pPr>
            <a:r>
              <a:rPr sz="1050" b="0" i="0">
                <a:solidFill>
                  <a:srgbClr val="5E6A78"/>
                </a:solidFill>
                <a:latin typeface="Aptos"/>
              </a:rPr>
              <a:t>GridSearchCV 240 lần fit + random search notebook 03 (GBM 40, logistic 15 cấu hình × 2 fold) + thang 10 mô hình → đây là phần CHỌN, chỉ dùng train</a:t>
            </a:r>
          </a:p>
        </p:txBody>
      </p:sp>
      <p:sp>
        <p:nvSpPr>
          <p:cNvPr id="19" name="Rounded Rectangle 18"/>
          <p:cNvSpPr/>
          <p:nvPr/>
        </p:nvSpPr>
        <p:spPr>
          <a:xfrm>
            <a:off x="603504" y="2350008"/>
            <a:ext cx="5120640" cy="941832"/>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2404872"/>
            <a:ext cx="4892040" cy="274320"/>
          </a:xfrm>
          <a:prstGeom prst="rect">
            <a:avLst/>
          </a:prstGeom>
          <a:noFill/>
        </p:spPr>
        <p:txBody>
          <a:bodyPr wrap="square" anchor="t" lIns="36576" rIns="36576" tIns="36576" bIns="36576">
            <a:noAutofit/>
          </a:bodyPr>
          <a:lstStyle/>
          <a:p>
            <a:pPr algn="l">
              <a:spcAft>
                <a:spcPts val="300"/>
              </a:spcAft>
            </a:pPr>
            <a:r>
              <a:rPr sz="1300" b="1" i="0">
                <a:solidFill>
                  <a:srgbClr val="2F639D"/>
                </a:solidFill>
                <a:latin typeface="Aptos"/>
              </a:rPr>
              <a:t>2  </a:t>
            </a:r>
            <a:r>
              <a:rPr sz="1200" b="1" i="0">
                <a:solidFill>
                  <a:srgbClr val="162C46"/>
                </a:solidFill>
                <a:latin typeface="Aptos"/>
              </a:rPr>
              <a:t>Nhiều lần train cùng cấu hình (đổi seed)</a:t>
            </a:r>
          </a:p>
        </p:txBody>
      </p:sp>
      <p:sp>
        <p:nvSpPr>
          <p:cNvPr id="21" name="TextBox 20"/>
          <p:cNvSpPr txBox="1"/>
          <p:nvPr/>
        </p:nvSpPr>
        <p:spPr>
          <a:xfrm>
            <a:off x="731520" y="2697479"/>
            <a:ext cx="4892040" cy="566928"/>
          </a:xfrm>
          <a:prstGeom prst="rect">
            <a:avLst/>
          </a:prstGeom>
          <a:noFill/>
        </p:spPr>
        <p:txBody>
          <a:bodyPr wrap="square" anchor="t" lIns="36576" rIns="36576" tIns="36576" bIns="36576">
            <a:noAutofit/>
          </a:bodyPr>
          <a:lstStyle/>
          <a:p>
            <a:pPr algn="l">
              <a:spcAft>
                <a:spcPts val="300"/>
              </a:spcAft>
            </a:pPr>
            <a:r>
              <a:rPr sz="1050" b="0" i="0">
                <a:solidFill>
                  <a:srgbClr val="5E6A78"/>
                </a:solidFill>
                <a:latin typeface="Aptos"/>
              </a:rPr>
              <a:t>5 seed × 3 họ = 15 lần train lại trên toàn bộ train → đo dao động do thuật toán ngẫu nhiên</a:t>
            </a:r>
          </a:p>
        </p:txBody>
      </p:sp>
      <p:sp>
        <p:nvSpPr>
          <p:cNvPr id="22" name="Rounded Rectangle 21"/>
          <p:cNvSpPr/>
          <p:nvPr/>
        </p:nvSpPr>
        <p:spPr>
          <a:xfrm>
            <a:off x="603504" y="3401568"/>
            <a:ext cx="5120640" cy="941832"/>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456432"/>
            <a:ext cx="4892040" cy="274320"/>
          </a:xfrm>
          <a:prstGeom prst="rect">
            <a:avLst/>
          </a:prstGeom>
          <a:noFill/>
        </p:spPr>
        <p:txBody>
          <a:bodyPr wrap="square" anchor="t" lIns="36576" rIns="36576" tIns="36576" bIns="36576">
            <a:noAutofit/>
          </a:bodyPr>
          <a:lstStyle/>
          <a:p>
            <a:pPr algn="l">
              <a:spcAft>
                <a:spcPts val="300"/>
              </a:spcAft>
            </a:pPr>
            <a:r>
              <a:rPr sz="1300" b="1" i="0">
                <a:solidFill>
                  <a:srgbClr val="2F639D"/>
                </a:solidFill>
                <a:latin typeface="Aptos"/>
              </a:rPr>
              <a:t>3  </a:t>
            </a:r>
            <a:r>
              <a:rPr sz="1200" b="1" i="0">
                <a:solidFill>
                  <a:srgbClr val="162C46"/>
                </a:solidFill>
                <a:latin typeface="Aptos"/>
              </a:rPr>
              <a:t>Nhiều mẫu (bootstrap theo cụm sản phẩm)</a:t>
            </a:r>
          </a:p>
        </p:txBody>
      </p:sp>
      <p:sp>
        <p:nvSpPr>
          <p:cNvPr id="24" name="TextBox 23"/>
          <p:cNvSpPr txBox="1"/>
          <p:nvPr/>
        </p:nvSpPr>
        <p:spPr>
          <a:xfrm>
            <a:off x="731520" y="3749039"/>
            <a:ext cx="4892040" cy="566928"/>
          </a:xfrm>
          <a:prstGeom prst="rect">
            <a:avLst/>
          </a:prstGeom>
          <a:noFill/>
        </p:spPr>
        <p:txBody>
          <a:bodyPr wrap="square" anchor="t" lIns="36576" rIns="36576" tIns="36576" bIns="36576">
            <a:noAutofit/>
          </a:bodyPr>
          <a:lstStyle/>
          <a:p>
            <a:pPr algn="l">
              <a:spcAft>
                <a:spcPts val="300"/>
              </a:spcAft>
            </a:pPr>
            <a:r>
              <a:rPr sz="1050" b="0" i="0">
                <a:solidFill>
                  <a:srgbClr val="5E6A78"/>
                </a:solidFill>
                <a:latin typeface="Aptos"/>
              </a:rPr>
              <a:t>1.000 lần lấy lại sản phẩm có hoàn lại → KTC 95% cho chênh lệch PR-AUC (notebook 03 §11.2)</a:t>
            </a:r>
          </a:p>
        </p:txBody>
      </p:sp>
      <p:sp>
        <p:nvSpPr>
          <p:cNvPr id="25" name="TextBox 24"/>
          <p:cNvSpPr txBox="1"/>
          <p:nvPr/>
        </p:nvSpPr>
        <p:spPr>
          <a:xfrm>
            <a:off x="5989320" y="960120"/>
            <a:ext cx="5669280" cy="310896"/>
          </a:xfrm>
          <a:prstGeom prst="rect">
            <a:avLst/>
          </a:prstGeom>
          <a:noFill/>
        </p:spPr>
        <p:txBody>
          <a:bodyPr wrap="square" anchor="t" lIns="36576" rIns="36576" tIns="36576" bIns="36576">
            <a:noAutofit/>
          </a:bodyPr>
          <a:lstStyle/>
          <a:p>
            <a:pPr algn="l">
              <a:spcAft>
                <a:spcPts val="300"/>
              </a:spcAft>
            </a:pPr>
            <a:r>
              <a:rPr sz="1400" b="1" i="0">
                <a:solidFill>
                  <a:srgbClr val="2F639D"/>
                </a:solidFill>
                <a:latin typeface="Aptos"/>
              </a:rPr>
              <a:t>2. KẾT QUẢ — PR-AUC TRÊN TEST 2024–2026</a:t>
            </a:r>
          </a:p>
        </p:txBody>
      </p:sp>
      <p:graphicFrame>
        <p:nvGraphicFramePr>
          <p:cNvPr id="26" name="Table 25"/>
          <p:cNvGraphicFramePr>
            <a:graphicFrameLocks noGrp="1"/>
          </p:cNvGraphicFramePr>
          <p:nvPr/>
        </p:nvGraphicFramePr>
        <p:xfrm>
          <a:off x="5989320" y="1298448"/>
          <a:ext cx="5623560" cy="1645920"/>
        </p:xfrm>
        <a:graphic>
          <a:graphicData uri="http://schemas.openxmlformats.org/drawingml/2006/table">
            <a:tbl>
              <a:tblPr firstRow="1">
                <a:tableStyleId>{5C22544A-7EE6-4342-B048-85BDC9FD1C3A}</a:tableStyleId>
              </a:tblPr>
              <a:tblGrid>
                <a:gridCol w="2331720"/>
                <a:gridCol w="731520"/>
                <a:gridCol w="1325880"/>
                <a:gridCol w="1234440"/>
              </a:tblGrid>
              <a:tr h="329184">
                <a:tc>
                  <a:txBody>
                    <a:bodyPr wrap="square"/>
                    <a:lstStyle/>
                    <a:p>
                      <a:pPr algn="l"/>
                      <a:r>
                        <a:rPr sz="1000" b="1" i="0">
                          <a:solidFill>
                            <a:srgbClr val="FFFFFF"/>
                          </a:solidFill>
                          <a:latin typeface="Aptos"/>
                        </a:rPr>
                        <a:t>Cấu hình thắng GridSearch</a:t>
                      </a:r>
                    </a:p>
                  </a:txBody>
                  <a:tcPr marL="54864" marR="54864" marT="27432" marB="27432" anchor="ctr">
                    <a:solidFill>
                      <a:srgbClr val="162C46"/>
                    </a:solidFill>
                  </a:tcPr>
                </a:tc>
                <a:tc>
                  <a:txBody>
                    <a:bodyPr wrap="square"/>
                    <a:lstStyle/>
                    <a:p>
                      <a:pPr algn="l"/>
                      <a:r>
                        <a:rPr sz="1000" b="1" i="0">
                          <a:solidFill>
                            <a:srgbClr val="FFFFFF"/>
                          </a:solidFill>
                          <a:latin typeface="Aptos"/>
                        </a:rPr>
                        <a:t>CV</a:t>
                      </a:r>
                    </a:p>
                  </a:txBody>
                  <a:tcPr marL="54864" marR="54864" marT="27432" marB="27432" anchor="ctr">
                    <a:solidFill>
                      <a:srgbClr val="162C46"/>
                    </a:solidFill>
                  </a:tcPr>
                </a:tc>
                <a:tc>
                  <a:txBody>
                    <a:bodyPr wrap="square"/>
                    <a:lstStyle/>
                    <a:p>
                      <a:pPr algn="l"/>
                      <a:r>
                        <a:rPr sz="1000" b="1" i="0">
                          <a:solidFill>
                            <a:srgbClr val="FFFFFF"/>
                          </a:solidFill>
                          <a:latin typeface="Aptos"/>
                        </a:rPr>
                        <a:t>test · 5 seed</a:t>
                      </a:r>
                    </a:p>
                  </a:txBody>
                  <a:tcPr marL="54864" marR="54864" marT="27432" marB="27432" anchor="ctr">
                    <a:solidFill>
                      <a:srgbClr val="162C46"/>
                    </a:solidFill>
                  </a:tcPr>
                </a:tc>
                <a:tc>
                  <a:txBody>
                    <a:bodyPr wrap="square"/>
                    <a:lstStyle/>
                    <a:p>
                      <a:pPr algn="l"/>
                      <a:r>
                        <a:rPr sz="1000" b="1" i="0">
                          <a:solidFill>
                            <a:srgbClr val="FFFFFF"/>
                          </a:solidFill>
                          <a:latin typeface="Aptos"/>
                        </a:rPr>
                        <a:t>TB ± SD</a:t>
                      </a:r>
                    </a:p>
                  </a:txBody>
                  <a:tcPr marL="54864" marR="54864" marT="27432" marB="27432" anchor="ctr">
                    <a:solidFill>
                      <a:srgbClr val="162C46"/>
                    </a:solidFill>
                  </a:tcPr>
                </a:tc>
              </a:tr>
              <a:tr h="329184">
                <a:tc>
                  <a:txBody>
                    <a:bodyPr wrap="square"/>
                    <a:lstStyle/>
                    <a:p>
                      <a:pPr algn="l"/>
                      <a:r>
                        <a:rPr sz="850" b="1" i="0">
                          <a:solidFill>
                            <a:srgbClr val="242B33"/>
                          </a:solidFill>
                          <a:latin typeface="Courier New"/>
                        </a:rPr>
                        <a:t>LogisticRegression</a:t>
                      </a:r>
                    </a:p>
                  </a:txBody>
                  <a:tcPr marL="54864" marR="54864" marT="27432" marB="27432" anchor="ctr">
                    <a:solidFill>
                      <a:srgbClr val="FFFFFF"/>
                    </a:solidFill>
                  </a:tcPr>
                </a:tc>
                <a:tc>
                  <a:txBody>
                    <a:bodyPr wrap="square"/>
                    <a:lstStyle/>
                    <a:p>
                      <a:pPr algn="r"/>
                      <a:r>
                        <a:rPr sz="1000" b="0" i="0">
                          <a:solidFill>
                            <a:srgbClr val="242B33"/>
                          </a:solidFill>
                          <a:latin typeface="Aptos"/>
                        </a:rPr>
                        <a:t>0,0569</a:t>
                      </a:r>
                    </a:p>
                  </a:txBody>
                  <a:tcPr marL="54864" marR="54864" marT="27432" marB="27432" anchor="ctr">
                    <a:solidFill>
                      <a:srgbClr val="FFFFFF"/>
                    </a:solidFill>
                  </a:tcPr>
                </a:tc>
                <a:tc>
                  <a:txBody>
                    <a:bodyPr wrap="square"/>
                    <a:lstStyle/>
                    <a:p>
                      <a:pPr algn="r"/>
                      <a:r>
                        <a:rPr sz="1000" b="0" i="0">
                          <a:solidFill>
                            <a:srgbClr val="242B33"/>
                          </a:solidFill>
                          <a:latin typeface="Aptos"/>
                        </a:rPr>
                        <a:t>0,0635 – 0,0635</a:t>
                      </a:r>
                    </a:p>
                  </a:txBody>
                  <a:tcPr marL="54864" marR="54864" marT="27432" marB="27432" anchor="ctr">
                    <a:solidFill>
                      <a:srgbClr val="FFFFFF"/>
                    </a:solidFill>
                  </a:tcPr>
                </a:tc>
                <a:tc>
                  <a:txBody>
                    <a:bodyPr wrap="square"/>
                    <a:lstStyle/>
                    <a:p>
                      <a:pPr algn="r"/>
                      <a:r>
                        <a:rPr sz="1000" b="0" i="0">
                          <a:solidFill>
                            <a:srgbClr val="242B33"/>
                          </a:solidFill>
                          <a:latin typeface="Aptos"/>
                        </a:rPr>
                        <a:t>0,0635 ± 0,0000</a:t>
                      </a:r>
                    </a:p>
                  </a:txBody>
                  <a:tcPr marL="54864" marR="54864" marT="27432" marB="27432" anchor="ctr">
                    <a:solidFill>
                      <a:srgbClr val="FFFFFF"/>
                    </a:solidFill>
                  </a:tcPr>
                </a:tc>
              </a:tr>
              <a:tr h="329184">
                <a:tc>
                  <a:txBody>
                    <a:bodyPr wrap="square"/>
                    <a:lstStyle/>
                    <a:p>
                      <a:pPr algn="l"/>
                      <a:r>
                        <a:rPr sz="850" b="1" i="0">
                          <a:solidFill>
                            <a:srgbClr val="242B33"/>
                          </a:solidFill>
                          <a:latin typeface="Courier New"/>
                        </a:rPr>
                        <a:t>RandomForestClassifier</a:t>
                      </a:r>
                    </a:p>
                  </a:txBody>
                  <a:tcPr marL="54864" marR="54864" marT="27432" marB="27432" anchor="ctr">
                    <a:solidFill>
                      <a:srgbClr val="F6F9FC"/>
                    </a:solidFill>
                  </a:tcPr>
                </a:tc>
                <a:tc>
                  <a:txBody>
                    <a:bodyPr wrap="square"/>
                    <a:lstStyle/>
                    <a:p>
                      <a:pPr algn="r"/>
                      <a:r>
                        <a:rPr sz="1000" b="0" i="0">
                          <a:solidFill>
                            <a:srgbClr val="242B33"/>
                          </a:solidFill>
                          <a:latin typeface="Aptos"/>
                        </a:rPr>
                        <a:t>0,0570</a:t>
                      </a:r>
                    </a:p>
                  </a:txBody>
                  <a:tcPr marL="54864" marR="54864" marT="27432" marB="27432" anchor="ctr">
                    <a:solidFill>
                      <a:srgbClr val="F6F9FC"/>
                    </a:solidFill>
                  </a:tcPr>
                </a:tc>
                <a:tc>
                  <a:txBody>
                    <a:bodyPr wrap="square"/>
                    <a:lstStyle/>
                    <a:p>
                      <a:pPr algn="r"/>
                      <a:r>
                        <a:rPr sz="1000" b="0" i="0">
                          <a:solidFill>
                            <a:srgbClr val="242B33"/>
                          </a:solidFill>
                          <a:latin typeface="Aptos"/>
                        </a:rPr>
                        <a:t>0,0625 – 0,0640</a:t>
                      </a:r>
                    </a:p>
                  </a:txBody>
                  <a:tcPr marL="54864" marR="54864" marT="27432" marB="27432" anchor="ctr">
                    <a:solidFill>
                      <a:srgbClr val="F6F9FC"/>
                    </a:solidFill>
                  </a:tcPr>
                </a:tc>
                <a:tc>
                  <a:txBody>
                    <a:bodyPr wrap="square"/>
                    <a:lstStyle/>
                    <a:p>
                      <a:pPr algn="r"/>
                      <a:r>
                        <a:rPr sz="1000" b="0" i="0">
                          <a:solidFill>
                            <a:srgbClr val="242B33"/>
                          </a:solidFill>
                          <a:latin typeface="Aptos"/>
                        </a:rPr>
                        <a:t>0,0634 ± 0,0006</a:t>
                      </a:r>
                    </a:p>
                  </a:txBody>
                  <a:tcPr marL="54864" marR="54864" marT="27432" marB="27432" anchor="ctr">
                    <a:solidFill>
                      <a:srgbClr val="F6F9FC"/>
                    </a:solidFill>
                  </a:tcPr>
                </a:tc>
              </a:tr>
              <a:tr h="329184">
                <a:tc>
                  <a:txBody>
                    <a:bodyPr wrap="square"/>
                    <a:lstStyle/>
                    <a:p>
                      <a:pPr algn="l"/>
                      <a:r>
                        <a:rPr sz="850" b="1" i="0">
                          <a:solidFill>
                            <a:srgbClr val="242B33"/>
                          </a:solidFill>
                          <a:latin typeface="Courier New"/>
                        </a:rPr>
                        <a:t>HistGradientBoostingClassifier</a:t>
                      </a:r>
                    </a:p>
                  </a:txBody>
                  <a:tcPr marL="54864" marR="54864" marT="27432" marB="27432" anchor="ctr">
                    <a:solidFill>
                      <a:srgbClr val="FFFFFF"/>
                    </a:solidFill>
                  </a:tcPr>
                </a:tc>
                <a:tc>
                  <a:txBody>
                    <a:bodyPr wrap="square"/>
                    <a:lstStyle/>
                    <a:p>
                      <a:pPr algn="r"/>
                      <a:r>
                        <a:rPr sz="1000" b="0" i="0">
                          <a:solidFill>
                            <a:srgbClr val="242B33"/>
                          </a:solidFill>
                          <a:latin typeface="Aptos"/>
                        </a:rPr>
                        <a:t>0,0582</a:t>
                      </a:r>
                    </a:p>
                  </a:txBody>
                  <a:tcPr marL="54864" marR="54864" marT="27432" marB="27432" anchor="ctr">
                    <a:solidFill>
                      <a:srgbClr val="FFFFFF"/>
                    </a:solidFill>
                  </a:tcPr>
                </a:tc>
                <a:tc>
                  <a:txBody>
                    <a:bodyPr wrap="square"/>
                    <a:lstStyle/>
                    <a:p>
                      <a:pPr algn="r"/>
                      <a:r>
                        <a:rPr sz="1000" b="0" i="0">
                          <a:solidFill>
                            <a:srgbClr val="242B33"/>
                          </a:solidFill>
                          <a:latin typeface="Aptos"/>
                        </a:rPr>
                        <a:t>0,0528 – 0,0568</a:t>
                      </a:r>
                    </a:p>
                  </a:txBody>
                  <a:tcPr marL="54864" marR="54864" marT="27432" marB="27432" anchor="ctr">
                    <a:solidFill>
                      <a:srgbClr val="FFFFFF"/>
                    </a:solidFill>
                  </a:tcPr>
                </a:tc>
                <a:tc>
                  <a:txBody>
                    <a:bodyPr wrap="square"/>
                    <a:lstStyle/>
                    <a:p>
                      <a:pPr algn="r"/>
                      <a:r>
                        <a:rPr sz="1000" b="0" i="0">
                          <a:solidFill>
                            <a:srgbClr val="242B33"/>
                          </a:solidFill>
                          <a:latin typeface="Aptos"/>
                        </a:rPr>
                        <a:t>0,0548 ± 0,0016</a:t>
                      </a:r>
                    </a:p>
                  </a:txBody>
                  <a:tcPr marL="54864" marR="54864" marT="27432" marB="27432" anchor="ctr">
                    <a:solidFill>
                      <a:srgbClr val="FFFFFF"/>
                    </a:solidFill>
                  </a:tcPr>
                </a:tc>
              </a:tr>
              <a:tr h="329184">
                <a:tc>
                  <a:txBody>
                    <a:bodyPr wrap="square"/>
                    <a:lstStyle/>
                    <a:p>
                      <a:pPr algn="l"/>
                      <a:r>
                        <a:rPr sz="1000" b="1" i="0">
                          <a:solidFill>
                            <a:srgbClr val="242B33"/>
                          </a:solidFill>
                          <a:latin typeface="Aptos"/>
                        </a:rPr>
                        <a:t>M7 · mô hình chốt (nb 03)</a:t>
                      </a:r>
                    </a:p>
                  </a:txBody>
                  <a:tcPr marL="54864" marR="54864" marT="27432" marB="27432" anchor="ctr">
                    <a:solidFill>
                      <a:srgbClr val="E3ECF6"/>
                    </a:solidFill>
                  </a:tcPr>
                </a:tc>
                <a:tc>
                  <a:txBody>
                    <a:bodyPr wrap="square"/>
                    <a:lstStyle/>
                    <a:p>
                      <a:pPr algn="r"/>
                      <a:r>
                        <a:rPr sz="1000" b="1" i="0">
                          <a:solidFill>
                            <a:srgbClr val="242B33"/>
                          </a:solidFill>
                          <a:latin typeface="Aptos"/>
                        </a:rPr>
                        <a:t>0,0589</a:t>
                      </a:r>
                    </a:p>
                  </a:txBody>
                  <a:tcPr marL="54864" marR="54864" marT="27432" marB="27432" anchor="ctr">
                    <a:solidFill>
                      <a:srgbClr val="E3ECF6"/>
                    </a:solidFill>
                  </a:tcPr>
                </a:tc>
                <a:tc>
                  <a:txBody>
                    <a:bodyPr wrap="square"/>
                    <a:lstStyle/>
                    <a:p>
                      <a:pPr algn="r"/>
                      <a:r>
                        <a:rPr sz="1000" b="1" i="0">
                          <a:solidFill>
                            <a:srgbClr val="242B33"/>
                          </a:solidFill>
                          <a:latin typeface="Aptos"/>
                        </a:rPr>
                        <a:t>—</a:t>
                      </a:r>
                    </a:p>
                  </a:txBody>
                  <a:tcPr marL="54864" marR="54864" marT="27432" marB="27432" anchor="ctr">
                    <a:solidFill>
                      <a:srgbClr val="E3ECF6"/>
                    </a:solidFill>
                  </a:tcPr>
                </a:tc>
                <a:tc>
                  <a:txBody>
                    <a:bodyPr wrap="square"/>
                    <a:lstStyle/>
                    <a:p>
                      <a:pPr algn="r"/>
                      <a:r>
                        <a:rPr sz="1000" b="1" i="0">
                          <a:solidFill>
                            <a:srgbClr val="242B33"/>
                          </a:solidFill>
                          <a:latin typeface="Aptos"/>
                        </a:rPr>
                        <a:t>0,0632</a:t>
                      </a:r>
                    </a:p>
                  </a:txBody>
                  <a:tcPr marL="54864" marR="54864" marT="27432" marB="27432" anchor="ctr">
                    <a:solidFill>
                      <a:srgbClr val="E3ECF6"/>
                    </a:solidFill>
                  </a:tcPr>
                </a:tc>
              </a:tr>
            </a:tbl>
          </a:graphicData>
        </a:graphic>
      </p:graphicFrame>
      <p:sp>
        <p:nvSpPr>
          <p:cNvPr id="27" name="TextBox 26"/>
          <p:cNvSpPr txBox="1"/>
          <p:nvPr/>
        </p:nvSpPr>
        <p:spPr>
          <a:xfrm>
            <a:off x="5989320" y="3017520"/>
            <a:ext cx="5623560" cy="914400"/>
          </a:xfrm>
          <a:prstGeom prst="rect">
            <a:avLst/>
          </a:prstGeom>
          <a:noFill/>
        </p:spPr>
        <p:txBody>
          <a:bodyPr wrap="square" anchor="t" lIns="36576" rIns="36576" tIns="36576" bIns="36576">
            <a:noAutofit/>
          </a:bodyPr>
          <a:lstStyle/>
          <a:p>
            <a:pPr algn="l" marL="164592" indent="-164592">
              <a:spcAft>
                <a:spcPts val="400"/>
              </a:spcAft>
              <a:buClr>
                <a:srgbClr val="2F639D"/>
              </a:buClr>
              <a:buChar char="•"/>
            </a:pPr>
            <a:r>
              <a:rPr sz="1050" b="0" i="0">
                <a:solidFill>
                  <a:srgbClr val="242B33"/>
                </a:solidFill>
                <a:latin typeface="Aptos"/>
              </a:rPr>
              <a:t>Logistic: 5 seed ra đúng một số — lbfgs giải bài toán lồi, không có ngẫu nhiên.</a:t>
            </a:r>
          </a:p>
          <a:p>
            <a:pPr algn="l" marL="164592" indent="-164592">
              <a:spcAft>
                <a:spcPts val="400"/>
              </a:spcAft>
              <a:buClr>
                <a:srgbClr val="2F639D"/>
              </a:buClr>
              <a:buChar char="•"/>
            </a:pPr>
            <a:r>
              <a:rPr sz="1050" b="0" i="0">
                <a:solidFill>
                  <a:srgbClr val="242B33"/>
                </a:solidFill>
                <a:latin typeface="Aptos"/>
              </a:rPr>
              <a:t>RF ±0,0006; GBM ±0,0016 (rút ngẫu nhiên 10% train làm tập dừng sớm).</a:t>
            </a:r>
          </a:p>
          <a:p>
            <a:pPr algn="l" marL="164592" indent="-164592">
              <a:spcAft>
                <a:spcPts val="400"/>
              </a:spcAft>
              <a:buClr>
                <a:srgbClr val="2F639D"/>
              </a:buClr>
              <a:buChar char="•"/>
            </a:pPr>
            <a:r>
              <a:rPr sz="1050" b="0" i="0">
                <a:solidFill>
                  <a:srgbClr val="242B33"/>
                </a:solidFill>
                <a:latin typeface="Aptos"/>
              </a:rPr>
              <a:t>M7 chốt bằng CV (0,0589 &gt; GBM 0,0584 &gt; logistic 0,0566); test chỉ xác nhận sau: GBM đơn thấp nhất.</a:t>
            </a:r>
          </a:p>
        </p:txBody>
      </p:sp>
      <p:sp>
        <p:nvSpPr>
          <p:cNvPr id="28" name="Rounded Rectangle 27"/>
          <p:cNvSpPr/>
          <p:nvPr/>
        </p:nvSpPr>
        <p:spPr>
          <a:xfrm>
            <a:off x="5989320" y="3873731"/>
            <a:ext cx="5623560" cy="1562793"/>
          </a:xfrm>
          <a:prstGeom prst="round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0" y="3940233"/>
            <a:ext cx="5394960" cy="274320"/>
          </a:xfrm>
          <a:prstGeom prst="rect">
            <a:avLst/>
          </a:prstGeom>
          <a:noFill/>
        </p:spPr>
        <p:txBody>
          <a:bodyPr wrap="square" anchor="t" lIns="36576" rIns="36576" tIns="36576" bIns="36576">
            <a:noAutofit/>
          </a:bodyPr>
          <a:lstStyle/>
          <a:p>
            <a:pPr algn="l">
              <a:spcAft>
                <a:spcPts val="300"/>
              </a:spcAft>
            </a:pPr>
            <a:r>
              <a:rPr sz="1200" b="1" i="0">
                <a:solidFill>
                  <a:srgbClr val="162C46"/>
                </a:solidFill>
                <a:latin typeface="Aptos"/>
              </a:rPr>
              <a:t>Vì sao test chỉ chấm một lần?</a:t>
            </a:r>
          </a:p>
        </p:txBody>
      </p:sp>
      <p:sp>
        <p:nvSpPr>
          <p:cNvPr id="30" name="TextBox 29"/>
          <p:cNvSpPr txBox="1"/>
          <p:nvPr/>
        </p:nvSpPr>
        <p:spPr>
          <a:xfrm>
            <a:off x="6126480" y="4222865"/>
            <a:ext cx="5394960" cy="1180407"/>
          </a:xfrm>
          <a:prstGeom prst="rect">
            <a:avLst/>
          </a:prstGeom>
          <a:noFill/>
        </p:spPr>
        <p:txBody>
          <a:bodyPr wrap="square" anchor="t" lIns="36576" rIns="36576" tIns="36576" bIns="36576">
            <a:noAutofit/>
          </a:bodyPr>
          <a:lstStyle/>
          <a:p>
            <a:pPr algn="l" marL="164592" indent="-164592">
              <a:spcAft>
                <a:spcPts val="300"/>
              </a:spcAft>
              <a:buClr>
                <a:srgbClr val="2F639D"/>
              </a:buClr>
              <a:buChar char="•"/>
            </a:pPr>
            <a:r>
              <a:rPr sz="1050" b="0" i="0">
                <a:solidFill>
                  <a:srgbClr val="5E6A78"/>
                </a:solidFill>
                <a:latin typeface="Aptos"/>
              </a:rPr>
              <a:t>Nếu xem test rồi quay lại sửa mô hình, test biến thành dữ liệu train — điểm test thành lạc quan như best_score_.</a:t>
            </a:r>
          </a:p>
          <a:p>
            <a:pPr algn="l" marL="164592" indent="-164592">
              <a:spcAft>
                <a:spcPts val="300"/>
              </a:spcAft>
              <a:buClr>
                <a:srgbClr val="2F639D"/>
              </a:buClr>
              <a:buChar char="•"/>
            </a:pPr>
            <a:r>
              <a:rPr sz="1050" b="0" i="0">
                <a:solidFill>
                  <a:srgbClr val="5E6A78"/>
                </a:solidFill>
                <a:latin typeface="Aptos"/>
              </a:rPr>
              <a:t>Nên: lặp thoải mái trên CV (bảng trái), chốt bằng quy tắc đặt trước, rồi mới mở test.</a:t>
            </a:r>
          </a:p>
          <a:p>
            <a:pPr algn="l" marL="164592" indent="-164592">
              <a:spcAft>
                <a:spcPts val="300"/>
              </a:spcAft>
              <a:buClr>
                <a:srgbClr val="2F639D"/>
              </a:buClr>
              <a:buChar char="•"/>
            </a:pPr>
            <a:r>
              <a:rPr sz="1050" b="0" i="0">
                <a:solidFill>
                  <a:srgbClr val="5E6A78"/>
                </a:solidFill>
                <a:latin typeface="Aptos"/>
              </a:rPr>
              <a:t>Nhóm đã vi phạm một lần và khai rõ: ensemble được thêm vào sau một lần chạy thử test → điểm M7 có thể hơi lạc quan; M7 vẫn ngang logistic (−0,0010) nên kết luận không đổi.</a:t>
            </a:r>
          </a:p>
        </p:txBody>
      </p:sp>
      <p:sp>
        <p:nvSpPr>
          <p:cNvPr id="31" name="Rounded Rectangle 30"/>
          <p:cNvSpPr/>
          <p:nvPr/>
        </p:nvSpPr>
        <p:spPr>
          <a:xfrm>
            <a:off x="603504" y="5577840"/>
            <a:ext cx="11009376" cy="731520"/>
          </a:xfrm>
          <a:prstGeom prst="roundRect">
            <a:avLst>
              <a:gd name="adj" fmla="val 18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350" b="1" i="0">
                <a:solidFill>
                  <a:srgbClr val="FFFFFF"/>
                </a:solidFill>
                <a:latin typeface="Aptos"/>
              </a:rPr>
              <a:t>“Chấm test một lần” = không dùng test để CHỌN.</a:t>
            </a:r>
            <a:r>
              <a:rPr sz="1300" b="0" i="0">
                <a:solidFill>
                  <a:srgbClr val="FFFFFF"/>
                </a:solidFill>
                <a:latin typeface="Aptos"/>
              </a:rPr>
              <a:t> Train thì đã lặp hàng trăm lần trên CV; dao động theo seed (≤ ±0,0016) nhỏ hơn khoảng cách GBM với hai họ kia (~0,009) — còn Logistic và RF thì ngang nhau.</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265176"/>
            <a:ext cx="10424160" cy="566928"/>
          </a:xfrm>
          <a:prstGeom prst="rect">
            <a:avLst/>
          </a:prstGeom>
          <a:noFill/>
        </p:spPr>
        <p:txBody>
          <a:bodyPr wrap="square" lIns="36576" tIns="36576" rIns="36576" bIns="36576" anchor="t">
            <a:noAutofit/>
          </a:bodyPr>
          <a:lstStyle/>
          <a:p>
            <a:pPr algn="l">
              <a:spcAft>
                <a:spcPts val="300"/>
              </a:spcAft>
            </a:pPr>
            <a:r>
              <a:rPr sz="2400" b="1" i="0">
                <a:solidFill>
                  <a:srgbClr val="162C46"/>
                </a:solidFill>
                <a:latin typeface="Aptos Display"/>
              </a:rPr>
              <a:t>EVALUATION — CHỨNG MINH ĐÚNG: KẾT LUẬN CÓ ĐỨNG VỮNG?</a:t>
            </a:r>
          </a:p>
        </p:txBody>
      </p:sp>
      <p:cxnSp>
        <p:nvCxnSpPr>
          <p:cNvPr id="3" name="Connector 2"/>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6583680"/>
            <a:ext cx="4023360" cy="182880"/>
          </a:xfrm>
          <a:prstGeom prst="rect">
            <a:avLst/>
          </a:prstGeom>
          <a:noFill/>
        </p:spPr>
        <p:txBody>
          <a:bodyPr wrap="square" lIns="36576" tIns="36576" rIns="36576" bIns="36576" anchor="t">
            <a:noAutofit/>
          </a:bodyPr>
          <a:lstStyle/>
          <a:p>
            <a:pPr algn="l">
              <a:spcAft>
                <a:spcPts val="300"/>
              </a:spcAft>
            </a:pPr>
            <a:r>
              <a:rPr sz="850" b="0" i="0">
                <a:solidFill>
                  <a:srgbClr val="5E6A78"/>
                </a:solidFill>
                <a:latin typeface="Aptos"/>
              </a:rPr>
              <a:t>Cơ sở Khoa học Dữ liệu  •  SLA &amp; Customer Experience</a:t>
            </a:r>
          </a:p>
        </p:txBody>
      </p:sp>
      <p:sp>
        <p:nvSpPr>
          <p:cNvPr id="6" name="TextBox 5"/>
          <p:cNvSpPr txBox="1"/>
          <p:nvPr/>
        </p:nvSpPr>
        <p:spPr>
          <a:xfrm>
            <a:off x="11201400" y="6567055"/>
            <a:ext cx="365760" cy="166255"/>
          </a:xfrm>
          <a:prstGeom prst="rect">
            <a:avLst/>
          </a:prstGeom>
          <a:noFill/>
        </p:spPr>
        <p:txBody>
          <a:bodyPr wrap="square" lIns="36576" tIns="36576" rIns="36576" bIns="36576" anchor="t">
            <a:noAutofit/>
          </a:bodyPr>
          <a:lstStyle/>
          <a:p>
            <a:pPr algn="l">
              <a:spcAft>
                <a:spcPts val="300"/>
              </a:spcAft>
            </a:pPr>
            <a:r>
              <a:rPr sz="850" b="0" i="0">
                <a:solidFill>
                  <a:srgbClr val="5E6A78"/>
                </a:solidFill>
                <a:latin typeface="Aptos"/>
              </a:rPr>
              <a:t>28</a:t>
            </a:r>
          </a:p>
        </p:txBody>
      </p:sp>
      <p:pic>
        <p:nvPicPr>
          <p:cNvPr id="7" name="Picture 6" descr="A03_nguong_sla.png"/>
          <p:cNvPicPr>
            <a:picLocks noChangeAspect="1"/>
          </p:cNvPicPr>
          <p:nvPr/>
        </p:nvPicPr>
        <p:blipFill>
          <a:blip r:embed="rId3"/>
          <a:stretch>
            <a:fillRect/>
          </a:stretch>
        </p:blipFill>
        <p:spPr>
          <a:xfrm>
            <a:off x="603504" y="1024128"/>
            <a:ext cx="5440680" cy="2644534"/>
          </a:xfrm>
          <a:prstGeom prst="rect">
            <a:avLst/>
          </a:prstGeom>
        </p:spPr>
      </p:pic>
      <p:pic>
        <p:nvPicPr>
          <p:cNvPr id="8" name="Picture 7" descr="A04_diem_gay_theta.png"/>
          <p:cNvPicPr>
            <a:picLocks noChangeAspect="1"/>
          </p:cNvPicPr>
          <p:nvPr/>
        </p:nvPicPr>
        <p:blipFill>
          <a:blip r:embed="rId4"/>
          <a:stretch>
            <a:fillRect/>
          </a:stretch>
        </p:blipFill>
        <p:spPr>
          <a:xfrm>
            <a:off x="6172200" y="1024128"/>
            <a:ext cx="5440680" cy="2644534"/>
          </a:xfrm>
          <a:prstGeom prst="rect">
            <a:avLst/>
          </a:prstGeom>
        </p:spPr>
      </p:pic>
      <p:sp>
        <p:nvSpPr>
          <p:cNvPr id="9" name="TextBox 8"/>
          <p:cNvSpPr txBox="1"/>
          <p:nvPr/>
        </p:nvSpPr>
        <p:spPr>
          <a:xfrm>
            <a:off x="603504" y="3703320"/>
            <a:ext cx="5440680" cy="548640"/>
          </a:xfrm>
          <a:prstGeom prst="rect">
            <a:avLst/>
          </a:prstGeom>
          <a:noFill/>
        </p:spPr>
        <p:txBody>
          <a:bodyPr wrap="square" lIns="36576" tIns="36576" rIns="36576" bIns="36576" anchor="t">
            <a:noAutofit/>
          </a:bodyPr>
          <a:lstStyle/>
          <a:p>
            <a:pPr algn="l">
              <a:spcAft>
                <a:spcPts val="300"/>
              </a:spcAft>
            </a:pPr>
            <a:r>
              <a:rPr sz="1200" b="1" i="0">
                <a:solidFill>
                  <a:srgbClr val="162C46"/>
                </a:solidFill>
                <a:latin typeface="Aptos"/>
              </a:rPr>
              <a:t>Đổi ngưỡng SLA 3–7 ngày: </a:t>
            </a:r>
            <a:r>
              <a:rPr sz="1200" b="0" i="0">
                <a:solidFill>
                  <a:srgbClr val="5E6A78"/>
                </a:solidFill>
                <a:latin typeface="Aptos"/>
              </a:rPr>
              <a:t>dương ở mọi ngưỡng, KTC không chứa 0 (sát 0 ở 7 ngày)</a:t>
            </a:r>
          </a:p>
        </p:txBody>
      </p:sp>
      <p:sp>
        <p:nvSpPr>
          <p:cNvPr id="10" name="TextBox 9"/>
          <p:cNvSpPr txBox="1"/>
          <p:nvPr/>
        </p:nvSpPr>
        <p:spPr>
          <a:xfrm>
            <a:off x="6172200" y="3703320"/>
            <a:ext cx="5440680" cy="548640"/>
          </a:xfrm>
          <a:prstGeom prst="rect">
            <a:avLst/>
          </a:prstGeom>
          <a:noFill/>
        </p:spPr>
        <p:txBody>
          <a:bodyPr wrap="square" lIns="36576" tIns="36576" rIns="36576" bIns="36576" anchor="t">
            <a:noAutofit/>
          </a:bodyPr>
          <a:lstStyle/>
          <a:p>
            <a:pPr algn="l">
              <a:spcAft>
                <a:spcPts val="300"/>
              </a:spcAft>
            </a:pPr>
            <a:r>
              <a:rPr sz="1200" b="1" i="0">
                <a:solidFill>
                  <a:srgbClr val="162C46"/>
                </a:solidFill>
                <a:latin typeface="Aptos"/>
              </a:rPr>
              <a:t>74% review không nhãn (MNAR): </a:t>
            </a:r>
            <a:r>
              <a:rPr sz="1200" b="0" i="0">
                <a:solidFill>
                  <a:srgbClr val="5E6A78"/>
                </a:solidFill>
                <a:latin typeface="Aptos"/>
              </a:rPr>
              <a:t>chỉ đổi dấu nếu nhãn mất &gt; 95% thông tin so với MAR</a:t>
            </a:r>
          </a:p>
        </p:txBody>
      </p:sp>
      <p:sp>
        <p:nvSpPr>
          <p:cNvPr id="11" name="Rounded Rectangle 10"/>
          <p:cNvSpPr/>
          <p:nvPr/>
        </p:nvSpPr>
        <p:spPr>
          <a:xfrm>
            <a:off x="603504" y="4370832"/>
            <a:ext cx="2633472" cy="1234440"/>
          </a:xfrm>
          <a:prstGeom prst="round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03504" y="4416552"/>
            <a:ext cx="2633472" cy="566928"/>
          </a:xfrm>
          <a:prstGeom prst="rect">
            <a:avLst/>
          </a:prstGeom>
          <a:noFill/>
        </p:spPr>
        <p:txBody>
          <a:bodyPr wrap="square" lIns="36576" tIns="36576" rIns="36576" bIns="36576" anchor="t">
            <a:noAutofit/>
          </a:bodyPr>
          <a:lstStyle/>
          <a:p>
            <a:pPr algn="ctr">
              <a:spcAft>
                <a:spcPts val="300"/>
              </a:spcAft>
            </a:pPr>
            <a:r>
              <a:rPr sz="2600" b="1" i="0">
                <a:solidFill>
                  <a:srgbClr val="162C46"/>
                </a:solidFill>
                <a:latin typeface="Aptos Display"/>
              </a:rPr>
              <a:t>4/4</a:t>
            </a:r>
          </a:p>
        </p:txBody>
      </p:sp>
      <p:sp>
        <p:nvSpPr>
          <p:cNvPr id="13" name="TextBox 12"/>
          <p:cNvSpPr txBox="1"/>
          <p:nvPr/>
        </p:nvSpPr>
        <p:spPr>
          <a:xfrm>
            <a:off x="603504" y="4983480"/>
            <a:ext cx="2633472" cy="566928"/>
          </a:xfrm>
          <a:prstGeom prst="rect">
            <a:avLst/>
          </a:prstGeom>
          <a:noFill/>
        </p:spPr>
        <p:txBody>
          <a:bodyPr wrap="square" lIns="36576" tIns="36576" rIns="36576" bIns="36576" anchor="t">
            <a:noAutofit/>
          </a:bodyPr>
          <a:lstStyle/>
          <a:p>
            <a:pPr algn="ctr">
              <a:spcAft>
                <a:spcPts val="0"/>
              </a:spcAft>
            </a:pPr>
            <a:r>
              <a:rPr sz="1100" b="0" i="0">
                <a:solidFill>
                  <a:srgbClr val="5E6A78"/>
                </a:solidFill>
                <a:latin typeface="Aptos"/>
              </a:rPr>
              <a:t>con số đã báo cáo</a:t>
            </a:r>
          </a:p>
          <a:p>
            <a:pPr algn="ctr">
              <a:spcAft>
                <a:spcPts val="0"/>
              </a:spcAft>
            </a:pPr>
            <a:r>
              <a:rPr sz="1100" b="0" i="0">
                <a:solidFill>
                  <a:srgbClr val="5E6A78"/>
                </a:solidFill>
                <a:latin typeface="Aptos"/>
              </a:rPr>
              <a:t>tái lập được từ dữ liệu thô</a:t>
            </a:r>
          </a:p>
        </p:txBody>
      </p:sp>
      <p:sp>
        <p:nvSpPr>
          <p:cNvPr id="14" name="Rounded Rectangle 13"/>
          <p:cNvSpPr/>
          <p:nvPr/>
        </p:nvSpPr>
        <p:spPr>
          <a:xfrm>
            <a:off x="3383280" y="4370832"/>
            <a:ext cx="2633472" cy="1234440"/>
          </a:xfrm>
          <a:prstGeom prst="round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383280" y="4416552"/>
            <a:ext cx="2633472" cy="566928"/>
          </a:xfrm>
          <a:prstGeom prst="rect">
            <a:avLst/>
          </a:prstGeom>
          <a:noFill/>
        </p:spPr>
        <p:txBody>
          <a:bodyPr wrap="square" lIns="36576" tIns="36576" rIns="36576" bIns="36576" anchor="t">
            <a:noAutofit/>
          </a:bodyPr>
          <a:lstStyle/>
          <a:p>
            <a:pPr algn="ctr">
              <a:spcAft>
                <a:spcPts val="300"/>
              </a:spcAft>
            </a:pPr>
            <a:r>
              <a:rPr sz="2600" b="1" i="0">
                <a:solidFill>
                  <a:srgbClr val="162C46"/>
                </a:solidFill>
                <a:latin typeface="Aptos Display"/>
              </a:rPr>
              <a:t>3–7 ngày</a:t>
            </a:r>
          </a:p>
        </p:txBody>
      </p:sp>
      <p:sp>
        <p:nvSpPr>
          <p:cNvPr id="16" name="TextBox 15"/>
          <p:cNvSpPr txBox="1"/>
          <p:nvPr/>
        </p:nvSpPr>
        <p:spPr>
          <a:xfrm>
            <a:off x="3383280" y="4983480"/>
            <a:ext cx="2633472" cy="566928"/>
          </a:xfrm>
          <a:prstGeom prst="rect">
            <a:avLst/>
          </a:prstGeom>
          <a:noFill/>
        </p:spPr>
        <p:txBody>
          <a:bodyPr wrap="square" lIns="36576" tIns="36576" rIns="36576" bIns="36576" anchor="t">
            <a:noAutofit/>
          </a:bodyPr>
          <a:lstStyle/>
          <a:p>
            <a:pPr algn="ctr">
              <a:spcAft>
                <a:spcPts val="0"/>
              </a:spcAft>
            </a:pPr>
            <a:r>
              <a:rPr sz="1100" b="0" i="0">
                <a:solidFill>
                  <a:srgbClr val="5E6A78"/>
                </a:solidFill>
                <a:latin typeface="Aptos"/>
              </a:rPr>
              <a:t>kết luận dương ở</a:t>
            </a:r>
          </a:p>
          <a:p>
            <a:pPr algn="ctr">
              <a:spcAft>
                <a:spcPts val="0"/>
              </a:spcAft>
            </a:pPr>
            <a:r>
              <a:rPr sz="1100" b="0" i="0">
                <a:solidFill>
                  <a:srgbClr val="5E6A78"/>
                </a:solidFill>
                <a:latin typeface="Aptos"/>
              </a:rPr>
              <a:t>mọi ngưỡng SLA</a:t>
            </a:r>
          </a:p>
        </p:txBody>
      </p:sp>
      <p:sp>
        <p:nvSpPr>
          <p:cNvPr id="17" name="Rounded Rectangle 16"/>
          <p:cNvSpPr/>
          <p:nvPr/>
        </p:nvSpPr>
        <p:spPr>
          <a:xfrm>
            <a:off x="6163056" y="4370832"/>
            <a:ext cx="2633472" cy="1234440"/>
          </a:xfrm>
          <a:prstGeom prst="round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163056" y="4416552"/>
            <a:ext cx="2633472" cy="566928"/>
          </a:xfrm>
          <a:prstGeom prst="rect">
            <a:avLst/>
          </a:prstGeom>
          <a:noFill/>
        </p:spPr>
        <p:txBody>
          <a:bodyPr wrap="square" lIns="36576" tIns="36576" rIns="36576" bIns="36576" anchor="t">
            <a:noAutofit/>
          </a:bodyPr>
          <a:lstStyle/>
          <a:p>
            <a:pPr algn="ctr">
              <a:spcAft>
                <a:spcPts val="300"/>
              </a:spcAft>
            </a:pPr>
            <a:r>
              <a:rPr sz="2600" b="1" i="0">
                <a:solidFill>
                  <a:srgbClr val="162C46"/>
                </a:solidFill>
                <a:latin typeface="Aptos Display"/>
              </a:rPr>
              <a:t>θ* = 0,047</a:t>
            </a:r>
          </a:p>
        </p:txBody>
      </p:sp>
      <p:sp>
        <p:nvSpPr>
          <p:cNvPr id="19" name="TextBox 18"/>
          <p:cNvSpPr txBox="1"/>
          <p:nvPr/>
        </p:nvSpPr>
        <p:spPr>
          <a:xfrm>
            <a:off x="6163056" y="4983480"/>
            <a:ext cx="2633472" cy="566928"/>
          </a:xfrm>
          <a:prstGeom prst="rect">
            <a:avLst/>
          </a:prstGeom>
          <a:noFill/>
        </p:spPr>
        <p:txBody>
          <a:bodyPr wrap="square" lIns="36576" tIns="36576" rIns="36576" bIns="36576" anchor="t">
            <a:noAutofit/>
          </a:bodyPr>
          <a:lstStyle/>
          <a:p>
            <a:pPr algn="ctr">
              <a:spcAft>
                <a:spcPts val="0"/>
              </a:spcAft>
            </a:pPr>
            <a:r>
              <a:rPr sz="1100" b="0" i="0">
                <a:solidFill>
                  <a:srgbClr val="5E6A78"/>
                </a:solidFill>
                <a:latin typeface="Aptos"/>
              </a:rPr>
              <a:t>điểm gãy MNAR —</a:t>
            </a:r>
          </a:p>
          <a:p>
            <a:pPr algn="ctr">
              <a:spcAft>
                <a:spcPts val="0"/>
              </a:spcAft>
            </a:pPr>
            <a:r>
              <a:rPr sz="1100" b="0" i="0">
                <a:solidFill>
                  <a:srgbClr val="5E6A78"/>
                </a:solidFill>
                <a:latin typeface="Aptos"/>
              </a:rPr>
              <a:t>giả định cực đoan</a:t>
            </a:r>
          </a:p>
        </p:txBody>
      </p:sp>
      <p:sp>
        <p:nvSpPr>
          <p:cNvPr id="20" name="Rounded Rectangle 19"/>
          <p:cNvSpPr/>
          <p:nvPr/>
        </p:nvSpPr>
        <p:spPr>
          <a:xfrm>
            <a:off x="8942832" y="4370832"/>
            <a:ext cx="2633472" cy="1234440"/>
          </a:xfrm>
          <a:prstGeom prst="roundRect">
            <a:avLst/>
          </a:prstGeom>
          <a:solidFill>
            <a:srgbClr val="EEF4FA"/>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942832" y="4416552"/>
            <a:ext cx="2633472" cy="566928"/>
          </a:xfrm>
          <a:prstGeom prst="rect">
            <a:avLst/>
          </a:prstGeom>
          <a:noFill/>
        </p:spPr>
        <p:txBody>
          <a:bodyPr wrap="square" lIns="36576" tIns="36576" rIns="36576" bIns="36576" anchor="t">
            <a:noAutofit/>
          </a:bodyPr>
          <a:lstStyle/>
          <a:p>
            <a:pPr algn="ctr">
              <a:spcAft>
                <a:spcPts val="300"/>
              </a:spcAft>
            </a:pPr>
            <a:r>
              <a:rPr sz="2600" b="1" i="0">
                <a:solidFill>
                  <a:srgbClr val="162C46"/>
                </a:solidFill>
                <a:latin typeface="Aptos Display"/>
              </a:rPr>
              <a:t>ECE 0,003</a:t>
            </a:r>
          </a:p>
        </p:txBody>
      </p:sp>
      <p:sp>
        <p:nvSpPr>
          <p:cNvPr id="22" name="TextBox 21"/>
          <p:cNvSpPr txBox="1"/>
          <p:nvPr/>
        </p:nvSpPr>
        <p:spPr>
          <a:xfrm>
            <a:off x="8942832" y="4983480"/>
            <a:ext cx="2633472" cy="566928"/>
          </a:xfrm>
          <a:prstGeom prst="rect">
            <a:avLst/>
          </a:prstGeom>
          <a:noFill/>
        </p:spPr>
        <p:txBody>
          <a:bodyPr wrap="square" lIns="36576" tIns="36576" rIns="36576" bIns="36576" anchor="t">
            <a:noAutofit/>
          </a:bodyPr>
          <a:lstStyle/>
          <a:p>
            <a:pPr algn="ctr">
              <a:spcAft>
                <a:spcPts val="0"/>
              </a:spcAft>
            </a:pPr>
            <a:r>
              <a:rPr sz="1100" b="0" i="0">
                <a:solidFill>
                  <a:srgbClr val="5E6A78"/>
                </a:solidFill>
                <a:latin typeface="Aptos"/>
              </a:rPr>
              <a:t>xác suất mô hình chốt</a:t>
            </a:r>
          </a:p>
          <a:p>
            <a:pPr algn="ctr">
              <a:spcAft>
                <a:spcPts val="0"/>
              </a:spcAft>
            </a:pPr>
            <a:r>
              <a:rPr sz="1100" b="0" i="0">
                <a:solidFill>
                  <a:srgbClr val="5E6A78"/>
                </a:solidFill>
                <a:latin typeface="Aptos"/>
              </a:rPr>
              <a:t>đáng tin</a:t>
            </a:r>
          </a:p>
        </p:txBody>
      </p:sp>
      <p:sp>
        <p:nvSpPr>
          <p:cNvPr id="23" name="Rounded Rectangle 22"/>
          <p:cNvSpPr/>
          <p:nvPr/>
        </p:nvSpPr>
        <p:spPr>
          <a:xfrm>
            <a:off x="603504" y="5760720"/>
            <a:ext cx="11009376" cy="548640"/>
          </a:xfrm>
          <a:prstGeom prst="roundRect">
            <a:avLst>
              <a:gd name="adj" fmla="val 18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400" b="1" i="0">
                <a:solidFill>
                  <a:srgbClr val="FFFFFF"/>
                </a:solidFill>
                <a:latin typeface="Aptos"/>
              </a:rPr>
              <a:t>Nhóm không hỏi "mô hình đạt bao nhiêu điểm" — nhóm hỏi "bao nhiêu phần trăm con số đó là thật".</a:t>
            </a:r>
          </a:p>
        </p:txBody>
      </p:sp>
      <p:sp>
        <p:nvSpPr>
          <p:cNvPr id="24" name="Rounded Rectangle 23"/>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a:t>
            </a:r>
          </a:p>
        </p:txBody>
      </p:sp>
      <p:sp>
        <p:nvSpPr>
          <p:cNvPr id="25" name="Rounded Rectangle 24"/>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Data Collection</a:t>
            </a:r>
          </a:p>
        </p:txBody>
      </p:sp>
      <p:sp>
        <p:nvSpPr>
          <p:cNvPr id="26" name="Rounded Rectangle 25"/>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Cleaning</a:t>
            </a:r>
          </a:p>
        </p:txBody>
      </p:sp>
      <p:sp>
        <p:nvSpPr>
          <p:cNvPr id="27" name="Rounded Rectangle 26"/>
          <p:cNvSpPr/>
          <p:nvPr/>
        </p:nvSpPr>
        <p:spPr>
          <a:xfrm>
            <a:off x="7306056" y="6510528"/>
            <a:ext cx="42062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EDA</a:t>
            </a:r>
          </a:p>
        </p:txBody>
      </p:sp>
      <p:sp>
        <p:nvSpPr>
          <p:cNvPr id="28" name="Rounded Rectangle 27"/>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Features</a:t>
            </a:r>
          </a:p>
        </p:txBody>
      </p:sp>
      <p:sp>
        <p:nvSpPr>
          <p:cNvPr id="29" name="Rounded Rectangle 28"/>
          <p:cNvSpPr/>
          <p:nvPr/>
        </p:nvSpPr>
        <p:spPr>
          <a:xfrm>
            <a:off x="8494776" y="6510528"/>
            <a:ext cx="69494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Modeling</a:t>
            </a:r>
          </a:p>
        </p:txBody>
      </p:sp>
      <p:sp>
        <p:nvSpPr>
          <p:cNvPr id="30" name="Rounded Rectangle 29"/>
          <p:cNvSpPr/>
          <p:nvPr/>
        </p:nvSpPr>
        <p:spPr>
          <a:xfrm>
            <a:off x="9235440" y="6510528"/>
            <a:ext cx="768096"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Evaluation</a:t>
            </a:r>
          </a:p>
        </p:txBody>
      </p:sp>
      <p:sp>
        <p:nvSpPr>
          <p:cNvPr id="31" name="Rounded Rectangle 30"/>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 Value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292608"/>
            <a:ext cx="10972800" cy="535531"/>
          </a:xfrm>
          <a:prstGeom prst="rect">
            <a:avLst/>
          </a:prstGeom>
          <a:noFill/>
        </p:spPr>
        <p:txBody>
          <a:bodyPr wrap="square" lIns="36576" tIns="36576" rIns="36576" bIns="36576" anchor="t">
            <a:spAutoFit/>
          </a:bodyPr>
          <a:lstStyle/>
          <a:p>
            <a:pPr algn="l"/>
            <a:r>
              <a:rPr sz="3000" b="1" dirty="0">
                <a:solidFill>
                  <a:srgbClr val="162C46"/>
                </a:solidFill>
                <a:latin typeface="Aptos Display"/>
              </a:rPr>
              <a:t>INSIGHTS — VÌ SAO CHỈ NHÌN SLA LÀ CHƯA ĐỦ?</a:t>
            </a:r>
          </a:p>
        </p:txBody>
      </p:sp>
      <p:cxnSp>
        <p:nvCxnSpPr>
          <p:cNvPr id="3" name="Connector 2"/>
          <p:cNvCxnSpPr/>
          <p:nvPr/>
        </p:nvCxnSpPr>
        <p:spPr>
          <a:xfrm>
            <a:off x="566928" y="85039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1078992"/>
            <a:ext cx="3657600" cy="320088"/>
          </a:xfrm>
          <a:prstGeom prst="rect">
            <a:avLst/>
          </a:prstGeom>
          <a:noFill/>
        </p:spPr>
        <p:txBody>
          <a:bodyPr wrap="square" lIns="36576" tIns="36576" rIns="36576" bIns="36576" anchor="t">
            <a:spAutoFit/>
          </a:bodyPr>
          <a:lstStyle/>
          <a:p>
            <a:pPr algn="l"/>
            <a:r>
              <a:rPr sz="1600" b="1">
                <a:solidFill>
                  <a:srgbClr val="2F639D"/>
                </a:solidFill>
                <a:latin typeface="Aptos"/>
              </a:rPr>
              <a:t>1. SLA BINARY LÀM MẤT THÔNG TIN</a:t>
            </a:r>
          </a:p>
        </p:txBody>
      </p:sp>
      <p:sp>
        <p:nvSpPr>
          <p:cNvPr id="6" name="Rounded Rectangle 5"/>
          <p:cNvSpPr/>
          <p:nvPr/>
        </p:nvSpPr>
        <p:spPr>
          <a:xfrm>
            <a:off x="658368" y="1417320"/>
            <a:ext cx="10835640" cy="1024128"/>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7" name="TextBox 6"/>
          <p:cNvSpPr txBox="1"/>
          <p:nvPr/>
        </p:nvSpPr>
        <p:spPr>
          <a:xfrm>
            <a:off x="896112" y="1618489"/>
            <a:ext cx="2926080" cy="320088"/>
          </a:xfrm>
          <a:prstGeom prst="rect">
            <a:avLst/>
          </a:prstGeom>
          <a:noFill/>
        </p:spPr>
        <p:txBody>
          <a:bodyPr wrap="square" lIns="36576" tIns="36576" rIns="36576" bIns="36576" anchor="t">
            <a:spAutoFit/>
          </a:bodyPr>
          <a:lstStyle/>
          <a:p>
            <a:pPr algn="ctr"/>
            <a:r>
              <a:rPr sz="1600" b="1" dirty="0">
                <a:solidFill>
                  <a:srgbClr val="387D67"/>
                </a:solidFill>
                <a:latin typeface="Aptos"/>
              </a:rPr>
              <a:t>1 </a:t>
            </a:r>
            <a:r>
              <a:rPr sz="1600" b="1" dirty="0" err="1">
                <a:solidFill>
                  <a:srgbClr val="387D67"/>
                </a:solidFill>
                <a:latin typeface="Aptos"/>
              </a:rPr>
              <a:t>ngày</a:t>
            </a:r>
            <a:r>
              <a:rPr sz="1600" b="1" dirty="0">
                <a:solidFill>
                  <a:srgbClr val="387D67"/>
                </a:solidFill>
                <a:latin typeface="Aptos"/>
              </a:rPr>
              <a:t> ───────── 4,9</a:t>
            </a:r>
          </a:p>
        </p:txBody>
      </p:sp>
      <p:sp>
        <p:nvSpPr>
          <p:cNvPr id="8" name="TextBox 7"/>
          <p:cNvSpPr txBox="1"/>
          <p:nvPr/>
        </p:nvSpPr>
        <p:spPr>
          <a:xfrm>
            <a:off x="3746310" y="1618489"/>
            <a:ext cx="1557210" cy="320088"/>
          </a:xfrm>
          <a:prstGeom prst="rect">
            <a:avLst/>
          </a:prstGeom>
          <a:noFill/>
        </p:spPr>
        <p:txBody>
          <a:bodyPr wrap="square" lIns="36576" tIns="36576" rIns="36576" bIns="36576" anchor="t">
            <a:spAutoFit/>
          </a:bodyPr>
          <a:lstStyle/>
          <a:p>
            <a:pPr algn="ctr"/>
            <a:r>
              <a:rPr sz="1600" b="1" dirty="0">
                <a:solidFill>
                  <a:srgbClr val="B14242"/>
                </a:solidFill>
                <a:latin typeface="Aptos"/>
              </a:rPr>
              <a:t>│ SLA = 5 </a:t>
            </a:r>
            <a:r>
              <a:rPr sz="1600" b="1" dirty="0" err="1">
                <a:solidFill>
                  <a:srgbClr val="B14242"/>
                </a:solidFill>
                <a:latin typeface="Aptos"/>
              </a:rPr>
              <a:t>ngày</a:t>
            </a:r>
            <a:r>
              <a:rPr sz="1600" b="1" dirty="0">
                <a:solidFill>
                  <a:srgbClr val="B14242"/>
                </a:solidFill>
                <a:latin typeface="Aptos"/>
              </a:rPr>
              <a:t> │</a:t>
            </a:r>
          </a:p>
        </p:txBody>
      </p:sp>
      <p:sp>
        <p:nvSpPr>
          <p:cNvPr id="9" name="TextBox 8"/>
          <p:cNvSpPr txBox="1"/>
          <p:nvPr/>
        </p:nvSpPr>
        <p:spPr>
          <a:xfrm>
            <a:off x="5449824" y="1618489"/>
            <a:ext cx="3108960" cy="320088"/>
          </a:xfrm>
          <a:prstGeom prst="rect">
            <a:avLst/>
          </a:prstGeom>
          <a:noFill/>
        </p:spPr>
        <p:txBody>
          <a:bodyPr wrap="square" lIns="36576" tIns="36576" rIns="36576" bIns="36576" anchor="t">
            <a:spAutoFit/>
          </a:bodyPr>
          <a:lstStyle/>
          <a:p>
            <a:pPr algn="ctr"/>
            <a:r>
              <a:rPr sz="1600" b="1" dirty="0">
                <a:solidFill>
                  <a:srgbClr val="BE7D2F"/>
                </a:solidFill>
                <a:latin typeface="Aptos"/>
              </a:rPr>
              <a:t>5,1 ───────────── 10 </a:t>
            </a:r>
            <a:r>
              <a:rPr sz="1600" b="1" dirty="0" err="1">
                <a:solidFill>
                  <a:srgbClr val="BE7D2F"/>
                </a:solidFill>
                <a:latin typeface="Aptos"/>
              </a:rPr>
              <a:t>ngày</a:t>
            </a:r>
            <a:endParaRPr sz="1600" b="1" dirty="0">
              <a:solidFill>
                <a:srgbClr val="BE7D2F"/>
              </a:solidFill>
              <a:latin typeface="Aptos"/>
            </a:endParaRPr>
          </a:p>
        </p:txBody>
      </p:sp>
      <p:sp>
        <p:nvSpPr>
          <p:cNvPr id="10" name="TextBox 9"/>
          <p:cNvSpPr txBox="1"/>
          <p:nvPr/>
        </p:nvSpPr>
        <p:spPr>
          <a:xfrm>
            <a:off x="896112" y="1956817"/>
            <a:ext cx="2926080" cy="320088"/>
          </a:xfrm>
          <a:prstGeom prst="rect">
            <a:avLst/>
          </a:prstGeom>
          <a:noFill/>
        </p:spPr>
        <p:txBody>
          <a:bodyPr wrap="square" lIns="36576" tIns="36576" rIns="36576" bIns="36576" anchor="t">
            <a:spAutoFit/>
          </a:bodyPr>
          <a:lstStyle/>
          <a:p>
            <a:pPr algn="ctr"/>
            <a:r>
              <a:rPr sz="1600" b="1">
                <a:solidFill>
                  <a:srgbClr val="387D67"/>
                </a:solidFill>
                <a:latin typeface="Aptos"/>
              </a:rPr>
              <a:t>WITHIN SLA</a:t>
            </a:r>
          </a:p>
        </p:txBody>
      </p:sp>
      <p:sp>
        <p:nvSpPr>
          <p:cNvPr id="11" name="TextBox 10"/>
          <p:cNvSpPr txBox="1"/>
          <p:nvPr/>
        </p:nvSpPr>
        <p:spPr>
          <a:xfrm>
            <a:off x="5449824" y="1956817"/>
            <a:ext cx="3108960" cy="320088"/>
          </a:xfrm>
          <a:prstGeom prst="rect">
            <a:avLst/>
          </a:prstGeom>
          <a:noFill/>
        </p:spPr>
        <p:txBody>
          <a:bodyPr wrap="square" lIns="36576" tIns="36576" rIns="36576" bIns="36576" anchor="t">
            <a:spAutoFit/>
          </a:bodyPr>
          <a:lstStyle/>
          <a:p>
            <a:pPr algn="ctr"/>
            <a:r>
              <a:rPr sz="1600" b="1">
                <a:solidFill>
                  <a:srgbClr val="BE7D2F"/>
                </a:solidFill>
                <a:latin typeface="Aptos"/>
              </a:rPr>
              <a:t>BREACH</a:t>
            </a:r>
          </a:p>
        </p:txBody>
      </p:sp>
      <p:sp>
        <p:nvSpPr>
          <p:cNvPr id="12" name="TextBox 11"/>
          <p:cNvSpPr txBox="1"/>
          <p:nvPr/>
        </p:nvSpPr>
        <p:spPr>
          <a:xfrm>
            <a:off x="8668512" y="1517905"/>
            <a:ext cx="2423160" cy="812530"/>
          </a:xfrm>
          <a:prstGeom prst="rect">
            <a:avLst/>
          </a:prstGeom>
          <a:noFill/>
        </p:spPr>
        <p:txBody>
          <a:bodyPr wrap="square" lIns="36576" tIns="36576" rIns="36576" bIns="36576" anchor="t">
            <a:spAutoFit/>
          </a:bodyPr>
          <a:lstStyle/>
          <a:p>
            <a:pPr algn="ctr"/>
            <a:r>
              <a:rPr sz="1600" b="1" dirty="0" err="1">
                <a:solidFill>
                  <a:srgbClr val="162C46"/>
                </a:solidFill>
                <a:latin typeface="Aptos"/>
              </a:rPr>
              <a:t>Ngưỡng</a:t>
            </a:r>
            <a:r>
              <a:rPr sz="1600" b="1" dirty="0">
                <a:solidFill>
                  <a:srgbClr val="162C46"/>
                </a:solidFill>
                <a:latin typeface="Aptos"/>
              </a:rPr>
              <a:t> </a:t>
            </a:r>
            <a:r>
              <a:rPr sz="1600" b="1" dirty="0" err="1">
                <a:solidFill>
                  <a:srgbClr val="162C46"/>
                </a:solidFill>
                <a:latin typeface="Aptos"/>
              </a:rPr>
              <a:t>nhị</a:t>
            </a:r>
            <a:r>
              <a:rPr sz="1600" b="1" dirty="0">
                <a:solidFill>
                  <a:srgbClr val="162C46"/>
                </a:solidFill>
                <a:latin typeface="Aptos"/>
              </a:rPr>
              <a:t> </a:t>
            </a:r>
            <a:r>
              <a:rPr sz="1600" b="1" dirty="0" err="1">
                <a:solidFill>
                  <a:srgbClr val="162C46"/>
                </a:solidFill>
                <a:latin typeface="Aptos"/>
              </a:rPr>
              <a:t>phân</a:t>
            </a:r>
            <a:r>
              <a:rPr sz="1600" b="1" dirty="0">
                <a:solidFill>
                  <a:srgbClr val="162C46"/>
                </a:solidFill>
                <a:latin typeface="Aptos"/>
              </a:rPr>
              <a:t> </a:t>
            </a:r>
            <a:r>
              <a:rPr sz="1600" b="1" dirty="0" err="1">
                <a:solidFill>
                  <a:srgbClr val="162C46"/>
                </a:solidFill>
                <a:latin typeface="Aptos"/>
              </a:rPr>
              <a:t>làm</a:t>
            </a:r>
            <a:r>
              <a:rPr sz="1600" b="1" dirty="0">
                <a:solidFill>
                  <a:srgbClr val="162C46"/>
                </a:solidFill>
                <a:latin typeface="Aptos"/>
              </a:rPr>
              <a:t> </a:t>
            </a:r>
            <a:r>
              <a:rPr sz="1600" b="1" dirty="0" err="1">
                <a:solidFill>
                  <a:srgbClr val="162C46"/>
                </a:solidFill>
                <a:latin typeface="Aptos"/>
              </a:rPr>
              <a:t>mất</a:t>
            </a:r>
            <a:r>
              <a:rPr sz="1600" b="1" dirty="0">
                <a:solidFill>
                  <a:srgbClr val="162C46"/>
                </a:solidFill>
                <a:latin typeface="Aptos"/>
              </a:rPr>
              <a:t> </a:t>
            </a:r>
            <a:r>
              <a:rPr sz="1600" b="1" dirty="0" err="1">
                <a:solidFill>
                  <a:srgbClr val="162C46"/>
                </a:solidFill>
                <a:latin typeface="Aptos"/>
              </a:rPr>
              <a:t>một</a:t>
            </a:r>
            <a:r>
              <a:rPr sz="1600" b="1" dirty="0">
                <a:solidFill>
                  <a:srgbClr val="162C46"/>
                </a:solidFill>
                <a:latin typeface="Aptos"/>
              </a:rPr>
              <a:t> </a:t>
            </a:r>
            <a:r>
              <a:rPr sz="1600" b="1" dirty="0" err="1">
                <a:solidFill>
                  <a:srgbClr val="162C46"/>
                </a:solidFill>
                <a:latin typeface="Aptos"/>
              </a:rPr>
              <a:t>phần</a:t>
            </a:r>
            <a:r>
              <a:rPr sz="1600" b="1" dirty="0">
                <a:solidFill>
                  <a:srgbClr val="162C46"/>
                </a:solidFill>
                <a:latin typeface="Aptos"/>
              </a:rPr>
              <a:t> </a:t>
            </a:r>
            <a:r>
              <a:rPr sz="1600" b="1" dirty="0" err="1">
                <a:solidFill>
                  <a:srgbClr val="162C46"/>
                </a:solidFill>
                <a:latin typeface="Aptos"/>
              </a:rPr>
              <a:t>thông</a:t>
            </a:r>
            <a:r>
              <a:rPr sz="1600" b="1" dirty="0">
                <a:solidFill>
                  <a:srgbClr val="162C46"/>
                </a:solidFill>
                <a:latin typeface="Aptos"/>
              </a:rPr>
              <a:t> tin </a:t>
            </a:r>
            <a:r>
              <a:rPr sz="1600" b="1" dirty="0" err="1">
                <a:solidFill>
                  <a:srgbClr val="162C46"/>
                </a:solidFill>
                <a:latin typeface="Aptos"/>
              </a:rPr>
              <a:t>của</a:t>
            </a:r>
            <a:r>
              <a:rPr sz="1600" b="1" dirty="0">
                <a:solidFill>
                  <a:srgbClr val="162C46"/>
                </a:solidFill>
                <a:latin typeface="Aptos"/>
              </a:rPr>
              <a:t> Lead Time </a:t>
            </a:r>
            <a:r>
              <a:rPr sz="1600" b="1" dirty="0" err="1">
                <a:solidFill>
                  <a:srgbClr val="162C46"/>
                </a:solidFill>
                <a:latin typeface="Aptos"/>
              </a:rPr>
              <a:t>liên</a:t>
            </a:r>
            <a:r>
              <a:rPr sz="1600" b="1" dirty="0">
                <a:solidFill>
                  <a:srgbClr val="162C46"/>
                </a:solidFill>
                <a:latin typeface="Aptos"/>
              </a:rPr>
              <a:t> </a:t>
            </a:r>
            <a:r>
              <a:rPr sz="1600" b="1" dirty="0" err="1">
                <a:solidFill>
                  <a:srgbClr val="162C46"/>
                </a:solidFill>
                <a:latin typeface="Aptos"/>
              </a:rPr>
              <a:t>tục</a:t>
            </a:r>
            <a:r>
              <a:rPr sz="1600" b="1" dirty="0">
                <a:solidFill>
                  <a:srgbClr val="162C46"/>
                </a:solidFill>
                <a:latin typeface="Aptos"/>
              </a:rPr>
              <a:t>.</a:t>
            </a:r>
          </a:p>
        </p:txBody>
      </p:sp>
      <p:sp>
        <p:nvSpPr>
          <p:cNvPr id="13" name="TextBox 12"/>
          <p:cNvSpPr txBox="1"/>
          <p:nvPr/>
        </p:nvSpPr>
        <p:spPr>
          <a:xfrm>
            <a:off x="658368" y="2527069"/>
            <a:ext cx="4617720" cy="320088"/>
          </a:xfrm>
          <a:prstGeom prst="rect">
            <a:avLst/>
          </a:prstGeom>
          <a:noFill/>
        </p:spPr>
        <p:txBody>
          <a:bodyPr wrap="square" lIns="36576" tIns="36576" rIns="36576" bIns="36576" anchor="t">
            <a:spAutoFit/>
          </a:bodyPr>
          <a:lstStyle/>
          <a:p>
            <a:pPr algn="l"/>
            <a:r>
              <a:rPr sz="1600" b="1" dirty="0">
                <a:solidFill>
                  <a:srgbClr val="2F639D"/>
                </a:solidFill>
                <a:latin typeface="Aptos"/>
              </a:rPr>
              <a:t>2. CUSTOMER SIGNAL BỔ SUNG THÔNG TIN</a:t>
            </a:r>
          </a:p>
        </p:txBody>
      </p:sp>
      <p:sp>
        <p:nvSpPr>
          <p:cNvPr id="14" name="Rounded Rectangle 13"/>
          <p:cNvSpPr/>
          <p:nvPr/>
        </p:nvSpPr>
        <p:spPr>
          <a:xfrm>
            <a:off x="658368" y="3090672"/>
            <a:ext cx="5212080" cy="2245603"/>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5" name="TextBox 14"/>
          <p:cNvSpPr txBox="1"/>
          <p:nvPr/>
        </p:nvSpPr>
        <p:spPr>
          <a:xfrm>
            <a:off x="932688" y="3171370"/>
            <a:ext cx="3154680" cy="320088"/>
          </a:xfrm>
          <a:prstGeom prst="rect">
            <a:avLst/>
          </a:prstGeom>
          <a:noFill/>
        </p:spPr>
        <p:txBody>
          <a:bodyPr wrap="square" lIns="36576" tIns="36576" rIns="36576" bIns="36576" anchor="t">
            <a:spAutoFit/>
          </a:bodyPr>
          <a:lstStyle/>
          <a:p>
            <a:pPr algn="l"/>
            <a:r>
              <a:rPr sz="1600" b="0" dirty="0">
                <a:solidFill>
                  <a:srgbClr val="162C46"/>
                </a:solidFill>
                <a:latin typeface="Aptos"/>
              </a:rPr>
              <a:t>SLA Breach</a:t>
            </a:r>
          </a:p>
        </p:txBody>
      </p:sp>
      <p:sp>
        <p:nvSpPr>
          <p:cNvPr id="16" name="TextBox 15"/>
          <p:cNvSpPr txBox="1"/>
          <p:nvPr/>
        </p:nvSpPr>
        <p:spPr>
          <a:xfrm>
            <a:off x="4379976" y="3171370"/>
            <a:ext cx="1097280" cy="320088"/>
          </a:xfrm>
          <a:prstGeom prst="rect">
            <a:avLst/>
          </a:prstGeom>
          <a:noFill/>
        </p:spPr>
        <p:txBody>
          <a:bodyPr wrap="square" lIns="36576" tIns="36576" rIns="36576" bIns="36576" anchor="t">
            <a:spAutoFit/>
          </a:bodyPr>
          <a:lstStyle/>
          <a:p>
            <a:pPr algn="r"/>
            <a:r>
              <a:rPr sz="1600" b="1">
                <a:solidFill>
                  <a:srgbClr val="2F639D"/>
                </a:solidFill>
                <a:latin typeface="Aptos"/>
              </a:rPr>
              <a:t>1,09×</a:t>
            </a:r>
          </a:p>
        </p:txBody>
      </p:sp>
      <p:sp>
        <p:nvSpPr>
          <p:cNvPr id="17" name="TextBox 16"/>
          <p:cNvSpPr txBox="1"/>
          <p:nvPr/>
        </p:nvSpPr>
        <p:spPr>
          <a:xfrm>
            <a:off x="932688" y="3564562"/>
            <a:ext cx="3154680" cy="320088"/>
          </a:xfrm>
          <a:prstGeom prst="rect">
            <a:avLst/>
          </a:prstGeom>
          <a:noFill/>
        </p:spPr>
        <p:txBody>
          <a:bodyPr wrap="square" lIns="36576" tIns="36576" rIns="36576" bIns="36576" anchor="t">
            <a:spAutoFit/>
          </a:bodyPr>
          <a:lstStyle/>
          <a:p>
            <a:pPr algn="l"/>
            <a:r>
              <a:rPr sz="1600" b="0">
                <a:solidFill>
                  <a:srgbClr val="162C46"/>
                </a:solidFill>
                <a:latin typeface="Aptos"/>
              </a:rPr>
              <a:t>Lead Time</a:t>
            </a:r>
          </a:p>
        </p:txBody>
      </p:sp>
      <p:sp>
        <p:nvSpPr>
          <p:cNvPr id="18" name="TextBox 17"/>
          <p:cNvSpPr txBox="1"/>
          <p:nvPr/>
        </p:nvSpPr>
        <p:spPr>
          <a:xfrm>
            <a:off x="4379976" y="3564562"/>
            <a:ext cx="1097280" cy="320088"/>
          </a:xfrm>
          <a:prstGeom prst="rect">
            <a:avLst/>
          </a:prstGeom>
          <a:noFill/>
        </p:spPr>
        <p:txBody>
          <a:bodyPr wrap="square" lIns="36576" tIns="36576" rIns="36576" bIns="36576" anchor="t">
            <a:spAutoFit/>
          </a:bodyPr>
          <a:lstStyle/>
          <a:p>
            <a:pPr algn="r"/>
            <a:r>
              <a:rPr sz="1600" b="1">
                <a:solidFill>
                  <a:srgbClr val="2F639D"/>
                </a:solidFill>
                <a:latin typeface="Aptos"/>
              </a:rPr>
              <a:t>1,51×</a:t>
            </a:r>
          </a:p>
        </p:txBody>
      </p:sp>
      <p:sp>
        <p:nvSpPr>
          <p:cNvPr id="19" name="TextBox 18"/>
          <p:cNvSpPr txBox="1"/>
          <p:nvPr/>
        </p:nvSpPr>
        <p:spPr>
          <a:xfrm>
            <a:off x="932688" y="3957753"/>
            <a:ext cx="3154680" cy="320088"/>
          </a:xfrm>
          <a:prstGeom prst="rect">
            <a:avLst/>
          </a:prstGeom>
          <a:noFill/>
        </p:spPr>
        <p:txBody>
          <a:bodyPr wrap="square" lIns="36576" tIns="36576" rIns="36576" bIns="36576" anchor="t">
            <a:spAutoFit/>
          </a:bodyPr>
          <a:lstStyle/>
          <a:p>
            <a:pPr algn="l"/>
            <a:r>
              <a:rPr sz="1600" b="0">
                <a:solidFill>
                  <a:srgbClr val="162C46"/>
                </a:solidFill>
                <a:latin typeface="Aptos"/>
              </a:rPr>
              <a:t>Customer Delivery Status</a:t>
            </a:r>
          </a:p>
        </p:txBody>
      </p:sp>
      <p:sp>
        <p:nvSpPr>
          <p:cNvPr id="20" name="TextBox 19"/>
          <p:cNvSpPr txBox="1"/>
          <p:nvPr/>
        </p:nvSpPr>
        <p:spPr>
          <a:xfrm>
            <a:off x="4379976" y="3957753"/>
            <a:ext cx="1097280" cy="320088"/>
          </a:xfrm>
          <a:prstGeom prst="rect">
            <a:avLst/>
          </a:prstGeom>
          <a:noFill/>
        </p:spPr>
        <p:txBody>
          <a:bodyPr wrap="square" lIns="36576" tIns="36576" rIns="36576" bIns="36576" anchor="t">
            <a:spAutoFit/>
          </a:bodyPr>
          <a:lstStyle/>
          <a:p>
            <a:pPr algn="r"/>
            <a:r>
              <a:rPr sz="1600" b="1">
                <a:solidFill>
                  <a:srgbClr val="2F639D"/>
                </a:solidFill>
                <a:latin typeface="Aptos"/>
              </a:rPr>
              <a:t>1,51×</a:t>
            </a:r>
          </a:p>
        </p:txBody>
      </p:sp>
      <p:sp>
        <p:nvSpPr>
          <p:cNvPr id="21" name="TextBox 20"/>
          <p:cNvSpPr txBox="1"/>
          <p:nvPr/>
        </p:nvSpPr>
        <p:spPr>
          <a:xfrm>
            <a:off x="932688" y="4350945"/>
            <a:ext cx="3154680" cy="320088"/>
          </a:xfrm>
          <a:prstGeom prst="rect">
            <a:avLst/>
          </a:prstGeom>
          <a:noFill/>
        </p:spPr>
        <p:txBody>
          <a:bodyPr wrap="square" lIns="36576" tIns="36576" rIns="36576" bIns="36576" anchor="t">
            <a:spAutoFit/>
          </a:bodyPr>
          <a:lstStyle/>
          <a:p>
            <a:pPr algn="l"/>
            <a:r>
              <a:rPr sz="1600" b="1">
                <a:solidFill>
                  <a:srgbClr val="162C46"/>
                </a:solidFill>
                <a:latin typeface="Aptos"/>
              </a:rPr>
              <a:t>Lead Time + Customer Status</a:t>
            </a:r>
          </a:p>
        </p:txBody>
      </p:sp>
      <p:sp>
        <p:nvSpPr>
          <p:cNvPr id="22" name="TextBox 21"/>
          <p:cNvSpPr txBox="1"/>
          <p:nvPr/>
        </p:nvSpPr>
        <p:spPr>
          <a:xfrm>
            <a:off x="4379976" y="4350945"/>
            <a:ext cx="1097280" cy="320088"/>
          </a:xfrm>
          <a:prstGeom prst="rect">
            <a:avLst/>
          </a:prstGeom>
          <a:noFill/>
        </p:spPr>
        <p:txBody>
          <a:bodyPr wrap="square" lIns="36576" tIns="36576" rIns="36576" bIns="36576" anchor="t">
            <a:spAutoFit/>
          </a:bodyPr>
          <a:lstStyle/>
          <a:p>
            <a:pPr algn="r"/>
            <a:r>
              <a:rPr sz="1600" b="1">
                <a:solidFill>
                  <a:srgbClr val="2F639D"/>
                </a:solidFill>
                <a:latin typeface="Aptos"/>
              </a:rPr>
              <a:t>2,52×</a:t>
            </a:r>
          </a:p>
        </p:txBody>
      </p:sp>
      <p:sp>
        <p:nvSpPr>
          <p:cNvPr id="23" name="TextBox 22"/>
          <p:cNvSpPr txBox="1"/>
          <p:nvPr/>
        </p:nvSpPr>
        <p:spPr>
          <a:xfrm>
            <a:off x="932688" y="4670986"/>
            <a:ext cx="4617720" cy="566309"/>
          </a:xfrm>
          <a:prstGeom prst="rect">
            <a:avLst/>
          </a:prstGeom>
          <a:noFill/>
        </p:spPr>
        <p:txBody>
          <a:bodyPr wrap="square" lIns="36576" tIns="36576" rIns="36576" bIns="36576" anchor="t">
            <a:spAutoFit/>
          </a:bodyPr>
          <a:lstStyle/>
          <a:p>
            <a:pPr algn="l"/>
            <a:r>
              <a:rPr sz="1600" b="0" dirty="0">
                <a:solidFill>
                  <a:srgbClr val="5E6A78"/>
                </a:solidFill>
                <a:latin typeface="Aptos"/>
              </a:rPr>
              <a:t>ΔPR-AUC (Lead Time + Status vs Lead Time): +0,0195 · 95% CI [+0,0109; +0,0342]</a:t>
            </a:r>
          </a:p>
        </p:txBody>
      </p:sp>
      <p:sp>
        <p:nvSpPr>
          <p:cNvPr id="24" name="TextBox 23"/>
          <p:cNvSpPr txBox="1"/>
          <p:nvPr/>
        </p:nvSpPr>
        <p:spPr>
          <a:xfrm>
            <a:off x="6172200" y="2527069"/>
            <a:ext cx="4023360" cy="320088"/>
          </a:xfrm>
          <a:prstGeom prst="rect">
            <a:avLst/>
          </a:prstGeom>
          <a:noFill/>
        </p:spPr>
        <p:txBody>
          <a:bodyPr wrap="square" lIns="36576" tIns="36576" rIns="36576" bIns="36576" anchor="t">
            <a:spAutoFit/>
          </a:bodyPr>
          <a:lstStyle/>
          <a:p>
            <a:pPr algn="l"/>
            <a:r>
              <a:rPr sz="1600" b="1" dirty="0">
                <a:solidFill>
                  <a:srgbClr val="2F639D"/>
                </a:solidFill>
                <a:latin typeface="Aptos"/>
              </a:rPr>
              <a:t>3. LOW RATING KHÔNG CHỈ LÀ DELIVERY</a:t>
            </a:r>
          </a:p>
        </p:txBody>
      </p:sp>
      <p:sp>
        <p:nvSpPr>
          <p:cNvPr id="25" name="Rounded Rectangle 24"/>
          <p:cNvSpPr/>
          <p:nvPr/>
        </p:nvSpPr>
        <p:spPr>
          <a:xfrm>
            <a:off x="6172200" y="3090672"/>
            <a:ext cx="5321808" cy="2245603"/>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6" name="TextBox 25"/>
          <p:cNvSpPr txBox="1"/>
          <p:nvPr/>
        </p:nvSpPr>
        <p:spPr>
          <a:xfrm>
            <a:off x="6419088" y="3225338"/>
            <a:ext cx="4800600" cy="320088"/>
          </a:xfrm>
          <a:prstGeom prst="rect">
            <a:avLst/>
          </a:prstGeom>
          <a:noFill/>
        </p:spPr>
        <p:txBody>
          <a:bodyPr wrap="square" lIns="36576" tIns="36576" rIns="36576" bIns="36576" anchor="t">
            <a:spAutoFit/>
          </a:bodyPr>
          <a:lstStyle/>
          <a:p>
            <a:pPr algn="l"/>
            <a:r>
              <a:rPr sz="1600" b="1">
                <a:solidFill>
                  <a:srgbClr val="162C46"/>
                </a:solidFill>
                <a:latin typeface="Aptos"/>
              </a:rPr>
              <a:t>Mức giảm PR-AUC khi loại nhóm Feature</a:t>
            </a:r>
          </a:p>
        </p:txBody>
      </p:sp>
      <p:sp>
        <p:nvSpPr>
          <p:cNvPr id="27" name="TextBox 26"/>
          <p:cNvSpPr txBox="1"/>
          <p:nvPr/>
        </p:nvSpPr>
        <p:spPr>
          <a:xfrm>
            <a:off x="6419088" y="3640975"/>
            <a:ext cx="1783080" cy="320088"/>
          </a:xfrm>
          <a:prstGeom prst="rect">
            <a:avLst/>
          </a:prstGeom>
          <a:noFill/>
        </p:spPr>
        <p:txBody>
          <a:bodyPr wrap="square" lIns="36576" tIns="36576" rIns="36576" bIns="36576" anchor="t">
            <a:spAutoFit/>
          </a:bodyPr>
          <a:lstStyle/>
          <a:p>
            <a:pPr algn="l"/>
            <a:r>
              <a:rPr sz="1400" b="0" dirty="0">
                <a:solidFill>
                  <a:srgbClr val="242B33"/>
                </a:solidFill>
                <a:latin typeface="Aptos"/>
              </a:rPr>
              <a:t>Product History</a:t>
            </a:r>
          </a:p>
        </p:txBody>
      </p:sp>
      <p:sp>
        <p:nvSpPr>
          <p:cNvPr id="28" name="Rectangle 27"/>
          <p:cNvSpPr/>
          <p:nvPr/>
        </p:nvSpPr>
        <p:spPr>
          <a:xfrm>
            <a:off x="8156448" y="3674225"/>
            <a:ext cx="2331720" cy="146304"/>
          </a:xfrm>
          <a:prstGeom prst="rect">
            <a:avLst/>
          </a:prstGeom>
          <a:solidFill>
            <a:srgbClr val="4C80B5"/>
          </a:solidFill>
          <a:ln w="12700">
            <a:solidFill>
              <a:srgbClr val="4C80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9" name="TextBox 28"/>
          <p:cNvSpPr txBox="1"/>
          <p:nvPr/>
        </p:nvSpPr>
        <p:spPr>
          <a:xfrm>
            <a:off x="10588752" y="3640975"/>
            <a:ext cx="905256" cy="320088"/>
          </a:xfrm>
          <a:prstGeom prst="rect">
            <a:avLst/>
          </a:prstGeom>
          <a:noFill/>
        </p:spPr>
        <p:txBody>
          <a:bodyPr wrap="square" lIns="36576" tIns="36576" rIns="36576" bIns="36576" anchor="t">
            <a:spAutoFit/>
          </a:bodyPr>
          <a:lstStyle/>
          <a:p>
            <a:pPr algn="r"/>
            <a:r>
              <a:rPr sz="1600" b="1" dirty="0">
                <a:solidFill>
                  <a:srgbClr val="162C46"/>
                </a:solidFill>
                <a:latin typeface="Aptos"/>
              </a:rPr>
              <a:t>−0,0103</a:t>
            </a:r>
          </a:p>
        </p:txBody>
      </p:sp>
      <p:sp>
        <p:nvSpPr>
          <p:cNvPr id="30" name="TextBox 29"/>
          <p:cNvSpPr txBox="1"/>
          <p:nvPr/>
        </p:nvSpPr>
        <p:spPr>
          <a:xfrm>
            <a:off x="6419088" y="4023360"/>
            <a:ext cx="1783080" cy="324196"/>
          </a:xfrm>
          <a:prstGeom prst="rect">
            <a:avLst/>
          </a:prstGeom>
          <a:noFill/>
        </p:spPr>
        <p:txBody>
          <a:bodyPr wrap="square" lIns="36576" tIns="36576" rIns="36576" bIns="36576" anchor="t">
            <a:spAutoFit/>
          </a:bodyPr>
          <a:lstStyle/>
          <a:p>
            <a:pPr algn="l"/>
            <a:r>
              <a:rPr sz="1400" b="0" dirty="0">
                <a:solidFill>
                  <a:srgbClr val="242B33"/>
                </a:solidFill>
                <a:latin typeface="Aptos"/>
              </a:rPr>
              <a:t>Customer History</a:t>
            </a:r>
          </a:p>
        </p:txBody>
      </p:sp>
      <p:sp>
        <p:nvSpPr>
          <p:cNvPr id="31" name="Rectangle 30"/>
          <p:cNvSpPr/>
          <p:nvPr/>
        </p:nvSpPr>
        <p:spPr>
          <a:xfrm>
            <a:off x="8156448" y="4056611"/>
            <a:ext cx="1607302" cy="146304"/>
          </a:xfrm>
          <a:prstGeom prst="rect">
            <a:avLst/>
          </a:prstGeom>
          <a:solidFill>
            <a:srgbClr val="4C80B5"/>
          </a:solidFill>
          <a:ln w="12700">
            <a:solidFill>
              <a:srgbClr val="4C80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2" name="TextBox 31"/>
          <p:cNvSpPr txBox="1"/>
          <p:nvPr/>
        </p:nvSpPr>
        <p:spPr>
          <a:xfrm>
            <a:off x="10588752" y="4023360"/>
            <a:ext cx="905256" cy="320088"/>
          </a:xfrm>
          <a:prstGeom prst="rect">
            <a:avLst/>
          </a:prstGeom>
          <a:noFill/>
        </p:spPr>
        <p:txBody>
          <a:bodyPr wrap="square" lIns="36576" tIns="36576" rIns="36576" bIns="36576" anchor="t">
            <a:spAutoFit/>
          </a:bodyPr>
          <a:lstStyle/>
          <a:p>
            <a:pPr algn="r"/>
            <a:r>
              <a:rPr sz="1600" b="1" dirty="0">
                <a:solidFill>
                  <a:srgbClr val="162C46"/>
                </a:solidFill>
                <a:latin typeface="Aptos"/>
              </a:rPr>
              <a:t>−0,0071</a:t>
            </a:r>
          </a:p>
        </p:txBody>
      </p:sp>
      <p:sp>
        <p:nvSpPr>
          <p:cNvPr id="33" name="TextBox 32"/>
          <p:cNvSpPr txBox="1"/>
          <p:nvPr/>
        </p:nvSpPr>
        <p:spPr>
          <a:xfrm>
            <a:off x="6419088" y="4788131"/>
            <a:ext cx="1783080" cy="320088"/>
          </a:xfrm>
          <a:prstGeom prst="rect">
            <a:avLst/>
          </a:prstGeom>
          <a:noFill/>
        </p:spPr>
        <p:txBody>
          <a:bodyPr wrap="square" lIns="36576" tIns="36576" rIns="36576" bIns="36576" anchor="t">
            <a:spAutoFit/>
          </a:bodyPr>
          <a:lstStyle/>
          <a:p>
            <a:pPr algn="l"/>
            <a:r>
              <a:rPr sz="1400" b="0">
                <a:solidFill>
                  <a:srgbClr val="242B33"/>
                </a:solidFill>
                <a:latin typeface="Aptos"/>
              </a:rPr>
              <a:t>Delivery Features</a:t>
            </a:r>
          </a:p>
        </p:txBody>
      </p:sp>
      <p:sp>
        <p:nvSpPr>
          <p:cNvPr id="34" name="Rectangle 33"/>
          <p:cNvSpPr/>
          <p:nvPr/>
        </p:nvSpPr>
        <p:spPr>
          <a:xfrm>
            <a:off x="8156448" y="4821382"/>
            <a:ext cx="294294" cy="146304"/>
          </a:xfrm>
          <a:prstGeom prst="rect">
            <a:avLst/>
          </a:prstGeom>
          <a:solidFill>
            <a:srgbClr val="4C80B5"/>
          </a:solidFill>
          <a:ln w="12700">
            <a:solidFill>
              <a:srgbClr val="4C80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5" name="TextBox 34"/>
          <p:cNvSpPr txBox="1"/>
          <p:nvPr/>
        </p:nvSpPr>
        <p:spPr>
          <a:xfrm>
            <a:off x="10588752" y="4788131"/>
            <a:ext cx="905256" cy="320088"/>
          </a:xfrm>
          <a:prstGeom prst="rect">
            <a:avLst/>
          </a:prstGeom>
          <a:noFill/>
        </p:spPr>
        <p:txBody>
          <a:bodyPr wrap="square" lIns="36576" tIns="36576" rIns="36576" bIns="36576" anchor="t">
            <a:spAutoFit/>
          </a:bodyPr>
          <a:lstStyle/>
          <a:p>
            <a:pPr algn="r"/>
            <a:r>
              <a:rPr sz="1600" b="1" dirty="0">
                <a:solidFill>
                  <a:srgbClr val="162C46"/>
                </a:solidFill>
                <a:latin typeface="Aptos"/>
              </a:rPr>
              <a:t>−0,0013</a:t>
            </a:r>
          </a:p>
        </p:txBody>
      </p:sp>
      <p:sp>
        <p:nvSpPr>
          <p:cNvPr id="36" name="Rounded Rectangle 35"/>
          <p:cNvSpPr/>
          <p:nvPr/>
        </p:nvSpPr>
        <p:spPr>
          <a:xfrm>
            <a:off x="658368" y="5594799"/>
            <a:ext cx="10835640" cy="658368"/>
          </a:xfrm>
          <a:prstGeom prst="roundRect">
            <a:avLst/>
          </a:prstGeom>
          <a:solidFill>
            <a:srgbClr val="162C46"/>
          </a:solidFill>
          <a:ln w="12700">
            <a:solidFill>
              <a:srgbClr val="162C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7" name="TextBox 36"/>
          <p:cNvSpPr txBox="1"/>
          <p:nvPr/>
        </p:nvSpPr>
        <p:spPr>
          <a:xfrm>
            <a:off x="932688" y="5777679"/>
            <a:ext cx="10287000" cy="320088"/>
          </a:xfrm>
          <a:prstGeom prst="rect">
            <a:avLst/>
          </a:prstGeom>
          <a:noFill/>
        </p:spPr>
        <p:txBody>
          <a:bodyPr wrap="square" lIns="36576" tIns="36576" rIns="36576" bIns="36576" anchor="t">
            <a:spAutoFit/>
          </a:bodyPr>
          <a:lstStyle/>
          <a:p>
            <a:pPr algn="ctr"/>
            <a:r>
              <a:rPr sz="1600" b="1">
                <a:solidFill>
                  <a:srgbClr val="FFFFFF"/>
                </a:solidFill>
                <a:latin typeface="Aptos"/>
              </a:rPr>
              <a:t>SLA là một tín hiệu hữu ích, nhưng không đủ để mô tả toàn bộ trải nghiệm giao hàng và nguy cơ Low Rating.</a:t>
            </a:r>
          </a:p>
        </p:txBody>
      </p:sp>
      <p:sp>
        <p:nvSpPr>
          <p:cNvPr id="38" name="TextBox 37"/>
          <p:cNvSpPr txBox="1"/>
          <p:nvPr/>
        </p:nvSpPr>
        <p:spPr>
          <a:xfrm>
            <a:off x="594360" y="6565392"/>
            <a:ext cx="4023360" cy="164592"/>
          </a:xfrm>
          <a:prstGeom prst="rect">
            <a:avLst/>
          </a:prstGeom>
          <a:noFill/>
        </p:spPr>
        <p:txBody>
          <a:bodyPr wrap="square" lIns="36576" tIns="36576" rIns="36576" bIns="36576" anchor="t">
            <a:spAutoFit/>
          </a:bodyPr>
          <a:lstStyle/>
          <a:p>
            <a:pPr algn="l"/>
            <a:r>
              <a:rPr sz="850" b="0">
                <a:solidFill>
                  <a:srgbClr val="5E6A78"/>
                </a:solidFill>
                <a:latin typeface="Aptos"/>
              </a:rPr>
              <a:t>Cơ sở Khoa học Dữ liệu  •  SLA &amp; Customer Experience</a:t>
            </a:r>
          </a:p>
        </p:txBody>
      </p:sp>
      <p:sp>
        <p:nvSpPr>
          <p:cNvPr id="39" name="TextBox 38"/>
          <p:cNvSpPr txBox="1"/>
          <p:nvPr/>
        </p:nvSpPr>
        <p:spPr>
          <a:xfrm>
            <a:off x="11201400" y="6567055"/>
            <a:ext cx="365760" cy="166255"/>
          </a:xfrm>
          <a:prstGeom prst="rect">
            <a:avLst/>
          </a:prstGeom>
          <a:noFill/>
        </p:spPr>
        <p:txBody>
          <a:bodyPr wrap="square" lIns="36576" tIns="36576" rIns="36576" bIns="36576" anchor="t">
            <a:spAutoFit/>
          </a:bodyPr>
          <a:lstStyle/>
          <a:p>
            <a:pPr algn="r"/>
            <a:r>
              <a:rPr sz="850" b="0">
                <a:solidFill>
                  <a:srgbClr val="5E6A78"/>
                </a:solidFill>
                <a:latin typeface="Aptos"/>
              </a:rPr>
              <a:t>29</a:t>
            </a:r>
          </a:p>
        </p:txBody>
      </p:sp>
      <p:sp>
        <p:nvSpPr>
          <p:cNvPr id="40" name="Rounded Rectangle 39"/>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a:t>
            </a:r>
          </a:p>
        </p:txBody>
      </p:sp>
      <p:sp>
        <p:nvSpPr>
          <p:cNvPr id="41" name="Rounded Rectangle 40"/>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Data Collection</a:t>
            </a:r>
          </a:p>
        </p:txBody>
      </p:sp>
      <p:sp>
        <p:nvSpPr>
          <p:cNvPr id="42" name="Rounded Rectangle 41"/>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Cleaning</a:t>
            </a:r>
          </a:p>
        </p:txBody>
      </p:sp>
      <p:sp>
        <p:nvSpPr>
          <p:cNvPr id="43" name="Rounded Rectangle 42"/>
          <p:cNvSpPr/>
          <p:nvPr/>
        </p:nvSpPr>
        <p:spPr>
          <a:xfrm>
            <a:off x="7306056" y="6510528"/>
            <a:ext cx="42062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EDA</a:t>
            </a:r>
          </a:p>
        </p:txBody>
      </p:sp>
      <p:sp>
        <p:nvSpPr>
          <p:cNvPr id="44" name="Rounded Rectangle 43"/>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Features</a:t>
            </a:r>
          </a:p>
        </p:txBody>
      </p:sp>
      <p:sp>
        <p:nvSpPr>
          <p:cNvPr id="45" name="Rounded Rectangle 44"/>
          <p:cNvSpPr/>
          <p:nvPr/>
        </p:nvSpPr>
        <p:spPr>
          <a:xfrm>
            <a:off x="8494776" y="6510528"/>
            <a:ext cx="69494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Modeling</a:t>
            </a:r>
          </a:p>
        </p:txBody>
      </p:sp>
      <p:sp>
        <p:nvSpPr>
          <p:cNvPr id="46" name="Rounded Rectangle 45"/>
          <p:cNvSpPr/>
          <p:nvPr/>
        </p:nvSpPr>
        <p:spPr>
          <a:xfrm>
            <a:off x="9235440" y="6510528"/>
            <a:ext cx="768096"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Evaluation</a:t>
            </a:r>
          </a:p>
        </p:txBody>
      </p:sp>
      <p:sp>
        <p:nvSpPr>
          <p:cNvPr id="47" name="Rounded Rectangle 46"/>
          <p:cNvSpPr/>
          <p:nvPr/>
        </p:nvSpPr>
        <p:spPr>
          <a:xfrm>
            <a:off x="10049256" y="6510528"/>
            <a:ext cx="96926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 Value</a:t>
            </a:r>
          </a:p>
        </p:txBody>
      </p:sp>
      <p:sp>
        <p:nvSpPr>
          <p:cNvPr id="48" name="Caption TextBox 12"/>
          <p:cNvSpPr txBox="1"/>
          <p:nvPr/>
        </p:nvSpPr>
        <p:spPr>
          <a:xfrm>
            <a:off x="906087" y="2801389"/>
            <a:ext cx="4879571" cy="232756"/>
          </a:xfrm>
          <a:prstGeom prst="rect">
            <a:avLst/>
          </a:prstGeom>
          <a:noFill/>
        </p:spPr>
        <p:txBody>
          <a:bodyPr wrap="square" lIns="36576" tIns="36576" rIns="36576" bIns="36576" anchor="t">
            <a:spAutoFit/>
          </a:bodyPr>
          <a:lstStyle/>
          <a:p>
            <a:pPr algn="l"/>
            <a:r>
              <a:rPr sz="1100" b="0" dirty="0">
                <a:solidFill>
                  <a:srgbClr val="5E6A78"/>
                </a:solidFill>
                <a:latin typeface="Aptos"/>
              </a:rPr>
              <a:t>Lift PR-AUC trên 11.287 review test 2024+ có nhãn khách</a:t>
            </a:r>
          </a:p>
        </p:txBody>
      </p:sp>
      <p:sp>
        <p:nvSpPr>
          <p:cNvPr id="49" name="Caption TextBox 23"/>
          <p:cNvSpPr txBox="1"/>
          <p:nvPr/>
        </p:nvSpPr>
        <p:spPr>
          <a:xfrm>
            <a:off x="6417425" y="2801389"/>
            <a:ext cx="4987636" cy="232756"/>
          </a:xfrm>
          <a:prstGeom prst="rect">
            <a:avLst/>
          </a:prstGeom>
          <a:noFill/>
        </p:spPr>
        <p:txBody>
          <a:bodyPr wrap="square" lIns="36576" tIns="36576" rIns="36576" bIns="36576" anchor="t">
            <a:spAutoFit/>
          </a:bodyPr>
          <a:lstStyle/>
          <a:p>
            <a:pPr algn="l"/>
            <a:r>
              <a:rPr sz="1100" b="0" dirty="0">
                <a:solidFill>
                  <a:srgbClr val="5E6A78"/>
                </a:solidFill>
                <a:latin typeface="Aptos"/>
              </a:rPr>
              <a:t>Toàn bộ test 41.182 review · ensemble M6 train lại khi bỏ từng nhóm</a:t>
            </a:r>
          </a:p>
        </p:txBody>
      </p:sp>
      <p:sp>
        <p:nvSpPr>
          <p:cNvPr id="50" name="TextBox 32 sp"/>
          <p:cNvSpPr txBox="1"/>
          <p:nvPr/>
        </p:nvSpPr>
        <p:spPr>
          <a:xfrm>
            <a:off x="6419088" y="4405745"/>
            <a:ext cx="1783080" cy="320088"/>
          </a:xfrm>
          <a:prstGeom prst="rect">
            <a:avLst/>
          </a:prstGeom>
          <a:noFill/>
        </p:spPr>
        <p:txBody>
          <a:bodyPr wrap="square" lIns="36576" tIns="36576" rIns="36576" bIns="36576" anchor="t">
            <a:spAutoFit/>
          </a:bodyPr>
          <a:lstStyle/>
          <a:p>
            <a:pPr algn="l"/>
            <a:r>
              <a:rPr sz="1400" b="0">
                <a:solidFill>
                  <a:srgbClr val="242B33"/>
                </a:solidFill>
                <a:latin typeface="Aptos"/>
              </a:rPr>
              <a:t>Product Features</a:t>
            </a:r>
          </a:p>
        </p:txBody>
      </p:sp>
      <p:sp>
        <p:nvSpPr>
          <p:cNvPr id="51" name="Rectangle 33 sp"/>
          <p:cNvSpPr/>
          <p:nvPr/>
        </p:nvSpPr>
        <p:spPr>
          <a:xfrm>
            <a:off x="8156448" y="4438996"/>
            <a:ext cx="357447" cy="146304"/>
          </a:xfrm>
          <a:prstGeom prst="rect">
            <a:avLst/>
          </a:prstGeom>
          <a:solidFill>
            <a:srgbClr val="4C80B5"/>
          </a:solidFill>
          <a:ln w="12700">
            <a:solidFill>
              <a:srgbClr val="4C80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52" name="TextBox 34 sp"/>
          <p:cNvSpPr txBox="1"/>
          <p:nvPr/>
        </p:nvSpPr>
        <p:spPr>
          <a:xfrm>
            <a:off x="10588752" y="4405745"/>
            <a:ext cx="905256" cy="320088"/>
          </a:xfrm>
          <a:prstGeom prst="rect">
            <a:avLst/>
          </a:prstGeom>
          <a:noFill/>
        </p:spPr>
        <p:txBody>
          <a:bodyPr wrap="square" lIns="36576" tIns="36576" rIns="36576" bIns="36576" anchor="t">
            <a:spAutoFit/>
          </a:bodyPr>
          <a:lstStyle/>
          <a:p>
            <a:pPr algn="r"/>
            <a:r>
              <a:rPr sz="1600" b="1" dirty="0">
                <a:solidFill>
                  <a:srgbClr val="162C46"/>
                </a:solidFill>
                <a:latin typeface="Aptos"/>
              </a:rPr>
              <a:t>−0,0016</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136661"/>
            <a:ext cx="10972800" cy="997196"/>
          </a:xfrm>
          <a:prstGeom prst="rect">
            <a:avLst/>
          </a:prstGeom>
          <a:noFill/>
        </p:spPr>
        <p:txBody>
          <a:bodyPr wrap="square" lIns="36576" tIns="36576" rIns="36576" bIns="36576" anchor="t">
            <a:spAutoFit/>
          </a:bodyPr>
          <a:lstStyle/>
          <a:p>
            <a:pPr algn="l"/>
            <a:r>
              <a:rPr sz="3000" b="1" dirty="0">
                <a:solidFill>
                  <a:srgbClr val="162C46"/>
                </a:solidFill>
                <a:latin typeface="Aptos Display"/>
              </a:rPr>
              <a:t>BUSINESS VALUE — TỪ SLA ĐẾN GÓC NHÌN LẤY KHÁCH HÀNG LÀM TRUNG TÂM</a:t>
            </a:r>
          </a:p>
        </p:txBody>
      </p:sp>
      <p:cxnSp>
        <p:nvCxnSpPr>
          <p:cNvPr id="3" name="Connector 2"/>
          <p:cNvCxnSpPr/>
          <p:nvPr/>
        </p:nvCxnSpPr>
        <p:spPr>
          <a:xfrm>
            <a:off x="566928" y="1061932"/>
            <a:ext cx="11045952" cy="0"/>
          </a:xfrm>
          <a:prstGeom prst="line">
            <a:avLst/>
          </a:prstGeom>
          <a:ln w="25400">
            <a:solidFill>
              <a:srgbClr val="2F639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94360" y="1272471"/>
            <a:ext cx="2926080" cy="320088"/>
          </a:xfrm>
          <a:prstGeom prst="rect">
            <a:avLst/>
          </a:prstGeom>
          <a:noFill/>
        </p:spPr>
        <p:txBody>
          <a:bodyPr wrap="square" lIns="36576" tIns="36576" rIns="36576" bIns="36576" anchor="t">
            <a:spAutoFit/>
          </a:bodyPr>
          <a:lstStyle/>
          <a:p>
            <a:pPr algn="l"/>
            <a:r>
              <a:rPr sz="1600" b="1">
                <a:solidFill>
                  <a:srgbClr val="2F639D"/>
                </a:solidFill>
                <a:latin typeface="Aptos"/>
              </a:rPr>
              <a:t>1. KẾT LUẬN NGHIÊN CỨU</a:t>
            </a:r>
          </a:p>
        </p:txBody>
      </p:sp>
      <p:sp>
        <p:nvSpPr>
          <p:cNvPr id="6" name="TextBox 5"/>
          <p:cNvSpPr txBox="1"/>
          <p:nvPr/>
        </p:nvSpPr>
        <p:spPr>
          <a:xfrm>
            <a:off x="594360" y="1610799"/>
            <a:ext cx="5257800" cy="2276008"/>
          </a:xfrm>
          <a:prstGeom prst="rect">
            <a:avLst/>
          </a:prstGeom>
          <a:noFill/>
        </p:spPr>
        <p:txBody>
          <a:bodyPr wrap="square" lIns="36576" tIns="18288" rIns="18288" bIns="18288">
            <a:spAutoFit/>
          </a:bodyPr>
          <a:lstStyle/>
          <a:p>
            <a:pPr>
              <a:spcAft>
                <a:spcPts val="700"/>
              </a:spcAft>
              <a:defRPr sz="1250">
                <a:solidFill>
                  <a:srgbClr val="242B33"/>
                </a:solidFill>
                <a:latin typeface="Aptos"/>
              </a:defRPr>
            </a:pPr>
            <a:r>
              <a:rPr sz="1600" dirty="0"/>
              <a:t>• Median Lead Time 1,26 </a:t>
            </a:r>
            <a:r>
              <a:rPr sz="1600" dirty="0" err="1"/>
              <a:t>ngày</a:t>
            </a:r>
            <a:r>
              <a:rPr sz="1600" dirty="0"/>
              <a:t>, </a:t>
            </a:r>
            <a:r>
              <a:rPr sz="1600" dirty="0" err="1"/>
              <a:t>nhưng</a:t>
            </a:r>
            <a:r>
              <a:rPr sz="1600" dirty="0"/>
              <a:t> </a:t>
            </a:r>
            <a:r>
              <a:rPr sz="1600" dirty="0" err="1"/>
              <a:t>vẫn</a:t>
            </a:r>
            <a:r>
              <a:rPr sz="1600" dirty="0"/>
              <a:t> </a:t>
            </a:r>
            <a:r>
              <a:rPr sz="1600" dirty="0" err="1"/>
              <a:t>tồn</a:t>
            </a:r>
            <a:r>
              <a:rPr sz="1600" dirty="0"/>
              <a:t> </a:t>
            </a:r>
            <a:r>
              <a:rPr sz="1600" dirty="0" err="1"/>
              <a:t>tại</a:t>
            </a:r>
            <a:r>
              <a:rPr sz="1600" dirty="0"/>
              <a:t> </a:t>
            </a:r>
            <a:r>
              <a:rPr sz="1600" dirty="0" err="1"/>
              <a:t>nhóm</a:t>
            </a:r>
            <a:r>
              <a:rPr sz="1600" dirty="0"/>
              <a:t> </a:t>
            </a:r>
            <a:r>
              <a:rPr sz="1600" dirty="0" err="1"/>
              <a:t>giao</a:t>
            </a:r>
            <a:r>
              <a:rPr sz="1600" dirty="0"/>
              <a:t> </a:t>
            </a:r>
            <a:r>
              <a:rPr sz="1600" dirty="0" err="1"/>
              <a:t>rất</a:t>
            </a:r>
            <a:r>
              <a:rPr sz="1600" dirty="0"/>
              <a:t> </a:t>
            </a:r>
            <a:r>
              <a:rPr sz="1600" dirty="0" err="1"/>
              <a:t>chậm</a:t>
            </a:r>
            <a:r>
              <a:rPr sz="1600" dirty="0"/>
              <a:t>.</a:t>
            </a:r>
          </a:p>
          <a:p>
            <a:pPr>
              <a:spcAft>
                <a:spcPts val="700"/>
              </a:spcAft>
              <a:defRPr sz="1250">
                <a:solidFill>
                  <a:srgbClr val="242B33"/>
                </a:solidFill>
                <a:latin typeface="Aptos"/>
              </a:defRPr>
            </a:pPr>
            <a:r>
              <a:rPr sz="1600" dirty="0"/>
              <a:t>• SLA </a:t>
            </a:r>
            <a:r>
              <a:rPr sz="1600" dirty="0" err="1"/>
              <a:t>và</a:t>
            </a:r>
            <a:r>
              <a:rPr sz="1600" dirty="0"/>
              <a:t> </a:t>
            </a:r>
            <a:r>
              <a:rPr sz="1600" dirty="0" err="1"/>
              <a:t>cảm</a:t>
            </a:r>
            <a:r>
              <a:rPr sz="1600" dirty="0"/>
              <a:t> </a:t>
            </a:r>
            <a:r>
              <a:rPr sz="1600" dirty="0" err="1"/>
              <a:t>nhận</a:t>
            </a:r>
            <a:r>
              <a:rPr sz="1600" dirty="0"/>
              <a:t> </a:t>
            </a:r>
            <a:r>
              <a:rPr sz="1600" dirty="0" err="1"/>
              <a:t>khách</a:t>
            </a:r>
            <a:r>
              <a:rPr sz="1600" dirty="0"/>
              <a:t> </a:t>
            </a:r>
            <a:r>
              <a:rPr sz="1600" dirty="0" err="1"/>
              <a:t>hàng</a:t>
            </a:r>
            <a:r>
              <a:rPr sz="1600" dirty="0"/>
              <a:t> </a:t>
            </a:r>
            <a:r>
              <a:rPr sz="1600" dirty="0" err="1"/>
              <a:t>không</a:t>
            </a:r>
            <a:r>
              <a:rPr sz="1600" dirty="0"/>
              <a:t> </a:t>
            </a:r>
            <a:r>
              <a:rPr sz="1600" dirty="0" err="1"/>
              <a:t>phải</a:t>
            </a:r>
            <a:r>
              <a:rPr sz="1600" dirty="0"/>
              <a:t> </a:t>
            </a:r>
            <a:r>
              <a:rPr sz="1600" dirty="0" err="1"/>
              <a:t>lúc</a:t>
            </a:r>
            <a:r>
              <a:rPr sz="1600" dirty="0"/>
              <a:t> </a:t>
            </a:r>
            <a:r>
              <a:rPr sz="1600" dirty="0" err="1"/>
              <a:t>nào</a:t>
            </a:r>
            <a:r>
              <a:rPr sz="1600" dirty="0"/>
              <a:t> </a:t>
            </a:r>
            <a:r>
              <a:rPr sz="1600" dirty="0" err="1"/>
              <a:t>cũng</a:t>
            </a:r>
            <a:r>
              <a:rPr sz="1600" dirty="0"/>
              <a:t> </a:t>
            </a:r>
            <a:r>
              <a:rPr sz="1600" dirty="0" err="1"/>
              <a:t>đồng</a:t>
            </a:r>
            <a:r>
              <a:rPr sz="1600" dirty="0"/>
              <a:t> </a:t>
            </a:r>
            <a:r>
              <a:rPr sz="1600" dirty="0" err="1"/>
              <a:t>nhất</a:t>
            </a:r>
            <a:r>
              <a:rPr sz="1600" dirty="0"/>
              <a:t>.</a:t>
            </a:r>
          </a:p>
          <a:p>
            <a:pPr>
              <a:spcAft>
                <a:spcPts val="700"/>
              </a:spcAft>
              <a:defRPr sz="1250">
                <a:solidFill>
                  <a:srgbClr val="242B33"/>
                </a:solidFill>
                <a:latin typeface="Aptos"/>
              </a:defRPr>
            </a:pPr>
            <a:r>
              <a:rPr sz="1600" dirty="0"/>
              <a:t>• SLA Breach </a:t>
            </a:r>
            <a:r>
              <a:rPr sz="1600" dirty="0" err="1"/>
              <a:t>đơn</a:t>
            </a:r>
            <a:r>
              <a:rPr sz="1600" dirty="0"/>
              <a:t> </a:t>
            </a:r>
            <a:r>
              <a:rPr sz="1600" dirty="0" err="1"/>
              <a:t>lẻ</a:t>
            </a:r>
            <a:r>
              <a:rPr sz="1600" dirty="0"/>
              <a:t> </a:t>
            </a:r>
            <a:r>
              <a:rPr sz="1600" dirty="0" err="1"/>
              <a:t>chỉ</a:t>
            </a:r>
            <a:r>
              <a:rPr sz="1600" dirty="0"/>
              <a:t> </a:t>
            </a:r>
            <a:r>
              <a:rPr sz="1600" dirty="0" err="1"/>
              <a:t>đạt</a:t>
            </a:r>
            <a:r>
              <a:rPr sz="1600" dirty="0"/>
              <a:t> Lift 1,06× </a:t>
            </a:r>
            <a:r>
              <a:rPr sz="1600" dirty="0" err="1"/>
              <a:t>trong</a:t>
            </a:r>
            <a:r>
              <a:rPr sz="1600" dirty="0"/>
              <a:t> </a:t>
            </a:r>
            <a:r>
              <a:rPr sz="1600" dirty="0" err="1"/>
              <a:t>nhận</a:t>
            </a:r>
            <a:r>
              <a:rPr sz="1600" dirty="0"/>
              <a:t> </a:t>
            </a:r>
            <a:r>
              <a:rPr sz="1600" dirty="0" err="1"/>
              <a:t>diện</a:t>
            </a:r>
            <a:r>
              <a:rPr sz="1600" dirty="0"/>
              <a:t> Low Rating.</a:t>
            </a:r>
          </a:p>
          <a:p>
            <a:pPr>
              <a:spcAft>
                <a:spcPts val="700"/>
              </a:spcAft>
              <a:defRPr sz="1250">
                <a:solidFill>
                  <a:srgbClr val="242B33"/>
                </a:solidFill>
                <a:latin typeface="Aptos"/>
              </a:defRPr>
            </a:pPr>
            <a:r>
              <a:rPr sz="1600" dirty="0"/>
              <a:t>• </a:t>
            </a:r>
            <a:r>
              <a:rPr sz="1600" dirty="0" err="1"/>
              <a:t>Mô</a:t>
            </a:r>
            <a:r>
              <a:rPr sz="1600" dirty="0"/>
              <a:t> </a:t>
            </a:r>
            <a:r>
              <a:rPr sz="1600" dirty="0" err="1"/>
              <a:t>hình</a:t>
            </a:r>
            <a:r>
              <a:rPr sz="1600" dirty="0"/>
              <a:t> </a:t>
            </a:r>
            <a:r>
              <a:rPr sz="1600" dirty="0" err="1"/>
              <a:t>kết</a:t>
            </a:r>
            <a:r>
              <a:rPr sz="1600" dirty="0"/>
              <a:t> </a:t>
            </a:r>
            <a:r>
              <a:rPr sz="1600" dirty="0" err="1"/>
              <a:t>hợp</a:t>
            </a:r>
            <a:r>
              <a:rPr sz="1600" dirty="0"/>
              <a:t> </a:t>
            </a:r>
            <a:r>
              <a:rPr sz="1600" dirty="0" err="1"/>
              <a:t>nhiều</a:t>
            </a:r>
            <a:r>
              <a:rPr sz="1600" dirty="0"/>
              <a:t> Features </a:t>
            </a:r>
            <a:r>
              <a:rPr sz="1600" dirty="0" err="1"/>
              <a:t>cung</a:t>
            </a:r>
            <a:r>
              <a:rPr sz="1600" dirty="0"/>
              <a:t> </a:t>
            </a:r>
            <a:r>
              <a:rPr sz="1600" dirty="0" err="1"/>
              <a:t>cấp</a:t>
            </a:r>
            <a:r>
              <a:rPr sz="1600" dirty="0"/>
              <a:t> </a:t>
            </a:r>
            <a:r>
              <a:rPr sz="1600" dirty="0" err="1"/>
              <a:t>tín</a:t>
            </a:r>
            <a:r>
              <a:rPr sz="1600" dirty="0"/>
              <a:t> </a:t>
            </a:r>
            <a:r>
              <a:rPr sz="1600" dirty="0" err="1"/>
              <a:t>hiệu</a:t>
            </a:r>
            <a:r>
              <a:rPr sz="1600" dirty="0"/>
              <a:t> </a:t>
            </a:r>
            <a:r>
              <a:rPr sz="1600" dirty="0" err="1"/>
              <a:t>rủi</a:t>
            </a:r>
            <a:r>
              <a:rPr sz="1600" dirty="0"/>
              <a:t> </a:t>
            </a:r>
            <a:r>
              <a:rPr sz="1600" dirty="0" err="1"/>
              <a:t>ro</a:t>
            </a:r>
            <a:r>
              <a:rPr sz="1600" dirty="0"/>
              <a:t> </a:t>
            </a:r>
            <a:r>
              <a:rPr sz="1600" dirty="0" err="1"/>
              <a:t>tốt</a:t>
            </a:r>
            <a:r>
              <a:rPr sz="1600" dirty="0"/>
              <a:t> </a:t>
            </a:r>
            <a:r>
              <a:rPr sz="1600" dirty="0" err="1"/>
              <a:t>hơn</a:t>
            </a:r>
            <a:r>
              <a:rPr sz="1600" dirty="0"/>
              <a:t> SLA </a:t>
            </a:r>
            <a:r>
              <a:rPr sz="1600" dirty="0" err="1"/>
              <a:t>đơn</a:t>
            </a:r>
            <a:r>
              <a:rPr sz="1600" dirty="0"/>
              <a:t> </a:t>
            </a:r>
            <a:r>
              <a:rPr sz="1600" dirty="0" err="1"/>
              <a:t>lẻ</a:t>
            </a:r>
            <a:r>
              <a:rPr sz="1600" dirty="0"/>
              <a:t>.</a:t>
            </a:r>
          </a:p>
        </p:txBody>
      </p:sp>
      <p:sp>
        <p:nvSpPr>
          <p:cNvPr id="7" name="TextBox 6"/>
          <p:cNvSpPr txBox="1"/>
          <p:nvPr/>
        </p:nvSpPr>
        <p:spPr>
          <a:xfrm>
            <a:off x="6108192" y="1272471"/>
            <a:ext cx="2560320" cy="320088"/>
          </a:xfrm>
          <a:prstGeom prst="rect">
            <a:avLst/>
          </a:prstGeom>
          <a:noFill/>
        </p:spPr>
        <p:txBody>
          <a:bodyPr wrap="square" lIns="36576" tIns="36576" rIns="36576" bIns="36576" anchor="t">
            <a:spAutoFit/>
          </a:bodyPr>
          <a:lstStyle/>
          <a:p>
            <a:pPr algn="l"/>
            <a:r>
              <a:rPr sz="1600" b="1">
                <a:solidFill>
                  <a:srgbClr val="2F639D"/>
                </a:solidFill>
                <a:latin typeface="Aptos"/>
              </a:rPr>
              <a:t>2. BUSINESS VALUE</a:t>
            </a:r>
          </a:p>
        </p:txBody>
      </p:sp>
      <p:sp>
        <p:nvSpPr>
          <p:cNvPr id="8" name="Rounded Rectangle 7"/>
          <p:cNvSpPr/>
          <p:nvPr/>
        </p:nvSpPr>
        <p:spPr>
          <a:xfrm>
            <a:off x="6108192" y="1610799"/>
            <a:ext cx="5321808" cy="2423160"/>
          </a:xfrm>
          <a:prstGeom prst="roundRect">
            <a:avLst/>
          </a:prstGeom>
          <a:solidFill>
            <a:srgbClr val="EEF4FA"/>
          </a:solidFill>
          <a:ln w="12700">
            <a:solidFill>
              <a:srgbClr val="EEF4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9" name="Rounded Rectangle 8"/>
          <p:cNvSpPr/>
          <p:nvPr/>
        </p:nvSpPr>
        <p:spPr>
          <a:xfrm>
            <a:off x="6318504" y="1930838"/>
            <a:ext cx="1417320" cy="1063643"/>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0" name="TextBox 9"/>
          <p:cNvSpPr txBox="1"/>
          <p:nvPr/>
        </p:nvSpPr>
        <p:spPr>
          <a:xfrm>
            <a:off x="6391656" y="1954009"/>
            <a:ext cx="1271016" cy="566309"/>
          </a:xfrm>
          <a:prstGeom prst="rect">
            <a:avLst/>
          </a:prstGeom>
          <a:noFill/>
        </p:spPr>
        <p:txBody>
          <a:bodyPr wrap="square" lIns="36576" tIns="36576" rIns="36576" bIns="36576" anchor="t">
            <a:spAutoFit/>
          </a:bodyPr>
          <a:lstStyle/>
          <a:p>
            <a:pPr algn="ctr"/>
            <a:r>
              <a:rPr sz="1600" b="1" dirty="0">
                <a:solidFill>
                  <a:srgbClr val="162C46"/>
                </a:solidFill>
                <a:latin typeface="Aptos"/>
              </a:rPr>
              <a:t>SLA / LEAD TIME</a:t>
            </a:r>
          </a:p>
        </p:txBody>
      </p:sp>
      <p:sp>
        <p:nvSpPr>
          <p:cNvPr id="11" name="TextBox 10"/>
          <p:cNvSpPr txBox="1"/>
          <p:nvPr/>
        </p:nvSpPr>
        <p:spPr>
          <a:xfrm>
            <a:off x="6391656" y="2433759"/>
            <a:ext cx="1271016" cy="566309"/>
          </a:xfrm>
          <a:prstGeom prst="rect">
            <a:avLst/>
          </a:prstGeom>
          <a:noFill/>
        </p:spPr>
        <p:txBody>
          <a:bodyPr wrap="square" lIns="36576" tIns="36576" rIns="36576" bIns="36576" anchor="t">
            <a:spAutoFit/>
          </a:bodyPr>
          <a:lstStyle/>
          <a:p>
            <a:pPr algn="ctr"/>
            <a:r>
              <a:rPr sz="1600" b="0" dirty="0">
                <a:solidFill>
                  <a:srgbClr val="5E6A78"/>
                </a:solidFill>
                <a:latin typeface="Aptos"/>
              </a:rPr>
              <a:t>Theo </a:t>
            </a:r>
            <a:r>
              <a:rPr sz="1600" b="0" dirty="0" err="1">
                <a:solidFill>
                  <a:srgbClr val="5E6A78"/>
                </a:solidFill>
                <a:latin typeface="Aptos"/>
              </a:rPr>
              <a:t>dõi</a:t>
            </a:r>
            <a:r>
              <a:rPr sz="1600" b="0" dirty="0">
                <a:solidFill>
                  <a:srgbClr val="5E6A78"/>
                </a:solidFill>
                <a:latin typeface="Aptos"/>
              </a:rPr>
              <a:t> </a:t>
            </a:r>
            <a:r>
              <a:rPr sz="1600" b="0" dirty="0" err="1">
                <a:solidFill>
                  <a:srgbClr val="5E6A78"/>
                </a:solidFill>
                <a:latin typeface="Aptos"/>
              </a:rPr>
              <a:t>vận</a:t>
            </a:r>
            <a:r>
              <a:rPr sz="1600" b="0" dirty="0">
                <a:solidFill>
                  <a:srgbClr val="5E6A78"/>
                </a:solidFill>
                <a:latin typeface="Aptos"/>
              </a:rPr>
              <a:t> </a:t>
            </a:r>
            <a:r>
              <a:rPr sz="1600" b="0" dirty="0" err="1">
                <a:solidFill>
                  <a:srgbClr val="5E6A78"/>
                </a:solidFill>
                <a:latin typeface="Aptos"/>
              </a:rPr>
              <a:t>hành</a:t>
            </a:r>
            <a:endParaRPr sz="1600" b="0" dirty="0">
              <a:solidFill>
                <a:srgbClr val="5E6A78"/>
              </a:solidFill>
              <a:latin typeface="Aptos"/>
            </a:endParaRPr>
          </a:p>
        </p:txBody>
      </p:sp>
      <p:sp>
        <p:nvSpPr>
          <p:cNvPr id="12" name="Rounded Rectangle 11"/>
          <p:cNvSpPr/>
          <p:nvPr/>
        </p:nvSpPr>
        <p:spPr>
          <a:xfrm>
            <a:off x="7946136" y="1930839"/>
            <a:ext cx="1417320" cy="1063642"/>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3" name="TextBox 12"/>
          <p:cNvSpPr txBox="1"/>
          <p:nvPr/>
        </p:nvSpPr>
        <p:spPr>
          <a:xfrm>
            <a:off x="8019288" y="1958634"/>
            <a:ext cx="1271016" cy="566309"/>
          </a:xfrm>
          <a:prstGeom prst="rect">
            <a:avLst/>
          </a:prstGeom>
          <a:noFill/>
        </p:spPr>
        <p:txBody>
          <a:bodyPr wrap="square" lIns="36576" tIns="36576" rIns="36576" bIns="36576" anchor="t">
            <a:spAutoFit/>
          </a:bodyPr>
          <a:lstStyle/>
          <a:p>
            <a:pPr algn="ctr"/>
            <a:r>
              <a:rPr sz="1600" b="1" dirty="0">
                <a:solidFill>
                  <a:srgbClr val="162C46"/>
                </a:solidFill>
                <a:latin typeface="Aptos"/>
              </a:rPr>
              <a:t>CUSTOMER SIGNAL</a:t>
            </a:r>
          </a:p>
        </p:txBody>
      </p:sp>
      <p:sp>
        <p:nvSpPr>
          <p:cNvPr id="14" name="TextBox 13"/>
          <p:cNvSpPr txBox="1"/>
          <p:nvPr/>
        </p:nvSpPr>
        <p:spPr>
          <a:xfrm>
            <a:off x="8019288" y="2433759"/>
            <a:ext cx="1271016" cy="566309"/>
          </a:xfrm>
          <a:prstGeom prst="rect">
            <a:avLst/>
          </a:prstGeom>
          <a:noFill/>
        </p:spPr>
        <p:txBody>
          <a:bodyPr wrap="square" lIns="36576" tIns="36576" rIns="36576" bIns="36576" anchor="t">
            <a:spAutoFit/>
          </a:bodyPr>
          <a:lstStyle/>
          <a:p>
            <a:pPr algn="ctr"/>
            <a:r>
              <a:rPr sz="1600" b="0">
                <a:solidFill>
                  <a:srgbClr val="5E6A78"/>
                </a:solidFill>
                <a:latin typeface="Aptos"/>
              </a:rPr>
              <a:t>Lắng nghe trải nghiệm</a:t>
            </a:r>
          </a:p>
        </p:txBody>
      </p:sp>
      <p:sp>
        <p:nvSpPr>
          <p:cNvPr id="15" name="Rounded Rectangle 14"/>
          <p:cNvSpPr/>
          <p:nvPr/>
        </p:nvSpPr>
        <p:spPr>
          <a:xfrm>
            <a:off x="9573768" y="1930838"/>
            <a:ext cx="1417320" cy="1085367"/>
          </a:xfrm>
          <a:prstGeom prst="roundRect">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6" name="TextBox 15"/>
          <p:cNvSpPr txBox="1"/>
          <p:nvPr/>
        </p:nvSpPr>
        <p:spPr>
          <a:xfrm>
            <a:off x="9646920" y="1953651"/>
            <a:ext cx="1271016" cy="320088"/>
          </a:xfrm>
          <a:prstGeom prst="rect">
            <a:avLst/>
          </a:prstGeom>
          <a:noFill/>
        </p:spPr>
        <p:txBody>
          <a:bodyPr wrap="square" lIns="36576" tIns="36576" rIns="36576" bIns="36576" anchor="t">
            <a:spAutoFit/>
          </a:bodyPr>
          <a:lstStyle/>
          <a:p>
            <a:pPr algn="ctr"/>
            <a:r>
              <a:rPr sz="1600" b="1" dirty="0">
                <a:solidFill>
                  <a:srgbClr val="162C46"/>
                </a:solidFill>
                <a:latin typeface="Aptos"/>
              </a:rPr>
              <a:t>RISK MODEL</a:t>
            </a:r>
          </a:p>
        </p:txBody>
      </p:sp>
      <p:sp>
        <p:nvSpPr>
          <p:cNvPr id="17" name="TextBox 16"/>
          <p:cNvSpPr txBox="1"/>
          <p:nvPr/>
        </p:nvSpPr>
        <p:spPr>
          <a:xfrm>
            <a:off x="9646920" y="2203676"/>
            <a:ext cx="1271016" cy="812530"/>
          </a:xfrm>
          <a:prstGeom prst="rect">
            <a:avLst/>
          </a:prstGeom>
          <a:noFill/>
        </p:spPr>
        <p:txBody>
          <a:bodyPr wrap="square" lIns="36576" tIns="36576" rIns="36576" bIns="36576" anchor="t">
            <a:spAutoFit/>
          </a:bodyPr>
          <a:lstStyle/>
          <a:p>
            <a:pPr algn="ctr"/>
            <a:r>
              <a:rPr sz="1600" b="0" dirty="0" err="1">
                <a:solidFill>
                  <a:srgbClr val="5E6A78"/>
                </a:solidFill>
                <a:latin typeface="Aptos"/>
              </a:rPr>
              <a:t>Ưu</a:t>
            </a:r>
            <a:r>
              <a:rPr sz="1600" b="0" dirty="0">
                <a:solidFill>
                  <a:srgbClr val="5E6A78"/>
                </a:solidFill>
                <a:latin typeface="Aptos"/>
              </a:rPr>
              <a:t> </a:t>
            </a:r>
            <a:r>
              <a:rPr sz="1600" b="0" dirty="0" err="1">
                <a:solidFill>
                  <a:srgbClr val="5E6A78"/>
                </a:solidFill>
                <a:latin typeface="Aptos"/>
              </a:rPr>
              <a:t>tiên</a:t>
            </a:r>
            <a:r>
              <a:rPr sz="1600" b="0" dirty="0">
                <a:solidFill>
                  <a:srgbClr val="5E6A78"/>
                </a:solidFill>
                <a:latin typeface="Aptos"/>
              </a:rPr>
              <a:t> </a:t>
            </a:r>
            <a:r>
              <a:rPr sz="1600" b="0" dirty="0" err="1">
                <a:solidFill>
                  <a:srgbClr val="5E6A78"/>
                </a:solidFill>
                <a:latin typeface="Aptos"/>
              </a:rPr>
              <a:t>trường</a:t>
            </a:r>
            <a:r>
              <a:rPr sz="1600" b="0" dirty="0">
                <a:solidFill>
                  <a:srgbClr val="5E6A78"/>
                </a:solidFill>
                <a:latin typeface="Aptos"/>
              </a:rPr>
              <a:t> </a:t>
            </a:r>
            <a:r>
              <a:rPr sz="1600" b="0" dirty="0" err="1">
                <a:solidFill>
                  <a:srgbClr val="5E6A78"/>
                </a:solidFill>
                <a:latin typeface="Aptos"/>
              </a:rPr>
              <a:t>hợp</a:t>
            </a:r>
            <a:r>
              <a:rPr sz="1600" b="0" dirty="0">
                <a:solidFill>
                  <a:srgbClr val="5E6A78"/>
                </a:solidFill>
                <a:latin typeface="Aptos"/>
              </a:rPr>
              <a:t> </a:t>
            </a:r>
            <a:r>
              <a:rPr sz="1600" b="0" dirty="0" err="1">
                <a:solidFill>
                  <a:srgbClr val="5E6A78"/>
                </a:solidFill>
                <a:latin typeface="Aptos"/>
              </a:rPr>
              <a:t>rủi</a:t>
            </a:r>
            <a:r>
              <a:rPr sz="1600" b="0" dirty="0">
                <a:solidFill>
                  <a:srgbClr val="5E6A78"/>
                </a:solidFill>
                <a:latin typeface="Aptos"/>
              </a:rPr>
              <a:t> </a:t>
            </a:r>
            <a:r>
              <a:rPr sz="1600" b="0" dirty="0" err="1">
                <a:solidFill>
                  <a:srgbClr val="5E6A78"/>
                </a:solidFill>
                <a:latin typeface="Aptos"/>
              </a:rPr>
              <a:t>ro</a:t>
            </a:r>
            <a:endParaRPr sz="1600" b="0" dirty="0">
              <a:solidFill>
                <a:srgbClr val="5E6A78"/>
              </a:solidFill>
              <a:latin typeface="Aptos"/>
            </a:endParaRPr>
          </a:p>
        </p:txBody>
      </p:sp>
      <p:sp>
        <p:nvSpPr>
          <p:cNvPr id="18" name="TextBox 17"/>
          <p:cNvSpPr txBox="1"/>
          <p:nvPr/>
        </p:nvSpPr>
        <p:spPr>
          <a:xfrm>
            <a:off x="8421624" y="2954967"/>
            <a:ext cx="320040" cy="320088"/>
          </a:xfrm>
          <a:prstGeom prst="rect">
            <a:avLst/>
          </a:prstGeom>
          <a:noFill/>
        </p:spPr>
        <p:txBody>
          <a:bodyPr wrap="square" lIns="36576" tIns="36576" rIns="36576" bIns="36576" anchor="t">
            <a:spAutoFit/>
          </a:bodyPr>
          <a:lstStyle/>
          <a:p>
            <a:pPr algn="ctr"/>
            <a:r>
              <a:rPr sz="1600" b="1">
                <a:solidFill>
                  <a:srgbClr val="2F639D"/>
                </a:solidFill>
                <a:latin typeface="Aptos"/>
              </a:rPr>
              <a:t>↓</a:t>
            </a:r>
          </a:p>
        </p:txBody>
      </p:sp>
      <p:sp>
        <p:nvSpPr>
          <p:cNvPr id="19" name="TextBox 18"/>
          <p:cNvSpPr txBox="1"/>
          <p:nvPr/>
        </p:nvSpPr>
        <p:spPr>
          <a:xfrm>
            <a:off x="6656832" y="3284151"/>
            <a:ext cx="4251960" cy="320088"/>
          </a:xfrm>
          <a:prstGeom prst="rect">
            <a:avLst/>
          </a:prstGeom>
          <a:noFill/>
        </p:spPr>
        <p:txBody>
          <a:bodyPr wrap="square" lIns="36576" tIns="36576" rIns="36576" bIns="36576" anchor="t">
            <a:spAutoFit/>
          </a:bodyPr>
          <a:lstStyle/>
          <a:p>
            <a:pPr algn="ctr"/>
            <a:r>
              <a:rPr sz="1600" b="1">
                <a:solidFill>
                  <a:srgbClr val="2F639D"/>
                </a:solidFill>
                <a:latin typeface="Aptos"/>
              </a:rPr>
              <a:t>ĐÁNH GIÁ TRẢI NGHIỆM TOÀN DIỆN HƠN</a:t>
            </a:r>
          </a:p>
        </p:txBody>
      </p:sp>
      <p:sp>
        <p:nvSpPr>
          <p:cNvPr id="20" name="TextBox 19"/>
          <p:cNvSpPr txBox="1"/>
          <p:nvPr/>
        </p:nvSpPr>
        <p:spPr>
          <a:xfrm>
            <a:off x="6656832" y="3649911"/>
            <a:ext cx="4251960" cy="320088"/>
          </a:xfrm>
          <a:prstGeom prst="rect">
            <a:avLst/>
          </a:prstGeom>
          <a:noFill/>
        </p:spPr>
        <p:txBody>
          <a:bodyPr wrap="square" lIns="36576" tIns="36576" rIns="36576" bIns="36576" anchor="t">
            <a:spAutoFit/>
          </a:bodyPr>
          <a:lstStyle/>
          <a:p>
            <a:pPr algn="ctr"/>
            <a:r>
              <a:rPr sz="1600" b="1">
                <a:solidFill>
                  <a:srgbClr val="162C46"/>
                </a:solidFill>
                <a:latin typeface="Aptos"/>
              </a:rPr>
              <a:t>Top 5% risk → 23,3% Low Rating</a:t>
            </a:r>
          </a:p>
        </p:txBody>
      </p:sp>
      <p:sp>
        <p:nvSpPr>
          <p:cNvPr id="21" name="TextBox 20"/>
          <p:cNvSpPr txBox="1"/>
          <p:nvPr/>
        </p:nvSpPr>
        <p:spPr>
          <a:xfrm>
            <a:off x="594360" y="3924231"/>
            <a:ext cx="3840480" cy="320088"/>
          </a:xfrm>
          <a:prstGeom prst="rect">
            <a:avLst/>
          </a:prstGeom>
          <a:noFill/>
        </p:spPr>
        <p:txBody>
          <a:bodyPr wrap="square" lIns="36576" tIns="36576" rIns="36576" bIns="36576" anchor="t">
            <a:spAutoFit/>
          </a:bodyPr>
          <a:lstStyle/>
          <a:p>
            <a:pPr algn="l"/>
            <a:r>
              <a:rPr sz="1600" b="1">
                <a:solidFill>
                  <a:srgbClr val="2F639D"/>
                </a:solidFill>
                <a:latin typeface="Aptos"/>
              </a:rPr>
              <a:t>3. GIỚI HẠN &amp; HƯỚNG PHÁT TRIỂN</a:t>
            </a:r>
          </a:p>
        </p:txBody>
      </p:sp>
      <p:sp>
        <p:nvSpPr>
          <p:cNvPr id="22" name="Rounded Rectangle 21"/>
          <p:cNvSpPr/>
          <p:nvPr/>
        </p:nvSpPr>
        <p:spPr>
          <a:xfrm>
            <a:off x="594360" y="4262559"/>
            <a:ext cx="10835640" cy="1105576"/>
          </a:xfrm>
          <a:prstGeom prst="roundRect">
            <a:avLst/>
          </a:prstGeom>
          <a:solidFill>
            <a:srgbClr val="F6F9FC"/>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3" name="TextBox 22"/>
          <p:cNvSpPr txBox="1"/>
          <p:nvPr/>
        </p:nvSpPr>
        <p:spPr>
          <a:xfrm>
            <a:off x="832104" y="4390265"/>
            <a:ext cx="3246120" cy="566309"/>
          </a:xfrm>
          <a:prstGeom prst="rect">
            <a:avLst/>
          </a:prstGeom>
          <a:noFill/>
        </p:spPr>
        <p:txBody>
          <a:bodyPr wrap="square" lIns="36576" tIns="36576" rIns="36576" bIns="36576" anchor="t">
            <a:spAutoFit/>
          </a:bodyPr>
          <a:lstStyle/>
          <a:p>
            <a:pPr algn="ctr"/>
            <a:r>
              <a:rPr sz="1600" b="1" dirty="0">
                <a:solidFill>
                  <a:srgbClr val="162C46"/>
                </a:solidFill>
                <a:latin typeface="Aptos"/>
              </a:rPr>
              <a:t>Customer Delivery Status </a:t>
            </a:r>
            <a:r>
              <a:rPr sz="1600" b="1" dirty="0" err="1">
                <a:solidFill>
                  <a:srgbClr val="162C46"/>
                </a:solidFill>
                <a:latin typeface="Aptos"/>
              </a:rPr>
              <a:t>còn</a:t>
            </a:r>
            <a:r>
              <a:rPr sz="1600" b="1" dirty="0">
                <a:solidFill>
                  <a:srgbClr val="162C46"/>
                </a:solidFill>
                <a:latin typeface="Aptos"/>
              </a:rPr>
              <a:t> </a:t>
            </a:r>
            <a:r>
              <a:rPr sz="1600" b="1" dirty="0" err="1">
                <a:solidFill>
                  <a:srgbClr val="162C46"/>
                </a:solidFill>
                <a:latin typeface="Aptos"/>
              </a:rPr>
              <a:t>thiếu</a:t>
            </a:r>
            <a:r>
              <a:rPr sz="1600" b="1" dirty="0">
                <a:solidFill>
                  <a:srgbClr val="162C46"/>
                </a:solidFill>
                <a:latin typeface="Aptos"/>
              </a:rPr>
              <a:t> </a:t>
            </a:r>
            <a:r>
              <a:rPr sz="1600" b="1" dirty="0" err="1">
                <a:solidFill>
                  <a:srgbClr val="162C46"/>
                </a:solidFill>
                <a:latin typeface="Aptos"/>
              </a:rPr>
              <a:t>nhiều</a:t>
            </a:r>
            <a:r>
              <a:rPr sz="1600" b="1" dirty="0">
                <a:solidFill>
                  <a:srgbClr val="162C46"/>
                </a:solidFill>
                <a:latin typeface="Aptos"/>
              </a:rPr>
              <a:t> </a:t>
            </a:r>
            <a:r>
              <a:rPr sz="1600" b="1" dirty="0" err="1">
                <a:solidFill>
                  <a:srgbClr val="162C46"/>
                </a:solidFill>
                <a:latin typeface="Aptos"/>
              </a:rPr>
              <a:t>dữ</a:t>
            </a:r>
            <a:r>
              <a:rPr sz="1600" b="1" dirty="0">
                <a:solidFill>
                  <a:srgbClr val="162C46"/>
                </a:solidFill>
                <a:latin typeface="Aptos"/>
              </a:rPr>
              <a:t> </a:t>
            </a:r>
            <a:r>
              <a:rPr sz="1600" b="1" dirty="0" err="1">
                <a:solidFill>
                  <a:srgbClr val="162C46"/>
                </a:solidFill>
                <a:latin typeface="Aptos"/>
              </a:rPr>
              <a:t>liệu</a:t>
            </a:r>
            <a:endParaRPr sz="1600" b="1" dirty="0">
              <a:solidFill>
                <a:srgbClr val="162C46"/>
              </a:solidFill>
              <a:latin typeface="Aptos"/>
            </a:endParaRPr>
          </a:p>
        </p:txBody>
      </p:sp>
      <p:sp>
        <p:nvSpPr>
          <p:cNvPr id="24" name="TextBox 23"/>
          <p:cNvSpPr txBox="1"/>
          <p:nvPr/>
        </p:nvSpPr>
        <p:spPr>
          <a:xfrm>
            <a:off x="4251960" y="4390265"/>
            <a:ext cx="3474720" cy="566309"/>
          </a:xfrm>
          <a:prstGeom prst="rect">
            <a:avLst/>
          </a:prstGeom>
          <a:noFill/>
        </p:spPr>
        <p:txBody>
          <a:bodyPr wrap="square" lIns="36576" tIns="36576" rIns="36576" bIns="36576" anchor="t">
            <a:spAutoFit/>
          </a:bodyPr>
          <a:lstStyle/>
          <a:p>
            <a:pPr algn="ctr"/>
            <a:r>
              <a:rPr sz="1600" b="1" dirty="0">
                <a:solidFill>
                  <a:srgbClr val="162C46"/>
                </a:solidFill>
                <a:latin typeface="Aptos"/>
              </a:rPr>
              <a:t>SLA 5 </a:t>
            </a:r>
            <a:r>
              <a:rPr sz="1600" b="1" dirty="0" err="1">
                <a:solidFill>
                  <a:srgbClr val="162C46"/>
                </a:solidFill>
                <a:latin typeface="Aptos"/>
              </a:rPr>
              <a:t>ngày</a:t>
            </a:r>
            <a:r>
              <a:rPr sz="1600" b="1" dirty="0">
                <a:solidFill>
                  <a:srgbClr val="162C46"/>
                </a:solidFill>
                <a:latin typeface="Aptos"/>
              </a:rPr>
              <a:t> </a:t>
            </a:r>
            <a:r>
              <a:rPr sz="1600" b="1" dirty="0" err="1">
                <a:solidFill>
                  <a:srgbClr val="162C46"/>
                </a:solidFill>
                <a:latin typeface="Aptos"/>
              </a:rPr>
              <a:t>là</a:t>
            </a:r>
            <a:r>
              <a:rPr sz="1600" b="1" dirty="0">
                <a:solidFill>
                  <a:srgbClr val="162C46"/>
                </a:solidFill>
                <a:latin typeface="Aptos"/>
              </a:rPr>
              <a:t> </a:t>
            </a:r>
            <a:r>
              <a:rPr sz="1600" b="1" dirty="0" err="1">
                <a:solidFill>
                  <a:srgbClr val="162C46"/>
                </a:solidFill>
                <a:latin typeface="Aptos"/>
              </a:rPr>
              <a:t>ngưỡng</a:t>
            </a:r>
            <a:r>
              <a:rPr sz="1600" b="1" dirty="0">
                <a:solidFill>
                  <a:srgbClr val="162C46"/>
                </a:solidFill>
                <a:latin typeface="Aptos"/>
              </a:rPr>
              <a:t> </a:t>
            </a:r>
            <a:r>
              <a:rPr sz="1600" b="1" dirty="0" err="1">
                <a:solidFill>
                  <a:srgbClr val="162C46"/>
                </a:solidFill>
                <a:latin typeface="Aptos"/>
              </a:rPr>
              <a:t>chung</a:t>
            </a:r>
            <a:r>
              <a:rPr sz="1600" b="1" dirty="0">
                <a:solidFill>
                  <a:srgbClr val="162C46"/>
                </a:solidFill>
                <a:latin typeface="Aptos"/>
              </a:rPr>
              <a:t>, </a:t>
            </a:r>
            <a:r>
              <a:rPr sz="1600" b="1" dirty="0" err="1">
                <a:solidFill>
                  <a:srgbClr val="162C46"/>
                </a:solidFill>
                <a:latin typeface="Aptos"/>
              </a:rPr>
              <a:t>không</a:t>
            </a:r>
            <a:r>
              <a:rPr sz="1600" b="1" dirty="0">
                <a:solidFill>
                  <a:srgbClr val="162C46"/>
                </a:solidFill>
                <a:latin typeface="Aptos"/>
              </a:rPr>
              <a:t> </a:t>
            </a:r>
            <a:r>
              <a:rPr sz="1600" b="1" dirty="0" err="1">
                <a:solidFill>
                  <a:srgbClr val="162C46"/>
                </a:solidFill>
                <a:latin typeface="Aptos"/>
              </a:rPr>
              <a:t>phải</a:t>
            </a:r>
            <a:r>
              <a:rPr sz="1600" b="1" dirty="0">
                <a:solidFill>
                  <a:srgbClr val="162C46"/>
                </a:solidFill>
                <a:latin typeface="Aptos"/>
              </a:rPr>
              <a:t> promise </a:t>
            </a:r>
            <a:r>
              <a:rPr sz="1600" b="1" dirty="0" err="1">
                <a:solidFill>
                  <a:srgbClr val="162C46"/>
                </a:solidFill>
                <a:latin typeface="Aptos"/>
              </a:rPr>
              <a:t>từng</a:t>
            </a:r>
            <a:r>
              <a:rPr sz="1600" b="1" dirty="0">
                <a:solidFill>
                  <a:srgbClr val="162C46"/>
                </a:solidFill>
                <a:latin typeface="Aptos"/>
              </a:rPr>
              <a:t> </a:t>
            </a:r>
            <a:r>
              <a:rPr sz="1600" b="1" dirty="0" err="1">
                <a:solidFill>
                  <a:srgbClr val="162C46"/>
                </a:solidFill>
                <a:latin typeface="Aptos"/>
              </a:rPr>
              <a:t>đơn</a:t>
            </a:r>
            <a:endParaRPr sz="1600" b="1" dirty="0">
              <a:solidFill>
                <a:srgbClr val="162C46"/>
              </a:solidFill>
              <a:latin typeface="Aptos"/>
            </a:endParaRPr>
          </a:p>
        </p:txBody>
      </p:sp>
      <p:sp>
        <p:nvSpPr>
          <p:cNvPr id="25" name="TextBox 24"/>
          <p:cNvSpPr txBox="1"/>
          <p:nvPr/>
        </p:nvSpPr>
        <p:spPr>
          <a:xfrm>
            <a:off x="7936992" y="4390265"/>
            <a:ext cx="3154680" cy="566309"/>
          </a:xfrm>
          <a:prstGeom prst="rect">
            <a:avLst/>
          </a:prstGeom>
          <a:noFill/>
        </p:spPr>
        <p:txBody>
          <a:bodyPr wrap="square" lIns="36576" tIns="36576" rIns="36576" bIns="36576" anchor="t">
            <a:spAutoFit/>
          </a:bodyPr>
          <a:lstStyle/>
          <a:p>
            <a:pPr algn="ctr"/>
            <a:r>
              <a:rPr sz="1600" b="1">
                <a:solidFill>
                  <a:srgbClr val="162C46"/>
                </a:solidFill>
                <a:latin typeface="Aptos"/>
              </a:rPr>
              <a:t>Dữ liệu chỉ từ Tiki — chưa đại diện toàn thị trường</a:t>
            </a:r>
          </a:p>
        </p:txBody>
      </p:sp>
      <p:sp>
        <p:nvSpPr>
          <p:cNvPr id="26" name="TextBox 25"/>
          <p:cNvSpPr txBox="1"/>
          <p:nvPr/>
        </p:nvSpPr>
        <p:spPr>
          <a:xfrm>
            <a:off x="762000" y="4926155"/>
            <a:ext cx="10241280" cy="320088"/>
          </a:xfrm>
          <a:prstGeom prst="rect">
            <a:avLst/>
          </a:prstGeom>
          <a:noFill/>
        </p:spPr>
        <p:txBody>
          <a:bodyPr wrap="square" lIns="36576" tIns="36576" rIns="36576" bIns="36576" anchor="t">
            <a:spAutoFit/>
          </a:bodyPr>
          <a:lstStyle/>
          <a:p>
            <a:pPr algn="ctr"/>
            <a:r>
              <a:rPr sz="1600" b="0" dirty="0" err="1">
                <a:solidFill>
                  <a:srgbClr val="5E6A78"/>
                </a:solidFill>
                <a:latin typeface="Aptos"/>
              </a:rPr>
              <a:t>Hướng</a:t>
            </a:r>
            <a:r>
              <a:rPr sz="1600" b="0" dirty="0">
                <a:solidFill>
                  <a:srgbClr val="5E6A78"/>
                </a:solidFill>
                <a:latin typeface="Aptos"/>
              </a:rPr>
              <a:t> </a:t>
            </a:r>
            <a:r>
              <a:rPr sz="1600" b="0" dirty="0" err="1">
                <a:solidFill>
                  <a:srgbClr val="5E6A78"/>
                </a:solidFill>
                <a:latin typeface="Aptos"/>
              </a:rPr>
              <a:t>phát</a:t>
            </a:r>
            <a:r>
              <a:rPr sz="1600" b="0" dirty="0">
                <a:solidFill>
                  <a:srgbClr val="5E6A78"/>
                </a:solidFill>
                <a:latin typeface="Aptos"/>
              </a:rPr>
              <a:t> </a:t>
            </a:r>
            <a:r>
              <a:rPr sz="1600" b="0" dirty="0" err="1">
                <a:solidFill>
                  <a:srgbClr val="5E6A78"/>
                </a:solidFill>
                <a:latin typeface="Aptos"/>
              </a:rPr>
              <a:t>triển</a:t>
            </a:r>
            <a:r>
              <a:rPr sz="1600" b="0" dirty="0">
                <a:solidFill>
                  <a:srgbClr val="5E6A78"/>
                </a:solidFill>
                <a:latin typeface="Aptos"/>
              </a:rPr>
              <a:t>: </a:t>
            </a:r>
            <a:r>
              <a:rPr sz="1600" b="0" dirty="0" err="1">
                <a:solidFill>
                  <a:srgbClr val="5E6A78"/>
                </a:solidFill>
                <a:latin typeface="Aptos"/>
              </a:rPr>
              <a:t>mở</a:t>
            </a:r>
            <a:r>
              <a:rPr sz="1600" b="0" dirty="0">
                <a:solidFill>
                  <a:srgbClr val="5E6A78"/>
                </a:solidFill>
                <a:latin typeface="Aptos"/>
              </a:rPr>
              <a:t> </a:t>
            </a:r>
            <a:r>
              <a:rPr sz="1600" b="0" dirty="0" err="1">
                <a:solidFill>
                  <a:srgbClr val="5E6A78"/>
                </a:solidFill>
                <a:latin typeface="Aptos"/>
              </a:rPr>
              <a:t>rộng</a:t>
            </a:r>
            <a:r>
              <a:rPr sz="1600" b="0" dirty="0">
                <a:solidFill>
                  <a:srgbClr val="5E6A78"/>
                </a:solidFill>
                <a:latin typeface="Aptos"/>
              </a:rPr>
              <a:t> </a:t>
            </a:r>
            <a:r>
              <a:rPr sz="1600" b="0" dirty="0" err="1">
                <a:solidFill>
                  <a:srgbClr val="5E6A78"/>
                </a:solidFill>
                <a:latin typeface="Aptos"/>
              </a:rPr>
              <a:t>dữ</a:t>
            </a:r>
            <a:r>
              <a:rPr sz="1600" b="0" dirty="0">
                <a:solidFill>
                  <a:srgbClr val="5E6A78"/>
                </a:solidFill>
                <a:latin typeface="Aptos"/>
              </a:rPr>
              <a:t> </a:t>
            </a:r>
            <a:r>
              <a:rPr sz="1600" b="0" dirty="0" err="1">
                <a:solidFill>
                  <a:srgbClr val="5E6A78"/>
                </a:solidFill>
                <a:latin typeface="Aptos"/>
              </a:rPr>
              <a:t>liệu</a:t>
            </a:r>
            <a:r>
              <a:rPr sz="1600" b="0" dirty="0">
                <a:solidFill>
                  <a:srgbClr val="5E6A78"/>
                </a:solidFill>
                <a:latin typeface="Aptos"/>
              </a:rPr>
              <a:t>, </a:t>
            </a:r>
            <a:r>
              <a:rPr sz="1600" b="0" dirty="0" err="1">
                <a:solidFill>
                  <a:srgbClr val="5E6A78"/>
                </a:solidFill>
                <a:latin typeface="Aptos"/>
              </a:rPr>
              <a:t>cải</a:t>
            </a:r>
            <a:r>
              <a:rPr sz="1600" b="0" dirty="0">
                <a:solidFill>
                  <a:srgbClr val="5E6A78"/>
                </a:solidFill>
                <a:latin typeface="Aptos"/>
              </a:rPr>
              <a:t> </a:t>
            </a:r>
            <a:r>
              <a:rPr sz="1600" b="0" dirty="0" err="1">
                <a:solidFill>
                  <a:srgbClr val="5E6A78"/>
                </a:solidFill>
                <a:latin typeface="Aptos"/>
              </a:rPr>
              <a:t>thiện</a:t>
            </a:r>
            <a:r>
              <a:rPr sz="1600" b="0" dirty="0">
                <a:solidFill>
                  <a:srgbClr val="5E6A78"/>
                </a:solidFill>
                <a:latin typeface="Aptos"/>
              </a:rPr>
              <a:t> customer labels </a:t>
            </a:r>
            <a:r>
              <a:rPr sz="1600" b="0" dirty="0" err="1">
                <a:solidFill>
                  <a:srgbClr val="5E6A78"/>
                </a:solidFill>
                <a:latin typeface="Aptos"/>
              </a:rPr>
              <a:t>và</a:t>
            </a:r>
            <a:r>
              <a:rPr sz="1600" b="0" dirty="0">
                <a:solidFill>
                  <a:srgbClr val="5E6A78"/>
                </a:solidFill>
                <a:latin typeface="Aptos"/>
              </a:rPr>
              <a:t> </a:t>
            </a:r>
            <a:r>
              <a:rPr sz="1600" b="0" dirty="0" err="1">
                <a:solidFill>
                  <a:srgbClr val="5E6A78"/>
                </a:solidFill>
                <a:latin typeface="Aptos"/>
              </a:rPr>
              <a:t>kiểm</a:t>
            </a:r>
            <a:r>
              <a:rPr sz="1600" b="0" dirty="0">
                <a:solidFill>
                  <a:srgbClr val="5E6A78"/>
                </a:solidFill>
                <a:latin typeface="Aptos"/>
              </a:rPr>
              <a:t> </a:t>
            </a:r>
            <a:r>
              <a:rPr sz="1600" b="0" dirty="0" err="1">
                <a:solidFill>
                  <a:srgbClr val="5E6A78"/>
                </a:solidFill>
                <a:latin typeface="Aptos"/>
              </a:rPr>
              <a:t>chứng</a:t>
            </a:r>
            <a:r>
              <a:rPr sz="1600" b="0" dirty="0">
                <a:solidFill>
                  <a:srgbClr val="5E6A78"/>
                </a:solidFill>
                <a:latin typeface="Aptos"/>
              </a:rPr>
              <a:t> </a:t>
            </a:r>
            <a:r>
              <a:rPr sz="1600" b="0" dirty="0" err="1">
                <a:solidFill>
                  <a:srgbClr val="5E6A78"/>
                </a:solidFill>
                <a:latin typeface="Aptos"/>
              </a:rPr>
              <a:t>trên</a:t>
            </a:r>
            <a:r>
              <a:rPr sz="1600" b="0" dirty="0">
                <a:solidFill>
                  <a:srgbClr val="5E6A78"/>
                </a:solidFill>
                <a:latin typeface="Aptos"/>
              </a:rPr>
              <a:t> </a:t>
            </a:r>
            <a:r>
              <a:rPr sz="1600" b="0" dirty="0" err="1">
                <a:solidFill>
                  <a:srgbClr val="5E6A78"/>
                </a:solidFill>
                <a:latin typeface="Aptos"/>
              </a:rPr>
              <a:t>các</a:t>
            </a:r>
            <a:r>
              <a:rPr sz="1600" b="0" dirty="0">
                <a:solidFill>
                  <a:srgbClr val="5E6A78"/>
                </a:solidFill>
                <a:latin typeface="Aptos"/>
              </a:rPr>
              <a:t> </a:t>
            </a:r>
            <a:r>
              <a:rPr sz="1600" b="0" dirty="0" err="1">
                <a:solidFill>
                  <a:srgbClr val="5E6A78"/>
                </a:solidFill>
                <a:latin typeface="Aptos"/>
              </a:rPr>
              <a:t>nền</a:t>
            </a:r>
            <a:r>
              <a:rPr sz="1600" b="0" dirty="0">
                <a:solidFill>
                  <a:srgbClr val="5E6A78"/>
                </a:solidFill>
                <a:latin typeface="Aptos"/>
              </a:rPr>
              <a:t> </a:t>
            </a:r>
            <a:r>
              <a:rPr sz="1600" b="0" dirty="0" err="1">
                <a:solidFill>
                  <a:srgbClr val="5E6A78"/>
                </a:solidFill>
                <a:latin typeface="Aptos"/>
              </a:rPr>
              <a:t>tảng</a:t>
            </a:r>
            <a:r>
              <a:rPr sz="1600" b="0" dirty="0">
                <a:solidFill>
                  <a:srgbClr val="5E6A78"/>
                </a:solidFill>
                <a:latin typeface="Aptos"/>
              </a:rPr>
              <a:t> / </a:t>
            </a:r>
            <a:r>
              <a:rPr sz="1600" b="0" dirty="0" err="1">
                <a:solidFill>
                  <a:srgbClr val="5E6A78"/>
                </a:solidFill>
                <a:latin typeface="Aptos"/>
              </a:rPr>
              <a:t>dữ</a:t>
            </a:r>
            <a:r>
              <a:rPr sz="1600" b="0" dirty="0">
                <a:solidFill>
                  <a:srgbClr val="5E6A78"/>
                </a:solidFill>
                <a:latin typeface="Aptos"/>
              </a:rPr>
              <a:t> </a:t>
            </a:r>
            <a:r>
              <a:rPr sz="1600" b="0" dirty="0" err="1">
                <a:solidFill>
                  <a:srgbClr val="5E6A78"/>
                </a:solidFill>
                <a:latin typeface="Aptos"/>
              </a:rPr>
              <a:t>liệu</a:t>
            </a:r>
            <a:r>
              <a:rPr sz="1600" b="0" dirty="0">
                <a:solidFill>
                  <a:srgbClr val="5E6A78"/>
                </a:solidFill>
                <a:latin typeface="Aptos"/>
              </a:rPr>
              <a:t> </a:t>
            </a:r>
            <a:r>
              <a:rPr sz="1600" b="0" dirty="0" err="1">
                <a:solidFill>
                  <a:srgbClr val="5E6A78"/>
                </a:solidFill>
                <a:latin typeface="Aptos"/>
              </a:rPr>
              <a:t>khác</a:t>
            </a:r>
            <a:r>
              <a:rPr sz="1600" b="0" dirty="0">
                <a:solidFill>
                  <a:srgbClr val="5E6A78"/>
                </a:solidFill>
                <a:latin typeface="Aptos"/>
              </a:rPr>
              <a:t>.</a:t>
            </a:r>
          </a:p>
        </p:txBody>
      </p:sp>
      <p:sp>
        <p:nvSpPr>
          <p:cNvPr id="27" name="Rounded Rectangle 26"/>
          <p:cNvSpPr/>
          <p:nvPr/>
        </p:nvSpPr>
        <p:spPr>
          <a:xfrm>
            <a:off x="594360" y="5515287"/>
            <a:ext cx="10835640" cy="777240"/>
          </a:xfrm>
          <a:prstGeom prst="roundRect">
            <a:avLst/>
          </a:prstGeom>
          <a:solidFill>
            <a:srgbClr val="162C46"/>
          </a:solidFill>
          <a:ln w="12700">
            <a:solidFill>
              <a:srgbClr val="162C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28" name="TextBox 27"/>
          <p:cNvSpPr txBox="1"/>
          <p:nvPr/>
        </p:nvSpPr>
        <p:spPr>
          <a:xfrm>
            <a:off x="868680" y="5616181"/>
            <a:ext cx="10287000" cy="566309"/>
          </a:xfrm>
          <a:prstGeom prst="rect">
            <a:avLst/>
          </a:prstGeom>
          <a:noFill/>
        </p:spPr>
        <p:txBody>
          <a:bodyPr wrap="square" lIns="36576" tIns="36576" rIns="36576" bIns="36576" anchor="ctr">
            <a:spAutoFit/>
          </a:bodyPr>
          <a:lstStyle/>
          <a:p>
            <a:pPr algn="ctr"/>
            <a:r>
              <a:rPr sz="1600" b="1" dirty="0">
                <a:solidFill>
                  <a:srgbClr val="FFFFFF"/>
                </a:solidFill>
                <a:latin typeface="Aptos"/>
              </a:rPr>
              <a:t>SLA </a:t>
            </a:r>
            <a:r>
              <a:rPr sz="1600" b="1" dirty="0" err="1">
                <a:solidFill>
                  <a:srgbClr val="FFFFFF"/>
                </a:solidFill>
                <a:latin typeface="Aptos"/>
              </a:rPr>
              <a:t>nên</a:t>
            </a:r>
            <a:r>
              <a:rPr sz="1600" b="1" dirty="0">
                <a:solidFill>
                  <a:srgbClr val="FFFFFF"/>
                </a:solidFill>
                <a:latin typeface="Aptos"/>
              </a:rPr>
              <a:t> </a:t>
            </a:r>
            <a:r>
              <a:rPr sz="1600" b="1" dirty="0" err="1">
                <a:solidFill>
                  <a:srgbClr val="FFFFFF"/>
                </a:solidFill>
                <a:latin typeface="Aptos"/>
              </a:rPr>
              <a:t>được</a:t>
            </a:r>
            <a:r>
              <a:rPr sz="1600" b="1" dirty="0">
                <a:solidFill>
                  <a:srgbClr val="FFFFFF"/>
                </a:solidFill>
                <a:latin typeface="Aptos"/>
              </a:rPr>
              <a:t> </a:t>
            </a:r>
            <a:r>
              <a:rPr sz="1600" b="1" dirty="0" err="1">
                <a:solidFill>
                  <a:srgbClr val="FFFFFF"/>
                </a:solidFill>
                <a:latin typeface="Aptos"/>
              </a:rPr>
              <a:t>xem</a:t>
            </a:r>
            <a:r>
              <a:rPr sz="1600" b="1" dirty="0">
                <a:solidFill>
                  <a:srgbClr val="FFFFFF"/>
                </a:solidFill>
                <a:latin typeface="Aptos"/>
              </a:rPr>
              <a:t> </a:t>
            </a:r>
            <a:r>
              <a:rPr sz="1600" b="1" dirty="0" err="1">
                <a:solidFill>
                  <a:srgbClr val="FFFFFF"/>
                </a:solidFill>
                <a:latin typeface="Aptos"/>
              </a:rPr>
              <a:t>là</a:t>
            </a:r>
            <a:r>
              <a:rPr sz="1600" b="1" dirty="0">
                <a:solidFill>
                  <a:srgbClr val="FFFFFF"/>
                </a:solidFill>
                <a:latin typeface="Aptos"/>
              </a:rPr>
              <a:t> </a:t>
            </a:r>
            <a:r>
              <a:rPr sz="1600" b="1" dirty="0" err="1">
                <a:solidFill>
                  <a:srgbClr val="FFFFFF"/>
                </a:solidFill>
                <a:latin typeface="Aptos"/>
              </a:rPr>
              <a:t>một</a:t>
            </a:r>
            <a:r>
              <a:rPr sz="1600" b="1" dirty="0">
                <a:solidFill>
                  <a:srgbClr val="FFFFFF"/>
                </a:solidFill>
                <a:latin typeface="Aptos"/>
              </a:rPr>
              <a:t> </a:t>
            </a:r>
            <a:r>
              <a:rPr sz="1600" b="1" dirty="0" err="1">
                <a:solidFill>
                  <a:srgbClr val="FFFFFF"/>
                </a:solidFill>
                <a:latin typeface="Aptos"/>
              </a:rPr>
              <a:t>tín</a:t>
            </a:r>
            <a:r>
              <a:rPr sz="1600" b="1" dirty="0">
                <a:solidFill>
                  <a:srgbClr val="FFFFFF"/>
                </a:solidFill>
                <a:latin typeface="Aptos"/>
              </a:rPr>
              <a:t> </a:t>
            </a:r>
            <a:r>
              <a:rPr sz="1600" b="1" dirty="0" err="1">
                <a:solidFill>
                  <a:srgbClr val="FFFFFF"/>
                </a:solidFill>
                <a:latin typeface="Aptos"/>
              </a:rPr>
              <a:t>hiệu</a:t>
            </a:r>
            <a:r>
              <a:rPr sz="1600" b="1" dirty="0">
                <a:solidFill>
                  <a:srgbClr val="FFFFFF"/>
                </a:solidFill>
                <a:latin typeface="Aptos"/>
              </a:rPr>
              <a:t> </a:t>
            </a:r>
            <a:r>
              <a:rPr sz="1600" b="1" dirty="0" err="1">
                <a:solidFill>
                  <a:srgbClr val="FFFFFF"/>
                </a:solidFill>
                <a:latin typeface="Aptos"/>
              </a:rPr>
              <a:t>vận</a:t>
            </a:r>
            <a:r>
              <a:rPr sz="1600" b="1" dirty="0">
                <a:solidFill>
                  <a:srgbClr val="FFFFFF"/>
                </a:solidFill>
                <a:latin typeface="Aptos"/>
              </a:rPr>
              <a:t> </a:t>
            </a:r>
            <a:r>
              <a:rPr sz="1600" b="1" dirty="0" err="1">
                <a:solidFill>
                  <a:srgbClr val="FFFFFF"/>
                </a:solidFill>
                <a:latin typeface="Aptos"/>
              </a:rPr>
              <a:t>hành</a:t>
            </a:r>
            <a:r>
              <a:rPr sz="1600" b="1" dirty="0">
                <a:solidFill>
                  <a:srgbClr val="FFFFFF"/>
                </a:solidFill>
                <a:latin typeface="Aptos"/>
              </a:rPr>
              <a:t> </a:t>
            </a:r>
            <a:r>
              <a:rPr sz="1600" b="1" dirty="0" err="1">
                <a:solidFill>
                  <a:srgbClr val="FFFFFF"/>
                </a:solidFill>
                <a:latin typeface="Aptos"/>
              </a:rPr>
              <a:t>quan</a:t>
            </a:r>
            <a:r>
              <a:rPr sz="1600" b="1" dirty="0">
                <a:solidFill>
                  <a:srgbClr val="FFFFFF"/>
                </a:solidFill>
                <a:latin typeface="Aptos"/>
              </a:rPr>
              <a:t> </a:t>
            </a:r>
            <a:r>
              <a:rPr sz="1600" b="1" dirty="0" err="1">
                <a:solidFill>
                  <a:srgbClr val="FFFFFF"/>
                </a:solidFill>
                <a:latin typeface="Aptos"/>
              </a:rPr>
              <a:t>trọng</a:t>
            </a:r>
            <a:r>
              <a:rPr sz="1600" b="1" dirty="0">
                <a:solidFill>
                  <a:srgbClr val="FFFFFF"/>
                </a:solidFill>
                <a:latin typeface="Aptos"/>
              </a:rPr>
              <a:t>, </a:t>
            </a:r>
            <a:r>
              <a:rPr sz="1600" b="1" dirty="0" err="1">
                <a:solidFill>
                  <a:srgbClr val="FFFFFF"/>
                </a:solidFill>
                <a:latin typeface="Aptos"/>
              </a:rPr>
              <a:t>nhưng</a:t>
            </a:r>
            <a:r>
              <a:rPr sz="1600" b="1" dirty="0">
                <a:solidFill>
                  <a:srgbClr val="FFFFFF"/>
                </a:solidFill>
                <a:latin typeface="Aptos"/>
              </a:rPr>
              <a:t> </a:t>
            </a:r>
            <a:r>
              <a:rPr sz="1600" b="1" dirty="0" err="1">
                <a:solidFill>
                  <a:srgbClr val="FFFFFF"/>
                </a:solidFill>
                <a:latin typeface="Aptos"/>
              </a:rPr>
              <a:t>cần</a:t>
            </a:r>
            <a:r>
              <a:rPr sz="1600" b="1" dirty="0">
                <a:solidFill>
                  <a:srgbClr val="FFFFFF"/>
                </a:solidFill>
                <a:latin typeface="Aptos"/>
              </a:rPr>
              <a:t> </a:t>
            </a:r>
            <a:r>
              <a:rPr sz="1600" b="1" dirty="0" err="1">
                <a:solidFill>
                  <a:srgbClr val="FFFFFF"/>
                </a:solidFill>
                <a:latin typeface="Aptos"/>
              </a:rPr>
              <a:t>kết</a:t>
            </a:r>
            <a:r>
              <a:rPr sz="1600" b="1" dirty="0">
                <a:solidFill>
                  <a:srgbClr val="FFFFFF"/>
                </a:solidFill>
                <a:latin typeface="Aptos"/>
              </a:rPr>
              <a:t> </a:t>
            </a:r>
            <a:r>
              <a:rPr sz="1600" b="1" dirty="0" err="1">
                <a:solidFill>
                  <a:srgbClr val="FFFFFF"/>
                </a:solidFill>
                <a:latin typeface="Aptos"/>
              </a:rPr>
              <a:t>hợp</a:t>
            </a:r>
            <a:r>
              <a:rPr sz="1600" b="1" dirty="0">
                <a:solidFill>
                  <a:srgbClr val="FFFFFF"/>
                </a:solidFill>
                <a:latin typeface="Aptos"/>
              </a:rPr>
              <a:t> Lead Time, </a:t>
            </a:r>
            <a:r>
              <a:rPr sz="1600" b="1" dirty="0" err="1">
                <a:solidFill>
                  <a:srgbClr val="FFFFFF"/>
                </a:solidFill>
                <a:latin typeface="Aptos"/>
              </a:rPr>
              <a:t>phản</a:t>
            </a:r>
            <a:r>
              <a:rPr sz="1600" b="1" dirty="0">
                <a:solidFill>
                  <a:srgbClr val="FFFFFF"/>
                </a:solidFill>
                <a:latin typeface="Aptos"/>
              </a:rPr>
              <a:t> </a:t>
            </a:r>
            <a:r>
              <a:rPr sz="1600" b="1" dirty="0" err="1">
                <a:solidFill>
                  <a:srgbClr val="FFFFFF"/>
                </a:solidFill>
                <a:latin typeface="Aptos"/>
              </a:rPr>
              <a:t>hồi</a:t>
            </a:r>
            <a:r>
              <a:rPr sz="1600" b="1" dirty="0">
                <a:solidFill>
                  <a:srgbClr val="FFFFFF"/>
                </a:solidFill>
                <a:latin typeface="Aptos"/>
              </a:rPr>
              <a:t> </a:t>
            </a:r>
            <a:r>
              <a:rPr sz="1600" b="1" dirty="0" err="1">
                <a:solidFill>
                  <a:srgbClr val="FFFFFF"/>
                </a:solidFill>
                <a:latin typeface="Aptos"/>
              </a:rPr>
              <a:t>khách</a:t>
            </a:r>
            <a:r>
              <a:rPr sz="1600" b="1" dirty="0">
                <a:solidFill>
                  <a:srgbClr val="FFFFFF"/>
                </a:solidFill>
                <a:latin typeface="Aptos"/>
              </a:rPr>
              <a:t> </a:t>
            </a:r>
            <a:r>
              <a:rPr sz="1600" b="1" dirty="0" err="1">
                <a:solidFill>
                  <a:srgbClr val="FFFFFF"/>
                </a:solidFill>
                <a:latin typeface="Aptos"/>
              </a:rPr>
              <a:t>hàng</a:t>
            </a:r>
            <a:r>
              <a:rPr sz="1600" b="1" dirty="0">
                <a:solidFill>
                  <a:srgbClr val="FFFFFF"/>
                </a:solidFill>
                <a:latin typeface="Aptos"/>
              </a:rPr>
              <a:t> </a:t>
            </a:r>
            <a:r>
              <a:rPr sz="1600" b="1" dirty="0" err="1">
                <a:solidFill>
                  <a:srgbClr val="FFFFFF"/>
                </a:solidFill>
                <a:latin typeface="Aptos"/>
              </a:rPr>
              <a:t>và</a:t>
            </a:r>
            <a:r>
              <a:rPr sz="1600" b="1" dirty="0">
                <a:solidFill>
                  <a:srgbClr val="FFFFFF"/>
                </a:solidFill>
                <a:latin typeface="Aptos"/>
              </a:rPr>
              <a:t> </a:t>
            </a:r>
            <a:r>
              <a:rPr sz="1600" b="1" dirty="0" err="1">
                <a:solidFill>
                  <a:srgbClr val="FFFFFF"/>
                </a:solidFill>
                <a:latin typeface="Aptos"/>
              </a:rPr>
              <a:t>mô</a:t>
            </a:r>
            <a:r>
              <a:rPr sz="1600" b="1" dirty="0">
                <a:solidFill>
                  <a:srgbClr val="FFFFFF"/>
                </a:solidFill>
                <a:latin typeface="Aptos"/>
              </a:rPr>
              <a:t> </a:t>
            </a:r>
            <a:r>
              <a:rPr sz="1600" b="1" dirty="0" err="1">
                <a:solidFill>
                  <a:srgbClr val="FFFFFF"/>
                </a:solidFill>
                <a:latin typeface="Aptos"/>
              </a:rPr>
              <a:t>hình</a:t>
            </a:r>
            <a:r>
              <a:rPr sz="1600" b="1" dirty="0">
                <a:solidFill>
                  <a:srgbClr val="FFFFFF"/>
                </a:solidFill>
                <a:latin typeface="Aptos"/>
              </a:rPr>
              <a:t> </a:t>
            </a:r>
            <a:r>
              <a:rPr sz="1600" b="1" dirty="0" err="1">
                <a:solidFill>
                  <a:srgbClr val="FFFFFF"/>
                </a:solidFill>
                <a:latin typeface="Aptos"/>
              </a:rPr>
              <a:t>rủi</a:t>
            </a:r>
            <a:r>
              <a:rPr sz="1600" b="1" dirty="0">
                <a:solidFill>
                  <a:srgbClr val="FFFFFF"/>
                </a:solidFill>
                <a:latin typeface="Aptos"/>
              </a:rPr>
              <a:t> </a:t>
            </a:r>
            <a:r>
              <a:rPr sz="1600" b="1" dirty="0" err="1">
                <a:solidFill>
                  <a:srgbClr val="FFFFFF"/>
                </a:solidFill>
                <a:latin typeface="Aptos"/>
              </a:rPr>
              <a:t>ro</a:t>
            </a:r>
            <a:r>
              <a:rPr sz="1600" b="1" dirty="0">
                <a:solidFill>
                  <a:srgbClr val="FFFFFF"/>
                </a:solidFill>
                <a:latin typeface="Aptos"/>
              </a:rPr>
              <a:t> </a:t>
            </a:r>
            <a:r>
              <a:rPr sz="1600" b="1" dirty="0" err="1">
                <a:solidFill>
                  <a:srgbClr val="FFFFFF"/>
                </a:solidFill>
                <a:latin typeface="Aptos"/>
              </a:rPr>
              <a:t>để</a:t>
            </a:r>
            <a:r>
              <a:rPr sz="1600" b="1" dirty="0">
                <a:solidFill>
                  <a:srgbClr val="FFFFFF"/>
                </a:solidFill>
                <a:latin typeface="Aptos"/>
              </a:rPr>
              <a:t> </a:t>
            </a:r>
            <a:r>
              <a:rPr sz="1600" b="1" dirty="0" err="1">
                <a:solidFill>
                  <a:srgbClr val="FFFFFF"/>
                </a:solidFill>
                <a:latin typeface="Aptos"/>
              </a:rPr>
              <a:t>đánh</a:t>
            </a:r>
            <a:r>
              <a:rPr sz="1600" b="1" dirty="0">
                <a:solidFill>
                  <a:srgbClr val="FFFFFF"/>
                </a:solidFill>
                <a:latin typeface="Aptos"/>
              </a:rPr>
              <a:t> </a:t>
            </a:r>
            <a:r>
              <a:rPr sz="1600" b="1" dirty="0" err="1">
                <a:solidFill>
                  <a:srgbClr val="FFFFFF"/>
                </a:solidFill>
                <a:latin typeface="Aptos"/>
              </a:rPr>
              <a:t>giá</a:t>
            </a:r>
            <a:r>
              <a:rPr sz="1600" b="1" dirty="0">
                <a:solidFill>
                  <a:srgbClr val="FFFFFF"/>
                </a:solidFill>
                <a:latin typeface="Aptos"/>
              </a:rPr>
              <a:t> </a:t>
            </a:r>
            <a:r>
              <a:rPr sz="1600" b="1" dirty="0" err="1">
                <a:solidFill>
                  <a:srgbClr val="FFFFFF"/>
                </a:solidFill>
                <a:latin typeface="Aptos"/>
              </a:rPr>
              <a:t>trải</a:t>
            </a:r>
            <a:r>
              <a:rPr sz="1600" b="1" dirty="0">
                <a:solidFill>
                  <a:srgbClr val="FFFFFF"/>
                </a:solidFill>
                <a:latin typeface="Aptos"/>
              </a:rPr>
              <a:t> </a:t>
            </a:r>
            <a:r>
              <a:rPr sz="1600" b="1" dirty="0" err="1">
                <a:solidFill>
                  <a:srgbClr val="FFFFFF"/>
                </a:solidFill>
                <a:latin typeface="Aptos"/>
              </a:rPr>
              <a:t>nghiệm</a:t>
            </a:r>
            <a:r>
              <a:rPr sz="1600" b="1" dirty="0">
                <a:solidFill>
                  <a:srgbClr val="FFFFFF"/>
                </a:solidFill>
                <a:latin typeface="Aptos"/>
              </a:rPr>
              <a:t> </a:t>
            </a:r>
            <a:r>
              <a:rPr sz="1600" b="1" dirty="0" err="1">
                <a:solidFill>
                  <a:srgbClr val="FFFFFF"/>
                </a:solidFill>
                <a:latin typeface="Aptos"/>
              </a:rPr>
              <a:t>giao</a:t>
            </a:r>
            <a:r>
              <a:rPr sz="1600" b="1" dirty="0">
                <a:solidFill>
                  <a:srgbClr val="FFFFFF"/>
                </a:solidFill>
                <a:latin typeface="Aptos"/>
              </a:rPr>
              <a:t> </a:t>
            </a:r>
            <a:r>
              <a:rPr sz="1600" b="1" dirty="0" err="1">
                <a:solidFill>
                  <a:srgbClr val="FFFFFF"/>
                </a:solidFill>
                <a:latin typeface="Aptos"/>
              </a:rPr>
              <a:t>hàng</a:t>
            </a:r>
            <a:r>
              <a:rPr sz="1600" b="1" dirty="0">
                <a:solidFill>
                  <a:srgbClr val="FFFFFF"/>
                </a:solidFill>
                <a:latin typeface="Aptos"/>
              </a:rPr>
              <a:t> </a:t>
            </a:r>
            <a:r>
              <a:rPr sz="1600" b="1" dirty="0" err="1">
                <a:solidFill>
                  <a:srgbClr val="FFFFFF"/>
                </a:solidFill>
                <a:latin typeface="Aptos"/>
              </a:rPr>
              <a:t>đầy</a:t>
            </a:r>
            <a:r>
              <a:rPr sz="1600" b="1" dirty="0">
                <a:solidFill>
                  <a:srgbClr val="FFFFFF"/>
                </a:solidFill>
                <a:latin typeface="Aptos"/>
              </a:rPr>
              <a:t> </a:t>
            </a:r>
            <a:r>
              <a:rPr sz="1600" b="1" dirty="0" err="1">
                <a:solidFill>
                  <a:srgbClr val="FFFFFF"/>
                </a:solidFill>
                <a:latin typeface="Aptos"/>
              </a:rPr>
              <a:t>đủ</a:t>
            </a:r>
            <a:r>
              <a:rPr sz="1600" b="1" dirty="0">
                <a:solidFill>
                  <a:srgbClr val="FFFFFF"/>
                </a:solidFill>
                <a:latin typeface="Aptos"/>
              </a:rPr>
              <a:t> </a:t>
            </a:r>
            <a:r>
              <a:rPr sz="1600" b="1" dirty="0" err="1">
                <a:solidFill>
                  <a:srgbClr val="FFFFFF"/>
                </a:solidFill>
                <a:latin typeface="Aptos"/>
              </a:rPr>
              <a:t>hơn</a:t>
            </a:r>
            <a:r>
              <a:rPr sz="1600" b="1" dirty="0">
                <a:solidFill>
                  <a:srgbClr val="FFFFFF"/>
                </a:solidFill>
                <a:latin typeface="Aptos"/>
              </a:rPr>
              <a:t>.</a:t>
            </a:r>
          </a:p>
        </p:txBody>
      </p:sp>
      <p:sp>
        <p:nvSpPr>
          <p:cNvPr id="29" name="TextBox 28"/>
          <p:cNvSpPr txBox="1"/>
          <p:nvPr/>
        </p:nvSpPr>
        <p:spPr>
          <a:xfrm>
            <a:off x="594360" y="6565392"/>
            <a:ext cx="4023360" cy="164592"/>
          </a:xfrm>
          <a:prstGeom prst="rect">
            <a:avLst/>
          </a:prstGeom>
          <a:noFill/>
        </p:spPr>
        <p:txBody>
          <a:bodyPr wrap="square" lIns="36576" tIns="36576" rIns="36576" bIns="36576" anchor="t">
            <a:spAutoFit/>
          </a:bodyPr>
          <a:lstStyle/>
          <a:p>
            <a:pPr algn="l"/>
            <a:r>
              <a:rPr sz="850" b="0">
                <a:solidFill>
                  <a:srgbClr val="5E6A78"/>
                </a:solidFill>
                <a:latin typeface="Aptos"/>
              </a:rPr>
              <a:t>Cơ sở Khoa học Dữ liệu  •  SLA &amp; Customer Experience</a:t>
            </a:r>
          </a:p>
        </p:txBody>
      </p:sp>
      <p:sp>
        <p:nvSpPr>
          <p:cNvPr id="30" name="TextBox 29"/>
          <p:cNvSpPr txBox="1"/>
          <p:nvPr/>
        </p:nvSpPr>
        <p:spPr>
          <a:xfrm>
            <a:off x="11201400" y="6567055"/>
            <a:ext cx="365760" cy="166255"/>
          </a:xfrm>
          <a:prstGeom prst="rect">
            <a:avLst/>
          </a:prstGeom>
          <a:noFill/>
        </p:spPr>
        <p:txBody>
          <a:bodyPr wrap="square" lIns="36576" tIns="36576" rIns="36576" bIns="36576" anchor="t">
            <a:spAutoFit/>
          </a:bodyPr>
          <a:lstStyle/>
          <a:p>
            <a:pPr algn="r"/>
            <a:r>
              <a:rPr sz="850" b="0">
                <a:solidFill>
                  <a:srgbClr val="5E6A78"/>
                </a:solidFill>
                <a:latin typeface="Aptos"/>
              </a:rPr>
              <a:t>30</a:t>
            </a:r>
          </a:p>
        </p:txBody>
      </p:sp>
      <p:sp>
        <p:nvSpPr>
          <p:cNvPr id="31" name="Rounded Rectangle 30"/>
          <p:cNvSpPr/>
          <p:nvPr/>
        </p:nvSpPr>
        <p:spPr>
          <a:xfrm>
            <a:off x="4846320"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Business</a:t>
            </a:r>
          </a:p>
        </p:txBody>
      </p:sp>
      <p:sp>
        <p:nvSpPr>
          <p:cNvPr id="32" name="Rounded Rectangle 31"/>
          <p:cNvSpPr/>
          <p:nvPr/>
        </p:nvSpPr>
        <p:spPr>
          <a:xfrm>
            <a:off x="5550408" y="6510528"/>
            <a:ext cx="1005840"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Data Collection</a:t>
            </a:r>
          </a:p>
        </p:txBody>
      </p:sp>
      <p:sp>
        <p:nvSpPr>
          <p:cNvPr id="33" name="Rounded Rectangle 32"/>
          <p:cNvSpPr/>
          <p:nvPr/>
        </p:nvSpPr>
        <p:spPr>
          <a:xfrm>
            <a:off x="6601968" y="6510528"/>
            <a:ext cx="658368"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Cleaning</a:t>
            </a:r>
          </a:p>
        </p:txBody>
      </p:sp>
      <p:sp>
        <p:nvSpPr>
          <p:cNvPr id="34" name="Rounded Rectangle 33"/>
          <p:cNvSpPr/>
          <p:nvPr/>
        </p:nvSpPr>
        <p:spPr>
          <a:xfrm>
            <a:off x="7306056" y="6510528"/>
            <a:ext cx="42062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EDA</a:t>
            </a:r>
          </a:p>
        </p:txBody>
      </p:sp>
      <p:sp>
        <p:nvSpPr>
          <p:cNvPr id="35" name="Rounded Rectangle 34"/>
          <p:cNvSpPr/>
          <p:nvPr/>
        </p:nvSpPr>
        <p:spPr>
          <a:xfrm>
            <a:off x="7772400" y="6510528"/>
            <a:ext cx="67665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Features</a:t>
            </a:r>
          </a:p>
        </p:txBody>
      </p:sp>
      <p:sp>
        <p:nvSpPr>
          <p:cNvPr id="36" name="Rounded Rectangle 35"/>
          <p:cNvSpPr/>
          <p:nvPr/>
        </p:nvSpPr>
        <p:spPr>
          <a:xfrm>
            <a:off x="8494776" y="6510528"/>
            <a:ext cx="694944"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Modeling</a:t>
            </a:r>
          </a:p>
        </p:txBody>
      </p:sp>
      <p:sp>
        <p:nvSpPr>
          <p:cNvPr id="37" name="Rounded Rectangle 36"/>
          <p:cNvSpPr/>
          <p:nvPr/>
        </p:nvSpPr>
        <p:spPr>
          <a:xfrm>
            <a:off x="9235440" y="6510528"/>
            <a:ext cx="768096" cy="219456"/>
          </a:xfrm>
          <a:prstGeom prst="roundRect">
            <a:avLst>
              <a:gd name="adj" fmla="val 50000"/>
            </a:avLst>
          </a:prstGeom>
          <a:solidFill>
            <a:srgbClr val="FFFFFF"/>
          </a:solidFill>
          <a:ln w="12700">
            <a:solidFill>
              <a:srgbClr val="D3DCE5"/>
            </a:solid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0" i="0">
                <a:solidFill>
                  <a:srgbClr val="5E6A78"/>
                </a:solidFill>
                <a:latin typeface="Aptos"/>
              </a:rPr>
              <a:t>Evaluation</a:t>
            </a:r>
          </a:p>
        </p:txBody>
      </p:sp>
      <p:sp>
        <p:nvSpPr>
          <p:cNvPr id="38" name="Rounded Rectangle 37"/>
          <p:cNvSpPr/>
          <p:nvPr/>
        </p:nvSpPr>
        <p:spPr>
          <a:xfrm>
            <a:off x="10049256" y="6510528"/>
            <a:ext cx="969264" cy="219456"/>
          </a:xfrm>
          <a:prstGeom prst="roundRect">
            <a:avLst>
              <a:gd name="adj" fmla="val 50000"/>
            </a:avLst>
          </a:prstGeom>
          <a:solidFill>
            <a:srgbClr val="162C46"/>
          </a:solidFill>
          <a:ln>
            <a:noFill/>
          </a:ln>
        </p:spPr>
        <p:style>
          <a:lnRef idx="1">
            <a:schemeClr val="accent1"/>
          </a:lnRef>
          <a:fillRef idx="3">
            <a:schemeClr val="accent1"/>
          </a:fillRef>
          <a:effectRef idx="2">
            <a:schemeClr val="accent1"/>
          </a:effectRef>
          <a:fontRef idx="minor">
            <a:schemeClr val="lt1"/>
          </a:fontRef>
        </p:style>
        <p:txBody>
          <a:bodyPr lIns="9144" tIns="9144" rIns="9144" bIns="9144" rtlCol="0" anchor="ctr"/>
          <a:lstStyle/>
          <a:p>
            <a:pPr algn="ctr"/>
            <a:r>
              <a:rPr sz="800" b="1" i="0">
                <a:solidFill>
                  <a:srgbClr val="FFFFFF"/>
                </a:solidFill>
                <a:latin typeface="Aptos"/>
              </a:rPr>
              <a:t>Business Value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Chủ đề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162</TotalTime>
  <Words>6986</Words>
  <Application>Microsoft Office PowerPoint</Application>
  <PresentationFormat>Widescreen</PresentationFormat>
  <Paragraphs>892</Paragraphs>
  <Slides>25</Slides>
  <Notes>14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Aptos</vt:lpstr>
      <vt:lpstr>Aptos Display</vt: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Quốc An</dc:creator>
  <cp:keywords/>
  <dc:description>generated using python-pptx</dc:description>
  <cp:lastModifiedBy>An Phan</cp:lastModifiedBy>
  <cp:revision>7</cp:revision>
  <dcterms:created xsi:type="dcterms:W3CDTF">2013-01-27T09:14:16Z</dcterms:created>
  <dcterms:modified xsi:type="dcterms:W3CDTF">2026-09-30T17:46:52Z</dcterms:modified>
  <cp:category/>
</cp:coreProperties>
</file>