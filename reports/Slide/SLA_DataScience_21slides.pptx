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19"/>
    <p:sldId id="260" r:id="rId6"/>
    <p:sldId id="269" r:id="rId20"/>
    <p:sldId id="261" r:id="rId7"/>
    <p:sldId id="262" r:id="rId8"/>
    <p:sldId id="270" r:id="rId21"/>
    <p:sldId id="263" r:id="rId9"/>
    <p:sldId id="271" r:id="rId22"/>
    <p:sldId id="264" r:id="rId10"/>
    <p:sldId id="272" r:id="rId23"/>
    <p:sldId id="273" r:id="rId24"/>
    <p:sldId id="274" r:id="rId25"/>
    <p:sldId id="275" r:id="rId26"/>
    <p:sldId id="265" r:id="rId11"/>
    <p:sldId id="276" r:id="rId27"/>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01"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EBFCF-7AA4-4AC6-BC31-3DCFABDCB4EC}" type="datetimeFigureOut">
              <a:rPr lang="en-US" smtClean="0"/>
              <a:t>9/29/2026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681AB-B8B1-41BD-B60F-78E646209784}" type="slidenum">
              <a:rPr lang="en-US" smtClean="0"/>
              <a:t>‹#›</a:t>
            </a:fld>
            <a:endParaRPr lang="en-US"/>
          </a:p>
        </p:txBody>
      </p:sp>
    </p:spTree>
    <p:extLst>
      <p:ext uri="{BB962C8B-B14F-4D97-AF65-F5344CB8AC3E}">
        <p14:creationId xmlns:p14="http://schemas.microsoft.com/office/powerpoint/2010/main" val="259223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6</a:t>
            </a:fld>
            <a:endParaRPr lang="en-US"/>
          </a:p>
        </p:txBody>
      </p:sp>
    </p:spTree>
    <p:extLst>
      <p:ext uri="{BB962C8B-B14F-4D97-AF65-F5344CB8AC3E}">
        <p14:creationId xmlns:p14="http://schemas.microsoft.com/office/powerpoint/2010/main" val="1131960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11</a:t>
            </a:fld>
            <a:endParaRPr lang="en-US"/>
          </a:p>
        </p:txBody>
      </p:sp>
    </p:spTree>
    <p:extLst>
      <p:ext uri="{BB962C8B-B14F-4D97-AF65-F5344CB8AC3E}">
        <p14:creationId xmlns:p14="http://schemas.microsoft.com/office/powerpoint/2010/main" val="3200777823"/>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chính: cào ngây thơ ra 96% review 5 sao → biến mục tiêu không có phương sai. Nhóm đọc histogram sao ở cấp quần thể (API trả kèm, đếm thật), vét cạn tầng 1–3★, lấy tối đa 200 review ở tầng 4–5★, rồi gán w = N_h/n_h.</a:t>
            </a:r>
          </a:p>
          <a:p/>
          <a:p>
            <a:r>
              <a:t>Câu hỏi dự kiến — Vì sao tin trọng số đúng? Tổng trọng số 438.255 khớp tổng số review 438.295 lấy từ một endpoint KHÁC, lệch 0,0091% — hai con số không hề được ép cho khớp.</a:t>
            </a:r>
          </a:p>
          <a:p>
            <a:r>
              <a:t>— Trọng số làm gì? Mọi tỉ lệ/trung bình quần thể đều nhân w; không nhân thì tỉ lệ review xấu bị phóng đại gấp đôi (8,6% vs 4,0%).</a:t>
            </a:r>
          </a:p>
          <a:p>
            <a:r>
              <a:t>— n_eff là gì? Kish n_eff = (Σw)²/Σw²: số quan sát 'thật sự mang thông tin'. 182 dòng có thể chỉ bằng 25 quan sát.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Lỗi 1 — hai đồng hồ: purchased_at là epoch UTC, delivery_date là chuỗi giờ Việt Nam. Trừ thẳng → mọi lead time dư 7 giờ. Không làm gãy dòng code nào nên gọi là lỗi im lặng. Bắt được bằng phép đo: created_at (epoch) và review_created_date (chuỗi) mô tả CÙNG một sự kiện → hiệu = 7,0000 giờ trên 200.307 review, độ lệch chuẩn 0.</a:t>
            </a:r>
          </a:p>
          <a:p>
            <a:r>
              <a:t>Lỗi 2 — 1.799 dòng lead_days âm: purchased_at ghi lần mua GẦN NHẤT của khách với sản phẩm, khách mua lại sau khi review thì ngày đặt nhảy qua ngày viết review (93,4% dòng âm như vậy). Gắn cờ, không xoá; nhân trọng số thì nhóm này không khác phần còn lại (rating 4,770 vs 4,781).</a:t>
            </a:r>
          </a:p>
          <a:p>
            <a:r>
              <a:t>Câu hỏi dự kiến — Sao không dropna? Vì chưa biết chúng có phải khách bất mãn không; phải điều tra rồi mới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Định nghĩa: sức phân biệt của một chỉ báo nhị phân = |rating TB nhóm 'có' − rating TB nhóm 'không'| (có trọng số). Kết luận = sức phân biệt của nhãn khách − sức phân biệt của chỉ báo SLA, tính trên cùng 15.816 review có nhãn.</a:t>
            </a:r>
          </a:p>
          <a:p>
            <a:r>
              <a:t>Vì sao bootstrap theo CỤM sản phẩm: review cùng sản phẩm chung nhà bán, kho, tuyến giao → không độc lập; bootstrap theo dòng cho KTC hẹp giả tạo.</a:t>
            </a:r>
          </a:p>
          <a:p>
            <a:r>
              <a:t>Vì sao tin: tính lại từ dữ liệu thô của 3 mẻ cào × 2 cách đọc đồng hồ → 4/4 số đã công bố khớp, 6/6 KTC không chứa 0 (notebook 02,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điểm dự báo = lúc hàng giao tới tay khách, trước khi khách viết review. Biến nào chưa biết tại thời điểm đó thì cấm.</a:t>
            </a:r>
          </a:p>
          <a:p>
            <a:r>
              <a:t>Câu hỏi dự kiến — Sao không dùng weight làm feature? w = N_h/n_h phụ thuộc tầng sao, tức là hàm của chính nhãn → leakage; weight chỉ dùng khi đánh giá.</a:t>
            </a:r>
          </a:p>
          <a:p>
            <a:r>
              <a:t>— Sao không đưa cả lead_days và gap_days? gap_days = lead_days − 5, tương quan đúng 1,0 → hệ số hồi quy không xác định. sla_breach là bản nhị phân của lead_days → chỉ dùng riêng trong M1a để làm mốc so sánh.</a:t>
            </a:r>
          </a:p>
          <a:p>
            <a:r>
              <a:t>— Feature lịch sử có rò rỉ không? Chỉ cộng review đăng TRƯỚC thời điểm giao, không gồm chính dòng đó, có trọng số và làm trơn Bayes (prior Beta) → cài bằng np.searchsorted, test khớp từng số với bản vòng lặp.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Vì sao cần interface: thang mô hình chỉ so sánh công bằng khi mọi mô hình đi qua cùng một vòng đánh giá (cùng dòng, cùng cột, cùng metric có trọng số). Vòng đánh giá chỉ gọi fit/predict_proba, không biết đang chấm lớp nào — đa hình.</a:t>
            </a:r>
          </a:p>
          <a:p>
            <a:r>
              <a:t>Template method: fit() ở lớp cha kiểm tra đầu vào, chọn cột, ghi classes_ rồi mới gọi _fit() của lớp con → lớp con không thể quên kiểm tra.</a:t>
            </a:r>
          </a:p>
          <a:p>
            <a:r>
              <a:t>score() bị ghi đè: ClassifierMixin.score mặc định là accuracy — vô nghĩa khi lớp dương ~2–4% — nên đổi thành PR-AUC.</a:t>
            </a:r>
          </a:p>
          <a:p>
            <a:r>
              <a:t>Decorator: CalibratedModel là một BaseModel và chứa một BaseModel. Composite: EnsembleModel là một BaseModel và chứa nhiều BaseModel. Mô hình chốt M7 = CalibratedModel(EnsembleModel(GBM, Logistic)).</a:t>
            </a:r>
          </a:p>
          <a:p>
            <a:r>
              <a:t>Kế thừa sklearn BaseEstimator → get_params/set_params/clone tự động, nhờ quy ước: siêu tham số = tham số __init__ gán nguyên văn.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search (Bergstra &amp; Bengio, 2012): khi chỉ vài siêu tham số thật sự quan trọng, random thử được nhiều giá trị khác nhau hơn trên mỗi chiều quan trọng so với grid cùng ngân sách. Không dùng Bayesian (Optuna) vì thêm phụ thuộc, lợi thế nhỏ với ~40 lượt.</a:t>
            </a:r>
          </a:p>
          <a:p>
            <a:r>
              <a:t>Vì sao log-uniform cho learning_rate và l2: tác động theo bậc độ lớn (0,02 vs 0,2 khác nhau như 0,2 vs 2).</a:t>
            </a:r>
          </a:p>
          <a:p>
            <a:r>
              <a:t>Vì sao không tune max_iter: đánh đổi trực tiếp với learning_rate; dừng sớm tìm số cây tốt cho từng cấu hình gần như miễn phí → số cây thật lưu ở n_iter_ = 1.531.</a:t>
            </a:r>
          </a:p>
          <a:p>
            <a:r>
              <a:t>Vì sao min_samples_leaf quan trọng: lớp dương hiếm — lá quá nhỏ chỉ chứa 0–1 ca dương → học nhiễu.</a:t>
            </a:r>
          </a:p>
          <a:p>
            <a:r>
              <a:t>Vì sao C của logistic nhỏ (1,88·10⁻⁵): sklearn nhân C với TỔNG trọng số mẫu; tổng trọng số khảo sát ~ quy mô quần thể nên cường độ phạt hiệu dụng vẫn vừa phải.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ngắn: trong CHÍNH thuộc tính của đối tượng mô hình. tune() là phương thức của BaseModel; chạy xong nó gọi self.set_params(**best) nên gbm.learning_rate giờ là 0,0225 chứ không còn 0,1 mặc định. Bản ghi quá trình tune lưu thành thuộc tính đuôi gạch dưới: best_params_, best_score_, tuning_results_ (bảng 40 cấu hình), tuning_space_, tuning_cv_. Sau đó refit trên toàn bộ train → estimator_, n_iter_.</a:t>
            </a:r>
          </a:p>
          <a:p>
            <a:r>
              <a:t>Phân biệt: siêu tham số (người chọn, trước fit) = tham số __init__, không đuôi _. Thuộc tính học được (dữ liệu quyết định) có đuôi _, chỉ tồn tại sau fit — check_is_fitted dựa vào quy ước này.</a:t>
            </a:r>
          </a:p>
          <a:p>
            <a:r>
              <a:t>clone(tuned) giữ bộ siêu tham số đã tune nhưng bỏ trạng thái đã học → dùng trong CV và ensemble.</a:t>
            </a:r>
          </a:p>
          <a:p>
            <a:r>
              <a:t>Bài học tái lập: một thành viên chạy lại trên scikit-learn 1.9.1 ra bộ siêu tham số GBM khác (logistic thì trùng 16 chữ số) → nhóm ghim scikit-learn==1.5.1 và thêm chốt chặn phiên bản trong run_modeling.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Trọng số khi train: kế hoạch ban đầu D9 là train không trọng số (lập luận case-control). Nhưng lập luận đó cần xác suất vào mẫu chỉ phụ thuộc nhãn; ở đây xác suất cào một review 5★ là n_h/N_h — phụ thuộc SẢN PHẨM. Hệ quả đo được: 3/16 feature đảo chiều giữa mẫu thô và quần thể, và train không trọng số thua ở cả 3 họ mô hình. Chọn survey_balanced (trọng số khảo sát + cân bằng lớp) bằng CV, không bằng cảm tính.</a:t>
            </a:r>
          </a:p>
          <a:p>
            <a:r>
              <a:t>Vì sao không deep learning: dữ liệu bảng 17 biến, ~15 nghìn ca dương; mô hình cây thắng mạng nơ-ron có hệ thống trên dữ liệu bảng (Grinsztajn et al., NeurIPS 2022).</a:t>
            </a:r>
          </a:p>
          <a:p>
            <a:r>
              <a:t>Ensemble: sai số của trung bình = trung bình sai số riêng − độ bất đồng (Krogh &amp; Vedelsby, 1995). GBM và logistic sai theo hai kiểu khác nhau → gộp có lợi.</a:t>
            </a:r>
          </a:p>
          <a:p>
            <a:r>
              <a:t>Trung thực: tune cải thiện CV nhưng không cải thiện test; ensemble chốt ngang logistic tuned trên test. Ensemble được thêm vào tập ứng viên sau lần chạy thử trên test → điểm test của M7 hơi lạc quan (đã ghi rõ trong FINDINGS §11.3).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SLA: 5 ngày lấy từ SLA công bố của Tiki. Quét 3–7 ngày: kết luận dương ở mọi ngưỡng, KTC không chứa 0; ở 7 ngày cận dưới sát 0 (0,008) — nói thẳng giới hạn này.</a:t>
            </a:r>
          </a:p>
          <a:p>
            <a:r>
              <a:t>MNAR: 74% review trong kỷ nguyên 2023+ không có nhãn. Chặn Manski không cần giả định thì quá rộng [0,5%; 75%]. Quét θ: θ = 1 là MAR, θ = 0 là nhãn không mang thông tin gì trong nhóm không nhãn. Kết luận chỉ đổi dấu khi θ &lt; 0,047, tức nhãn khách mất hơn 95% thông tin — giả định cực đoan. Tự kiểm A3 tái lập đúng +0,2082.</a:t>
            </a:r>
          </a:p>
          <a:p>
            <a:r>
              <a:t>Năm 2021: mọi review có nhãn nằm ở 2023+, nên bỏ 2021 không đổi kết luận — nhưng bỏ 2021 xoá ~60% ca vượt SLA mà mô hình cần. Chi tiết: notebooks/02_chung_minh.ipynb.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685800"/>
            <a:ext cx="7223760" cy="1143000"/>
          </a:xfrm>
          <a:prstGeom prst="rect">
            <a:avLst/>
          </a:prstGeom>
          <a:noFill/>
        </p:spPr>
        <p:txBody>
          <a:bodyPr wrap="square" lIns="36576" tIns="36576" rIns="36576" bIns="36576" anchor="t">
            <a:spAutoFit/>
          </a:bodyPr>
          <a:lstStyle/>
          <a:p>
            <a:pPr algn="l"/>
            <a:r>
              <a:rPr sz="3000" b="1" dirty="0">
                <a:solidFill>
                  <a:srgbClr val="162C46"/>
                </a:solidFill>
                <a:latin typeface="Aptos Display"/>
              </a:rPr>
              <a:t>BẺ GÃY BẪY SLA
TRONG THƯƠNG MẠI ĐIỆN TỬ</a:t>
            </a:r>
          </a:p>
        </p:txBody>
      </p:sp>
      <p:sp>
        <p:nvSpPr>
          <p:cNvPr id="3" name="TextBox 2"/>
          <p:cNvSpPr txBox="1"/>
          <p:nvPr/>
        </p:nvSpPr>
        <p:spPr>
          <a:xfrm>
            <a:off x="749808" y="1920240"/>
            <a:ext cx="6949440" cy="502920"/>
          </a:xfrm>
          <a:prstGeom prst="rect">
            <a:avLst/>
          </a:prstGeom>
          <a:noFill/>
        </p:spPr>
        <p:txBody>
          <a:bodyPr wrap="square" lIns="36576" tIns="36576" rIns="36576" bIns="36576" anchor="t">
            <a:spAutoFit/>
          </a:bodyPr>
          <a:lstStyle/>
          <a:p>
            <a:pPr algn="l"/>
            <a:r>
              <a:rPr sz="1900" b="0" dirty="0" err="1">
                <a:solidFill>
                  <a:srgbClr val="5E6A78"/>
                </a:solidFill>
                <a:latin typeface="Aptos"/>
              </a:rPr>
              <a:t>Phân</a:t>
            </a:r>
            <a:r>
              <a:rPr sz="1900" b="0" dirty="0">
                <a:solidFill>
                  <a:srgbClr val="5E6A78"/>
                </a:solidFill>
                <a:latin typeface="Aptos"/>
              </a:rPr>
              <a:t> </a:t>
            </a:r>
            <a:r>
              <a:rPr sz="1900" b="0" dirty="0" err="1">
                <a:solidFill>
                  <a:srgbClr val="5E6A78"/>
                </a:solidFill>
                <a:latin typeface="Aptos"/>
              </a:rPr>
              <a:t>tích</a:t>
            </a:r>
            <a:r>
              <a:rPr sz="1900" b="0" dirty="0">
                <a:solidFill>
                  <a:srgbClr val="5E6A78"/>
                </a:solidFill>
                <a:latin typeface="Aptos"/>
              </a:rPr>
              <a:t> </a:t>
            </a:r>
            <a:r>
              <a:rPr sz="1900" b="0" dirty="0" err="1">
                <a:solidFill>
                  <a:srgbClr val="5E6A78"/>
                </a:solidFill>
                <a:latin typeface="Aptos"/>
              </a:rPr>
              <a:t>độ</a:t>
            </a:r>
            <a:r>
              <a:rPr sz="1900" b="0" dirty="0">
                <a:solidFill>
                  <a:srgbClr val="5E6A78"/>
                </a:solidFill>
                <a:latin typeface="Aptos"/>
              </a:rPr>
              <a:t> </a:t>
            </a:r>
            <a:r>
              <a:rPr sz="1900" b="0" dirty="0" err="1">
                <a:solidFill>
                  <a:srgbClr val="5E6A78"/>
                </a:solidFill>
                <a:latin typeface="Aptos"/>
              </a:rPr>
              <a:t>lệch</a:t>
            </a:r>
            <a:r>
              <a:rPr sz="1900" b="0" dirty="0">
                <a:solidFill>
                  <a:srgbClr val="5E6A78"/>
                </a:solidFill>
                <a:latin typeface="Aptos"/>
              </a:rPr>
              <a:t> </a:t>
            </a:r>
            <a:r>
              <a:rPr sz="1900" b="0" dirty="0" err="1">
                <a:solidFill>
                  <a:srgbClr val="5E6A78"/>
                </a:solidFill>
                <a:latin typeface="Aptos"/>
              </a:rPr>
              <a:t>giao</a:t>
            </a:r>
            <a:r>
              <a:rPr sz="1900" b="0" dirty="0">
                <a:solidFill>
                  <a:srgbClr val="5E6A78"/>
                </a:solidFill>
                <a:latin typeface="Aptos"/>
              </a:rPr>
              <a:t> </a:t>
            </a:r>
            <a:r>
              <a:rPr sz="1900" b="0" dirty="0" err="1">
                <a:solidFill>
                  <a:srgbClr val="5E6A78"/>
                </a:solidFill>
                <a:latin typeface="Aptos"/>
              </a:rPr>
              <a:t>hàng</a:t>
            </a:r>
            <a:r>
              <a:rPr sz="1900" b="0" dirty="0">
                <a:solidFill>
                  <a:srgbClr val="5E6A78"/>
                </a:solidFill>
                <a:latin typeface="Aptos"/>
              </a:rPr>
              <a:t> </a:t>
            </a:r>
            <a:r>
              <a:rPr sz="1900" b="0" dirty="0" err="1">
                <a:solidFill>
                  <a:srgbClr val="5E6A78"/>
                </a:solidFill>
                <a:latin typeface="Aptos"/>
              </a:rPr>
              <a:t>và</a:t>
            </a:r>
            <a:r>
              <a:rPr sz="1900" b="0" dirty="0">
                <a:solidFill>
                  <a:srgbClr val="5E6A78"/>
                </a:solidFill>
                <a:latin typeface="Aptos"/>
              </a:rPr>
              <a:t> </a:t>
            </a:r>
            <a:r>
              <a:rPr sz="1900" b="0" dirty="0" err="1">
                <a:solidFill>
                  <a:srgbClr val="5E6A78"/>
                </a:solidFill>
                <a:latin typeface="Aptos"/>
              </a:rPr>
              <a:t>tác</a:t>
            </a:r>
            <a:r>
              <a:rPr sz="1900" b="0" dirty="0">
                <a:solidFill>
                  <a:srgbClr val="5E6A78"/>
                </a:solidFill>
                <a:latin typeface="Aptos"/>
              </a:rPr>
              <a:t> </a:t>
            </a:r>
            <a:r>
              <a:rPr sz="1900" b="0" dirty="0" err="1">
                <a:solidFill>
                  <a:srgbClr val="5E6A78"/>
                </a:solidFill>
                <a:latin typeface="Aptos"/>
              </a:rPr>
              <a:t>động</a:t>
            </a:r>
            <a:r>
              <a:rPr sz="1900" b="0" dirty="0">
                <a:solidFill>
                  <a:srgbClr val="5E6A78"/>
                </a:solidFill>
                <a:latin typeface="Aptos"/>
              </a:rPr>
              <a:t> </a:t>
            </a:r>
            <a:r>
              <a:rPr sz="1900" b="0" dirty="0" err="1">
                <a:solidFill>
                  <a:srgbClr val="5E6A78"/>
                </a:solidFill>
                <a:latin typeface="Aptos"/>
              </a:rPr>
              <a:t>đến</a:t>
            </a:r>
            <a:r>
              <a:rPr sz="1900" b="0" dirty="0">
                <a:solidFill>
                  <a:srgbClr val="5E6A78"/>
                </a:solidFill>
                <a:latin typeface="Aptos"/>
              </a:rPr>
              <a:t> </a:t>
            </a:r>
            <a:r>
              <a:rPr sz="1900" b="0" dirty="0" err="1">
                <a:solidFill>
                  <a:srgbClr val="5E6A78"/>
                </a:solidFill>
                <a:latin typeface="Aptos"/>
              </a:rPr>
              <a:t>sự</a:t>
            </a:r>
            <a:r>
              <a:rPr sz="1900" b="0" dirty="0">
                <a:solidFill>
                  <a:srgbClr val="5E6A78"/>
                </a:solidFill>
                <a:latin typeface="Aptos"/>
              </a:rPr>
              <a:t> </a:t>
            </a:r>
            <a:r>
              <a:rPr sz="1900" b="0" dirty="0" err="1">
                <a:solidFill>
                  <a:srgbClr val="5E6A78"/>
                </a:solidFill>
                <a:latin typeface="Aptos"/>
              </a:rPr>
              <a:t>hài</a:t>
            </a:r>
            <a:r>
              <a:rPr sz="1900" b="0" dirty="0">
                <a:solidFill>
                  <a:srgbClr val="5E6A78"/>
                </a:solidFill>
                <a:latin typeface="Aptos"/>
              </a:rPr>
              <a:t> </a:t>
            </a:r>
            <a:r>
              <a:rPr sz="1900" b="0" dirty="0" err="1">
                <a:solidFill>
                  <a:srgbClr val="5E6A78"/>
                </a:solidFill>
                <a:latin typeface="Aptos"/>
              </a:rPr>
              <a:t>lòng</a:t>
            </a:r>
            <a:r>
              <a:rPr sz="1900" b="0" dirty="0">
                <a:solidFill>
                  <a:srgbClr val="5E6A78"/>
                </a:solidFill>
                <a:latin typeface="Aptos"/>
              </a:rPr>
              <a:t> </a:t>
            </a:r>
            <a:r>
              <a:rPr sz="1900" b="0" dirty="0" err="1">
                <a:solidFill>
                  <a:srgbClr val="5E6A78"/>
                </a:solidFill>
                <a:latin typeface="Aptos"/>
              </a:rPr>
              <a:t>của</a:t>
            </a:r>
            <a:r>
              <a:rPr sz="1900" b="0" dirty="0">
                <a:solidFill>
                  <a:srgbClr val="5E6A78"/>
                </a:solidFill>
                <a:latin typeface="Aptos"/>
              </a:rPr>
              <a:t> </a:t>
            </a:r>
            <a:r>
              <a:rPr sz="1900" b="0" dirty="0" err="1">
                <a:solidFill>
                  <a:srgbClr val="5E6A78"/>
                </a:solidFill>
                <a:latin typeface="Aptos"/>
              </a:rPr>
              <a:t>khách</a:t>
            </a:r>
            <a:r>
              <a:rPr sz="1900" b="0" dirty="0">
                <a:solidFill>
                  <a:srgbClr val="5E6A78"/>
                </a:solidFill>
                <a:latin typeface="Aptos"/>
              </a:rPr>
              <a:t> </a:t>
            </a:r>
            <a:r>
              <a:rPr sz="1900" b="0" dirty="0" err="1">
                <a:solidFill>
                  <a:srgbClr val="5E6A78"/>
                </a:solidFill>
                <a:latin typeface="Aptos"/>
              </a:rPr>
              <a:t>hàng</a:t>
            </a:r>
            <a:endParaRPr sz="1900" b="0" dirty="0">
              <a:solidFill>
                <a:srgbClr val="5E6A78"/>
              </a:solidFill>
              <a:latin typeface="Aptos"/>
            </a:endParaRPr>
          </a:p>
        </p:txBody>
      </p:sp>
      <p:sp>
        <p:nvSpPr>
          <p:cNvPr id="4" name="Rounded Rectangle 3"/>
          <p:cNvSpPr/>
          <p:nvPr/>
        </p:nvSpPr>
        <p:spPr>
          <a:xfrm>
            <a:off x="749808" y="2697480"/>
            <a:ext cx="7040880" cy="123444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907792"/>
            <a:ext cx="6830568" cy="350865"/>
          </a:xfrm>
          <a:prstGeom prst="rect">
            <a:avLst/>
          </a:prstGeom>
          <a:noFill/>
        </p:spPr>
        <p:txBody>
          <a:bodyPr wrap="square" lIns="36576" tIns="36576" rIns="36576" bIns="36576" anchor="t">
            <a:spAutoFit/>
          </a:bodyPr>
          <a:lstStyle/>
          <a:p>
            <a:pPr algn="l"/>
            <a:r>
              <a:rPr sz="1800" b="1" dirty="0">
                <a:solidFill>
                  <a:srgbClr val="2F639D"/>
                </a:solidFill>
                <a:latin typeface="Aptos"/>
              </a:rPr>
              <a:t>SLA </a:t>
            </a:r>
            <a:r>
              <a:rPr sz="1800" b="1" dirty="0" err="1">
                <a:solidFill>
                  <a:srgbClr val="2F639D"/>
                </a:solidFill>
                <a:latin typeface="Aptos"/>
              </a:rPr>
              <a:t>có</a:t>
            </a:r>
            <a:r>
              <a:rPr sz="1800" b="1" dirty="0">
                <a:solidFill>
                  <a:srgbClr val="2F639D"/>
                </a:solidFill>
                <a:latin typeface="Aptos"/>
              </a:rPr>
              <a:t> </a:t>
            </a:r>
            <a:r>
              <a:rPr sz="1800" b="1" dirty="0" err="1">
                <a:solidFill>
                  <a:srgbClr val="2F639D"/>
                </a:solidFill>
                <a:latin typeface="Aptos"/>
              </a:rPr>
              <a:t>thực</a:t>
            </a:r>
            <a:r>
              <a:rPr sz="1800" b="1" dirty="0">
                <a:solidFill>
                  <a:srgbClr val="2F639D"/>
                </a:solidFill>
                <a:latin typeface="Aptos"/>
              </a:rPr>
              <a:t> </a:t>
            </a:r>
            <a:r>
              <a:rPr sz="1800" b="1" dirty="0" err="1">
                <a:solidFill>
                  <a:srgbClr val="2F639D"/>
                </a:solidFill>
                <a:latin typeface="Aptos"/>
              </a:rPr>
              <a:t>sự</a:t>
            </a:r>
            <a:r>
              <a:rPr sz="1800" b="1" dirty="0">
                <a:solidFill>
                  <a:srgbClr val="2F639D"/>
                </a:solidFill>
                <a:latin typeface="Aptos"/>
              </a:rPr>
              <a:t> </a:t>
            </a:r>
            <a:r>
              <a:rPr sz="1800" b="1" dirty="0" err="1">
                <a:solidFill>
                  <a:srgbClr val="2F639D"/>
                </a:solidFill>
                <a:latin typeface="Aptos"/>
              </a:rPr>
              <a:t>phản</a:t>
            </a:r>
            <a:r>
              <a:rPr sz="1800" b="1" dirty="0">
                <a:solidFill>
                  <a:srgbClr val="2F639D"/>
                </a:solidFill>
                <a:latin typeface="Aptos"/>
              </a:rPr>
              <a:t> </a:t>
            </a:r>
            <a:r>
              <a:rPr sz="1800" b="1" dirty="0" err="1">
                <a:solidFill>
                  <a:srgbClr val="2F639D"/>
                </a:solidFill>
                <a:latin typeface="Aptos"/>
              </a:rPr>
              <a:t>ánh</a:t>
            </a:r>
            <a:r>
              <a:rPr sz="1800" b="1" dirty="0">
                <a:solidFill>
                  <a:srgbClr val="2F639D"/>
                </a:solidFill>
                <a:latin typeface="Aptos"/>
              </a:rPr>
              <a:t> </a:t>
            </a:r>
            <a:r>
              <a:rPr sz="1800" b="1" dirty="0" err="1">
                <a:solidFill>
                  <a:srgbClr val="2F639D"/>
                </a:solidFill>
                <a:latin typeface="Aptos"/>
              </a:rPr>
              <a:t>trải</a:t>
            </a:r>
            <a:r>
              <a:rPr sz="1800" b="1" dirty="0">
                <a:solidFill>
                  <a:srgbClr val="2F639D"/>
                </a:solidFill>
                <a:latin typeface="Aptos"/>
              </a:rPr>
              <a:t> </a:t>
            </a:r>
            <a:r>
              <a:rPr sz="1800" b="1" dirty="0" err="1">
                <a:solidFill>
                  <a:srgbClr val="2F639D"/>
                </a:solidFill>
                <a:latin typeface="Aptos"/>
              </a:rPr>
              <a:t>nghiệm</a:t>
            </a:r>
            <a:r>
              <a:rPr sz="1800" b="1" dirty="0">
                <a:solidFill>
                  <a:srgbClr val="2F639D"/>
                </a:solidFill>
                <a:latin typeface="Aptos"/>
              </a:rPr>
              <a:t> </a:t>
            </a:r>
            <a:r>
              <a:rPr sz="1800" b="1" dirty="0" err="1">
                <a:solidFill>
                  <a:srgbClr val="2F639D"/>
                </a:solidFill>
                <a:latin typeface="Aptos"/>
              </a:rPr>
              <a:t>giao</a:t>
            </a:r>
            <a:r>
              <a:rPr sz="1800" b="1" dirty="0">
                <a:solidFill>
                  <a:srgbClr val="2F639D"/>
                </a:solidFill>
                <a:latin typeface="Aptos"/>
              </a:rPr>
              <a:t> </a:t>
            </a:r>
            <a:r>
              <a:rPr sz="1800" b="1" dirty="0" err="1">
                <a:solidFill>
                  <a:srgbClr val="2F639D"/>
                </a:solidFill>
                <a:latin typeface="Aptos"/>
              </a:rPr>
              <a:t>hàng</a:t>
            </a:r>
            <a:r>
              <a:rPr sz="1800" b="1" dirty="0">
                <a:solidFill>
                  <a:srgbClr val="2F639D"/>
                </a:solidFill>
                <a:latin typeface="Aptos"/>
              </a:rPr>
              <a:t> </a:t>
            </a:r>
            <a:r>
              <a:rPr sz="1800" b="1" dirty="0" err="1">
                <a:solidFill>
                  <a:srgbClr val="2F639D"/>
                </a:solidFill>
                <a:latin typeface="Aptos"/>
              </a:rPr>
              <a:t>của</a:t>
            </a:r>
            <a:r>
              <a:rPr sz="1800" b="1" dirty="0">
                <a:solidFill>
                  <a:srgbClr val="2F639D"/>
                </a:solidFill>
                <a:latin typeface="Aptos"/>
              </a:rPr>
              <a:t> </a:t>
            </a:r>
            <a:r>
              <a:rPr lang="vi-VN" sz="1800" b="1" dirty="0">
                <a:solidFill>
                  <a:srgbClr val="2F639D"/>
                </a:solidFill>
                <a:latin typeface="Aptos"/>
              </a:rPr>
              <a:t>khách </a:t>
            </a:r>
            <a:r>
              <a:rPr sz="1800" b="1" dirty="0" err="1">
                <a:solidFill>
                  <a:srgbClr val="2F639D"/>
                </a:solidFill>
                <a:latin typeface="Aptos"/>
              </a:rPr>
              <a:t>hàng</a:t>
            </a:r>
            <a:r>
              <a:rPr sz="1800" b="1" dirty="0">
                <a:solidFill>
                  <a:srgbClr val="2F639D"/>
                </a:solidFill>
                <a:latin typeface="Aptos"/>
              </a:rPr>
              <a:t>?</a:t>
            </a:r>
          </a:p>
        </p:txBody>
      </p:sp>
      <p:sp>
        <p:nvSpPr>
          <p:cNvPr id="6" name="TextBox 5"/>
          <p:cNvSpPr txBox="1"/>
          <p:nvPr/>
        </p:nvSpPr>
        <p:spPr>
          <a:xfrm>
            <a:off x="960120" y="3310128"/>
            <a:ext cx="6400800" cy="504754"/>
          </a:xfrm>
          <a:prstGeom prst="rect">
            <a:avLst/>
          </a:prstGeom>
          <a:noFill/>
        </p:spPr>
        <p:txBody>
          <a:bodyPr wrap="square" lIns="36576" tIns="36576" rIns="36576" bIns="36576" anchor="t">
            <a:spAutoFit/>
          </a:bodyPr>
          <a:lstStyle/>
          <a:p>
            <a:pPr algn="l"/>
            <a:r>
              <a:rPr sz="1400" b="0" dirty="0" err="1">
                <a:solidFill>
                  <a:srgbClr val="242B33"/>
                </a:solidFill>
                <a:latin typeface="Aptos"/>
              </a:rPr>
              <a:t>Phân</a:t>
            </a:r>
            <a:r>
              <a:rPr sz="1400" b="0" dirty="0">
                <a:solidFill>
                  <a:srgbClr val="242B33"/>
                </a:solidFill>
                <a:latin typeface="Aptos"/>
              </a:rPr>
              <a:t> </a:t>
            </a:r>
            <a:r>
              <a:rPr sz="1400" b="0" dirty="0" err="1">
                <a:solidFill>
                  <a:srgbClr val="242B33"/>
                </a:solidFill>
                <a:latin typeface="Aptos"/>
              </a:rPr>
              <a:t>tích</a:t>
            </a:r>
            <a:r>
              <a:rPr sz="1400" b="0" dirty="0">
                <a:solidFill>
                  <a:srgbClr val="242B33"/>
                </a:solidFill>
                <a:latin typeface="Aptos"/>
              </a:rPr>
              <a:t> </a:t>
            </a:r>
            <a:r>
              <a:rPr sz="1400" b="0" dirty="0" err="1">
                <a:solidFill>
                  <a:srgbClr val="242B33"/>
                </a:solidFill>
                <a:latin typeface="Aptos"/>
              </a:rPr>
              <a:t>dữ</a:t>
            </a:r>
            <a:r>
              <a:rPr sz="1400" b="0" dirty="0">
                <a:solidFill>
                  <a:srgbClr val="242B33"/>
                </a:solidFill>
                <a:latin typeface="Aptos"/>
              </a:rPr>
              <a:t> </a:t>
            </a:r>
            <a:r>
              <a:rPr sz="1400" b="0" dirty="0" err="1">
                <a:solidFill>
                  <a:srgbClr val="242B33"/>
                </a:solidFill>
                <a:latin typeface="Aptos"/>
              </a:rPr>
              <a:t>liệu</a:t>
            </a:r>
            <a:r>
              <a:rPr sz="1400" b="0" dirty="0">
                <a:solidFill>
                  <a:srgbClr val="242B33"/>
                </a:solidFill>
                <a:latin typeface="Aptos"/>
              </a:rPr>
              <a:t> </a:t>
            </a:r>
            <a:r>
              <a:rPr sz="1400" b="0" dirty="0" err="1">
                <a:solidFill>
                  <a:srgbClr val="242B33"/>
                </a:solidFill>
                <a:latin typeface="Aptos"/>
              </a:rPr>
              <a:t>đánh</a:t>
            </a:r>
            <a:r>
              <a:rPr sz="1400" b="0" dirty="0">
                <a:solidFill>
                  <a:srgbClr val="242B33"/>
                </a:solidFill>
                <a:latin typeface="Aptos"/>
              </a:rPr>
              <a:t> </a:t>
            </a:r>
            <a:r>
              <a:rPr sz="1400" b="0" dirty="0" err="1">
                <a:solidFill>
                  <a:srgbClr val="242B33"/>
                </a:solidFill>
                <a:latin typeface="Aptos"/>
              </a:rPr>
              <a:t>giá</a:t>
            </a:r>
            <a:r>
              <a:rPr sz="1400" b="0" dirty="0">
                <a:solidFill>
                  <a:srgbClr val="242B33"/>
                </a:solidFill>
                <a:latin typeface="Aptos"/>
              </a:rPr>
              <a:t> </a:t>
            </a:r>
            <a:r>
              <a:rPr sz="1400" b="0" dirty="0" err="1">
                <a:solidFill>
                  <a:srgbClr val="242B33"/>
                </a:solidFill>
                <a:latin typeface="Aptos"/>
              </a:rPr>
              <a:t>trên</a:t>
            </a:r>
            <a:r>
              <a:rPr sz="1400" b="0" dirty="0">
                <a:solidFill>
                  <a:srgbClr val="242B33"/>
                </a:solidFill>
                <a:latin typeface="Aptos"/>
              </a:rPr>
              <a:t> Tiki </a:t>
            </a:r>
            <a:r>
              <a:rPr sz="1400" b="0" dirty="0" err="1">
                <a:solidFill>
                  <a:srgbClr val="242B33"/>
                </a:solidFill>
                <a:latin typeface="Aptos"/>
              </a:rPr>
              <a:t>nhằm</a:t>
            </a:r>
            <a:r>
              <a:rPr sz="1400" b="0" dirty="0">
                <a:solidFill>
                  <a:srgbClr val="242B33"/>
                </a:solidFill>
                <a:latin typeface="Aptos"/>
              </a:rPr>
              <a:t> </a:t>
            </a:r>
            <a:r>
              <a:rPr sz="1400" b="0" dirty="0" err="1">
                <a:solidFill>
                  <a:srgbClr val="242B33"/>
                </a:solidFill>
                <a:latin typeface="Aptos"/>
              </a:rPr>
              <a:t>đối</a:t>
            </a:r>
            <a:r>
              <a:rPr sz="1400" b="0" dirty="0">
                <a:solidFill>
                  <a:srgbClr val="242B33"/>
                </a:solidFill>
                <a:latin typeface="Aptos"/>
              </a:rPr>
              <a:t> </a:t>
            </a:r>
            <a:r>
              <a:rPr sz="1400" b="0" dirty="0" err="1">
                <a:solidFill>
                  <a:srgbClr val="242B33"/>
                </a:solidFill>
                <a:latin typeface="Aptos"/>
              </a:rPr>
              <a:t>chiếu</a:t>
            </a:r>
            <a:r>
              <a:rPr sz="1400" b="0" dirty="0">
                <a:solidFill>
                  <a:srgbClr val="242B33"/>
                </a:solidFill>
                <a:latin typeface="Aptos"/>
              </a:rPr>
              <a:t> </a:t>
            </a:r>
            <a:r>
              <a:rPr sz="1400" b="0" dirty="0" err="1">
                <a:solidFill>
                  <a:srgbClr val="242B33"/>
                </a:solidFill>
                <a:latin typeface="Aptos"/>
              </a:rPr>
              <a:t>thời</a:t>
            </a:r>
            <a:r>
              <a:rPr sz="1400" b="0" dirty="0">
                <a:solidFill>
                  <a:srgbClr val="242B33"/>
                </a:solidFill>
                <a:latin typeface="Aptos"/>
              </a:rPr>
              <a:t> </a:t>
            </a:r>
            <a:r>
              <a:rPr sz="1400" b="0" dirty="0" err="1">
                <a:solidFill>
                  <a:srgbClr val="242B33"/>
                </a:solidFill>
                <a:latin typeface="Aptos"/>
              </a:rPr>
              <a:t>gian</a:t>
            </a:r>
            <a:r>
              <a:rPr sz="1400" b="0" dirty="0">
                <a:solidFill>
                  <a:srgbClr val="242B33"/>
                </a:solidFill>
                <a:latin typeface="Aptos"/>
              </a:rPr>
              <a:t> </a:t>
            </a:r>
            <a:r>
              <a:rPr sz="1400" b="0" dirty="0" err="1">
                <a:solidFill>
                  <a:srgbClr val="242B33"/>
                </a:solidFill>
                <a:latin typeface="Aptos"/>
              </a:rPr>
              <a:t>giao</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 </a:t>
            </a:r>
            <a:r>
              <a:rPr sz="1400" b="0" dirty="0" err="1">
                <a:solidFill>
                  <a:srgbClr val="242B33"/>
                </a:solidFill>
                <a:latin typeface="Aptos"/>
              </a:rPr>
              <a:t>trạng</a:t>
            </a:r>
            <a:r>
              <a:rPr sz="1400" b="0" dirty="0">
                <a:solidFill>
                  <a:srgbClr val="242B33"/>
                </a:solidFill>
                <a:latin typeface="Aptos"/>
              </a:rPr>
              <a:t> </a:t>
            </a:r>
            <a:r>
              <a:rPr sz="1400" b="0" dirty="0" err="1">
                <a:solidFill>
                  <a:srgbClr val="242B33"/>
                </a:solidFill>
                <a:latin typeface="Aptos"/>
              </a:rPr>
              <a:t>thái</a:t>
            </a:r>
            <a:r>
              <a:rPr sz="1400" b="0" dirty="0">
                <a:solidFill>
                  <a:srgbClr val="242B33"/>
                </a:solidFill>
                <a:latin typeface="Aptos"/>
              </a:rPr>
              <a:t> SLA </a:t>
            </a:r>
            <a:r>
              <a:rPr sz="1400" b="0" dirty="0" err="1">
                <a:solidFill>
                  <a:srgbClr val="242B33"/>
                </a:solidFill>
                <a:latin typeface="Aptos"/>
              </a:rPr>
              <a:t>và</a:t>
            </a:r>
            <a:r>
              <a:rPr sz="1400" b="0" dirty="0">
                <a:solidFill>
                  <a:srgbClr val="242B33"/>
                </a:solidFill>
                <a:latin typeface="Aptos"/>
              </a:rPr>
              <a:t> </a:t>
            </a:r>
            <a:r>
              <a:rPr sz="1400" b="0" dirty="0" err="1">
                <a:solidFill>
                  <a:srgbClr val="242B33"/>
                </a:solidFill>
                <a:latin typeface="Aptos"/>
              </a:rPr>
              <a:t>phản</a:t>
            </a:r>
            <a:r>
              <a:rPr sz="1400" b="0" dirty="0">
                <a:solidFill>
                  <a:srgbClr val="242B33"/>
                </a:solidFill>
                <a:latin typeface="Aptos"/>
              </a:rPr>
              <a:t> </a:t>
            </a:r>
            <a:r>
              <a:rPr sz="1400" b="0" dirty="0" err="1">
                <a:solidFill>
                  <a:srgbClr val="242B33"/>
                </a:solidFill>
                <a:latin typeface="Aptos"/>
              </a:rPr>
              <a:t>hồi</a:t>
            </a:r>
            <a:r>
              <a:rPr sz="1400" b="0" dirty="0">
                <a:solidFill>
                  <a:srgbClr val="242B33"/>
                </a:solidFill>
                <a:latin typeface="Aptos"/>
              </a:rPr>
              <a:t> </a:t>
            </a:r>
            <a:r>
              <a:rPr sz="1400" b="0" dirty="0" err="1">
                <a:solidFill>
                  <a:srgbClr val="242B33"/>
                </a:solidFill>
                <a:latin typeface="Aptos"/>
              </a:rPr>
              <a:t>thực</a:t>
            </a:r>
            <a:r>
              <a:rPr sz="1400" b="0" dirty="0">
                <a:solidFill>
                  <a:srgbClr val="242B33"/>
                </a:solidFill>
                <a:latin typeface="Aptos"/>
              </a:rPr>
              <a:t> </a:t>
            </a:r>
            <a:r>
              <a:rPr sz="1400" b="0" dirty="0" err="1">
                <a:solidFill>
                  <a:srgbClr val="242B33"/>
                </a:solidFill>
                <a:latin typeface="Aptos"/>
              </a:rPr>
              <a:t>tế</a:t>
            </a:r>
            <a:r>
              <a:rPr sz="1400" b="0" dirty="0">
                <a:solidFill>
                  <a:srgbClr val="242B33"/>
                </a:solidFill>
                <a:latin typeface="Aptos"/>
              </a:rPr>
              <a:t> </a:t>
            </a:r>
            <a:r>
              <a:rPr sz="1400" b="0" dirty="0" err="1">
                <a:solidFill>
                  <a:srgbClr val="242B33"/>
                </a:solidFill>
                <a:latin typeface="Aptos"/>
              </a:rPr>
              <a:t>của</a:t>
            </a:r>
            <a:r>
              <a:rPr sz="1400" b="0" dirty="0">
                <a:solidFill>
                  <a:srgbClr val="242B33"/>
                </a:solidFill>
                <a:latin typeface="Aptos"/>
              </a:rPr>
              <a:t> </a:t>
            </a:r>
            <a:r>
              <a:rPr sz="1400" b="0" dirty="0" err="1">
                <a:solidFill>
                  <a:srgbClr val="242B33"/>
                </a:solidFill>
                <a:latin typeface="Aptos"/>
              </a:rPr>
              <a:t>khách</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a:t>
            </a:r>
          </a:p>
        </p:txBody>
      </p:sp>
      <p:sp>
        <p:nvSpPr>
          <p:cNvPr id="7" name="Rounded Rectangle 6"/>
          <p:cNvSpPr/>
          <p:nvPr/>
        </p:nvSpPr>
        <p:spPr>
          <a:xfrm>
            <a:off x="749808" y="4251960"/>
            <a:ext cx="160020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784100" y="4265652"/>
            <a:ext cx="1563624"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203.510 reviews</a:t>
            </a:r>
          </a:p>
        </p:txBody>
      </p:sp>
      <p:sp>
        <p:nvSpPr>
          <p:cNvPr id="9" name="Rounded Rectangle 8"/>
          <p:cNvSpPr/>
          <p:nvPr/>
        </p:nvSpPr>
        <p:spPr>
          <a:xfrm>
            <a:off x="2487168" y="4251960"/>
            <a:ext cx="178308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2452879" y="4265652"/>
            <a:ext cx="180136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Weighted analysis</a:t>
            </a:r>
          </a:p>
        </p:txBody>
      </p:sp>
      <p:sp>
        <p:nvSpPr>
          <p:cNvPr id="11" name="Rounded Rectangle 10"/>
          <p:cNvSpPr/>
          <p:nvPr/>
        </p:nvSpPr>
        <p:spPr>
          <a:xfrm>
            <a:off x="4407408" y="4251960"/>
            <a:ext cx="7315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4443984" y="4265652"/>
            <a:ext cx="65836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EDA</a:t>
            </a:r>
          </a:p>
        </p:txBody>
      </p:sp>
      <p:sp>
        <p:nvSpPr>
          <p:cNvPr id="13" name="Rounded Rectangle 12"/>
          <p:cNvSpPr/>
          <p:nvPr/>
        </p:nvSpPr>
        <p:spPr>
          <a:xfrm>
            <a:off x="5276088" y="4251960"/>
            <a:ext cx="1874519"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5244083" y="4265652"/>
            <a:ext cx="193852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Predictive modeling</a:t>
            </a:r>
          </a:p>
        </p:txBody>
      </p:sp>
      <p:sp>
        <p:nvSpPr>
          <p:cNvPr id="15" name="Rounded Rectangle 14"/>
          <p:cNvSpPr/>
          <p:nvPr/>
        </p:nvSpPr>
        <p:spPr>
          <a:xfrm>
            <a:off x="8412480" y="594360"/>
            <a:ext cx="2971800" cy="5349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96528" y="1097280"/>
            <a:ext cx="2240280" cy="1508760"/>
          </a:xfrm>
          <a:prstGeom prst="rect">
            <a:avLst/>
          </a:prstGeom>
          <a:noFill/>
        </p:spPr>
        <p:txBody>
          <a:bodyPr wrap="square" lIns="36576" tIns="36576" rIns="36576" bIns="36576" anchor="t">
            <a:spAutoFit/>
          </a:bodyPr>
          <a:lstStyle/>
          <a:p>
            <a:pPr algn="l"/>
            <a:r>
              <a:rPr sz="2400" b="1" dirty="0">
                <a:solidFill>
                  <a:srgbClr val="FFFFFF"/>
                </a:solidFill>
                <a:latin typeface="Aptos Display"/>
              </a:rPr>
              <a:t>DATA
SCIENCE
WORKFLOW</a:t>
            </a:r>
          </a:p>
        </p:txBody>
      </p:sp>
      <p:cxnSp>
        <p:nvCxnSpPr>
          <p:cNvPr id="17" name="Connector 16"/>
          <p:cNvCxnSpPr/>
          <p:nvPr/>
        </p:nvCxnSpPr>
        <p:spPr>
          <a:xfrm>
            <a:off x="8823960" y="2880360"/>
            <a:ext cx="2057400" cy="0"/>
          </a:xfrm>
          <a:prstGeom prst="line">
            <a:avLst/>
          </a:prstGeom>
          <a:ln w="25400">
            <a:solidFill>
              <a:srgbClr val="76A0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23960" y="3154680"/>
            <a:ext cx="2194560" cy="1965960"/>
          </a:xfrm>
          <a:prstGeom prst="rect">
            <a:avLst/>
          </a:prstGeom>
          <a:noFill/>
        </p:spPr>
        <p:txBody>
          <a:bodyPr wrap="square" lIns="36576" tIns="36576" rIns="36576" bIns="36576" anchor="t">
            <a:spAutoFit/>
          </a:bodyPr>
          <a:lstStyle/>
          <a:p>
            <a:pPr algn="l"/>
            <a:r>
              <a:rPr sz="1400" b="0">
                <a:solidFill>
                  <a:srgbClr val="FFFFFF"/>
                </a:solidFill>
                <a:latin typeface="Aptos"/>
              </a:rPr>
              <a:t>Business
→ Data Collection
→ Cleaning
→ EDA
→ Features
→ Modeling
→ Evaluation
→ Business Value</a:t>
            </a:r>
          </a:p>
        </p:txBody>
      </p:sp>
      <p:sp>
        <p:nvSpPr>
          <p:cNvPr id="19" name="TextBox 18"/>
          <p:cNvSpPr txBox="1"/>
          <p:nvPr/>
        </p:nvSpPr>
        <p:spPr>
          <a:xfrm>
            <a:off x="713232" y="4754285"/>
            <a:ext cx="5943600" cy="1797415"/>
          </a:xfrm>
          <a:prstGeom prst="rect">
            <a:avLst/>
          </a:prstGeom>
          <a:noFill/>
        </p:spPr>
        <p:txBody>
          <a:bodyPr wrap="square" lIns="36576" tIns="36576" rIns="36576" bIns="36576" anchor="t">
            <a:spAutoFit/>
          </a:bodyPr>
          <a:lstStyle/>
          <a:p>
            <a:pPr algn="l"/>
            <a:r>
              <a:rPr sz="1600" b="0" dirty="0">
                <a:solidFill>
                  <a:srgbClr val="5E6A78"/>
                </a:solidFill>
                <a:latin typeface="Aptos"/>
              </a:rPr>
              <a:t>Môn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sở</a:t>
            </a:r>
            <a:r>
              <a:rPr sz="1600" b="0" dirty="0">
                <a:solidFill>
                  <a:srgbClr val="5E6A78"/>
                </a:solidFill>
                <a:latin typeface="Aptos"/>
              </a:rPr>
              <a:t> Khoa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Nhóm</a:t>
            </a:r>
            <a:r>
              <a:rPr sz="1600" b="0" dirty="0">
                <a:solidFill>
                  <a:srgbClr val="5E6A78"/>
                </a:solidFill>
                <a:latin typeface="Aptos"/>
              </a:rPr>
              <a:t>: ........................................
Thành </a:t>
            </a:r>
            <a:r>
              <a:rPr sz="1600" b="0" dirty="0" err="1">
                <a:solidFill>
                  <a:srgbClr val="5E6A78"/>
                </a:solidFill>
                <a:latin typeface="Aptos"/>
              </a:rPr>
              <a:t>viên</a:t>
            </a:r>
            <a:r>
              <a:rPr sz="1600" b="0" dirty="0">
                <a:solidFill>
                  <a:srgbClr val="5E6A78"/>
                </a:solidFill>
                <a:latin typeface="Aptos"/>
              </a:rPr>
              <a:t>: </a:t>
            </a:r>
            <a:r>
              <a:rPr lang="vi-VN" sz="1600" b="0" dirty="0">
                <a:solidFill>
                  <a:srgbClr val="5E6A78"/>
                </a:solidFill>
                <a:latin typeface="Aptos"/>
              </a:rPr>
              <a:t> Phan Ngô Quốc An - 24139002</a:t>
            </a:r>
          </a:p>
          <a:p>
            <a:pPr algn="l"/>
            <a:r>
              <a:rPr lang="vi-VN" sz="1600" dirty="0">
                <a:solidFill>
                  <a:srgbClr val="5E6A78"/>
                </a:solidFill>
                <a:latin typeface="Aptos"/>
              </a:rPr>
              <a:t>	               Đỗ Minh Hiển - 24139013</a:t>
            </a:r>
          </a:p>
          <a:p>
            <a:pPr algn="l"/>
            <a:r>
              <a:rPr lang="vi-VN" sz="1600" b="0" dirty="0">
                <a:solidFill>
                  <a:srgbClr val="5E6A78"/>
                </a:solidFill>
                <a:latin typeface="Aptos"/>
              </a:rPr>
              <a:t>	               Nguyễn Ngọc Ngân - 24139031</a:t>
            </a:r>
          </a:p>
          <a:p>
            <a:pPr algn="l"/>
            <a:r>
              <a:rPr lang="vi-VN" sz="1600" dirty="0">
                <a:solidFill>
                  <a:srgbClr val="5E6A78"/>
                </a:solidFill>
                <a:latin typeface="Aptos"/>
              </a:rPr>
              <a:t>	               Hồ Ngọc </a:t>
            </a:r>
            <a:r>
              <a:rPr lang="vi-VN" sz="1600" dirty="0" err="1">
                <a:solidFill>
                  <a:srgbClr val="5E6A78"/>
                </a:solidFill>
                <a:latin typeface="Aptos"/>
              </a:rPr>
              <a:t>Sỹ</a:t>
            </a:r>
            <a:r>
              <a:rPr lang="vi-VN" sz="1600" dirty="0">
                <a:solidFill>
                  <a:srgbClr val="5E6A78"/>
                </a:solidFill>
                <a:latin typeface="Aptos"/>
              </a:rPr>
              <a:t> - 24139047</a:t>
            </a:r>
            <a:r>
              <a:rPr sz="1600" b="0" dirty="0">
                <a:solidFill>
                  <a:srgbClr val="5E6A78"/>
                </a:solidFill>
                <a:latin typeface="Aptos"/>
              </a:rPr>
              <a:t>
</a:t>
            </a:r>
            <a:r>
              <a:rPr sz="1600" b="0" dirty="0" err="1">
                <a:solidFill>
                  <a:srgbClr val="5E6A78"/>
                </a:solidFill>
                <a:latin typeface="Aptos"/>
              </a:rPr>
              <a:t>Giảng</a:t>
            </a:r>
            <a:r>
              <a:rPr sz="1600" b="0" dirty="0">
                <a:solidFill>
                  <a:srgbClr val="5E6A78"/>
                </a:solidFill>
                <a:latin typeface="Aptos"/>
              </a:rPr>
              <a:t> </a:t>
            </a:r>
            <a:r>
              <a:rPr sz="1600" b="0" dirty="0" err="1">
                <a:solidFill>
                  <a:srgbClr val="5E6A78"/>
                </a:solidFill>
                <a:latin typeface="Aptos"/>
              </a:rPr>
              <a:t>viên</a:t>
            </a:r>
            <a:r>
              <a:rPr sz="1600" b="0" dirty="0">
                <a:solidFill>
                  <a:srgbClr val="5E6A78"/>
                </a:solidFill>
                <a:latin typeface="Aptos"/>
              </a:rPr>
              <a:t>: </a:t>
            </a:r>
            <a:r>
              <a:rPr lang="vi-VN" sz="1600" b="0" dirty="0" err="1">
                <a:solidFill>
                  <a:srgbClr val="5E6A78"/>
                </a:solidFill>
                <a:latin typeface="Aptos"/>
              </a:rPr>
              <a:t>PGS.TS Nguyễn</a:t>
            </a:r>
            <a:r>
              <a:rPr lang="vi-VN" sz="1600" b="0" dirty="0">
                <a:solidFill>
                  <a:srgbClr val="5E6A78"/>
                </a:solidFill>
                <a:latin typeface="Aptos"/>
              </a:rPr>
              <a:t> Mạnh Hùng</a:t>
            </a:r>
            <a:endParaRPr sz="1600" b="0" dirty="0">
              <a:solidFill>
                <a:srgbClr val="5E6A78"/>
              </a:solidFill>
              <a:latin typeface="Aptos"/>
            </a:endParaRP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84131"/>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QUY TRÌNH NGHIÊN CỨU DATA SCIENCE</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02</a:t>
            </a:r>
          </a:p>
        </p:txBody>
      </p:sp>
      <p:sp>
        <p:nvSpPr>
          <p:cNvPr id="5" name="TextBox 4"/>
          <p:cNvSpPr txBox="1"/>
          <p:nvPr/>
        </p:nvSpPr>
        <p:spPr>
          <a:xfrm>
            <a:off x="594360" y="960120"/>
            <a:ext cx="10881360" cy="320040"/>
          </a:xfrm>
          <a:prstGeom prst="rect">
            <a:avLst/>
          </a:prstGeom>
          <a:noFill/>
        </p:spPr>
        <p:txBody>
          <a:bodyPr wrap="square" lIns="36576" tIns="36576" rIns="36576" bIns="36576" anchor="t">
            <a:spAutoFit/>
          </a:bodyPr>
          <a:lstStyle/>
          <a:p>
            <a:pPr algn="l"/>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Tiki </a:t>
            </a:r>
            <a:r>
              <a:rPr sz="1600" b="0" dirty="0" err="1">
                <a:solidFill>
                  <a:srgbClr val="5E6A78"/>
                </a:solidFill>
                <a:latin typeface="Aptos"/>
              </a:rPr>
              <a:t>đến</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r>
              <a:rPr sz="1600" b="0" dirty="0">
                <a:solidFill>
                  <a:srgbClr val="5E6A78"/>
                </a:solidFill>
                <a:latin typeface="Aptos"/>
              </a:rPr>
              <a:t> </a:t>
            </a:r>
            <a:r>
              <a:rPr sz="1600" b="0" dirty="0" err="1">
                <a:solidFill>
                  <a:srgbClr val="5E6A78"/>
                </a:solidFill>
                <a:latin typeface="Aptos"/>
              </a:rPr>
              <a:t>sự</a:t>
            </a:r>
            <a:r>
              <a:rPr sz="1600" b="0" dirty="0">
                <a:solidFill>
                  <a:srgbClr val="5E6A78"/>
                </a:solidFill>
                <a:latin typeface="Aptos"/>
              </a:rPr>
              <a:t> </a:t>
            </a:r>
            <a:r>
              <a:rPr sz="1600" b="0" dirty="0" err="1">
                <a:solidFill>
                  <a:srgbClr val="5E6A78"/>
                </a:solidFill>
                <a:latin typeface="Aptos"/>
              </a:rPr>
              <a:t>không</a:t>
            </a:r>
            <a:r>
              <a:rPr sz="1600" b="0" dirty="0">
                <a:solidFill>
                  <a:srgbClr val="5E6A78"/>
                </a:solidFill>
                <a:latin typeface="Aptos"/>
              </a:rPr>
              <a:t> </a:t>
            </a:r>
            <a:r>
              <a:rPr sz="1600" b="0" dirty="0" err="1">
                <a:solidFill>
                  <a:srgbClr val="5E6A78"/>
                </a:solidFill>
                <a:latin typeface="Aptos"/>
              </a:rPr>
              <a:t>hài</a:t>
            </a:r>
            <a:r>
              <a:rPr sz="1600" b="0" dirty="0">
                <a:solidFill>
                  <a:srgbClr val="5E6A78"/>
                </a:solidFill>
                <a:latin typeface="Aptos"/>
              </a:rPr>
              <a:t> </a:t>
            </a:r>
            <a:r>
              <a:rPr sz="1600" b="0" dirty="0" err="1">
                <a:solidFill>
                  <a:srgbClr val="5E6A78"/>
                </a:solidFill>
                <a:latin typeface="Aptos"/>
              </a:rPr>
              <a:t>lòng</a:t>
            </a:r>
            <a:endParaRPr sz="1600" b="0" dirty="0">
              <a:solidFill>
                <a:srgbClr val="5E6A78"/>
              </a:solidFill>
              <a:latin typeface="Aptos"/>
            </a:endParaRPr>
          </a:p>
        </p:txBody>
      </p:sp>
      <p:sp>
        <p:nvSpPr>
          <p:cNvPr id="6" name="Rounded Rectangle 5"/>
          <p:cNvSpPr/>
          <p:nvPr/>
        </p:nvSpPr>
        <p:spPr>
          <a:xfrm>
            <a:off x="64008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ounded Rectangle 6"/>
          <p:cNvSpPr/>
          <p:nvPr/>
        </p:nvSpPr>
        <p:spPr>
          <a:xfrm>
            <a:off x="78638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82296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9" name="TextBox 8"/>
          <p:cNvSpPr txBox="1"/>
          <p:nvPr/>
        </p:nvSpPr>
        <p:spPr>
          <a:xfrm>
            <a:off x="1353312" y="1626415"/>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a:t>
            </a:r>
          </a:p>
        </p:txBody>
      </p:sp>
      <p:sp>
        <p:nvSpPr>
          <p:cNvPr id="10" name="TextBox 9"/>
          <p:cNvSpPr txBox="1"/>
          <p:nvPr/>
        </p:nvSpPr>
        <p:spPr>
          <a:xfrm>
            <a:off x="786384" y="2045017"/>
            <a:ext cx="224028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trong</a:t>
            </a:r>
            <a:r>
              <a:rPr sz="1600" b="0" dirty="0">
                <a:solidFill>
                  <a:srgbClr val="5E6A78"/>
                </a:solidFill>
                <a:latin typeface="Aptos"/>
              </a:rPr>
              <a:t> TMĐT
SLA ↔ Customer Satisfaction</a:t>
            </a:r>
          </a:p>
        </p:txBody>
      </p:sp>
      <p:sp>
        <p:nvSpPr>
          <p:cNvPr id="11" name="Rounded Rectangle 10"/>
          <p:cNvSpPr/>
          <p:nvPr/>
        </p:nvSpPr>
        <p:spPr>
          <a:xfrm>
            <a:off x="352044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Rounded Rectangle 11"/>
          <p:cNvSpPr/>
          <p:nvPr/>
        </p:nvSpPr>
        <p:spPr>
          <a:xfrm>
            <a:off x="366674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370332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4" name="TextBox 13"/>
          <p:cNvSpPr txBox="1"/>
          <p:nvPr/>
        </p:nvSpPr>
        <p:spPr>
          <a:xfrm>
            <a:off x="3666744" y="202082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DATA COLLECTION</a:t>
            </a:r>
          </a:p>
        </p:txBody>
      </p:sp>
      <p:sp>
        <p:nvSpPr>
          <p:cNvPr id="15" name="TextBox 14"/>
          <p:cNvSpPr txBox="1"/>
          <p:nvPr/>
        </p:nvSpPr>
        <p:spPr>
          <a:xfrm>
            <a:off x="3666744" y="2340864"/>
            <a:ext cx="1938528" cy="566309"/>
          </a:xfrm>
          <a:prstGeom prst="rect">
            <a:avLst/>
          </a:prstGeom>
          <a:noFill/>
        </p:spPr>
        <p:txBody>
          <a:bodyPr wrap="square" lIns="36576" tIns="36576" rIns="36576" bIns="36576" anchor="t">
            <a:spAutoFit/>
          </a:bodyPr>
          <a:lstStyle/>
          <a:p>
            <a:pPr algn="l"/>
            <a:r>
              <a:rPr sz="1600" b="0">
                <a:solidFill>
                  <a:srgbClr val="5E6A78"/>
                </a:solidFill>
                <a:latin typeface="Aptos"/>
              </a:rPr>
              <a:t>Tiki Review Data
203.510 reviews</a:t>
            </a:r>
          </a:p>
        </p:txBody>
      </p:sp>
      <p:sp>
        <p:nvSpPr>
          <p:cNvPr id="16" name="Rounded Rectangle 15"/>
          <p:cNvSpPr/>
          <p:nvPr/>
        </p:nvSpPr>
        <p:spPr>
          <a:xfrm>
            <a:off x="640080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Rounded Rectangle 16"/>
          <p:cNvSpPr/>
          <p:nvPr/>
        </p:nvSpPr>
        <p:spPr>
          <a:xfrm>
            <a:off x="654710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58368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03</a:t>
            </a:r>
          </a:p>
        </p:txBody>
      </p:sp>
      <p:sp>
        <p:nvSpPr>
          <p:cNvPr id="19" name="TextBox 18"/>
          <p:cNvSpPr txBox="1"/>
          <p:nvPr/>
        </p:nvSpPr>
        <p:spPr>
          <a:xfrm>
            <a:off x="7141464" y="1639866"/>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CLEANING</a:t>
            </a:r>
          </a:p>
        </p:txBody>
      </p:sp>
      <p:sp>
        <p:nvSpPr>
          <p:cNvPr id="20" name="TextBox 19"/>
          <p:cNvSpPr txBox="1"/>
          <p:nvPr/>
        </p:nvSpPr>
        <p:spPr>
          <a:xfrm>
            <a:off x="6547104" y="1973012"/>
            <a:ext cx="2093976" cy="1058751"/>
          </a:xfrm>
          <a:prstGeom prst="rect">
            <a:avLst/>
          </a:prstGeom>
          <a:noFill/>
        </p:spPr>
        <p:txBody>
          <a:bodyPr wrap="square" lIns="36576" tIns="36576" rIns="36576" bIns="36576" anchor="t">
            <a:spAutoFit/>
          </a:bodyPr>
          <a:lstStyle/>
          <a:p>
            <a:pPr algn="l"/>
            <a:r>
              <a:rPr sz="1600" b="0" dirty="0">
                <a:solidFill>
                  <a:srgbClr val="5E6A78"/>
                </a:solidFill>
                <a:latin typeface="Aptos"/>
              </a:rPr>
              <a:t>Timestamp · Lead Time · SLA
Anomaly &amp; missing labels</a:t>
            </a:r>
          </a:p>
        </p:txBody>
      </p:sp>
      <p:sp>
        <p:nvSpPr>
          <p:cNvPr id="21" name="Rounded Rectangle 20"/>
          <p:cNvSpPr/>
          <p:nvPr/>
        </p:nvSpPr>
        <p:spPr>
          <a:xfrm>
            <a:off x="928116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Rounded Rectangle 21"/>
          <p:cNvSpPr/>
          <p:nvPr/>
        </p:nvSpPr>
        <p:spPr>
          <a:xfrm>
            <a:off x="942746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946404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24" name="TextBox 23"/>
          <p:cNvSpPr txBox="1"/>
          <p:nvPr/>
        </p:nvSpPr>
        <p:spPr>
          <a:xfrm>
            <a:off x="10027829" y="163757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EDA</a:t>
            </a:r>
          </a:p>
        </p:txBody>
      </p:sp>
      <p:sp>
        <p:nvSpPr>
          <p:cNvPr id="25" name="TextBox 24"/>
          <p:cNvSpPr txBox="1"/>
          <p:nvPr/>
        </p:nvSpPr>
        <p:spPr>
          <a:xfrm>
            <a:off x="9427464" y="2034744"/>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Weighted analysis
Lead Time · SLA · Rating</a:t>
            </a:r>
          </a:p>
        </p:txBody>
      </p:sp>
      <p:sp>
        <p:nvSpPr>
          <p:cNvPr id="26" name="Rounded Rectangle 25"/>
          <p:cNvSpPr/>
          <p:nvPr/>
        </p:nvSpPr>
        <p:spPr>
          <a:xfrm>
            <a:off x="64008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Rounded Rectangle 26"/>
          <p:cNvSpPr/>
          <p:nvPr/>
        </p:nvSpPr>
        <p:spPr>
          <a:xfrm>
            <a:off x="78638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2296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08</a:t>
            </a:r>
          </a:p>
        </p:txBody>
      </p:sp>
      <p:sp>
        <p:nvSpPr>
          <p:cNvPr id="29" name="TextBox 28"/>
          <p:cNvSpPr txBox="1"/>
          <p:nvPr/>
        </p:nvSpPr>
        <p:spPr>
          <a:xfrm>
            <a:off x="1248156" y="3931872"/>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 VALUE</a:t>
            </a:r>
          </a:p>
        </p:txBody>
      </p:sp>
      <p:sp>
        <p:nvSpPr>
          <p:cNvPr id="30" name="TextBox 29"/>
          <p:cNvSpPr txBox="1"/>
          <p:nvPr/>
        </p:nvSpPr>
        <p:spPr>
          <a:xfrm>
            <a:off x="777240" y="4238268"/>
            <a:ext cx="2089404"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giới</a:t>
            </a:r>
            <a:r>
              <a:rPr sz="1600" b="0" dirty="0">
                <a:solidFill>
                  <a:srgbClr val="5E6A78"/>
                </a:solidFill>
                <a:latin typeface="Aptos"/>
              </a:rPr>
              <a:t> </a:t>
            </a:r>
            <a:r>
              <a:rPr sz="1600" b="0" dirty="0" err="1">
                <a:solidFill>
                  <a:srgbClr val="5E6A78"/>
                </a:solidFill>
                <a:latin typeface="Aptos"/>
              </a:rPr>
              <a:t>hạn</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SLA
</a:t>
            </a:r>
            <a:r>
              <a:rPr sz="1600" b="0" dirty="0" err="1">
                <a:solidFill>
                  <a:srgbClr val="5E6A78"/>
                </a:solidFill>
                <a:latin typeface="Aptos"/>
              </a:rPr>
              <a:t>Bổ</a:t>
            </a:r>
            <a:r>
              <a:rPr sz="1600" b="0" dirty="0">
                <a:solidFill>
                  <a:srgbClr val="5E6A78"/>
                </a:solidFill>
                <a:latin typeface="Aptos"/>
              </a:rPr>
              <a:t> sung customer signal</a:t>
            </a:r>
          </a:p>
        </p:txBody>
      </p:sp>
      <p:sp>
        <p:nvSpPr>
          <p:cNvPr id="31" name="Rounded Rectangle 30"/>
          <p:cNvSpPr/>
          <p:nvPr/>
        </p:nvSpPr>
        <p:spPr>
          <a:xfrm>
            <a:off x="352044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Rounded Rectangle 31"/>
          <p:cNvSpPr/>
          <p:nvPr/>
        </p:nvSpPr>
        <p:spPr>
          <a:xfrm>
            <a:off x="366674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370332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07</a:t>
            </a:r>
          </a:p>
        </p:txBody>
      </p:sp>
      <p:sp>
        <p:nvSpPr>
          <p:cNvPr id="34" name="TextBox 33"/>
          <p:cNvSpPr txBox="1"/>
          <p:nvPr/>
        </p:nvSpPr>
        <p:spPr>
          <a:xfrm>
            <a:off x="4233672" y="3925911"/>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EVALUATION</a:t>
            </a:r>
          </a:p>
        </p:txBody>
      </p:sp>
      <p:sp>
        <p:nvSpPr>
          <p:cNvPr id="35" name="TextBox 34"/>
          <p:cNvSpPr txBox="1"/>
          <p:nvPr/>
        </p:nvSpPr>
        <p:spPr>
          <a:xfrm>
            <a:off x="3653028" y="4238267"/>
            <a:ext cx="2089404" cy="1058751"/>
          </a:xfrm>
          <a:prstGeom prst="rect">
            <a:avLst/>
          </a:prstGeom>
          <a:noFill/>
        </p:spPr>
        <p:txBody>
          <a:bodyPr wrap="square" lIns="36576" tIns="36576" rIns="36576" bIns="36576" anchor="t">
            <a:spAutoFit/>
          </a:bodyPr>
          <a:lstStyle/>
          <a:p>
            <a:pPr algn="l"/>
            <a:r>
              <a:rPr sz="1600" b="0" dirty="0">
                <a:solidFill>
                  <a:srgbClr val="5E6A78"/>
                </a:solidFill>
                <a:latin typeface="Aptos"/>
              </a:rPr>
              <a:t>PR-AUC · Lift · Calibration
Robustness &amp; uncertainty</a:t>
            </a:r>
          </a:p>
        </p:txBody>
      </p:sp>
      <p:sp>
        <p:nvSpPr>
          <p:cNvPr id="36" name="Rounded Rectangle 35"/>
          <p:cNvSpPr/>
          <p:nvPr/>
        </p:nvSpPr>
        <p:spPr>
          <a:xfrm>
            <a:off x="640080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Rounded Rectangle 36"/>
          <p:cNvSpPr/>
          <p:nvPr/>
        </p:nvSpPr>
        <p:spPr>
          <a:xfrm>
            <a:off x="654710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p:cNvSpPr txBox="1"/>
          <p:nvPr/>
        </p:nvSpPr>
        <p:spPr>
          <a:xfrm>
            <a:off x="658368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06</a:t>
            </a:r>
          </a:p>
        </p:txBody>
      </p:sp>
      <p:sp>
        <p:nvSpPr>
          <p:cNvPr id="39" name="TextBox 38"/>
          <p:cNvSpPr txBox="1"/>
          <p:nvPr/>
        </p:nvSpPr>
        <p:spPr>
          <a:xfrm>
            <a:off x="7104888" y="3918179"/>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MODELING</a:t>
            </a:r>
          </a:p>
        </p:txBody>
      </p:sp>
      <p:sp>
        <p:nvSpPr>
          <p:cNvPr id="40" name="TextBox 39"/>
          <p:cNvSpPr txBox="1"/>
          <p:nvPr/>
        </p:nvSpPr>
        <p:spPr>
          <a:xfrm>
            <a:off x="6547104" y="4273013"/>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Baseline · Logistic · RF · GBM
Ensemble</a:t>
            </a:r>
          </a:p>
        </p:txBody>
      </p:sp>
      <p:sp>
        <p:nvSpPr>
          <p:cNvPr id="41" name="Rounded Rectangle 40"/>
          <p:cNvSpPr/>
          <p:nvPr/>
        </p:nvSpPr>
        <p:spPr>
          <a:xfrm>
            <a:off x="9281160" y="3794760"/>
            <a:ext cx="228600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Rounded Rectangle 41"/>
          <p:cNvSpPr/>
          <p:nvPr/>
        </p:nvSpPr>
        <p:spPr>
          <a:xfrm>
            <a:off x="942746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946404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05</a:t>
            </a:r>
          </a:p>
        </p:txBody>
      </p:sp>
      <p:sp>
        <p:nvSpPr>
          <p:cNvPr id="44" name="TextBox 43"/>
          <p:cNvSpPr txBox="1"/>
          <p:nvPr/>
        </p:nvSpPr>
        <p:spPr>
          <a:xfrm>
            <a:off x="9944100" y="3931872"/>
            <a:ext cx="23317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FEATURES</a:t>
            </a:r>
          </a:p>
        </p:txBody>
      </p:sp>
      <p:sp>
        <p:nvSpPr>
          <p:cNvPr id="45" name="TextBox 44"/>
          <p:cNvSpPr txBox="1"/>
          <p:nvPr/>
        </p:nvSpPr>
        <p:spPr>
          <a:xfrm>
            <a:off x="9427464" y="4272705"/>
            <a:ext cx="2089404" cy="812530"/>
          </a:xfrm>
          <a:prstGeom prst="rect">
            <a:avLst/>
          </a:prstGeom>
          <a:noFill/>
        </p:spPr>
        <p:txBody>
          <a:bodyPr wrap="square" lIns="36576" tIns="36576" rIns="36576" bIns="36576" anchor="t">
            <a:spAutoFit/>
          </a:bodyPr>
          <a:lstStyle/>
          <a:p>
            <a:pPr algn="l"/>
            <a:r>
              <a:rPr sz="1600" b="0" dirty="0">
                <a:solidFill>
                  <a:srgbClr val="5E6A78"/>
                </a:solidFill>
                <a:latin typeface="Aptos"/>
              </a:rPr>
              <a:t>Delivery · Customer history
Product history · Target</a:t>
            </a:r>
          </a:p>
        </p:txBody>
      </p:sp>
      <p:sp>
        <p:nvSpPr>
          <p:cNvPr id="46" name="TextBox 45"/>
          <p:cNvSpPr txBox="1"/>
          <p:nvPr/>
        </p:nvSpPr>
        <p:spPr>
          <a:xfrm>
            <a:off x="306324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7" name="TextBox 46"/>
          <p:cNvSpPr txBox="1"/>
          <p:nvPr/>
        </p:nvSpPr>
        <p:spPr>
          <a:xfrm>
            <a:off x="594360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8" name="TextBox 47"/>
          <p:cNvSpPr txBox="1"/>
          <p:nvPr/>
        </p:nvSpPr>
        <p:spPr>
          <a:xfrm>
            <a:off x="882396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9" name="TextBox 48"/>
          <p:cNvSpPr txBox="1"/>
          <p:nvPr/>
        </p:nvSpPr>
        <p:spPr>
          <a:xfrm>
            <a:off x="306324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0" name="TextBox 49"/>
          <p:cNvSpPr txBox="1"/>
          <p:nvPr/>
        </p:nvSpPr>
        <p:spPr>
          <a:xfrm>
            <a:off x="594360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1" name="TextBox 50"/>
          <p:cNvSpPr txBox="1"/>
          <p:nvPr/>
        </p:nvSpPr>
        <p:spPr>
          <a:xfrm>
            <a:off x="882396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2" name="TextBox 51"/>
          <p:cNvSpPr txBox="1"/>
          <p:nvPr/>
        </p:nvSpPr>
        <p:spPr>
          <a:xfrm>
            <a:off x="10177272" y="3172968"/>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3" name="Rounded Rectangle 52"/>
          <p:cNvSpPr/>
          <p:nvPr/>
        </p:nvSpPr>
        <p:spPr>
          <a:xfrm>
            <a:off x="640080" y="5532120"/>
            <a:ext cx="11028756" cy="699248"/>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4" name="TextBox 53"/>
          <p:cNvSpPr txBox="1"/>
          <p:nvPr/>
        </p:nvSpPr>
        <p:spPr>
          <a:xfrm>
            <a:off x="777240" y="5611989"/>
            <a:ext cx="10698480" cy="547842"/>
          </a:xfrm>
          <a:prstGeom prst="rect">
            <a:avLst/>
          </a:prstGeom>
          <a:noFill/>
        </p:spPr>
        <p:txBody>
          <a:bodyPr wrap="square" lIns="45720" tIns="27432" rIns="45720" bIns="27432">
            <a:spAutoFit/>
          </a:bodyPr>
          <a:lstStyle/>
          <a:p>
            <a:pPr algn="l"/>
            <a:r>
              <a:rPr sz="1600" b="1" dirty="0" err="1">
                <a:solidFill>
                  <a:srgbClr val="162C46"/>
                </a:solidFill>
                <a:latin typeface="Aptos"/>
              </a:rPr>
              <a:t>Mục</a:t>
            </a:r>
            <a:r>
              <a:rPr sz="1600" b="1" dirty="0">
                <a:solidFill>
                  <a:srgbClr val="162C46"/>
                </a:solidFill>
                <a:latin typeface="Aptos"/>
              </a:rPr>
              <a:t> </a:t>
            </a:r>
            <a:r>
              <a:rPr sz="1600" b="1" dirty="0" err="1">
                <a:solidFill>
                  <a:srgbClr val="162C46"/>
                </a:solidFill>
                <a:latin typeface="Aptos"/>
              </a:rPr>
              <a:t>tiêu</a:t>
            </a:r>
            <a:r>
              <a:rPr sz="1600" b="1" dirty="0">
                <a:solidFill>
                  <a:srgbClr val="162C46"/>
                </a:solidFill>
                <a:latin typeface="Aptos"/>
              </a:rPr>
              <a:t> </a:t>
            </a:r>
            <a:r>
              <a:rPr sz="1600" b="1" dirty="0" err="1">
                <a:solidFill>
                  <a:srgbClr val="162C46"/>
                </a:solidFill>
                <a:latin typeface="Aptos"/>
              </a:rPr>
              <a:t>xuyên</a:t>
            </a:r>
            <a:r>
              <a:rPr sz="1600" b="1" dirty="0">
                <a:solidFill>
                  <a:srgbClr val="162C46"/>
                </a:solidFill>
                <a:latin typeface="Aptos"/>
              </a:rPr>
              <a:t> </a:t>
            </a:r>
            <a:r>
              <a:rPr sz="1600" b="1" dirty="0" err="1">
                <a:solidFill>
                  <a:srgbClr val="162C46"/>
                </a:solidFill>
                <a:latin typeface="Aptos"/>
              </a:rPr>
              <a:t>suốt</a:t>
            </a:r>
            <a:r>
              <a:rPr sz="1600" b="1" dirty="0">
                <a:solidFill>
                  <a:srgbClr val="162C46"/>
                </a:solidFill>
                <a:latin typeface="Aptos"/>
              </a:rPr>
              <a:t>: </a:t>
            </a:r>
            <a:r>
              <a:rPr sz="1600" b="0" dirty="0" err="1">
                <a:solidFill>
                  <a:srgbClr val="242B33"/>
                </a:solidFill>
                <a:latin typeface="Aptos"/>
              </a:rPr>
              <a:t>Kiểm</a:t>
            </a:r>
            <a:r>
              <a:rPr sz="1600" b="0" dirty="0">
                <a:solidFill>
                  <a:srgbClr val="242B33"/>
                </a:solidFill>
                <a:latin typeface="Aptos"/>
              </a:rPr>
              <a:t> </a:t>
            </a:r>
            <a:r>
              <a:rPr sz="1600" b="0" dirty="0" err="1">
                <a:solidFill>
                  <a:srgbClr val="242B33"/>
                </a:solidFill>
                <a:latin typeface="Aptos"/>
              </a:rPr>
              <a:t>tra</a:t>
            </a:r>
            <a:r>
              <a:rPr sz="1600" b="0" dirty="0">
                <a:solidFill>
                  <a:srgbClr val="242B33"/>
                </a:solidFill>
                <a:latin typeface="Aptos"/>
              </a:rPr>
              <a:t> </a:t>
            </a:r>
            <a:r>
              <a:rPr sz="1600" b="0" dirty="0" err="1">
                <a:solidFill>
                  <a:srgbClr val="242B33"/>
                </a:solidFill>
                <a:latin typeface="Aptos"/>
              </a:rPr>
              <a:t>liệu</a:t>
            </a:r>
            <a:r>
              <a:rPr sz="1600" b="0" dirty="0">
                <a:solidFill>
                  <a:srgbClr val="242B33"/>
                </a:solidFill>
                <a:latin typeface="Aptos"/>
              </a:rPr>
              <a:t> </a:t>
            </a:r>
            <a:r>
              <a:rPr sz="1600" b="0" dirty="0" err="1">
                <a:solidFill>
                  <a:srgbClr val="242B33"/>
                </a:solidFill>
                <a:latin typeface="Aptos"/>
              </a:rPr>
              <a:t>chỉ</a:t>
            </a:r>
            <a:r>
              <a:rPr sz="1600" b="0" dirty="0">
                <a:solidFill>
                  <a:srgbClr val="242B33"/>
                </a:solidFill>
                <a:latin typeface="Aptos"/>
              </a:rPr>
              <a:t> </a:t>
            </a:r>
            <a:r>
              <a:rPr sz="1600" b="0" dirty="0" err="1">
                <a:solidFill>
                  <a:srgbClr val="242B33"/>
                </a:solidFill>
                <a:latin typeface="Aptos"/>
              </a:rPr>
              <a:t>báo</a:t>
            </a:r>
            <a:r>
              <a:rPr sz="1600" b="0" dirty="0">
                <a:solidFill>
                  <a:srgbClr val="242B33"/>
                </a:solidFill>
                <a:latin typeface="Aptos"/>
              </a:rPr>
              <a:t> SLA </a:t>
            </a:r>
            <a:r>
              <a:rPr sz="1600" b="0" dirty="0" err="1">
                <a:solidFill>
                  <a:srgbClr val="242B33"/>
                </a:solidFill>
                <a:latin typeface="Aptos"/>
              </a:rPr>
              <a:t>của</a:t>
            </a:r>
            <a:r>
              <a:rPr sz="1600" b="0" dirty="0">
                <a:solidFill>
                  <a:srgbClr val="242B33"/>
                </a:solidFill>
                <a:latin typeface="Aptos"/>
              </a:rPr>
              <a:t> </a:t>
            </a:r>
            <a:r>
              <a:rPr sz="1600" b="0" dirty="0" err="1">
                <a:solidFill>
                  <a:srgbClr val="242B33"/>
                </a:solidFill>
                <a:latin typeface="Aptos"/>
              </a:rPr>
              <a:t>doanh</a:t>
            </a:r>
            <a:r>
              <a:rPr sz="1600" b="0" dirty="0">
                <a:solidFill>
                  <a:srgbClr val="242B33"/>
                </a:solidFill>
                <a:latin typeface="Aptos"/>
              </a:rPr>
              <a:t> </a:t>
            </a:r>
            <a:r>
              <a:rPr sz="1600" b="0" dirty="0" err="1">
                <a:solidFill>
                  <a:srgbClr val="242B33"/>
                </a:solidFill>
                <a:latin typeface="Aptos"/>
              </a:rPr>
              <a:t>nghiệp</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phản</a:t>
            </a:r>
            <a:r>
              <a:rPr sz="1600" b="0" dirty="0">
                <a:solidFill>
                  <a:srgbClr val="242B33"/>
                </a:solidFill>
                <a:latin typeface="Aptos"/>
              </a:rPr>
              <a:t> </a:t>
            </a:r>
            <a:r>
              <a:rPr sz="1600" b="0" dirty="0" err="1">
                <a:solidFill>
                  <a:srgbClr val="242B33"/>
                </a:solidFill>
                <a:latin typeface="Aptos"/>
              </a:rPr>
              <a:t>ánh</a:t>
            </a:r>
            <a:r>
              <a:rPr sz="1600" b="0" dirty="0">
                <a:solidFill>
                  <a:srgbClr val="242B33"/>
                </a:solidFill>
                <a:latin typeface="Aptos"/>
              </a:rPr>
              <a:t> </a:t>
            </a:r>
            <a:r>
              <a:rPr sz="1600" b="0" dirty="0" err="1">
                <a:solidFill>
                  <a:srgbClr val="242B33"/>
                </a:solidFill>
                <a:latin typeface="Aptos"/>
              </a:rPr>
              <a:t>đầy</a:t>
            </a:r>
            <a:r>
              <a:rPr sz="1600" b="0" dirty="0">
                <a:solidFill>
                  <a:srgbClr val="242B33"/>
                </a:solidFill>
                <a:latin typeface="Aptos"/>
              </a:rPr>
              <a:t> </a:t>
            </a:r>
            <a:r>
              <a:rPr sz="1600" b="0" dirty="0" err="1">
                <a:solidFill>
                  <a:srgbClr val="242B33"/>
                </a:solidFill>
                <a:latin typeface="Aptos"/>
              </a:rPr>
              <a:t>đủ</a:t>
            </a:r>
            <a:r>
              <a:rPr sz="1600" b="0" dirty="0">
                <a:solidFill>
                  <a:srgbClr val="242B33"/>
                </a:solidFill>
                <a:latin typeface="Aptos"/>
              </a:rPr>
              <a:t> </a:t>
            </a:r>
            <a:r>
              <a:rPr sz="1600" b="0" dirty="0" err="1">
                <a:solidFill>
                  <a:srgbClr val="242B33"/>
                </a:solidFill>
                <a:latin typeface="Aptos"/>
              </a:rPr>
              <a:t>trải</a:t>
            </a:r>
            <a:r>
              <a:rPr sz="1600" b="0" dirty="0">
                <a:solidFill>
                  <a:srgbClr val="242B33"/>
                </a:solidFill>
                <a:latin typeface="Aptos"/>
              </a:rPr>
              <a:t> </a:t>
            </a:r>
            <a:r>
              <a:rPr sz="1600" b="0" dirty="0" err="1">
                <a:solidFill>
                  <a:srgbClr val="242B33"/>
                </a:solidFill>
                <a:latin typeface="Aptos"/>
              </a:rPr>
              <a:t>nghiệm</a:t>
            </a:r>
            <a:r>
              <a:rPr sz="1600" b="0" dirty="0">
                <a:solidFill>
                  <a:srgbClr val="242B33"/>
                </a:solidFill>
                <a:latin typeface="Aptos"/>
              </a:rPr>
              <a:t> </a:t>
            </a:r>
            <a:r>
              <a:rPr sz="1600" b="0" dirty="0" err="1">
                <a:solidFill>
                  <a:srgbClr val="242B33"/>
                </a:solidFill>
                <a:latin typeface="Aptos"/>
              </a:rPr>
              <a:t>giao</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và</a:t>
            </a:r>
            <a:r>
              <a:rPr sz="1600" b="0" dirty="0">
                <a:solidFill>
                  <a:srgbClr val="242B33"/>
                </a:solidFill>
                <a:latin typeface="Aptos"/>
              </a:rPr>
              <a:t> </a:t>
            </a:r>
            <a:r>
              <a:rPr sz="1600" b="0" dirty="0" err="1">
                <a:solidFill>
                  <a:srgbClr val="242B33"/>
                </a:solidFill>
                <a:latin typeface="Aptos"/>
              </a:rPr>
              <a:t>nguy</a:t>
            </a:r>
            <a:r>
              <a:rPr sz="1600" b="0" dirty="0">
                <a:solidFill>
                  <a:srgbClr val="242B33"/>
                </a:solidFill>
                <a:latin typeface="Aptos"/>
              </a:rPr>
              <a:t> </a:t>
            </a:r>
            <a:r>
              <a:rPr sz="1600" b="0" dirty="0" err="1">
                <a:solidFill>
                  <a:srgbClr val="242B33"/>
                </a:solidFill>
                <a:latin typeface="Aptos"/>
              </a:rPr>
              <a:t>cơ</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hay </a:t>
            </a:r>
            <a:r>
              <a:rPr sz="1600" b="0" dirty="0" err="1">
                <a:solidFill>
                  <a:srgbClr val="242B33"/>
                </a:solidFill>
                <a:latin typeface="Aptos"/>
              </a:rPr>
              <a:t>không</a:t>
            </a:r>
            <a:r>
              <a:rPr sz="1600" b="0" dirty="0">
                <a:solidFill>
                  <a:srgbClr val="242B33"/>
                </a:solidFill>
                <a:latin typeface="Aptos"/>
              </a:rPr>
              <a:t>.</a:t>
            </a:r>
          </a:p>
        </p:txBody>
      </p:sp>
      <p:sp>
        <p:nvSpPr>
          <p:cNvPr id="55" name="TextBox 54"/>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56" name="TextBox 55"/>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88487"/>
            <a:ext cx="10972800" cy="935641"/>
          </a:xfrm>
          <a:prstGeom prst="rect">
            <a:avLst/>
          </a:prstGeom>
          <a:noFill/>
        </p:spPr>
        <p:txBody>
          <a:bodyPr wrap="square" lIns="36576" tIns="36576" rIns="36576" bIns="36576" anchor="t">
            <a:spAutoFit/>
          </a:bodyPr>
          <a:lstStyle/>
          <a:p>
            <a:pPr algn="l"/>
            <a:r>
              <a:rPr sz="2800" b="1" dirty="0">
                <a:solidFill>
                  <a:srgbClr val="162C46"/>
                </a:solidFill>
                <a:latin typeface="Aptos Display"/>
              </a:rPr>
              <a:t>BÀI TOÁN KINH DOANH: SLA CÓ PHẢN ÁNH ĐÚNG TRẢI NGHIỆM KHÁCH HÀNG?</a:t>
            </a:r>
          </a:p>
        </p:txBody>
      </p:sp>
      <p:cxnSp>
        <p:nvCxnSpPr>
          <p:cNvPr id="3" name="Connector 2"/>
          <p:cNvCxnSpPr/>
          <p:nvPr/>
        </p:nvCxnSpPr>
        <p:spPr>
          <a:xfrm>
            <a:off x="566928" y="97322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03</a:t>
            </a:r>
          </a:p>
        </p:txBody>
      </p:sp>
      <p:sp>
        <p:nvSpPr>
          <p:cNvPr id="5" name="TextBox 4"/>
          <p:cNvSpPr txBox="1"/>
          <p:nvPr/>
        </p:nvSpPr>
        <p:spPr>
          <a:xfrm>
            <a:off x="658368" y="1115568"/>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VẤN ĐỀ KINH DOANH</a:t>
            </a:r>
          </a:p>
        </p:txBody>
      </p:sp>
      <p:sp>
        <p:nvSpPr>
          <p:cNvPr id="6" name="Rounded Rectangle 5"/>
          <p:cNvSpPr/>
          <p:nvPr/>
        </p:nvSpPr>
        <p:spPr>
          <a:xfrm>
            <a:off x="658368" y="1481328"/>
            <a:ext cx="5166360" cy="36118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ounded Rectangle 6"/>
          <p:cNvSpPr/>
          <p:nvPr/>
        </p:nvSpPr>
        <p:spPr>
          <a:xfrm>
            <a:off x="960120" y="1783080"/>
            <a:ext cx="2331720" cy="4114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996696" y="1828776"/>
            <a:ext cx="2258568" cy="320088"/>
          </a:xfrm>
          <a:prstGeom prst="rect">
            <a:avLst/>
          </a:prstGeom>
          <a:noFill/>
        </p:spPr>
        <p:txBody>
          <a:bodyPr wrap="square" lIns="36576" tIns="36576" rIns="36576" bIns="36576" anchor="ctr">
            <a:spAutoFit/>
          </a:bodyPr>
          <a:lstStyle/>
          <a:p>
            <a:pPr algn="ctr"/>
            <a:r>
              <a:rPr sz="1600" b="1">
                <a:solidFill>
                  <a:srgbClr val="2F639D"/>
                </a:solidFill>
                <a:latin typeface="Aptos"/>
              </a:rPr>
              <a:t>SLA giao hàng: 1–5 ngày</a:t>
            </a:r>
          </a:p>
        </p:txBody>
      </p:sp>
      <p:sp>
        <p:nvSpPr>
          <p:cNvPr id="9" name="TextBox 8"/>
          <p:cNvSpPr txBox="1"/>
          <p:nvPr/>
        </p:nvSpPr>
        <p:spPr>
          <a:xfrm>
            <a:off x="1965960" y="2258568"/>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10" name="TextBox 9"/>
          <p:cNvSpPr txBox="1"/>
          <p:nvPr/>
        </p:nvSpPr>
        <p:spPr>
          <a:xfrm>
            <a:off x="1078992" y="2578608"/>
            <a:ext cx="2148840" cy="566309"/>
          </a:xfrm>
          <a:prstGeom prst="rect">
            <a:avLst/>
          </a:prstGeom>
          <a:noFill/>
        </p:spPr>
        <p:txBody>
          <a:bodyPr wrap="square" lIns="36576" tIns="36576" rIns="36576" bIns="36576" anchor="t">
            <a:spAutoFit/>
          </a:bodyPr>
          <a:lstStyle/>
          <a:p>
            <a:pPr algn="ctr"/>
            <a:r>
              <a:rPr sz="1600" b="1">
                <a:solidFill>
                  <a:srgbClr val="162C46"/>
                </a:solidFill>
                <a:latin typeface="Aptos"/>
              </a:rPr>
              <a:t>Phân loại giao hàng
trong / vượt SLA</a:t>
            </a:r>
          </a:p>
        </p:txBody>
      </p:sp>
      <p:sp>
        <p:nvSpPr>
          <p:cNvPr id="11" name="TextBox 10"/>
          <p:cNvSpPr txBox="1"/>
          <p:nvPr/>
        </p:nvSpPr>
        <p:spPr>
          <a:xfrm>
            <a:off x="1965960" y="3182112"/>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12" name="TextBox 11"/>
          <p:cNvSpPr txBox="1"/>
          <p:nvPr/>
        </p:nvSpPr>
        <p:spPr>
          <a:xfrm>
            <a:off x="1051560" y="3502152"/>
            <a:ext cx="2240280" cy="320088"/>
          </a:xfrm>
          <a:prstGeom prst="rect">
            <a:avLst/>
          </a:prstGeom>
          <a:noFill/>
        </p:spPr>
        <p:txBody>
          <a:bodyPr wrap="square" lIns="36576" tIns="36576" rIns="36576" bIns="36576" anchor="t">
            <a:spAutoFit/>
          </a:bodyPr>
          <a:lstStyle/>
          <a:p>
            <a:pPr algn="ctr"/>
            <a:r>
              <a:rPr sz="1600" b="1">
                <a:solidFill>
                  <a:srgbClr val="5E6A78"/>
                </a:solidFill>
                <a:latin typeface="Aptos"/>
              </a:rPr>
              <a:t>Câu hỏi đặt ra:</a:t>
            </a:r>
          </a:p>
        </p:txBody>
      </p:sp>
      <p:sp>
        <p:nvSpPr>
          <p:cNvPr id="13" name="TextBox 12"/>
          <p:cNvSpPr txBox="1"/>
          <p:nvPr/>
        </p:nvSpPr>
        <p:spPr>
          <a:xfrm>
            <a:off x="753424" y="3827693"/>
            <a:ext cx="2836551" cy="566309"/>
          </a:xfrm>
          <a:prstGeom prst="rect">
            <a:avLst/>
          </a:prstGeom>
          <a:noFill/>
        </p:spPr>
        <p:txBody>
          <a:bodyPr wrap="square" lIns="36576" tIns="36576" rIns="36576" bIns="36576" anchor="t">
            <a:spAutoFit/>
          </a:bodyPr>
          <a:lstStyle/>
          <a:p>
            <a:pPr algn="ctr"/>
            <a:r>
              <a:rPr sz="1600" b="1" dirty="0">
                <a:solidFill>
                  <a:srgbClr val="242B33"/>
                </a:solidFill>
                <a:latin typeface="Aptos"/>
              </a:rPr>
              <a:t>Tuân </a:t>
            </a:r>
            <a:r>
              <a:rPr sz="1600" b="1" dirty="0" err="1">
                <a:solidFill>
                  <a:srgbClr val="242B33"/>
                </a:solidFill>
                <a:latin typeface="Aptos"/>
              </a:rPr>
              <a:t>thủ</a:t>
            </a:r>
            <a:r>
              <a:rPr sz="1600" b="1" dirty="0">
                <a:solidFill>
                  <a:srgbClr val="242B33"/>
                </a:solidFill>
                <a:latin typeface="Aptos"/>
              </a:rPr>
              <a:t> SLA </a:t>
            </a:r>
            <a:r>
              <a:rPr sz="1600" b="1" dirty="0" err="1">
                <a:solidFill>
                  <a:srgbClr val="242B33"/>
                </a:solidFill>
                <a:latin typeface="Aptos"/>
              </a:rPr>
              <a:t>có</a:t>
            </a:r>
            <a:r>
              <a:rPr sz="1600" b="1" dirty="0">
                <a:solidFill>
                  <a:srgbClr val="242B33"/>
                </a:solidFill>
                <a:latin typeface="Aptos"/>
              </a:rPr>
              <a:t> </a:t>
            </a:r>
            <a:r>
              <a:rPr sz="1600" b="1" dirty="0" err="1">
                <a:solidFill>
                  <a:srgbClr val="242B33"/>
                </a:solidFill>
                <a:latin typeface="Aptos"/>
              </a:rPr>
              <a:t>đồng</a:t>
            </a:r>
            <a:r>
              <a:rPr sz="1600" b="1" dirty="0">
                <a:solidFill>
                  <a:srgbClr val="242B33"/>
                </a:solidFill>
                <a:latin typeface="Aptos"/>
              </a:rPr>
              <a:t> </a:t>
            </a:r>
            <a:r>
              <a:rPr sz="1600" b="1" dirty="0" err="1">
                <a:solidFill>
                  <a:srgbClr val="242B33"/>
                </a:solidFill>
                <a:latin typeface="Aptos"/>
              </a:rPr>
              <a:t>nghĩa</a:t>
            </a:r>
            <a:r>
              <a:rPr sz="1600" b="1" dirty="0">
                <a:solidFill>
                  <a:srgbClr val="242B33"/>
                </a:solidFill>
                <a:latin typeface="Aptos"/>
              </a:rPr>
              <a:t>
</a:t>
            </a:r>
            <a:r>
              <a:rPr sz="1600" b="1" dirty="0" err="1">
                <a:solidFill>
                  <a:srgbClr val="242B33"/>
                </a:solidFill>
                <a:latin typeface="Aptos"/>
              </a:rPr>
              <a:t>với</a:t>
            </a:r>
            <a:r>
              <a:rPr sz="1600" b="1" dirty="0">
                <a:solidFill>
                  <a:srgbClr val="242B33"/>
                </a:solidFill>
                <a:latin typeface="Aptos"/>
              </a:rPr>
              <a:t> </a:t>
            </a:r>
            <a:r>
              <a:rPr sz="1600" b="1" dirty="0" err="1">
                <a:solidFill>
                  <a:srgbClr val="242B33"/>
                </a:solidFill>
                <a:latin typeface="Aptos"/>
              </a:rPr>
              <a:t>trải</a:t>
            </a:r>
            <a:r>
              <a:rPr sz="1600" b="1" dirty="0">
                <a:solidFill>
                  <a:srgbClr val="242B33"/>
                </a:solidFill>
                <a:latin typeface="Aptos"/>
              </a:rPr>
              <a:t> </a:t>
            </a:r>
            <a:r>
              <a:rPr sz="1600" b="1" dirty="0" err="1">
                <a:solidFill>
                  <a:srgbClr val="242B33"/>
                </a:solidFill>
                <a:latin typeface="Aptos"/>
              </a:rPr>
              <a:t>nghiệm</a:t>
            </a:r>
            <a:r>
              <a:rPr sz="1600" b="1" dirty="0">
                <a:solidFill>
                  <a:srgbClr val="242B33"/>
                </a:solidFill>
                <a:latin typeface="Aptos"/>
              </a:rPr>
              <a:t> </a:t>
            </a:r>
            <a:r>
              <a:rPr sz="1600" b="1" dirty="0" err="1">
                <a:solidFill>
                  <a:srgbClr val="242B33"/>
                </a:solidFill>
                <a:latin typeface="Aptos"/>
              </a:rPr>
              <a:t>giao</a:t>
            </a:r>
            <a:r>
              <a:rPr sz="1600" b="1" dirty="0">
                <a:solidFill>
                  <a:srgbClr val="242B33"/>
                </a:solidFill>
                <a:latin typeface="Aptos"/>
              </a:rPr>
              <a:t> </a:t>
            </a:r>
            <a:r>
              <a:rPr sz="1600" b="1" dirty="0" err="1">
                <a:solidFill>
                  <a:srgbClr val="242B33"/>
                </a:solidFill>
                <a:latin typeface="Aptos"/>
              </a:rPr>
              <a:t>hàng</a:t>
            </a:r>
            <a:r>
              <a:rPr sz="1600" b="1" dirty="0">
                <a:solidFill>
                  <a:srgbClr val="242B33"/>
                </a:solidFill>
                <a:latin typeface="Aptos"/>
              </a:rPr>
              <a:t> </a:t>
            </a:r>
            <a:r>
              <a:rPr sz="1600" b="1" dirty="0" err="1">
                <a:solidFill>
                  <a:srgbClr val="242B33"/>
                </a:solidFill>
                <a:latin typeface="Aptos"/>
              </a:rPr>
              <a:t>tốt</a:t>
            </a:r>
            <a:r>
              <a:rPr sz="1600" b="1" dirty="0">
                <a:solidFill>
                  <a:srgbClr val="242B33"/>
                </a:solidFill>
                <a:latin typeface="Aptos"/>
              </a:rPr>
              <a:t>?</a:t>
            </a:r>
          </a:p>
        </p:txBody>
      </p:sp>
      <p:sp>
        <p:nvSpPr>
          <p:cNvPr id="14" name="Rounded Rectangle 13"/>
          <p:cNvSpPr/>
          <p:nvPr/>
        </p:nvSpPr>
        <p:spPr>
          <a:xfrm>
            <a:off x="3794760" y="2057400"/>
            <a:ext cx="1645920" cy="1920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5" name="TextBox 14"/>
          <p:cNvSpPr txBox="1"/>
          <p:nvPr/>
        </p:nvSpPr>
        <p:spPr>
          <a:xfrm>
            <a:off x="4000500" y="2162556"/>
            <a:ext cx="1234440" cy="320040"/>
          </a:xfrm>
          <a:prstGeom prst="rect">
            <a:avLst/>
          </a:prstGeom>
          <a:noFill/>
        </p:spPr>
        <p:txBody>
          <a:bodyPr wrap="square" lIns="36576" tIns="36576" rIns="36576" bIns="36576" anchor="t">
            <a:spAutoFit/>
          </a:bodyPr>
          <a:lstStyle/>
          <a:p>
            <a:pPr algn="ctr"/>
            <a:r>
              <a:rPr sz="1600" b="1" dirty="0">
                <a:solidFill>
                  <a:srgbClr val="FFFFFF"/>
                </a:solidFill>
                <a:latin typeface="Aptos"/>
              </a:rPr>
              <a:t>“BẪY SLA”</a:t>
            </a:r>
          </a:p>
        </p:txBody>
      </p:sp>
      <p:sp>
        <p:nvSpPr>
          <p:cNvPr id="16" name="TextBox 15"/>
          <p:cNvSpPr txBox="1"/>
          <p:nvPr/>
        </p:nvSpPr>
        <p:spPr>
          <a:xfrm>
            <a:off x="3959352" y="2401099"/>
            <a:ext cx="1325880" cy="1551194"/>
          </a:xfrm>
          <a:prstGeom prst="rect">
            <a:avLst/>
          </a:prstGeom>
          <a:noFill/>
        </p:spPr>
        <p:txBody>
          <a:bodyPr wrap="square" lIns="36576" tIns="36576" rIns="36576" bIns="36576" anchor="t">
            <a:spAutoFit/>
          </a:bodyPr>
          <a:lstStyle/>
          <a:p>
            <a:pPr algn="ctr"/>
            <a:r>
              <a:rPr sz="1600" b="0" dirty="0">
                <a:solidFill>
                  <a:srgbClr val="FFFFFF"/>
                </a:solidFill>
                <a:latin typeface="Aptos"/>
              </a:rPr>
              <a:t>Trong SLA ≠
</a:t>
            </a:r>
            <a:r>
              <a:rPr sz="1600" b="0" dirty="0" err="1">
                <a:solidFill>
                  <a:srgbClr val="FFFFFF"/>
                </a:solidFill>
                <a:latin typeface="Aptos"/>
              </a:rPr>
              <a:t>luôn</a:t>
            </a:r>
            <a:r>
              <a:rPr sz="1600" b="0" dirty="0">
                <a:solidFill>
                  <a:srgbClr val="FFFFFF"/>
                </a:solidFill>
                <a:latin typeface="Aptos"/>
              </a:rPr>
              <a:t> </a:t>
            </a:r>
            <a:r>
              <a:rPr sz="1600" b="0" dirty="0" err="1">
                <a:solidFill>
                  <a:srgbClr val="FFFFFF"/>
                </a:solidFill>
                <a:latin typeface="Aptos"/>
              </a:rPr>
              <a:t>hài</a:t>
            </a:r>
            <a:r>
              <a:rPr sz="1600" b="0" dirty="0">
                <a:solidFill>
                  <a:srgbClr val="FFFFFF"/>
                </a:solidFill>
                <a:latin typeface="Aptos"/>
              </a:rPr>
              <a:t> </a:t>
            </a:r>
            <a:r>
              <a:rPr sz="1600" b="0" dirty="0" err="1">
                <a:solidFill>
                  <a:srgbClr val="FFFFFF"/>
                </a:solidFill>
                <a:latin typeface="Aptos"/>
              </a:rPr>
              <a:t>lòng</a:t>
            </a:r>
            <a:r>
              <a:rPr sz="1600" b="0" dirty="0">
                <a:solidFill>
                  <a:srgbClr val="FFFFFF"/>
                </a:solidFill>
                <a:latin typeface="Aptos"/>
              </a:rPr>
              <a:t>
</a:t>
            </a:r>
            <a:r>
              <a:rPr sz="1600" b="0" dirty="0" err="1">
                <a:solidFill>
                  <a:srgbClr val="FFFFFF"/>
                </a:solidFill>
                <a:latin typeface="Aptos"/>
              </a:rPr>
              <a:t>Vượt</a:t>
            </a:r>
            <a:r>
              <a:rPr sz="1600" b="0" dirty="0">
                <a:solidFill>
                  <a:srgbClr val="FFFFFF"/>
                </a:solidFill>
                <a:latin typeface="Aptos"/>
              </a:rPr>
              <a:t> SLA ≠
</a:t>
            </a:r>
            <a:r>
              <a:rPr sz="1600" b="0" dirty="0" err="1">
                <a:solidFill>
                  <a:srgbClr val="FFFFFF"/>
                </a:solidFill>
                <a:latin typeface="Aptos"/>
              </a:rPr>
              <a:t>luôn</a:t>
            </a:r>
            <a:r>
              <a:rPr sz="1600" b="0" dirty="0">
                <a:solidFill>
                  <a:srgbClr val="FFFFFF"/>
                </a:solidFill>
                <a:latin typeface="Aptos"/>
              </a:rPr>
              <a:t> </a:t>
            </a:r>
            <a:r>
              <a:rPr sz="1600" b="0" dirty="0" err="1">
                <a:solidFill>
                  <a:srgbClr val="FFFFFF"/>
                </a:solidFill>
                <a:latin typeface="Aptos"/>
              </a:rPr>
              <a:t>không</a:t>
            </a:r>
            <a:r>
              <a:rPr sz="1600" b="0" dirty="0">
                <a:solidFill>
                  <a:srgbClr val="FFFFFF"/>
                </a:solidFill>
                <a:latin typeface="Aptos"/>
              </a:rPr>
              <a:t> </a:t>
            </a:r>
            <a:r>
              <a:rPr sz="1600" b="0" dirty="0" err="1">
                <a:solidFill>
                  <a:srgbClr val="FFFFFF"/>
                </a:solidFill>
                <a:latin typeface="Aptos"/>
              </a:rPr>
              <a:t>hài</a:t>
            </a:r>
            <a:r>
              <a:rPr sz="1600" b="0" dirty="0">
                <a:solidFill>
                  <a:srgbClr val="FFFFFF"/>
                </a:solidFill>
                <a:latin typeface="Aptos"/>
              </a:rPr>
              <a:t> </a:t>
            </a:r>
            <a:r>
              <a:rPr sz="1600" b="0" dirty="0" err="1">
                <a:solidFill>
                  <a:srgbClr val="FFFFFF"/>
                </a:solidFill>
                <a:latin typeface="Aptos"/>
              </a:rPr>
              <a:t>lòng</a:t>
            </a:r>
            <a:endParaRPr sz="1600" b="0" dirty="0">
              <a:solidFill>
                <a:srgbClr val="FFFFFF"/>
              </a:solidFill>
              <a:latin typeface="Aptos"/>
            </a:endParaRPr>
          </a:p>
        </p:txBody>
      </p:sp>
      <p:sp>
        <p:nvSpPr>
          <p:cNvPr id="17" name="TextBox 16"/>
          <p:cNvSpPr txBox="1"/>
          <p:nvPr/>
        </p:nvSpPr>
        <p:spPr>
          <a:xfrm>
            <a:off x="6172200" y="1115568"/>
            <a:ext cx="31089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CÂU HỎI NGHIÊN CỨU</a:t>
            </a:r>
          </a:p>
        </p:txBody>
      </p:sp>
      <p:sp>
        <p:nvSpPr>
          <p:cNvPr id="18" name="TextBox 17"/>
          <p:cNvSpPr txBox="1"/>
          <p:nvPr/>
        </p:nvSpPr>
        <p:spPr>
          <a:xfrm>
            <a:off x="6199632" y="1508760"/>
            <a:ext cx="5230368" cy="2222147"/>
          </a:xfrm>
          <a:prstGeom prst="rect">
            <a:avLst/>
          </a:prstGeom>
          <a:noFill/>
        </p:spPr>
        <p:txBody>
          <a:bodyPr wrap="square" lIns="36576" tIns="18288" rIns="18288" bIns="18288">
            <a:spAutoFit/>
          </a:bodyPr>
          <a:lstStyle/>
          <a:p>
            <a:pPr>
              <a:spcAft>
                <a:spcPts val="1200"/>
              </a:spcAft>
              <a:defRPr sz="1400">
                <a:solidFill>
                  <a:srgbClr val="242B33"/>
                </a:solidFill>
                <a:latin typeface="Aptos"/>
              </a:defRPr>
            </a:pPr>
            <a:r>
              <a:rPr sz="1600" dirty="0"/>
              <a:t>• Q1. Lead Time </a:t>
            </a:r>
            <a:r>
              <a:rPr sz="1600" dirty="0" err="1"/>
              <a:t>thực</a:t>
            </a:r>
            <a:r>
              <a:rPr sz="1600" dirty="0"/>
              <a:t> </a:t>
            </a:r>
            <a:r>
              <a:rPr sz="1600" dirty="0" err="1"/>
              <a:t>tế</a:t>
            </a:r>
            <a:r>
              <a:rPr sz="1600" dirty="0"/>
              <a:t> </a:t>
            </a:r>
            <a:r>
              <a:rPr sz="1600" dirty="0" err="1"/>
              <a:t>phân</a:t>
            </a:r>
            <a:r>
              <a:rPr sz="1600" dirty="0"/>
              <a:t> </a:t>
            </a:r>
            <a:r>
              <a:rPr sz="1600" dirty="0" err="1"/>
              <a:t>bố</a:t>
            </a:r>
            <a:r>
              <a:rPr sz="1600" dirty="0"/>
              <a:t> </a:t>
            </a:r>
            <a:r>
              <a:rPr sz="1600" dirty="0" err="1"/>
              <a:t>như</a:t>
            </a:r>
            <a:r>
              <a:rPr sz="1600" dirty="0"/>
              <a:t> </a:t>
            </a:r>
            <a:r>
              <a:rPr sz="1600" dirty="0" err="1"/>
              <a:t>thế</a:t>
            </a:r>
            <a:r>
              <a:rPr sz="1600" dirty="0"/>
              <a:t> </a:t>
            </a:r>
            <a:r>
              <a:rPr sz="1600" dirty="0" err="1"/>
              <a:t>nào</a:t>
            </a:r>
            <a:r>
              <a:rPr sz="1600" dirty="0"/>
              <a:t> so </a:t>
            </a:r>
            <a:r>
              <a:rPr sz="1600" dirty="0" err="1"/>
              <a:t>với</a:t>
            </a:r>
            <a:r>
              <a:rPr sz="1600" dirty="0"/>
              <a:t> </a:t>
            </a:r>
            <a:r>
              <a:rPr sz="1600" dirty="0" err="1"/>
              <a:t>ngưỡng</a:t>
            </a:r>
            <a:r>
              <a:rPr sz="1600" dirty="0"/>
              <a:t> SLA?</a:t>
            </a:r>
          </a:p>
          <a:p>
            <a:pPr>
              <a:spcAft>
                <a:spcPts val="1200"/>
              </a:spcAft>
              <a:defRPr sz="1400">
                <a:solidFill>
                  <a:srgbClr val="242B33"/>
                </a:solidFill>
                <a:latin typeface="Aptos"/>
              </a:defRPr>
            </a:pPr>
            <a:r>
              <a:rPr sz="1600" dirty="0"/>
              <a:t>• Q2. </a:t>
            </a:r>
            <a:r>
              <a:rPr sz="1600" dirty="0" err="1"/>
              <a:t>Trạng</a:t>
            </a:r>
            <a:r>
              <a:rPr sz="1600" dirty="0"/>
              <a:t> </a:t>
            </a:r>
            <a:r>
              <a:rPr sz="1600" dirty="0" err="1"/>
              <a:t>thái</a:t>
            </a:r>
            <a:r>
              <a:rPr sz="1600" dirty="0"/>
              <a:t> SLA </a:t>
            </a:r>
            <a:r>
              <a:rPr sz="1600" dirty="0" err="1"/>
              <a:t>có</a:t>
            </a:r>
            <a:r>
              <a:rPr sz="1600" dirty="0"/>
              <a:t> </a:t>
            </a:r>
            <a:r>
              <a:rPr sz="1600" dirty="0" err="1"/>
              <a:t>đồng</a:t>
            </a:r>
            <a:r>
              <a:rPr sz="1600" dirty="0"/>
              <a:t> </a:t>
            </a:r>
            <a:r>
              <a:rPr sz="1600" dirty="0" err="1"/>
              <a:t>nhất</a:t>
            </a:r>
            <a:r>
              <a:rPr sz="1600" dirty="0"/>
              <a:t> </a:t>
            </a:r>
            <a:r>
              <a:rPr sz="1600" dirty="0" err="1"/>
              <a:t>với</a:t>
            </a:r>
            <a:r>
              <a:rPr sz="1600" dirty="0"/>
              <a:t> </a:t>
            </a:r>
            <a:r>
              <a:rPr sz="1600" dirty="0" err="1"/>
              <a:t>cảm</a:t>
            </a:r>
            <a:r>
              <a:rPr sz="1600" dirty="0"/>
              <a:t> </a:t>
            </a:r>
            <a:r>
              <a:rPr sz="1600" dirty="0" err="1"/>
              <a:t>nhận</a:t>
            </a:r>
            <a:r>
              <a:rPr sz="1600" dirty="0"/>
              <a:t> </a:t>
            </a:r>
            <a:r>
              <a:rPr sz="1600" dirty="0" err="1"/>
              <a:t>giao</a:t>
            </a:r>
            <a:r>
              <a:rPr sz="1600" dirty="0"/>
              <a:t> </a:t>
            </a:r>
            <a:r>
              <a:rPr sz="1600" dirty="0" err="1"/>
              <a:t>hàng</a:t>
            </a:r>
            <a:r>
              <a:rPr sz="1600" dirty="0"/>
              <a:t> </a:t>
            </a:r>
            <a:r>
              <a:rPr sz="1600" dirty="0" err="1"/>
              <a:t>của</a:t>
            </a:r>
            <a:r>
              <a:rPr sz="1600" dirty="0"/>
              <a:t> </a:t>
            </a:r>
            <a:r>
              <a:rPr sz="1600" dirty="0" err="1"/>
              <a:t>khách</a:t>
            </a:r>
            <a:r>
              <a:rPr sz="1600" dirty="0"/>
              <a:t> </a:t>
            </a:r>
            <a:r>
              <a:rPr sz="1600" dirty="0" err="1"/>
              <a:t>hàng</a:t>
            </a:r>
            <a:r>
              <a:rPr sz="1600" dirty="0"/>
              <a:t> </a:t>
            </a:r>
            <a:r>
              <a:rPr sz="1600" dirty="0" err="1"/>
              <a:t>không</a:t>
            </a:r>
            <a:r>
              <a:rPr sz="1600" dirty="0"/>
              <a:t>?</a:t>
            </a:r>
          </a:p>
          <a:p>
            <a:pPr>
              <a:spcAft>
                <a:spcPts val="1200"/>
              </a:spcAft>
              <a:defRPr sz="1400">
                <a:solidFill>
                  <a:srgbClr val="242B33"/>
                </a:solidFill>
                <a:latin typeface="Aptos"/>
              </a:defRPr>
            </a:pPr>
            <a:r>
              <a:rPr sz="1600" dirty="0"/>
              <a:t>• Q3. Lead Time </a:t>
            </a:r>
            <a:r>
              <a:rPr sz="1600" dirty="0" err="1"/>
              <a:t>và</a:t>
            </a:r>
            <a:r>
              <a:rPr sz="1600" dirty="0"/>
              <a:t> SLA </a:t>
            </a:r>
            <a:r>
              <a:rPr sz="1600" dirty="0" err="1"/>
              <a:t>liên</a:t>
            </a:r>
            <a:r>
              <a:rPr sz="1600" dirty="0"/>
              <a:t> </a:t>
            </a:r>
            <a:r>
              <a:rPr sz="1600" dirty="0" err="1"/>
              <a:t>hệ</a:t>
            </a:r>
            <a:r>
              <a:rPr sz="1600" dirty="0"/>
              <a:t> </a:t>
            </a:r>
            <a:r>
              <a:rPr sz="1600" dirty="0" err="1"/>
              <a:t>như</a:t>
            </a:r>
            <a:r>
              <a:rPr sz="1600" dirty="0"/>
              <a:t> </a:t>
            </a:r>
            <a:r>
              <a:rPr sz="1600" dirty="0" err="1"/>
              <a:t>thế</a:t>
            </a:r>
            <a:r>
              <a:rPr sz="1600" dirty="0"/>
              <a:t> </a:t>
            </a:r>
            <a:r>
              <a:rPr sz="1600" dirty="0" err="1"/>
              <a:t>nào</a:t>
            </a:r>
            <a:r>
              <a:rPr sz="1600" dirty="0"/>
              <a:t> </a:t>
            </a:r>
            <a:r>
              <a:rPr sz="1600" dirty="0" err="1"/>
              <a:t>với</a:t>
            </a:r>
            <a:r>
              <a:rPr sz="1600" dirty="0"/>
              <a:t> Rating?</a:t>
            </a:r>
          </a:p>
          <a:p>
            <a:pPr>
              <a:spcAft>
                <a:spcPts val="1200"/>
              </a:spcAft>
              <a:defRPr sz="1400">
                <a:solidFill>
                  <a:srgbClr val="242B33"/>
                </a:solidFill>
                <a:latin typeface="Aptos"/>
              </a:defRPr>
            </a:pPr>
            <a:r>
              <a:rPr sz="1600" dirty="0"/>
              <a:t>• Q4. </a:t>
            </a:r>
            <a:r>
              <a:rPr sz="1600" dirty="0" err="1"/>
              <a:t>Có</a:t>
            </a:r>
            <a:r>
              <a:rPr sz="1600" dirty="0"/>
              <a:t> </a:t>
            </a:r>
            <a:r>
              <a:rPr sz="1600" dirty="0" err="1"/>
              <a:t>thể</a:t>
            </a:r>
            <a:r>
              <a:rPr sz="1600" dirty="0"/>
              <a:t> </a:t>
            </a:r>
            <a:r>
              <a:rPr sz="1600" dirty="0" err="1"/>
              <a:t>dự</a:t>
            </a:r>
            <a:r>
              <a:rPr sz="1600" dirty="0"/>
              <a:t> </a:t>
            </a:r>
            <a:r>
              <a:rPr sz="1600" dirty="0" err="1"/>
              <a:t>báo</a:t>
            </a:r>
            <a:r>
              <a:rPr sz="1600" dirty="0"/>
              <a:t> </a:t>
            </a:r>
            <a:r>
              <a:rPr sz="1600" dirty="0" err="1"/>
              <a:t>nguy</a:t>
            </a:r>
            <a:r>
              <a:rPr sz="1600" dirty="0"/>
              <a:t> </a:t>
            </a:r>
            <a:r>
              <a:rPr sz="1600" dirty="0" err="1"/>
              <a:t>cơ</a:t>
            </a:r>
            <a:r>
              <a:rPr sz="1600" dirty="0"/>
              <a:t> Low Rating (≤3★) </a:t>
            </a:r>
            <a:r>
              <a:rPr sz="1600" dirty="0" err="1"/>
              <a:t>tốt</a:t>
            </a:r>
            <a:r>
              <a:rPr sz="1600" dirty="0"/>
              <a:t> </a:t>
            </a:r>
            <a:r>
              <a:rPr sz="1600" dirty="0" err="1"/>
              <a:t>hơn</a:t>
            </a:r>
            <a:r>
              <a:rPr sz="1600" dirty="0"/>
              <a:t> </a:t>
            </a:r>
            <a:r>
              <a:rPr sz="1600" dirty="0" err="1"/>
              <a:t>việc</a:t>
            </a:r>
            <a:r>
              <a:rPr sz="1600" dirty="0"/>
              <a:t> </a:t>
            </a:r>
            <a:r>
              <a:rPr sz="1600" dirty="0" err="1"/>
              <a:t>chỉ</a:t>
            </a:r>
            <a:r>
              <a:rPr sz="1600" dirty="0"/>
              <a:t> </a:t>
            </a:r>
            <a:r>
              <a:rPr sz="1600" dirty="0" err="1"/>
              <a:t>sử</a:t>
            </a:r>
            <a:r>
              <a:rPr sz="1600" dirty="0"/>
              <a:t> </a:t>
            </a:r>
            <a:r>
              <a:rPr sz="1600" dirty="0" err="1"/>
              <a:t>dụng</a:t>
            </a:r>
            <a:r>
              <a:rPr sz="1600" dirty="0"/>
              <a:t> SLA hay </a:t>
            </a:r>
            <a:r>
              <a:rPr sz="1600" dirty="0" err="1"/>
              <a:t>không</a:t>
            </a:r>
            <a:r>
              <a:rPr sz="1600" dirty="0"/>
              <a:t>?</a:t>
            </a:r>
          </a:p>
        </p:txBody>
      </p:sp>
      <p:sp>
        <p:nvSpPr>
          <p:cNvPr id="19" name="Rounded Rectangle 18"/>
          <p:cNvSpPr/>
          <p:nvPr/>
        </p:nvSpPr>
        <p:spPr>
          <a:xfrm>
            <a:off x="658368" y="5413248"/>
            <a:ext cx="10835640" cy="65836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TextBox 19"/>
          <p:cNvSpPr txBox="1"/>
          <p:nvPr/>
        </p:nvSpPr>
        <p:spPr>
          <a:xfrm>
            <a:off x="864108" y="5461561"/>
            <a:ext cx="10378440" cy="547842"/>
          </a:xfrm>
          <a:prstGeom prst="rect">
            <a:avLst/>
          </a:prstGeom>
          <a:noFill/>
        </p:spPr>
        <p:txBody>
          <a:bodyPr wrap="square" lIns="45720" tIns="27432" rIns="45720" bIns="27432">
            <a:spAutoFit/>
          </a:bodyPr>
          <a:lstStyle/>
          <a:p>
            <a:pPr algn="l"/>
            <a:r>
              <a:rPr sz="1600" b="1">
                <a:solidFill>
                  <a:srgbClr val="162C46"/>
                </a:solidFill>
                <a:latin typeface="Aptos"/>
              </a:rPr>
              <a:t>MỤC TIÊU NGHIÊN CỨU: </a:t>
            </a:r>
            <a:r>
              <a:rPr sz="1600" b="0">
                <a:solidFill>
                  <a:srgbClr val="242B33"/>
                </a:solidFill>
                <a:latin typeface="Aptos"/>
              </a:rPr>
              <a:t>Phân tích mối quan hệ giữa Lead Time, trạng thái SLA và đánh giá của khách hàng; từ đó kiểm tra mức độ hữu ích của SLA trong việc nhận diện các đánh giá thấp (≤3★).</a:t>
            </a:r>
          </a:p>
        </p:txBody>
      </p:sp>
      <p:sp>
        <p:nvSpPr>
          <p:cNvPr id="21" name="TextBox 20"/>
          <p:cNvSpPr txBox="1"/>
          <p:nvPr/>
        </p:nvSpPr>
        <p:spPr>
          <a:xfrm>
            <a:off x="594360" y="6565392"/>
            <a:ext cx="4023360" cy="204671"/>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2" name="TextBox 21"/>
          <p:cNvSpPr txBox="1"/>
          <p:nvPr/>
        </p:nvSpPr>
        <p:spPr>
          <a:xfrm>
            <a:off x="11201400" y="6565392"/>
            <a:ext cx="365760" cy="320088"/>
          </a:xfrm>
          <a:prstGeom prst="rect">
            <a:avLst/>
          </a:prstGeom>
          <a:noFill/>
        </p:spPr>
        <p:txBody>
          <a:bodyPr wrap="square" lIns="36576" tIns="36576" rIns="36576" bIns="36576" anchor="t">
            <a:spAutoFit/>
          </a:bodyPr>
          <a:lstStyle/>
          <a:p>
            <a:pPr algn="r"/>
            <a:r>
              <a:rPr sz="1600" b="0">
                <a:solidFill>
                  <a:srgbClr val="5E6A78"/>
                </a:solidFill>
                <a:latin typeface="Aptos"/>
              </a:rPr>
              <a:t>3</a:t>
            </a:r>
          </a:p>
        </p:txBody>
      </p:sp>
      <p:sp>
        <p:nvSpPr>
          <p:cNvPr id="23" name="Rounded Rectangle 22"/>
          <p:cNvSpPr/>
          <p:nvPr/>
        </p:nvSpPr>
        <p:spPr>
          <a:xfrm>
            <a:off x="4846320"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Business</a:t>
            </a:r>
          </a:p>
        </p:txBody>
      </p:sp>
      <p:sp>
        <p:nvSpPr>
          <p:cNvPr id="24" name="Rounded Rectangle 2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5" name="Rounded Rectangle 2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6" name="Rounded Rectangle 2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27" name="Rounded Rectangle 26"/>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8" name="Rounded Rectangle 2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29" name="Rounded Rectangle 2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30" name="Rounded Rectangle 2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32" y="12319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THU THẬP DỮ LIỆU — TỪ TIKI REVIEWS ĐẾN TẬP DỮ LIỆU PHÂN TÍCH</a:t>
            </a:r>
          </a:p>
        </p:txBody>
      </p:sp>
      <p:cxnSp>
        <p:nvCxnSpPr>
          <p:cNvPr id="3" name="Connector 2"/>
          <p:cNvCxnSpPr/>
          <p:nvPr/>
        </p:nvCxnSpPr>
        <p:spPr>
          <a:xfrm>
            <a:off x="594359" y="1120390"/>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04</a:t>
            </a:r>
          </a:p>
        </p:txBody>
      </p:sp>
      <p:sp>
        <p:nvSpPr>
          <p:cNvPr id="5" name="TextBox 4"/>
          <p:cNvSpPr txBox="1"/>
          <p:nvPr/>
        </p:nvSpPr>
        <p:spPr>
          <a:xfrm>
            <a:off x="594360" y="1365597"/>
            <a:ext cx="3108960" cy="320088"/>
          </a:xfrm>
          <a:prstGeom prst="rect">
            <a:avLst/>
          </a:prstGeom>
          <a:noFill/>
        </p:spPr>
        <p:txBody>
          <a:bodyPr wrap="square" lIns="36576" tIns="36576" rIns="36576" bIns="36576" anchor="t">
            <a:spAutoFit/>
          </a:bodyPr>
          <a:lstStyle/>
          <a:p>
            <a:pPr algn="l"/>
            <a:r>
              <a:rPr sz="1600" b="1">
                <a:solidFill>
                  <a:srgbClr val="2F639D"/>
                </a:solidFill>
                <a:latin typeface="Aptos"/>
              </a:rPr>
              <a:t>NGUỒN VÀ QUY MÔ DỮ LIỆU</a:t>
            </a:r>
          </a:p>
        </p:txBody>
      </p:sp>
      <p:sp>
        <p:nvSpPr>
          <p:cNvPr id="6" name="TextBox 5"/>
          <p:cNvSpPr txBox="1"/>
          <p:nvPr/>
        </p:nvSpPr>
        <p:spPr>
          <a:xfrm>
            <a:off x="621792" y="1703925"/>
            <a:ext cx="4572000" cy="301621"/>
          </a:xfrm>
          <a:prstGeom prst="rect">
            <a:avLst/>
          </a:prstGeom>
          <a:noFill/>
        </p:spPr>
        <p:txBody>
          <a:bodyPr wrap="square" lIns="45720" tIns="27432" rIns="45720" bIns="27432">
            <a:spAutoFit/>
          </a:bodyPr>
          <a:lstStyle/>
          <a:p>
            <a:pPr algn="l"/>
            <a:r>
              <a:rPr sz="1600" b="1" dirty="0" err="1">
                <a:solidFill>
                  <a:srgbClr val="162C46"/>
                </a:solidFill>
                <a:latin typeface="Aptos"/>
              </a:rPr>
              <a:t>Nguồn</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sản</a:t>
            </a:r>
            <a:r>
              <a:rPr sz="1600" b="0" dirty="0">
                <a:solidFill>
                  <a:srgbClr val="242B33"/>
                </a:solidFill>
                <a:latin typeface="Aptos"/>
              </a:rPr>
              <a:t> </a:t>
            </a:r>
            <a:r>
              <a:rPr sz="1600" b="0" dirty="0" err="1">
                <a:solidFill>
                  <a:srgbClr val="242B33"/>
                </a:solidFill>
                <a:latin typeface="Aptos"/>
              </a:rPr>
              <a:t>phẩm</a:t>
            </a:r>
            <a:r>
              <a:rPr sz="1600" b="0" dirty="0">
                <a:solidFill>
                  <a:srgbClr val="242B33"/>
                </a:solidFill>
                <a:latin typeface="Aptos"/>
              </a:rPr>
              <a:t> </a:t>
            </a:r>
            <a:r>
              <a:rPr sz="1600" b="0" dirty="0" err="1">
                <a:solidFill>
                  <a:srgbClr val="242B33"/>
                </a:solidFill>
                <a:latin typeface="Aptos"/>
              </a:rPr>
              <a:t>trên</a:t>
            </a:r>
            <a:r>
              <a:rPr sz="1600" b="0" dirty="0">
                <a:solidFill>
                  <a:srgbClr val="242B33"/>
                </a:solidFill>
                <a:latin typeface="Aptos"/>
              </a:rPr>
              <a:t> Tiki</a:t>
            </a:r>
          </a:p>
        </p:txBody>
      </p:sp>
      <p:sp>
        <p:nvSpPr>
          <p:cNvPr id="7" name="TextBox 6"/>
          <p:cNvSpPr txBox="1"/>
          <p:nvPr/>
        </p:nvSpPr>
        <p:spPr>
          <a:xfrm>
            <a:off x="621792" y="2097117"/>
            <a:ext cx="4572000" cy="301621"/>
          </a:xfrm>
          <a:prstGeom prst="rect">
            <a:avLst/>
          </a:prstGeom>
          <a:noFill/>
        </p:spPr>
        <p:txBody>
          <a:bodyPr wrap="square" lIns="45720" tIns="27432" rIns="45720" bIns="27432">
            <a:spAutoFit/>
          </a:bodyPr>
          <a:lstStyle/>
          <a:p>
            <a:pPr algn="l"/>
            <a:r>
              <a:rPr sz="1600" b="1" dirty="0">
                <a:solidFill>
                  <a:srgbClr val="162C46"/>
                </a:solidFill>
                <a:latin typeface="Aptos"/>
              </a:rPr>
              <a:t>Quy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tập</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1" dirty="0">
                <a:solidFill>
                  <a:srgbClr val="2F639D"/>
                </a:solidFill>
                <a:latin typeface="Aptos"/>
              </a:rPr>
              <a:t>203.510 reviews</a:t>
            </a:r>
          </a:p>
        </p:txBody>
      </p:sp>
      <p:sp>
        <p:nvSpPr>
          <p:cNvPr id="8" name="TextBox 7"/>
          <p:cNvSpPr txBox="1"/>
          <p:nvPr/>
        </p:nvSpPr>
        <p:spPr>
          <a:xfrm>
            <a:off x="594360" y="2682333"/>
            <a:ext cx="2560320" cy="320088"/>
          </a:xfrm>
          <a:prstGeom prst="rect">
            <a:avLst/>
          </a:prstGeom>
          <a:noFill/>
        </p:spPr>
        <p:txBody>
          <a:bodyPr wrap="square" lIns="36576" tIns="36576" rIns="36576" bIns="36576" anchor="t">
            <a:spAutoFit/>
          </a:bodyPr>
          <a:lstStyle/>
          <a:p>
            <a:pPr algn="l"/>
            <a:r>
              <a:rPr sz="1600" b="1">
                <a:solidFill>
                  <a:srgbClr val="2F639D"/>
                </a:solidFill>
                <a:latin typeface="Aptos"/>
              </a:rPr>
              <a:t>DỮ LIỆU THU THẬP</a:t>
            </a:r>
          </a:p>
        </p:txBody>
      </p:sp>
      <p:sp>
        <p:nvSpPr>
          <p:cNvPr id="9" name="Rounded Rectangle 8"/>
          <p:cNvSpPr/>
          <p:nvPr/>
        </p:nvSpPr>
        <p:spPr>
          <a:xfrm>
            <a:off x="594359"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758950" y="3354548"/>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ĐÁNH GIÁ KHÁCH HÀNG</a:t>
            </a:r>
          </a:p>
        </p:txBody>
      </p:sp>
      <p:sp>
        <p:nvSpPr>
          <p:cNvPr id="11" name="TextBox 10"/>
          <p:cNvSpPr txBox="1"/>
          <p:nvPr/>
        </p:nvSpPr>
        <p:spPr>
          <a:xfrm>
            <a:off x="758950" y="3711164"/>
            <a:ext cx="30175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Rating ·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Nội</a:t>
            </a:r>
            <a:r>
              <a:rPr sz="1600" b="0" dirty="0">
                <a:solidFill>
                  <a:srgbClr val="5E6A78"/>
                </a:solidFill>
                <a:latin typeface="Aptos"/>
              </a:rPr>
              <a:t> dung / </a:t>
            </a:r>
            <a:r>
              <a:rPr sz="1600" b="0" dirty="0" err="1">
                <a:solidFill>
                  <a:srgbClr val="5E6A78"/>
                </a:solidFill>
                <a:latin typeface="Aptos"/>
              </a:rPr>
              <a:t>thông</a:t>
            </a:r>
            <a:r>
              <a:rPr sz="1600" b="0" dirty="0">
                <a:solidFill>
                  <a:srgbClr val="5E6A78"/>
                </a:solidFill>
                <a:latin typeface="Aptos"/>
              </a:rPr>
              <a:t> tin review</a:t>
            </a:r>
          </a:p>
        </p:txBody>
      </p:sp>
      <p:sp>
        <p:nvSpPr>
          <p:cNvPr id="12" name="Rounded Rectangle 11"/>
          <p:cNvSpPr/>
          <p:nvPr/>
        </p:nvSpPr>
        <p:spPr>
          <a:xfrm>
            <a:off x="4270246"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4434838" y="3354548"/>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THÔNG TIN GIAO HÀNG</a:t>
            </a:r>
          </a:p>
        </p:txBody>
      </p:sp>
      <p:sp>
        <p:nvSpPr>
          <p:cNvPr id="14" name="TextBox 13"/>
          <p:cNvSpPr txBox="1"/>
          <p:nvPr/>
        </p:nvSpPr>
        <p:spPr>
          <a:xfrm>
            <a:off x="4434838" y="3711164"/>
            <a:ext cx="320040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giao</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Customer-reported delivery label
Các timestamp </a:t>
            </a:r>
            <a:r>
              <a:rPr sz="1600" b="0" dirty="0" err="1">
                <a:solidFill>
                  <a:srgbClr val="5E6A78"/>
                </a:solidFill>
                <a:latin typeface="Aptos"/>
              </a:rPr>
              <a:t>liên</a:t>
            </a:r>
            <a:r>
              <a:rPr sz="1600" b="0" dirty="0">
                <a:solidFill>
                  <a:srgbClr val="5E6A78"/>
                </a:solidFill>
                <a:latin typeface="Aptos"/>
              </a:rPr>
              <a:t> </a:t>
            </a:r>
            <a:r>
              <a:rPr sz="1600" b="0" dirty="0" err="1">
                <a:solidFill>
                  <a:srgbClr val="5E6A78"/>
                </a:solidFill>
                <a:latin typeface="Aptos"/>
              </a:rPr>
              <a:t>quan</a:t>
            </a:r>
            <a:endParaRPr sz="1600" b="0" dirty="0">
              <a:solidFill>
                <a:srgbClr val="5E6A78"/>
              </a:solidFill>
              <a:latin typeface="Aptos"/>
            </a:endParaRPr>
          </a:p>
        </p:txBody>
      </p:sp>
      <p:sp>
        <p:nvSpPr>
          <p:cNvPr id="15" name="Rounded Rectangle 14"/>
          <p:cNvSpPr/>
          <p:nvPr/>
        </p:nvSpPr>
        <p:spPr>
          <a:xfrm>
            <a:off x="7946135"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8110727" y="3354548"/>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SẢN PHẨM &amp; NHÀ BÁN</a:t>
            </a:r>
          </a:p>
        </p:txBody>
      </p:sp>
      <p:sp>
        <p:nvSpPr>
          <p:cNvPr id="17" name="TextBox 16"/>
          <p:cNvSpPr txBox="1"/>
          <p:nvPr/>
        </p:nvSpPr>
        <p:spPr>
          <a:xfrm>
            <a:off x="8110727" y="3711164"/>
            <a:ext cx="3017520" cy="566309"/>
          </a:xfrm>
          <a:prstGeom prst="rect">
            <a:avLst/>
          </a:prstGeom>
          <a:noFill/>
        </p:spPr>
        <p:txBody>
          <a:bodyPr wrap="square" lIns="36576" tIns="36576" rIns="36576" bIns="36576" anchor="t">
            <a:spAutoFit/>
          </a:bodyPr>
          <a:lstStyle/>
          <a:p>
            <a:pPr algn="l"/>
            <a:r>
              <a:rPr sz="1600" b="0">
                <a:solidFill>
                  <a:srgbClr val="5E6A78"/>
                </a:solidFill>
                <a:latin typeface="Aptos"/>
              </a:rPr>
              <a:t>Thông tin sản phẩm · Seller
Thuộc tính phục vụ phân nhóm</a:t>
            </a:r>
          </a:p>
        </p:txBody>
      </p:sp>
      <p:sp>
        <p:nvSpPr>
          <p:cNvPr id="18" name="TextBox 17"/>
          <p:cNvSpPr txBox="1"/>
          <p:nvPr/>
        </p:nvSpPr>
        <p:spPr>
          <a:xfrm>
            <a:off x="594359" y="4748877"/>
            <a:ext cx="4400721" cy="320088"/>
          </a:xfrm>
          <a:prstGeom prst="rect">
            <a:avLst/>
          </a:prstGeom>
          <a:noFill/>
        </p:spPr>
        <p:txBody>
          <a:bodyPr wrap="square" lIns="36576" tIns="36576" rIns="36576" bIns="36576" anchor="t">
            <a:spAutoFit/>
          </a:bodyPr>
          <a:lstStyle/>
          <a:p>
            <a:pPr algn="l"/>
            <a:r>
              <a:rPr sz="1600" b="1" dirty="0">
                <a:solidFill>
                  <a:srgbClr val="2F639D"/>
                </a:solidFill>
                <a:latin typeface="Aptos"/>
              </a:rPr>
              <a:t>TỪ DỮ LIỆU THÔ ĐẾN DỮ LIỆU PHÂN TÍCH</a:t>
            </a:r>
          </a:p>
        </p:txBody>
      </p:sp>
      <p:sp>
        <p:nvSpPr>
          <p:cNvPr id="19" name="Rounded Rectangle 18"/>
          <p:cNvSpPr/>
          <p:nvPr/>
        </p:nvSpPr>
        <p:spPr>
          <a:xfrm>
            <a:off x="594360" y="5114637"/>
            <a:ext cx="10863072" cy="82296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Rounded Rectangle 19"/>
          <p:cNvSpPr/>
          <p:nvPr/>
        </p:nvSpPr>
        <p:spPr>
          <a:xfrm>
            <a:off x="850392" y="5343237"/>
            <a:ext cx="109728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886968" y="5356929"/>
            <a:ext cx="1024127" cy="320088"/>
          </a:xfrm>
          <a:prstGeom prst="rect">
            <a:avLst/>
          </a:prstGeom>
          <a:noFill/>
        </p:spPr>
        <p:txBody>
          <a:bodyPr wrap="square" lIns="36576" tIns="36576" rIns="36576" bIns="36576" anchor="ctr">
            <a:spAutoFit/>
          </a:bodyPr>
          <a:lstStyle/>
          <a:p>
            <a:pPr algn="ctr"/>
            <a:r>
              <a:rPr sz="1600" b="1">
                <a:solidFill>
                  <a:srgbClr val="162C46"/>
                </a:solidFill>
                <a:latin typeface="Aptos"/>
              </a:rPr>
              <a:t>Raw Data</a:t>
            </a:r>
          </a:p>
        </p:txBody>
      </p:sp>
      <p:sp>
        <p:nvSpPr>
          <p:cNvPr id="22" name="TextBox 21"/>
          <p:cNvSpPr txBox="1"/>
          <p:nvPr/>
        </p:nvSpPr>
        <p:spPr>
          <a:xfrm>
            <a:off x="2130552" y="5361525"/>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3" name="Rounded Rectangle 22"/>
          <p:cNvSpPr/>
          <p:nvPr/>
        </p:nvSpPr>
        <p:spPr>
          <a:xfrm>
            <a:off x="2633472" y="5343237"/>
            <a:ext cx="114300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2670048" y="5356929"/>
            <a:ext cx="1069848" cy="320088"/>
          </a:xfrm>
          <a:prstGeom prst="rect">
            <a:avLst/>
          </a:prstGeom>
          <a:noFill/>
        </p:spPr>
        <p:txBody>
          <a:bodyPr wrap="square" lIns="36576" tIns="36576" rIns="36576" bIns="36576" anchor="ctr">
            <a:spAutoFit/>
          </a:bodyPr>
          <a:lstStyle/>
          <a:p>
            <a:pPr algn="ctr"/>
            <a:r>
              <a:rPr sz="1600" b="1">
                <a:solidFill>
                  <a:srgbClr val="2F639D"/>
                </a:solidFill>
                <a:latin typeface="Aptos"/>
              </a:rPr>
              <a:t>Lead Time</a:t>
            </a:r>
          </a:p>
        </p:txBody>
      </p:sp>
      <p:sp>
        <p:nvSpPr>
          <p:cNvPr id="25" name="Rounded Rectangle 24"/>
          <p:cNvSpPr/>
          <p:nvPr/>
        </p:nvSpPr>
        <p:spPr>
          <a:xfrm>
            <a:off x="4005072" y="5343237"/>
            <a:ext cx="123444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4041648" y="5356929"/>
            <a:ext cx="1161288" cy="320088"/>
          </a:xfrm>
          <a:prstGeom prst="rect">
            <a:avLst/>
          </a:prstGeom>
          <a:noFill/>
        </p:spPr>
        <p:txBody>
          <a:bodyPr wrap="square" lIns="36576" tIns="36576" rIns="36576" bIns="36576" anchor="ctr">
            <a:spAutoFit/>
          </a:bodyPr>
          <a:lstStyle/>
          <a:p>
            <a:pPr algn="ctr"/>
            <a:r>
              <a:rPr sz="1600" b="1">
                <a:solidFill>
                  <a:srgbClr val="2F639D"/>
                </a:solidFill>
                <a:latin typeface="Aptos"/>
              </a:rPr>
              <a:t>SLA Status</a:t>
            </a:r>
          </a:p>
        </p:txBody>
      </p:sp>
      <p:sp>
        <p:nvSpPr>
          <p:cNvPr id="27" name="Rounded Rectangle 26"/>
          <p:cNvSpPr/>
          <p:nvPr/>
        </p:nvSpPr>
        <p:spPr>
          <a:xfrm>
            <a:off x="5468112" y="5343237"/>
            <a:ext cx="82296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5504688" y="5356929"/>
            <a:ext cx="749808" cy="320088"/>
          </a:xfrm>
          <a:prstGeom prst="rect">
            <a:avLst/>
          </a:prstGeom>
          <a:noFill/>
        </p:spPr>
        <p:txBody>
          <a:bodyPr wrap="square" lIns="36576" tIns="36576" rIns="36576" bIns="36576" anchor="ctr">
            <a:spAutoFit/>
          </a:bodyPr>
          <a:lstStyle/>
          <a:p>
            <a:pPr algn="ctr"/>
            <a:r>
              <a:rPr sz="1600" b="1">
                <a:solidFill>
                  <a:srgbClr val="2F639D"/>
                </a:solidFill>
                <a:latin typeface="Aptos"/>
              </a:rPr>
              <a:t>Rating</a:t>
            </a:r>
          </a:p>
        </p:txBody>
      </p:sp>
      <p:sp>
        <p:nvSpPr>
          <p:cNvPr id="29" name="Rounded Rectangle 28"/>
          <p:cNvSpPr/>
          <p:nvPr/>
        </p:nvSpPr>
        <p:spPr>
          <a:xfrm>
            <a:off x="6473952" y="5343237"/>
            <a:ext cx="2574514"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0" name="TextBox 29"/>
          <p:cNvSpPr txBox="1"/>
          <p:nvPr/>
        </p:nvSpPr>
        <p:spPr>
          <a:xfrm>
            <a:off x="6510528" y="5356929"/>
            <a:ext cx="262664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Customer Delivery Status</a:t>
            </a:r>
          </a:p>
        </p:txBody>
      </p:sp>
      <p:sp>
        <p:nvSpPr>
          <p:cNvPr id="31" name="Rounded Rectangle 30"/>
          <p:cNvSpPr/>
          <p:nvPr/>
        </p:nvSpPr>
        <p:spPr>
          <a:xfrm>
            <a:off x="9231345" y="5343237"/>
            <a:ext cx="1284799"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9267922" y="5356929"/>
            <a:ext cx="1284800"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33" name="TextBox 32"/>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4" name="TextBox 33"/>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4</a:t>
            </a:r>
          </a:p>
        </p:txBody>
      </p:sp>
      <p:sp>
        <p:nvSpPr>
          <p:cNvPr id="35" name="Rounded Rectangle 3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6" name="Rounded Rectangle 35"/>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Data Collection</a:t>
            </a:r>
          </a:p>
        </p:txBody>
      </p:sp>
      <p:sp>
        <p:nvSpPr>
          <p:cNvPr id="37" name="Rounded Rectangle 3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8" name="Rounded Rectangle 3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9" name="Rounded Rectangle 3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40" name="Rounded Rectangle 39"/>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41" name="Rounded Rectangle 4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2" name="Rounded Rectangle 4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LÀM SẠCH &amp; XỬ LÝ DỮ LIỆU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06</a:t>
            </a:r>
          </a:p>
        </p:txBody>
      </p:sp>
      <p:sp>
        <p:nvSpPr>
          <p:cNvPr id="5" name="Rounded Rectangle 4"/>
          <p:cNvSpPr/>
          <p:nvPr/>
        </p:nvSpPr>
        <p:spPr>
          <a:xfrm>
            <a:off x="658368"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Rounded Rectangle 5"/>
          <p:cNvSpPr/>
          <p:nvPr/>
        </p:nvSpPr>
        <p:spPr>
          <a:xfrm>
            <a:off x="822959"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59536"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8" name="TextBox 7"/>
          <p:cNvSpPr txBox="1"/>
          <p:nvPr/>
        </p:nvSpPr>
        <p:spPr>
          <a:xfrm>
            <a:off x="822959"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CHUẨN HÓA THỜI GIAN</a:t>
            </a:r>
          </a:p>
        </p:txBody>
      </p:sp>
      <p:sp>
        <p:nvSpPr>
          <p:cNvPr id="9" name="TextBox 8"/>
          <p:cNvSpPr txBox="1"/>
          <p:nvPr/>
        </p:nvSpPr>
        <p:spPr>
          <a:xfrm>
            <a:off x="822959" y="2651760"/>
            <a:ext cx="2002536" cy="1550168"/>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a:t>• Chuẩn hóa các trường timestamp</a:t>
            </a:r>
          </a:p>
          <a:p>
            <a:pPr>
              <a:spcAft>
                <a:spcPts val="1100"/>
              </a:spcAft>
              <a:defRPr sz="1220">
                <a:solidFill>
                  <a:srgbClr val="5E6A78"/>
                </a:solidFill>
                <a:latin typeface="Aptos"/>
              </a:defRPr>
            </a:pPr>
            <a:r>
              <a:rPr sz="1600"/>
              <a:t>• Đồng nhất múi giờ</a:t>
            </a:r>
          </a:p>
          <a:p>
            <a:pPr>
              <a:spcAft>
                <a:spcPts val="1100"/>
              </a:spcAft>
              <a:defRPr sz="1220">
                <a:solidFill>
                  <a:srgbClr val="5E6A78"/>
                </a:solidFill>
                <a:latin typeface="Aptos"/>
              </a:defRPr>
            </a:pPr>
            <a:r>
              <a:rPr sz="1600"/>
              <a:t>• Kiểm tra thứ tự thời gian giữa các sự kiện</a:t>
            </a:r>
          </a:p>
        </p:txBody>
      </p:sp>
      <p:sp>
        <p:nvSpPr>
          <p:cNvPr id="10" name="Rounded Rectangle 9"/>
          <p:cNvSpPr/>
          <p:nvPr/>
        </p:nvSpPr>
        <p:spPr>
          <a:xfrm>
            <a:off x="324612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Rounded Rectangle 10"/>
          <p:cNvSpPr/>
          <p:nvPr/>
        </p:nvSpPr>
        <p:spPr>
          <a:xfrm>
            <a:off x="341071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3447288"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3" name="TextBox 12"/>
          <p:cNvSpPr txBox="1"/>
          <p:nvPr/>
        </p:nvSpPr>
        <p:spPr>
          <a:xfrm>
            <a:off x="3410712"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KIỂM TRA &amp; LÀM SẠCH</a:t>
            </a:r>
          </a:p>
        </p:txBody>
      </p:sp>
      <p:sp>
        <p:nvSpPr>
          <p:cNvPr id="14" name="TextBox 13"/>
          <p:cNvSpPr txBox="1"/>
          <p:nvPr/>
        </p:nvSpPr>
        <p:spPr>
          <a:xfrm>
            <a:off x="3410712" y="2651760"/>
            <a:ext cx="2002536" cy="1796389"/>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a:t>• Xử lý giá trị thiếu và bản ghi không hợp lệ</a:t>
            </a:r>
          </a:p>
          <a:p>
            <a:pPr>
              <a:spcAft>
                <a:spcPts val="1100"/>
              </a:spcAft>
              <a:defRPr sz="1220">
                <a:solidFill>
                  <a:srgbClr val="5E6A78"/>
                </a:solidFill>
                <a:latin typeface="Aptos"/>
              </a:defRPr>
            </a:pPr>
            <a:r>
              <a:rPr sz="1600"/>
              <a:t>• Kiểm tra Lead Time bất thường</a:t>
            </a:r>
          </a:p>
          <a:p>
            <a:pPr>
              <a:spcAft>
                <a:spcPts val="1100"/>
              </a:spcAft>
              <a:defRPr sz="1220">
                <a:solidFill>
                  <a:srgbClr val="5E6A78"/>
                </a:solidFill>
                <a:latin typeface="Aptos"/>
              </a:defRPr>
            </a:pPr>
            <a:r>
              <a:rPr sz="1600"/>
              <a:t>• Giới hạn Lead Time hợp lý: 0–90 ngày</a:t>
            </a:r>
          </a:p>
        </p:txBody>
      </p:sp>
      <p:sp>
        <p:nvSpPr>
          <p:cNvPr id="15" name="Rounded Rectangle 14"/>
          <p:cNvSpPr/>
          <p:nvPr/>
        </p:nvSpPr>
        <p:spPr>
          <a:xfrm>
            <a:off x="914400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Rounded Rectangle 15"/>
          <p:cNvSpPr/>
          <p:nvPr/>
        </p:nvSpPr>
        <p:spPr>
          <a:xfrm>
            <a:off x="930859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345167"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18" name="TextBox 17"/>
          <p:cNvSpPr txBox="1"/>
          <p:nvPr/>
        </p:nvSpPr>
        <p:spPr>
          <a:xfrm>
            <a:off x="9308592"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KIỂM TRA CHẤT LƯỢNG</a:t>
            </a:r>
          </a:p>
        </p:txBody>
      </p:sp>
      <p:sp>
        <p:nvSpPr>
          <p:cNvPr id="19" name="TextBox 18"/>
          <p:cNvSpPr txBox="1"/>
          <p:nvPr/>
        </p:nvSpPr>
        <p:spPr>
          <a:xfrm>
            <a:off x="9308592" y="2651760"/>
            <a:ext cx="2002536" cy="2042610"/>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a:t>• Kiểm tra phân bố và tính hợp lệ sau xử lý</a:t>
            </a:r>
          </a:p>
          <a:p>
            <a:pPr>
              <a:spcAft>
                <a:spcPts val="1100"/>
              </a:spcAft>
              <a:defRPr sz="1220">
                <a:solidFill>
                  <a:srgbClr val="5E6A78"/>
                </a:solidFill>
                <a:latin typeface="Aptos"/>
              </a:defRPr>
            </a:pPr>
            <a:r>
              <a:rPr sz="1600"/>
              <a:t>• Theo dõi missing Customer Delivery Status</a:t>
            </a:r>
          </a:p>
          <a:p>
            <a:pPr>
              <a:spcAft>
                <a:spcPts val="1100"/>
              </a:spcAft>
              <a:defRPr sz="1220">
                <a:solidFill>
                  <a:srgbClr val="5E6A78"/>
                </a:solidFill>
                <a:latin typeface="Aptos"/>
              </a:defRPr>
            </a:pPr>
            <a:r>
              <a:rPr sz="1600"/>
              <a:t>• Chuẩn bị dữ liệu cho EDA &amp; Modeling</a:t>
            </a:r>
          </a:p>
        </p:txBody>
      </p:sp>
      <p:sp>
        <p:nvSpPr>
          <p:cNvPr id="20" name="Rounded Rectangle 19"/>
          <p:cNvSpPr/>
          <p:nvPr/>
        </p:nvSpPr>
        <p:spPr>
          <a:xfrm>
            <a:off x="5806440" y="1143000"/>
            <a:ext cx="3063240" cy="4709160"/>
          </a:xfrm>
          <a:prstGeom prst="roundRect">
            <a:avLst/>
          </a:prstGeom>
          <a:solidFill>
            <a:srgbClr val="EEF4FA"/>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Rounded Rectangle 20"/>
          <p:cNvSpPr/>
          <p:nvPr/>
        </p:nvSpPr>
        <p:spPr>
          <a:xfrm>
            <a:off x="6016752" y="1353312"/>
            <a:ext cx="457200" cy="29260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6053328" y="1339572"/>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03</a:t>
            </a:r>
          </a:p>
        </p:txBody>
      </p:sp>
      <p:sp>
        <p:nvSpPr>
          <p:cNvPr id="23" name="TextBox 22"/>
          <p:cNvSpPr txBox="1"/>
          <p:nvPr/>
        </p:nvSpPr>
        <p:spPr>
          <a:xfrm>
            <a:off x="6016752" y="1755648"/>
            <a:ext cx="2651760" cy="320088"/>
          </a:xfrm>
          <a:prstGeom prst="rect">
            <a:avLst/>
          </a:prstGeom>
          <a:noFill/>
        </p:spPr>
        <p:txBody>
          <a:bodyPr wrap="square" lIns="36576" tIns="36576" rIns="36576" bIns="36576" anchor="t">
            <a:spAutoFit/>
          </a:bodyPr>
          <a:lstStyle/>
          <a:p>
            <a:pPr algn="l"/>
            <a:r>
              <a:rPr sz="1600" b="1">
                <a:solidFill>
                  <a:srgbClr val="162C46"/>
                </a:solidFill>
                <a:latin typeface="Aptos"/>
              </a:rPr>
              <a:t>XÂY DỰNG BIẾN PHÂN TÍCH</a:t>
            </a:r>
          </a:p>
        </p:txBody>
      </p:sp>
      <p:sp>
        <p:nvSpPr>
          <p:cNvPr id="24" name="TextBox 23"/>
          <p:cNvSpPr txBox="1"/>
          <p:nvPr/>
        </p:nvSpPr>
        <p:spPr>
          <a:xfrm>
            <a:off x="6016752" y="2272308"/>
            <a:ext cx="24688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Lead Time</a:t>
            </a:r>
          </a:p>
        </p:txBody>
      </p:sp>
      <p:sp>
        <p:nvSpPr>
          <p:cNvPr id="25" name="TextBox 24"/>
          <p:cNvSpPr txBox="1"/>
          <p:nvPr/>
        </p:nvSpPr>
        <p:spPr>
          <a:xfrm>
            <a:off x="6016752" y="2564916"/>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Khoảng thời gian giao hàng thực tế.</a:t>
            </a:r>
          </a:p>
        </p:txBody>
      </p:sp>
      <p:sp>
        <p:nvSpPr>
          <p:cNvPr id="26" name="TextBox 25"/>
          <p:cNvSpPr txBox="1"/>
          <p:nvPr/>
        </p:nvSpPr>
        <p:spPr>
          <a:xfrm>
            <a:off x="6016752" y="3076980"/>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SLA Status</a:t>
            </a:r>
          </a:p>
        </p:txBody>
      </p:sp>
      <p:sp>
        <p:nvSpPr>
          <p:cNvPr id="27" name="TextBox 26"/>
          <p:cNvSpPr txBox="1"/>
          <p:nvPr/>
        </p:nvSpPr>
        <p:spPr>
          <a:xfrm>
            <a:off x="6016752" y="3369588"/>
            <a:ext cx="2514600" cy="566309"/>
          </a:xfrm>
          <a:prstGeom prst="rect">
            <a:avLst/>
          </a:prstGeom>
          <a:noFill/>
        </p:spPr>
        <p:txBody>
          <a:bodyPr wrap="square" lIns="36576" tIns="36576" rIns="36576" bIns="36576" anchor="t">
            <a:spAutoFit/>
          </a:bodyPr>
          <a:lstStyle/>
          <a:p>
            <a:pPr algn="l"/>
            <a:r>
              <a:rPr sz="1600" b="0" dirty="0">
                <a:solidFill>
                  <a:srgbClr val="242B33"/>
                </a:solidFill>
                <a:latin typeface="Aptos"/>
              </a:rPr>
              <a:t>Within SLA / SLA Breach </a:t>
            </a:r>
            <a:r>
              <a:rPr sz="1600" b="0" dirty="0" err="1">
                <a:solidFill>
                  <a:srgbClr val="242B33"/>
                </a:solidFill>
                <a:latin typeface="Aptos"/>
              </a:rPr>
              <a:t>với</a:t>
            </a:r>
            <a:r>
              <a:rPr sz="1600" b="0" dirty="0">
                <a:solidFill>
                  <a:srgbClr val="242B33"/>
                </a:solidFill>
                <a:latin typeface="Aptos"/>
              </a:rPr>
              <a:t> </a:t>
            </a:r>
            <a:r>
              <a:rPr sz="1600" b="0" dirty="0" err="1">
                <a:solidFill>
                  <a:srgbClr val="242B33"/>
                </a:solidFill>
                <a:latin typeface="Aptos"/>
              </a:rPr>
              <a:t>ngưỡng</a:t>
            </a:r>
            <a:r>
              <a:rPr sz="1600" b="0" dirty="0">
                <a:solidFill>
                  <a:srgbClr val="242B33"/>
                </a:solidFill>
                <a:latin typeface="Aptos"/>
              </a:rPr>
              <a:t> 5 </a:t>
            </a:r>
            <a:r>
              <a:rPr sz="1600" b="0" dirty="0" err="1">
                <a:solidFill>
                  <a:srgbClr val="242B33"/>
                </a:solidFill>
                <a:latin typeface="Aptos"/>
              </a:rPr>
              <a:t>ngày</a:t>
            </a:r>
            <a:r>
              <a:rPr sz="1600" b="0" dirty="0">
                <a:solidFill>
                  <a:srgbClr val="242B33"/>
                </a:solidFill>
                <a:latin typeface="Aptos"/>
              </a:rPr>
              <a:t>.</a:t>
            </a:r>
          </a:p>
        </p:txBody>
      </p:sp>
      <p:sp>
        <p:nvSpPr>
          <p:cNvPr id="28" name="TextBox 27"/>
          <p:cNvSpPr txBox="1"/>
          <p:nvPr/>
        </p:nvSpPr>
        <p:spPr>
          <a:xfrm>
            <a:off x="6016752" y="3881652"/>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Customer Delivery Status</a:t>
            </a:r>
          </a:p>
        </p:txBody>
      </p:sp>
      <p:sp>
        <p:nvSpPr>
          <p:cNvPr id="29" name="TextBox 28"/>
          <p:cNvSpPr txBox="1"/>
          <p:nvPr/>
        </p:nvSpPr>
        <p:spPr>
          <a:xfrm>
            <a:off x="6016752" y="4174260"/>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Chuẩn hóa phản hồi của khách hàng về giao hàng.</a:t>
            </a:r>
          </a:p>
        </p:txBody>
      </p:sp>
      <p:sp>
        <p:nvSpPr>
          <p:cNvPr id="30" name="TextBox 29"/>
          <p:cNvSpPr txBox="1"/>
          <p:nvPr/>
        </p:nvSpPr>
        <p:spPr>
          <a:xfrm>
            <a:off x="6016752" y="4686324"/>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Low Rating</a:t>
            </a:r>
          </a:p>
        </p:txBody>
      </p:sp>
      <p:sp>
        <p:nvSpPr>
          <p:cNvPr id="31" name="TextBox 30"/>
          <p:cNvSpPr txBox="1"/>
          <p:nvPr/>
        </p:nvSpPr>
        <p:spPr>
          <a:xfrm>
            <a:off x="6016752" y="4978932"/>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Đánh giá thấp với điều kiện Rating ≤ 3★.</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6</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LEAD TIME THỰC TẾ SO VỚI NGƯỠNG SLA</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08</a:t>
            </a:r>
          </a:p>
        </p:txBody>
      </p:sp>
      <p:pic>
        <p:nvPicPr>
          <p:cNvPr id="5" name="Picture 4" descr="B04_lead_days.png"/>
          <p:cNvPicPr>
            <a:picLocks noChangeAspect="1"/>
          </p:cNvPicPr>
          <p:nvPr/>
        </p:nvPicPr>
        <p:blipFill>
          <a:blip r:embed="rId3"/>
          <a:stretch>
            <a:fillRect/>
          </a:stretch>
        </p:blipFill>
        <p:spPr>
          <a:xfrm>
            <a:off x="24384" y="894899"/>
            <a:ext cx="6096000" cy="2941903"/>
          </a:xfrm>
          <a:prstGeom prst="rect">
            <a:avLst/>
          </a:prstGeom>
        </p:spPr>
      </p:pic>
      <p:sp>
        <p:nvSpPr>
          <p:cNvPr id="6" name="TextBox 5"/>
          <p:cNvSpPr txBox="1"/>
          <p:nvPr/>
        </p:nvSpPr>
        <p:spPr>
          <a:xfrm>
            <a:off x="6739128" y="1093772"/>
            <a:ext cx="1828800" cy="320088"/>
          </a:xfrm>
          <a:prstGeom prst="rect">
            <a:avLst/>
          </a:prstGeom>
          <a:noFill/>
        </p:spPr>
        <p:txBody>
          <a:bodyPr wrap="square" lIns="36576" tIns="36576" rIns="36576" bIns="36576" anchor="t">
            <a:spAutoFit/>
          </a:bodyPr>
          <a:lstStyle/>
          <a:p>
            <a:pPr algn="l"/>
            <a:r>
              <a:rPr sz="1600" b="1">
                <a:solidFill>
                  <a:srgbClr val="2F639D"/>
                </a:solidFill>
                <a:latin typeface="Aptos"/>
              </a:rPr>
              <a:t>KẾT QUẢ CHÍNH</a:t>
            </a:r>
          </a:p>
        </p:txBody>
      </p:sp>
      <p:sp>
        <p:nvSpPr>
          <p:cNvPr id="7" name="TextBox 6"/>
          <p:cNvSpPr txBox="1"/>
          <p:nvPr/>
        </p:nvSpPr>
        <p:spPr>
          <a:xfrm>
            <a:off x="6739128" y="1432100"/>
            <a:ext cx="4800600" cy="548640"/>
          </a:xfrm>
          <a:prstGeom prst="rect">
            <a:avLst/>
          </a:prstGeom>
          <a:noFill/>
        </p:spPr>
        <p:txBody>
          <a:bodyPr wrap="square" lIns="45720" tIns="27432" rIns="45720" bIns="27432">
            <a:spAutoFit/>
          </a:bodyPr>
          <a:lstStyle/>
          <a:p>
            <a:pPr algn="l"/>
            <a:r>
              <a:rPr sz="1600" b="1">
                <a:solidFill>
                  <a:srgbClr val="162C46"/>
                </a:solidFill>
                <a:latin typeface="Aptos"/>
              </a:rPr>
              <a:t>Phần lớn đơn hàng được giao sớm hơn ngưỡng SLA 5 ngày.</a:t>
            </a:r>
          </a:p>
        </p:txBody>
      </p:sp>
      <p:sp>
        <p:nvSpPr>
          <p:cNvPr id="8" name="TextBox 7"/>
          <p:cNvSpPr txBox="1"/>
          <p:nvPr/>
        </p:nvSpPr>
        <p:spPr>
          <a:xfrm>
            <a:off x="6739128" y="2072180"/>
            <a:ext cx="4663440" cy="1227003"/>
          </a:xfrm>
          <a:prstGeom prst="rect">
            <a:avLst/>
          </a:prstGeom>
          <a:noFill/>
        </p:spPr>
        <p:txBody>
          <a:bodyPr wrap="square" lIns="36576" tIns="18288" rIns="18288" bIns="18288">
            <a:spAutoFit/>
          </a:bodyPr>
          <a:lstStyle/>
          <a:p>
            <a:pPr>
              <a:spcAft>
                <a:spcPts val="800"/>
              </a:spcAft>
              <a:defRPr sz="1320">
                <a:solidFill>
                  <a:srgbClr val="242B33"/>
                </a:solidFill>
                <a:latin typeface="Aptos"/>
              </a:defRPr>
            </a:pPr>
            <a:r>
              <a:rPr sz="1600"/>
              <a:t>• Median Lead Time: 1,26 ngày</a:t>
            </a:r>
          </a:p>
          <a:p>
            <a:pPr>
              <a:spcAft>
                <a:spcPts val="800"/>
              </a:spcAft>
              <a:defRPr sz="1320">
                <a:solidFill>
                  <a:srgbClr val="242B33"/>
                </a:solidFill>
                <a:latin typeface="Aptos"/>
              </a:defRPr>
            </a:pPr>
            <a:r>
              <a:rPr sz="1600"/>
              <a:t>• Median ≈ 25% ngưỡng SLA 5 ngày</a:t>
            </a:r>
          </a:p>
          <a:p>
            <a:pPr>
              <a:spcAft>
                <a:spcPts val="800"/>
              </a:spcAft>
              <a:defRPr sz="1320">
                <a:solidFill>
                  <a:srgbClr val="242B33"/>
                </a:solidFill>
                <a:latin typeface="Aptos"/>
              </a:defRPr>
            </a:pPr>
            <a:r>
              <a:rPr sz="1600"/>
              <a:t>• Phân phối có đuôi phải dài: vẫn tồn tại nhóm giao rất chậm</a:t>
            </a:r>
          </a:p>
        </p:txBody>
      </p:sp>
      <p:sp>
        <p:nvSpPr>
          <p:cNvPr id="9" name="TextBox 8"/>
          <p:cNvSpPr txBox="1"/>
          <p:nvPr/>
        </p:nvSpPr>
        <p:spPr>
          <a:xfrm>
            <a:off x="6739128" y="3599227"/>
            <a:ext cx="2743200" cy="566309"/>
          </a:xfrm>
          <a:prstGeom prst="rect">
            <a:avLst/>
          </a:prstGeom>
          <a:noFill/>
        </p:spPr>
        <p:txBody>
          <a:bodyPr wrap="square" lIns="36576" tIns="36576" rIns="36576" bIns="36576" anchor="t">
            <a:spAutoFit/>
          </a:bodyPr>
          <a:lstStyle/>
          <a:p>
            <a:pPr algn="l"/>
            <a:r>
              <a:rPr sz="1600" b="1" dirty="0">
                <a:solidFill>
                  <a:srgbClr val="2F639D"/>
                </a:solidFill>
                <a:latin typeface="Aptos"/>
              </a:rPr>
              <a:t>CÁC QUANTILE QUAN TRỌNG</a:t>
            </a:r>
          </a:p>
        </p:txBody>
      </p:sp>
      <p:sp>
        <p:nvSpPr>
          <p:cNvPr id="10" name="Rounded Rectangle 9"/>
          <p:cNvSpPr/>
          <p:nvPr/>
        </p:nvSpPr>
        <p:spPr>
          <a:xfrm>
            <a:off x="6739128"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6784848"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p50</a:t>
            </a:r>
          </a:p>
        </p:txBody>
      </p:sp>
      <p:sp>
        <p:nvSpPr>
          <p:cNvPr id="12" name="TextBox 11"/>
          <p:cNvSpPr txBox="1"/>
          <p:nvPr/>
        </p:nvSpPr>
        <p:spPr>
          <a:xfrm>
            <a:off x="6784848"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1,26</a:t>
            </a:r>
          </a:p>
        </p:txBody>
      </p:sp>
      <p:sp>
        <p:nvSpPr>
          <p:cNvPr id="13" name="Rounded Rectangle 12"/>
          <p:cNvSpPr/>
          <p:nvPr/>
        </p:nvSpPr>
        <p:spPr>
          <a:xfrm>
            <a:off x="7909560"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7955280"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p90</a:t>
            </a:r>
          </a:p>
        </p:txBody>
      </p:sp>
      <p:sp>
        <p:nvSpPr>
          <p:cNvPr id="15" name="TextBox 14"/>
          <p:cNvSpPr txBox="1"/>
          <p:nvPr/>
        </p:nvSpPr>
        <p:spPr>
          <a:xfrm>
            <a:off x="7955280"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4,33</a:t>
            </a:r>
          </a:p>
        </p:txBody>
      </p:sp>
      <p:sp>
        <p:nvSpPr>
          <p:cNvPr id="16" name="Rounded Rectangle 15"/>
          <p:cNvSpPr/>
          <p:nvPr/>
        </p:nvSpPr>
        <p:spPr>
          <a:xfrm>
            <a:off x="9079992"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125712"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p95</a:t>
            </a:r>
          </a:p>
        </p:txBody>
      </p:sp>
      <p:sp>
        <p:nvSpPr>
          <p:cNvPr id="18" name="TextBox 17"/>
          <p:cNvSpPr txBox="1"/>
          <p:nvPr/>
        </p:nvSpPr>
        <p:spPr>
          <a:xfrm>
            <a:off x="9125712"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5,92</a:t>
            </a:r>
          </a:p>
        </p:txBody>
      </p:sp>
      <p:sp>
        <p:nvSpPr>
          <p:cNvPr id="19" name="Rounded Rectangle 18"/>
          <p:cNvSpPr/>
          <p:nvPr/>
        </p:nvSpPr>
        <p:spPr>
          <a:xfrm>
            <a:off x="10250424"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TextBox 19"/>
          <p:cNvSpPr txBox="1"/>
          <p:nvPr/>
        </p:nvSpPr>
        <p:spPr>
          <a:xfrm>
            <a:off x="10296144"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p99</a:t>
            </a:r>
          </a:p>
        </p:txBody>
      </p:sp>
      <p:sp>
        <p:nvSpPr>
          <p:cNvPr id="21" name="TextBox 20"/>
          <p:cNvSpPr txBox="1"/>
          <p:nvPr/>
        </p:nvSpPr>
        <p:spPr>
          <a:xfrm>
            <a:off x="10296144"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18,62</a:t>
            </a:r>
          </a:p>
        </p:txBody>
      </p:sp>
      <p:sp>
        <p:nvSpPr>
          <p:cNvPr id="22" name="TextBox 21"/>
          <p:cNvSpPr txBox="1"/>
          <p:nvPr/>
        </p:nvSpPr>
        <p:spPr>
          <a:xfrm>
            <a:off x="8906256" y="4659932"/>
            <a:ext cx="1143000" cy="566309"/>
          </a:xfrm>
          <a:prstGeom prst="rect">
            <a:avLst/>
          </a:prstGeom>
          <a:noFill/>
        </p:spPr>
        <p:txBody>
          <a:bodyPr wrap="square" lIns="36576" tIns="36576" rIns="36576" bIns="36576" anchor="t">
            <a:spAutoFit/>
          </a:bodyPr>
          <a:lstStyle/>
          <a:p>
            <a:pPr algn="ctr"/>
            <a:r>
              <a:rPr sz="1600" b="1">
                <a:solidFill>
                  <a:srgbClr val="B14242"/>
                </a:solidFill>
                <a:latin typeface="Aptos"/>
              </a:rPr>
              <a:t>SLA = 5 ngày</a:t>
            </a:r>
          </a:p>
        </p:txBody>
      </p:sp>
      <p:cxnSp>
        <p:nvCxnSpPr>
          <p:cNvPr id="23" name="Connector 22"/>
          <p:cNvCxnSpPr/>
          <p:nvPr/>
        </p:nvCxnSpPr>
        <p:spPr>
          <a:xfrm>
            <a:off x="9473184" y="4513628"/>
            <a:ext cx="0" cy="146304"/>
          </a:xfrm>
          <a:prstGeom prst="line">
            <a:avLst/>
          </a:prstGeom>
          <a:ln w="19050">
            <a:solidFill>
              <a:srgbClr val="B1424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44860" y="5232212"/>
            <a:ext cx="4800600"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880655" y="5287053"/>
            <a:ext cx="17521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EDA</a:t>
            </a:r>
          </a:p>
        </p:txBody>
      </p:sp>
      <p:sp>
        <p:nvSpPr>
          <p:cNvPr id="27" name="TextBox 26"/>
          <p:cNvSpPr txBox="1"/>
          <p:nvPr/>
        </p:nvSpPr>
        <p:spPr>
          <a:xfrm>
            <a:off x="6880655" y="5542995"/>
            <a:ext cx="4606119" cy="812530"/>
          </a:xfrm>
          <a:prstGeom prst="rect">
            <a:avLst/>
          </a:prstGeom>
          <a:noFill/>
        </p:spPr>
        <p:txBody>
          <a:bodyPr wrap="square" lIns="36576" tIns="36576" rIns="36576" bIns="36576" anchor="t">
            <a:spAutoFit/>
          </a:bodyPr>
          <a:lstStyle/>
          <a:p>
            <a:pPr algn="l"/>
            <a:r>
              <a:rPr sz="1600" b="0" dirty="0">
                <a:solidFill>
                  <a:srgbClr val="242B33"/>
                </a:solidFill>
                <a:latin typeface="Aptos"/>
              </a:rPr>
              <a:t>Lead Time </a:t>
            </a:r>
            <a:r>
              <a:rPr sz="1600" b="0" dirty="0" err="1">
                <a:solidFill>
                  <a:srgbClr val="242B33"/>
                </a:solidFill>
                <a:latin typeface="Aptos"/>
              </a:rPr>
              <a:t>điển</a:t>
            </a:r>
            <a:r>
              <a:rPr sz="1600" b="0" dirty="0">
                <a:solidFill>
                  <a:srgbClr val="242B33"/>
                </a:solidFill>
                <a:latin typeface="Aptos"/>
              </a:rPr>
              <a:t> </a:t>
            </a:r>
            <a:r>
              <a:rPr sz="1600" b="0" dirty="0" err="1">
                <a:solidFill>
                  <a:srgbClr val="242B33"/>
                </a:solidFill>
                <a:latin typeface="Aptos"/>
              </a:rPr>
              <a:t>hình</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a:t>
            </a:r>
            <a:r>
              <a:rPr sz="1600" b="0" dirty="0" err="1">
                <a:solidFill>
                  <a:srgbClr val="242B33"/>
                </a:solidFill>
                <a:latin typeface="Aptos"/>
              </a:rPr>
              <a:t>hơn</a:t>
            </a:r>
            <a:r>
              <a:rPr sz="1600" b="0" dirty="0">
                <a:solidFill>
                  <a:srgbClr val="242B33"/>
                </a:solidFill>
                <a:latin typeface="Aptos"/>
              </a:rPr>
              <a:t> </a:t>
            </a:r>
            <a:r>
              <a:rPr sz="1600" b="0" dirty="0" err="1">
                <a:solidFill>
                  <a:srgbClr val="242B33"/>
                </a:solidFill>
                <a:latin typeface="Aptos"/>
              </a:rPr>
              <a:t>nhiều</a:t>
            </a:r>
            <a:r>
              <a:rPr sz="1600" b="0" dirty="0">
                <a:solidFill>
                  <a:srgbClr val="242B33"/>
                </a:solidFill>
                <a:latin typeface="Aptos"/>
              </a:rPr>
              <a:t> so </a:t>
            </a:r>
            <a:r>
              <a:rPr sz="1600" b="0" dirty="0" err="1">
                <a:solidFill>
                  <a:srgbClr val="242B33"/>
                </a:solidFill>
                <a:latin typeface="Aptos"/>
              </a:rPr>
              <a:t>với</a:t>
            </a:r>
            <a:r>
              <a:rPr sz="1600" b="0" dirty="0">
                <a:solidFill>
                  <a:srgbClr val="242B33"/>
                </a:solidFill>
                <a:latin typeface="Aptos"/>
              </a:rPr>
              <a:t> SLA 5 </a:t>
            </a:r>
            <a:r>
              <a:rPr sz="1600" b="0" dirty="0" err="1">
                <a:solidFill>
                  <a:srgbClr val="242B33"/>
                </a:solidFill>
                <a:latin typeface="Aptos"/>
              </a:rPr>
              <a:t>ngày</a:t>
            </a:r>
            <a:r>
              <a:rPr sz="1600" b="0" dirty="0">
                <a:solidFill>
                  <a:srgbClr val="242B33"/>
                </a:solidFill>
                <a:latin typeface="Aptos"/>
              </a:rPr>
              <a:t>, </a:t>
            </a:r>
            <a:r>
              <a:rPr sz="1600" b="0" dirty="0" err="1">
                <a:solidFill>
                  <a:srgbClr val="242B33"/>
                </a:solidFill>
                <a:latin typeface="Aptos"/>
              </a:rPr>
              <a:t>nhưng</a:t>
            </a:r>
            <a:r>
              <a:rPr sz="1600" b="0" dirty="0">
                <a:solidFill>
                  <a:srgbClr val="242B33"/>
                </a:solidFill>
                <a:latin typeface="Aptos"/>
              </a:rPr>
              <a:t> </a:t>
            </a:r>
            <a:r>
              <a:rPr sz="1600" b="0" dirty="0" err="1">
                <a:solidFill>
                  <a:srgbClr val="242B33"/>
                </a:solidFill>
                <a:latin typeface="Aptos"/>
              </a:rPr>
              <a:t>phân</a:t>
            </a:r>
            <a:r>
              <a:rPr sz="1600" b="0" dirty="0">
                <a:solidFill>
                  <a:srgbClr val="242B33"/>
                </a:solidFill>
                <a:latin typeface="Aptos"/>
              </a:rPr>
              <a:t> </a:t>
            </a:r>
            <a:r>
              <a:rPr sz="1600" b="0" dirty="0" err="1">
                <a:solidFill>
                  <a:srgbClr val="242B33"/>
                </a:solidFill>
                <a:latin typeface="Aptos"/>
              </a:rPr>
              <a:t>phối</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đuôi</a:t>
            </a:r>
            <a:r>
              <a:rPr sz="1600" b="0" dirty="0">
                <a:solidFill>
                  <a:srgbClr val="242B33"/>
                </a:solidFill>
                <a:latin typeface="Aptos"/>
              </a:rPr>
              <a:t> </a:t>
            </a:r>
            <a:r>
              <a:rPr sz="1600" b="0" dirty="0" err="1">
                <a:solidFill>
                  <a:srgbClr val="242B33"/>
                </a:solidFill>
                <a:latin typeface="Aptos"/>
              </a:rPr>
              <a:t>dài</a:t>
            </a:r>
            <a:r>
              <a:rPr sz="1600" b="0" dirty="0">
                <a:solidFill>
                  <a:srgbClr val="242B33"/>
                </a:solidFill>
                <a:latin typeface="Aptos"/>
              </a:rPr>
              <a:t> </a:t>
            </a:r>
            <a:r>
              <a:rPr sz="1600" b="0" dirty="0" err="1">
                <a:solidFill>
                  <a:srgbClr val="242B33"/>
                </a:solidFill>
                <a:latin typeface="Aptos"/>
              </a:rPr>
              <a:t>và</a:t>
            </a:r>
            <a:r>
              <a:rPr sz="1600" b="0" dirty="0">
                <a:solidFill>
                  <a:srgbClr val="242B33"/>
                </a:solidFill>
                <a:latin typeface="Aptos"/>
              </a:rPr>
              <a:t> SLA Breach </a:t>
            </a:r>
            <a:r>
              <a:rPr sz="1600" b="0" dirty="0" err="1">
                <a:solidFill>
                  <a:srgbClr val="242B33"/>
                </a:solidFill>
                <a:latin typeface="Aptos"/>
              </a:rPr>
              <a:t>biến</a:t>
            </a:r>
            <a:r>
              <a:rPr sz="1600" b="0" dirty="0">
                <a:solidFill>
                  <a:srgbClr val="242B33"/>
                </a:solidFill>
                <a:latin typeface="Aptos"/>
              </a:rPr>
              <a:t> </a:t>
            </a:r>
            <a:r>
              <a:rPr sz="1600" b="0" dirty="0" err="1">
                <a:solidFill>
                  <a:srgbClr val="242B33"/>
                </a:solidFill>
                <a:latin typeface="Aptos"/>
              </a:rPr>
              <a:t>động</a:t>
            </a:r>
            <a:r>
              <a:rPr sz="1600" b="0" dirty="0">
                <a:solidFill>
                  <a:srgbClr val="242B33"/>
                </a:solidFill>
                <a:latin typeface="Aptos"/>
              </a:rPr>
              <a:t> </a:t>
            </a:r>
            <a:r>
              <a:rPr sz="1600" b="0" dirty="0" err="1">
                <a:solidFill>
                  <a:srgbClr val="242B33"/>
                </a:solidFill>
                <a:latin typeface="Aptos"/>
              </a:rPr>
              <a:t>đáng</a:t>
            </a:r>
            <a:r>
              <a:rPr sz="1600" b="0" dirty="0">
                <a:solidFill>
                  <a:srgbClr val="242B33"/>
                </a:solidFill>
                <a:latin typeface="Aptos"/>
              </a:rPr>
              <a:t> </a:t>
            </a:r>
            <a:r>
              <a:rPr sz="1600" b="0" dirty="0" err="1">
                <a:solidFill>
                  <a:srgbClr val="242B33"/>
                </a:solidFill>
                <a:latin typeface="Aptos"/>
              </a:rPr>
              <a:t>kể</a:t>
            </a:r>
            <a:r>
              <a:rPr sz="1600" b="0" dirty="0">
                <a:solidFill>
                  <a:srgbClr val="242B33"/>
                </a:solidFill>
                <a:latin typeface="Aptos"/>
              </a:rPr>
              <a:t> </a:t>
            </a:r>
            <a:r>
              <a:rPr sz="1600" b="0" dirty="0" err="1">
                <a:solidFill>
                  <a:srgbClr val="242B33"/>
                </a:solidFill>
                <a:latin typeface="Aptos"/>
              </a:rPr>
              <a:t>theo</a:t>
            </a:r>
            <a:r>
              <a:rPr sz="1600" b="0" dirty="0">
                <a:solidFill>
                  <a:srgbClr val="242B33"/>
                </a:solidFill>
                <a:latin typeface="Aptos"/>
              </a:rPr>
              <a:t> </a:t>
            </a:r>
            <a:r>
              <a:rPr sz="1600" b="0" dirty="0" err="1">
                <a:solidFill>
                  <a:srgbClr val="242B33"/>
                </a:solidFill>
                <a:latin typeface="Aptos"/>
              </a:rPr>
              <a:t>thời</a:t>
            </a:r>
            <a:r>
              <a:rPr sz="1600" b="0" dirty="0">
                <a:solidFill>
                  <a:srgbClr val="242B33"/>
                </a:solidFill>
                <a:latin typeface="Aptos"/>
              </a:rPr>
              <a:t> </a:t>
            </a:r>
            <a:r>
              <a:rPr sz="1600" b="0" dirty="0" err="1">
                <a:solidFill>
                  <a:srgbClr val="242B33"/>
                </a:solidFill>
                <a:latin typeface="Aptos"/>
              </a:rPr>
              <a:t>gian</a:t>
            </a:r>
            <a:r>
              <a:rPr sz="1600" b="0" dirty="0">
                <a:solidFill>
                  <a:srgbClr val="242B33"/>
                </a:solidFill>
                <a:latin typeface="Aptos"/>
              </a:rPr>
              <a:t>.</a:t>
            </a:r>
          </a:p>
        </p:txBody>
      </p:sp>
      <p:sp>
        <p:nvSpPr>
          <p:cNvPr id="29" name="TextBox 2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8</a:t>
            </a:r>
          </a:p>
        </p:txBody>
      </p:sp>
      <p:pic>
        <p:nvPicPr>
          <p:cNvPr id="30" name="Picture 29" descr="B07_sla_by_year.png"/>
          <p:cNvPicPr>
            <a:picLocks noChangeAspect="1"/>
          </p:cNvPicPr>
          <p:nvPr/>
        </p:nvPicPr>
        <p:blipFill>
          <a:blip r:embed="rId5"/>
          <a:stretch>
            <a:fillRect/>
          </a:stretch>
        </p:blipFill>
        <p:spPr>
          <a:xfrm>
            <a:off x="502921" y="3882522"/>
            <a:ext cx="4589048" cy="2560320"/>
          </a:xfrm>
          <a:prstGeom prst="rect">
            <a:avLst/>
          </a:prstGeom>
        </p:spPr>
      </p:pic>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KHI SLA VÀ CẢM NHẬN KHÁCH HÀNG KHÔNG ĐỒNG NHẤT</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09</a:t>
            </a:r>
          </a:p>
        </p:txBody>
      </p:sp>
      <p:sp>
        <p:nvSpPr>
          <p:cNvPr id="5" name="Rounded Rectangle 4"/>
          <p:cNvSpPr/>
          <p:nvPr/>
        </p:nvSpPr>
        <p:spPr>
          <a:xfrm>
            <a:off x="475488" y="1088338"/>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p:cNvSpPr txBox="1"/>
          <p:nvPr/>
        </p:nvSpPr>
        <p:spPr>
          <a:xfrm>
            <a:off x="475488" y="1189351"/>
            <a:ext cx="274320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DOANH NGHIỆP</a:t>
            </a:r>
          </a:p>
        </p:txBody>
      </p:sp>
      <p:sp>
        <p:nvSpPr>
          <p:cNvPr id="7" name="TextBox 6"/>
          <p:cNvSpPr txBox="1"/>
          <p:nvPr/>
        </p:nvSpPr>
        <p:spPr>
          <a:xfrm>
            <a:off x="566927" y="1510763"/>
            <a:ext cx="2565233"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SLA Status · Within / Breach</a:t>
            </a:r>
          </a:p>
        </p:txBody>
      </p:sp>
      <p:sp>
        <p:nvSpPr>
          <p:cNvPr id="8" name="Rounded Rectangle 7"/>
          <p:cNvSpPr/>
          <p:nvPr/>
        </p:nvSpPr>
        <p:spPr>
          <a:xfrm>
            <a:off x="9110472" y="1170432"/>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p:cNvSpPr txBox="1"/>
          <p:nvPr/>
        </p:nvSpPr>
        <p:spPr>
          <a:xfrm>
            <a:off x="9201912" y="1216735"/>
            <a:ext cx="25603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KHÁCH HÀNG</a:t>
            </a:r>
          </a:p>
        </p:txBody>
      </p:sp>
      <p:sp>
        <p:nvSpPr>
          <p:cNvPr id="10" name="TextBox 9"/>
          <p:cNvSpPr txBox="1"/>
          <p:nvPr/>
        </p:nvSpPr>
        <p:spPr>
          <a:xfrm>
            <a:off x="9110472" y="1505755"/>
            <a:ext cx="2743200"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Customer Delivery · On-time / Late</a:t>
            </a:r>
          </a:p>
        </p:txBody>
      </p:sp>
      <p:sp>
        <p:nvSpPr>
          <p:cNvPr id="11" name="TextBox 10"/>
          <p:cNvSpPr txBox="1"/>
          <p:nvPr/>
        </p:nvSpPr>
        <p:spPr>
          <a:xfrm>
            <a:off x="3886200" y="1417320"/>
            <a:ext cx="4389120" cy="320040"/>
          </a:xfrm>
          <a:prstGeom prst="rect">
            <a:avLst/>
          </a:prstGeom>
          <a:noFill/>
        </p:spPr>
        <p:txBody>
          <a:bodyPr wrap="square" lIns="36576" tIns="36576" rIns="36576" bIns="36576" anchor="t">
            <a:spAutoFit/>
          </a:bodyPr>
          <a:lstStyle/>
          <a:p>
            <a:pPr algn="ctr"/>
            <a:r>
              <a:rPr sz="1600" b="1">
                <a:solidFill>
                  <a:srgbClr val="2F639D"/>
                </a:solidFill>
                <a:latin typeface="Aptos"/>
              </a:rPr>
              <a:t>Hai cách đánh giá có thực sự đồng nhất?</a:t>
            </a:r>
          </a:p>
        </p:txBody>
      </p:sp>
      <p:pic>
        <p:nvPicPr>
          <p:cNvPr id="12" name="Picture 11" descr="B10_SLA Status vs. Customer-Reported Delivery Status.png"/>
          <p:cNvPicPr>
            <a:picLocks noChangeAspect="1"/>
          </p:cNvPicPr>
          <p:nvPr/>
        </p:nvPicPr>
        <p:blipFill>
          <a:blip r:embed="rId2"/>
          <a:stretch>
            <a:fillRect/>
          </a:stretch>
        </p:blipFill>
        <p:spPr>
          <a:xfrm>
            <a:off x="3246120" y="2011680"/>
            <a:ext cx="5669280" cy="2697480"/>
          </a:xfrm>
          <a:prstGeom prst="rect">
            <a:avLst/>
          </a:prstGeom>
        </p:spPr>
      </p:pic>
      <p:sp>
        <p:nvSpPr>
          <p:cNvPr id="13" name="Rounded Rectangle 12"/>
          <p:cNvSpPr/>
          <p:nvPr/>
        </p:nvSpPr>
        <p:spPr>
          <a:xfrm>
            <a:off x="566928" y="4919472"/>
            <a:ext cx="5074920" cy="8686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777240" y="4949130"/>
            <a:ext cx="44805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① WITHIN SLA NHƯNG KHÁCH BÁO TRỄ</a:t>
            </a:r>
          </a:p>
        </p:txBody>
      </p:sp>
      <p:sp>
        <p:nvSpPr>
          <p:cNvPr id="15" name="TextBox 14"/>
          <p:cNvSpPr txBox="1"/>
          <p:nvPr/>
        </p:nvSpPr>
        <p:spPr>
          <a:xfrm>
            <a:off x="566928" y="5221820"/>
            <a:ext cx="5074921" cy="547842"/>
          </a:xfrm>
          <a:prstGeom prst="rect">
            <a:avLst/>
          </a:prstGeom>
          <a:noFill/>
        </p:spPr>
        <p:txBody>
          <a:bodyPr wrap="square" lIns="45720" tIns="27432" rIns="45720" bIns="27432">
            <a:spAutoFit/>
          </a:bodyPr>
          <a:lstStyle/>
          <a:p>
            <a:pPr algn="l"/>
            <a:r>
              <a:rPr sz="1600" b="1" dirty="0">
                <a:solidFill>
                  <a:srgbClr val="B14242"/>
                </a:solidFill>
                <a:latin typeface="Aptos"/>
              </a:rPr>
              <a:t>252 reviews</a:t>
            </a:r>
            <a:r>
              <a:rPr sz="1600" b="0" dirty="0">
                <a:solidFill>
                  <a:srgbClr val="242B33"/>
                </a:solidFill>
                <a:latin typeface="Aptos"/>
              </a:rPr>
              <a:t> — </a:t>
            </a:r>
            <a:r>
              <a:rPr sz="1600" b="0" dirty="0" err="1">
                <a:solidFill>
                  <a:srgbClr val="242B33"/>
                </a:solidFill>
                <a:latin typeface="Aptos"/>
              </a:rPr>
              <a:t>đạt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đảm</a:t>
            </a:r>
            <a:r>
              <a:rPr sz="1600" b="0" dirty="0">
                <a:solidFill>
                  <a:srgbClr val="242B33"/>
                </a:solidFill>
                <a:latin typeface="Aptos"/>
              </a:rPr>
              <a:t> </a:t>
            </a:r>
            <a:r>
              <a:rPr sz="1600" b="0" dirty="0" err="1">
                <a:solidFill>
                  <a:srgbClr val="242B33"/>
                </a:solidFill>
                <a:latin typeface="Aptos"/>
              </a:rPr>
              <a:t>bảo</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đúng</a:t>
            </a:r>
            <a:r>
              <a:rPr sz="1600" b="0" dirty="0">
                <a:solidFill>
                  <a:srgbClr val="242B33"/>
                </a:solidFill>
                <a:latin typeface="Aptos"/>
              </a:rPr>
              <a:t> </a:t>
            </a:r>
            <a:r>
              <a:rPr sz="1600" b="0" dirty="0" err="1">
                <a:solidFill>
                  <a:srgbClr val="242B33"/>
                </a:solidFill>
                <a:latin typeface="Aptos"/>
              </a:rPr>
              <a:t>hẹn</a:t>
            </a:r>
            <a:r>
              <a:rPr sz="1600" b="0" dirty="0">
                <a:solidFill>
                  <a:srgbClr val="242B33"/>
                </a:solidFill>
                <a:latin typeface="Aptos"/>
              </a:rPr>
              <a:t>.</a:t>
            </a:r>
          </a:p>
        </p:txBody>
      </p:sp>
      <p:sp>
        <p:nvSpPr>
          <p:cNvPr id="16" name="Rounded Rectangle 15"/>
          <p:cNvSpPr/>
          <p:nvPr/>
        </p:nvSpPr>
        <p:spPr>
          <a:xfrm>
            <a:off x="6275832" y="4919472"/>
            <a:ext cx="5577840" cy="86868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6477000" y="4949130"/>
            <a:ext cx="4983480" cy="320088"/>
          </a:xfrm>
          <a:prstGeom prst="rect">
            <a:avLst/>
          </a:prstGeom>
          <a:noFill/>
        </p:spPr>
        <p:txBody>
          <a:bodyPr wrap="square" lIns="36576" tIns="36576" rIns="36576" bIns="36576" anchor="t">
            <a:spAutoFit/>
          </a:bodyPr>
          <a:lstStyle/>
          <a:p>
            <a:pPr algn="l"/>
            <a:r>
              <a:rPr sz="1600" b="1" dirty="0">
                <a:solidFill>
                  <a:srgbClr val="162C46"/>
                </a:solidFill>
                <a:latin typeface="Aptos"/>
              </a:rPr>
              <a:t>② SLA BREACH NHƯNG KHÁCH BÁO ĐÚNG HẸN</a:t>
            </a:r>
          </a:p>
        </p:txBody>
      </p:sp>
      <p:sp>
        <p:nvSpPr>
          <p:cNvPr id="18" name="TextBox 17"/>
          <p:cNvSpPr txBox="1"/>
          <p:nvPr/>
        </p:nvSpPr>
        <p:spPr>
          <a:xfrm>
            <a:off x="6275831" y="5221820"/>
            <a:ext cx="5577841" cy="547842"/>
          </a:xfrm>
          <a:prstGeom prst="rect">
            <a:avLst/>
          </a:prstGeom>
          <a:noFill/>
        </p:spPr>
        <p:txBody>
          <a:bodyPr wrap="square" lIns="45720" tIns="27432" rIns="45720" bIns="27432">
            <a:spAutoFit/>
          </a:bodyPr>
          <a:lstStyle/>
          <a:p>
            <a:pPr algn="l"/>
            <a:r>
              <a:rPr sz="1600" b="1" dirty="0">
                <a:solidFill>
                  <a:srgbClr val="BE7D2F"/>
                </a:solidFill>
                <a:latin typeface="Aptos"/>
              </a:rPr>
              <a:t>339 reviews</a:t>
            </a:r>
            <a:r>
              <a:rPr sz="1600" b="0" dirty="0">
                <a:solidFill>
                  <a:srgbClr val="242B33"/>
                </a:solidFill>
                <a:latin typeface="Aptos"/>
              </a:rPr>
              <a:t> — </a:t>
            </a:r>
            <a:r>
              <a:rPr sz="1600" b="0" dirty="0" err="1">
                <a:solidFill>
                  <a:srgbClr val="242B33"/>
                </a:solidFill>
                <a:latin typeface="Aptos"/>
              </a:rPr>
              <a:t>vượt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phải</a:t>
            </a:r>
            <a:r>
              <a:rPr sz="1600" b="0" dirty="0">
                <a:solidFill>
                  <a:srgbClr val="242B33"/>
                </a:solidFill>
                <a:latin typeface="Aptos"/>
              </a:rPr>
              <a:t> </a:t>
            </a:r>
            <a:r>
              <a:rPr sz="1600" b="0" dirty="0" err="1">
                <a:solidFill>
                  <a:srgbClr val="242B33"/>
                </a:solidFill>
                <a:latin typeface="Aptos"/>
              </a:rPr>
              <a:t>lúc</a:t>
            </a:r>
            <a:r>
              <a:rPr sz="1600" b="0" dirty="0">
                <a:solidFill>
                  <a:srgbClr val="242B33"/>
                </a:solidFill>
                <a:latin typeface="Aptos"/>
              </a:rPr>
              <a:t> </a:t>
            </a:r>
            <a:r>
              <a:rPr sz="1600" b="0" dirty="0" err="1">
                <a:solidFill>
                  <a:srgbClr val="242B33"/>
                </a:solidFill>
                <a:latin typeface="Aptos"/>
              </a:rPr>
              <a:t>nào</a:t>
            </a:r>
            <a:r>
              <a:rPr sz="1600" b="0" dirty="0">
                <a:solidFill>
                  <a:srgbClr val="242B33"/>
                </a:solidFill>
                <a:latin typeface="Aptos"/>
              </a:rPr>
              <a:t> </a:t>
            </a:r>
            <a:r>
              <a:rPr sz="1600" b="0" dirty="0" err="1">
                <a:solidFill>
                  <a:srgbClr val="242B33"/>
                </a:solidFill>
                <a:latin typeface="Aptos"/>
              </a:rPr>
              <a:t>cũng</a:t>
            </a:r>
            <a:r>
              <a:rPr sz="1600" b="0" dirty="0">
                <a:solidFill>
                  <a:srgbClr val="242B33"/>
                </a:solidFill>
                <a:latin typeface="Aptos"/>
              </a:rPr>
              <a:t> </a:t>
            </a:r>
            <a:r>
              <a:rPr sz="1600" b="0" dirty="0" err="1">
                <a:solidFill>
                  <a:srgbClr val="242B33"/>
                </a:solidFill>
                <a:latin typeface="Aptos"/>
              </a:rPr>
              <a:t>được</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là</a:t>
            </a:r>
            <a:r>
              <a:rPr sz="1600" b="0" dirty="0">
                <a:solidFill>
                  <a:srgbClr val="242B33"/>
                </a:solidFill>
                <a:latin typeface="Aptos"/>
              </a:rPr>
              <a:t> </a:t>
            </a:r>
            <a:r>
              <a:rPr sz="1600" b="0" dirty="0" err="1">
                <a:solidFill>
                  <a:srgbClr val="242B33"/>
                </a:solidFill>
                <a:latin typeface="Aptos"/>
              </a:rPr>
              <a:t>trễ</a:t>
            </a:r>
            <a:r>
              <a:rPr sz="1600" b="0" dirty="0">
                <a:solidFill>
                  <a:srgbClr val="242B33"/>
                </a:solidFill>
                <a:latin typeface="Aptos"/>
              </a:rPr>
              <a:t>.</a:t>
            </a:r>
          </a:p>
        </p:txBody>
      </p:sp>
      <p:sp>
        <p:nvSpPr>
          <p:cNvPr id="19" name="TextBox 18"/>
          <p:cNvSpPr txBox="1"/>
          <p:nvPr/>
        </p:nvSpPr>
        <p:spPr>
          <a:xfrm>
            <a:off x="794300" y="6149364"/>
            <a:ext cx="7775675" cy="320088"/>
          </a:xfrm>
          <a:prstGeom prst="rect">
            <a:avLst/>
          </a:prstGeom>
          <a:noFill/>
        </p:spPr>
        <p:txBody>
          <a:bodyPr wrap="square" lIns="36576" tIns="36576" rIns="36576" bIns="36576" anchor="t">
            <a:spAutoFit/>
          </a:bodyPr>
          <a:lstStyle/>
          <a:p>
            <a:pPr algn="l"/>
            <a:r>
              <a:rPr sz="1600" b="0" dirty="0">
                <a:solidFill>
                  <a:srgbClr val="5E6A78"/>
                </a:solidFill>
                <a:latin typeface="Aptos"/>
              </a:rPr>
              <a:t>n = 15.816 reviews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đủ</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đối</a:t>
            </a:r>
            <a:r>
              <a:rPr sz="1600" b="0" dirty="0">
                <a:solidFill>
                  <a:srgbClr val="5E6A78"/>
                </a:solidFill>
                <a:latin typeface="Aptos"/>
              </a:rPr>
              <a:t> </a:t>
            </a:r>
            <a:r>
              <a:rPr sz="1600" b="0" dirty="0" err="1">
                <a:solidFill>
                  <a:srgbClr val="5E6A78"/>
                </a:solidFill>
                <a:latin typeface="Aptos"/>
              </a:rPr>
              <a:t>chiếu</a:t>
            </a:r>
            <a:r>
              <a:rPr sz="1600" b="0" dirty="0">
                <a:solidFill>
                  <a:srgbClr val="5E6A78"/>
                </a:solidFill>
                <a:latin typeface="Aptos"/>
              </a:rPr>
              <a:t> · Ma </a:t>
            </a:r>
            <a:r>
              <a:rPr sz="1600" b="0" dirty="0" err="1">
                <a:solidFill>
                  <a:srgbClr val="5E6A78"/>
                </a:solidFill>
                <a:latin typeface="Aptos"/>
              </a:rPr>
              <a:t>trận</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dụng</a:t>
            </a:r>
            <a:r>
              <a:rPr sz="1600" b="0" dirty="0">
                <a:solidFill>
                  <a:srgbClr val="5E6A78"/>
                </a:solidFill>
                <a:latin typeface="Aptos"/>
              </a:rPr>
              <a:t> raw counts.</a:t>
            </a: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9</a:t>
            </a:r>
          </a:p>
        </p:txBody>
      </p:sp>
      <p:sp>
        <p:nvSpPr>
          <p:cNvPr id="22" name="Rounded Rectangle 2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23" name="Rounded Rectangle 2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4" name="Rounded Rectangle 2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5" name="Rounded Rectangle 24"/>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EDA</a:t>
            </a:r>
          </a:p>
        </p:txBody>
      </p:sp>
      <p:sp>
        <p:nvSpPr>
          <p:cNvPr id="26" name="Rounded Rectangle 2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7" name="Rounded Rectangle 26"/>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28" name="Rounded Rectangle 2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29" name="Rounded Rectangle 2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780" y="11206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FEATURE ENGINEERING — XÂY DỰNG ĐẶC TRƯNG CHO DỰ BÁO LOW RATING</a:t>
            </a:r>
          </a:p>
        </p:txBody>
      </p:sp>
      <p:cxnSp>
        <p:nvCxnSpPr>
          <p:cNvPr id="3" name="Connector 2"/>
          <p:cNvCxnSpPr/>
          <p:nvPr/>
        </p:nvCxnSpPr>
        <p:spPr>
          <a:xfrm>
            <a:off x="573024" y="1055108"/>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269980" y="30377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11</a:t>
            </a:r>
          </a:p>
        </p:txBody>
      </p:sp>
      <p:sp>
        <p:nvSpPr>
          <p:cNvPr id="5" name="TextBox 4"/>
          <p:cNvSpPr txBox="1"/>
          <p:nvPr/>
        </p:nvSpPr>
        <p:spPr>
          <a:xfrm>
            <a:off x="594360" y="1349257"/>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TARGET — XÁC ĐỊNH BIẾN MỤC TIÊU</a:t>
            </a:r>
          </a:p>
        </p:txBody>
      </p:sp>
      <p:sp>
        <p:nvSpPr>
          <p:cNvPr id="6" name="Rounded Rectangle 5"/>
          <p:cNvSpPr/>
          <p:nvPr/>
        </p:nvSpPr>
        <p:spPr>
          <a:xfrm>
            <a:off x="594360" y="1665721"/>
            <a:ext cx="11132820" cy="65836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67511" y="1868639"/>
            <a:ext cx="6217920" cy="301621"/>
          </a:xfrm>
          <a:prstGeom prst="rect">
            <a:avLst/>
          </a:prstGeom>
          <a:noFill/>
        </p:spPr>
        <p:txBody>
          <a:bodyPr wrap="square" lIns="45720" tIns="27432" rIns="45720" bIns="27432">
            <a:spAutoFit/>
          </a:bodyPr>
          <a:lstStyle/>
          <a:p>
            <a:pPr algn="l"/>
            <a:r>
              <a:rPr sz="1600" b="1" dirty="0">
                <a:solidFill>
                  <a:srgbClr val="2F639D"/>
                </a:solidFill>
                <a:latin typeface="Aptos"/>
              </a:rPr>
              <a:t>Low Rating = 1</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 3★   |   </a:t>
            </a:r>
            <a:r>
              <a:rPr sz="1600" b="1" dirty="0">
                <a:solidFill>
                  <a:srgbClr val="162C46"/>
                </a:solidFill>
                <a:latin typeface="Aptos"/>
              </a:rPr>
              <a:t>Low Rating = 0</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&gt; 3★</a:t>
            </a:r>
          </a:p>
        </p:txBody>
      </p:sp>
      <p:sp>
        <p:nvSpPr>
          <p:cNvPr id="8" name="TextBox 7"/>
          <p:cNvSpPr txBox="1"/>
          <p:nvPr/>
        </p:nvSpPr>
        <p:spPr>
          <a:xfrm>
            <a:off x="6731508" y="1740196"/>
            <a:ext cx="4887468"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Mục</a:t>
            </a:r>
            <a:r>
              <a:rPr sz="1600" b="0" dirty="0">
                <a:solidFill>
                  <a:srgbClr val="5E6A78"/>
                </a:solidFill>
                <a:latin typeface="Aptos"/>
              </a:rPr>
              <a:t> </a:t>
            </a:r>
            <a:r>
              <a:rPr sz="1600" b="0" dirty="0" err="1">
                <a:solidFill>
                  <a:srgbClr val="5E6A78"/>
                </a:solidFill>
                <a:latin typeface="Aptos"/>
              </a:rPr>
              <a:t>tiêu</a:t>
            </a:r>
            <a:r>
              <a:rPr sz="1600" b="0" dirty="0">
                <a:solidFill>
                  <a:srgbClr val="5E6A78"/>
                </a:solidFill>
                <a:latin typeface="Aptos"/>
              </a:rPr>
              <a:t>: </a:t>
            </a:r>
            <a:r>
              <a:rPr sz="1600" b="0" dirty="0" err="1">
                <a:solidFill>
                  <a:srgbClr val="5E6A78"/>
                </a:solidFill>
                <a:latin typeface="Aptos"/>
              </a:rPr>
              <a:t>Ước</a:t>
            </a:r>
            <a:r>
              <a:rPr sz="1600" b="0" dirty="0">
                <a:solidFill>
                  <a:srgbClr val="5E6A78"/>
                </a:solidFill>
                <a:latin typeface="Aptos"/>
              </a:rPr>
              <a:t> </a:t>
            </a:r>
            <a:r>
              <a:rPr sz="1600" b="0" dirty="0" err="1">
                <a:solidFill>
                  <a:srgbClr val="5E6A78"/>
                </a:solidFill>
                <a:latin typeface="Aptos"/>
              </a:rPr>
              <a:t>lượng</a:t>
            </a:r>
            <a:r>
              <a:rPr sz="1600" b="0" dirty="0">
                <a:solidFill>
                  <a:srgbClr val="5E6A78"/>
                </a:solidFill>
                <a:latin typeface="Aptos"/>
              </a:rPr>
              <a:t> </a:t>
            </a:r>
            <a:r>
              <a:rPr sz="1600" b="0" dirty="0" err="1">
                <a:solidFill>
                  <a:srgbClr val="5E6A78"/>
                </a:solidFill>
                <a:latin typeface="Aptos"/>
              </a:rPr>
              <a:t>nguy</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đưa</a:t>
            </a:r>
            <a:r>
              <a:rPr sz="1600" b="0" dirty="0">
                <a:solidFill>
                  <a:srgbClr val="5E6A78"/>
                </a:solidFill>
                <a:latin typeface="Aptos"/>
              </a:rPr>
              <a:t> </a:t>
            </a:r>
            <a:r>
              <a:rPr sz="1600" b="0" dirty="0" err="1">
                <a:solidFill>
                  <a:srgbClr val="5E6A78"/>
                </a:solidFill>
                <a:latin typeface="Aptos"/>
              </a:rPr>
              <a:t>ra</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thấp</a:t>
            </a:r>
            <a:r>
              <a:rPr sz="1600" b="0" dirty="0">
                <a:solidFill>
                  <a:srgbClr val="5E6A78"/>
                </a:solidFill>
                <a:latin typeface="Aptos"/>
              </a:rPr>
              <a:t> </a:t>
            </a:r>
            <a:r>
              <a:rPr sz="1600" b="0" dirty="0" err="1">
                <a:solidFill>
                  <a:srgbClr val="5E6A78"/>
                </a:solidFill>
                <a:latin typeface="Aptos"/>
              </a:rPr>
              <a:t>dựa</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a:t>
            </a:r>
          </a:p>
        </p:txBody>
      </p:sp>
      <p:sp>
        <p:nvSpPr>
          <p:cNvPr id="9" name="TextBox 8"/>
          <p:cNvSpPr txBox="1"/>
          <p:nvPr/>
        </p:nvSpPr>
        <p:spPr>
          <a:xfrm>
            <a:off x="573024" y="2518351"/>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FEATURES — CÁC NHÓM ĐẶC TRƯNG</a:t>
            </a:r>
          </a:p>
        </p:txBody>
      </p:sp>
      <p:sp>
        <p:nvSpPr>
          <p:cNvPr id="10" name="Rounded Rectangle 9"/>
          <p:cNvSpPr/>
          <p:nvPr/>
        </p:nvSpPr>
        <p:spPr>
          <a:xfrm>
            <a:off x="594360" y="3013464"/>
            <a:ext cx="3364992" cy="1589103"/>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758951"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2.1 DELIVERY FEATURES</a:t>
            </a:r>
          </a:p>
        </p:txBody>
      </p:sp>
      <p:sp>
        <p:nvSpPr>
          <p:cNvPr id="12" name="TextBox 11"/>
          <p:cNvSpPr txBox="1"/>
          <p:nvPr/>
        </p:nvSpPr>
        <p:spPr>
          <a:xfrm>
            <a:off x="758951" y="3543817"/>
            <a:ext cx="3017520" cy="812530"/>
          </a:xfrm>
          <a:prstGeom prst="rect">
            <a:avLst/>
          </a:prstGeom>
          <a:noFill/>
        </p:spPr>
        <p:txBody>
          <a:bodyPr wrap="square" lIns="36576" tIns="36576" rIns="36576" bIns="36576" anchor="t">
            <a:spAutoFit/>
          </a:bodyPr>
          <a:lstStyle/>
          <a:p>
            <a:pPr algn="l"/>
            <a:r>
              <a:rPr sz="1400" b="0" dirty="0">
                <a:solidFill>
                  <a:srgbClr val="5E6A78"/>
                </a:solidFill>
                <a:latin typeface="Aptos"/>
              </a:rPr>
              <a:t>lead_days · giờ giao · cuối tuần
SLA Status: loại (hàm của lead_days)
Thời điểm mua: tháng · thứ · giờ</a:t>
            </a:r>
            <a:endParaRPr sz="1600" b="0" dirty="0">
              <a:solidFill>
                <a:srgbClr val="5E6A78"/>
              </a:solidFill>
              <a:latin typeface="Aptos"/>
            </a:endParaRPr>
          </a:p>
        </p:txBody>
      </p:sp>
      <p:sp>
        <p:nvSpPr>
          <p:cNvPr id="13" name="Rounded Rectangle 12"/>
          <p:cNvSpPr/>
          <p:nvPr/>
        </p:nvSpPr>
        <p:spPr>
          <a:xfrm>
            <a:off x="4270247" y="3013464"/>
            <a:ext cx="3364992" cy="1583531"/>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4434839"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2.2 CUSTOMER HISTORY</a:t>
            </a:r>
          </a:p>
        </p:txBody>
      </p:sp>
      <p:sp>
        <p:nvSpPr>
          <p:cNvPr id="15" name="TextBox 14"/>
          <p:cNvSpPr txBox="1"/>
          <p:nvPr/>
        </p:nvSpPr>
        <p:spPr>
          <a:xfrm>
            <a:off x="4434839"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review </a:t>
            </a:r>
            <a:r>
              <a:rPr sz="1600" b="0" dirty="0" err="1">
                <a:solidFill>
                  <a:srgbClr val="5E6A78"/>
                </a:solidFill>
                <a:latin typeface="Aptos"/>
              </a:rPr>
              <a:t>hiện</a:t>
            </a:r>
            <a:r>
              <a:rPr sz="1600" b="0" dirty="0">
                <a:solidFill>
                  <a:srgbClr val="5E6A78"/>
                </a:solidFill>
                <a:latin typeface="Aptos"/>
              </a:rPr>
              <a:t> </a:t>
            </a:r>
            <a:r>
              <a:rPr sz="1600" b="0" dirty="0" err="1">
                <a:solidFill>
                  <a:srgbClr val="5E6A78"/>
                </a:solidFill>
                <a:latin typeface="Aptos"/>
              </a:rPr>
              <a:t>tại</a:t>
            </a:r>
            <a:endParaRPr sz="1600" b="0" dirty="0">
              <a:solidFill>
                <a:srgbClr val="5E6A78"/>
              </a:solidFill>
              <a:latin typeface="Aptos"/>
            </a:endParaRPr>
          </a:p>
        </p:txBody>
      </p:sp>
      <p:sp>
        <p:nvSpPr>
          <p:cNvPr id="16" name="Rounded Rectangle 15"/>
          <p:cNvSpPr/>
          <p:nvPr/>
        </p:nvSpPr>
        <p:spPr>
          <a:xfrm>
            <a:off x="7946136" y="3013464"/>
            <a:ext cx="3364992" cy="15891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8110728"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2.3 PRODUCT HISTORY</a:t>
            </a:r>
          </a:p>
        </p:txBody>
      </p:sp>
      <p:sp>
        <p:nvSpPr>
          <p:cNvPr id="18" name="TextBox 17"/>
          <p:cNvSpPr txBox="1"/>
          <p:nvPr/>
        </p:nvSpPr>
        <p:spPr>
          <a:xfrm>
            <a:off x="8110728"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sản</a:t>
            </a:r>
            <a:r>
              <a:rPr sz="1600" b="0" dirty="0">
                <a:solidFill>
                  <a:srgbClr val="5E6A78"/>
                </a:solidFill>
                <a:latin typeface="Aptos"/>
              </a:rPr>
              <a:t> </a:t>
            </a:r>
            <a:r>
              <a:rPr sz="1600" b="0" dirty="0" err="1">
                <a:solidFill>
                  <a:srgbClr val="5E6A78"/>
                </a:solidFill>
                <a:latin typeface="Aptos"/>
              </a:rPr>
              <a:t>phẩm</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endParaRPr sz="1600" b="0" dirty="0">
              <a:solidFill>
                <a:srgbClr val="5E6A78"/>
              </a:solidFill>
              <a:latin typeface="Aptos"/>
            </a:endParaRPr>
          </a:p>
        </p:txBody>
      </p:sp>
      <p:sp>
        <p:nvSpPr>
          <p:cNvPr id="19" name="TextBox 18"/>
          <p:cNvSpPr txBox="1"/>
          <p:nvPr/>
        </p:nvSpPr>
        <p:spPr>
          <a:xfrm>
            <a:off x="594360" y="4750825"/>
            <a:ext cx="4389120" cy="320088"/>
          </a:xfrm>
          <a:prstGeom prst="rect">
            <a:avLst/>
          </a:prstGeom>
          <a:noFill/>
        </p:spPr>
        <p:txBody>
          <a:bodyPr wrap="square" lIns="36576" tIns="36576" rIns="36576" bIns="36576" anchor="t">
            <a:spAutoFit/>
          </a:bodyPr>
          <a:lstStyle/>
          <a:p>
            <a:pPr algn="l"/>
            <a:r>
              <a:rPr sz="1600" b="1">
                <a:solidFill>
                  <a:srgbClr val="2F639D"/>
                </a:solidFill>
                <a:latin typeface="Aptos"/>
              </a:rPr>
              <a:t>3. DATA LEAKAGE — KIỂM SOÁT RÒ RỈ DỮ LIỆU</a:t>
            </a:r>
          </a:p>
        </p:txBody>
      </p:sp>
      <p:sp>
        <p:nvSpPr>
          <p:cNvPr id="20" name="TextBox 19"/>
          <p:cNvSpPr txBox="1"/>
          <p:nvPr/>
        </p:nvSpPr>
        <p:spPr>
          <a:xfrm>
            <a:off x="621792" y="5089153"/>
            <a:ext cx="4937760" cy="566309"/>
          </a:xfrm>
          <a:prstGeom prst="rect">
            <a:avLst/>
          </a:prstGeom>
          <a:noFill/>
        </p:spPr>
        <p:txBody>
          <a:bodyPr wrap="square" lIns="36576" tIns="36576" rIns="36576" bIns="36576" anchor="t">
            <a:spAutoFit/>
          </a:bodyPr>
          <a:lstStyle/>
          <a:p>
            <a:pPr algn="l"/>
            <a:r>
              <a:rPr sz="1600" b="1">
                <a:solidFill>
                  <a:srgbClr val="242B33"/>
                </a:solidFill>
                <a:latin typeface="Aptos"/>
              </a:rPr>
              <a:t>Chỉ sử dụng thông tin có sẵn trước thời điểm cần dự báo.</a:t>
            </a:r>
          </a:p>
        </p:txBody>
      </p:sp>
      <p:sp>
        <p:nvSpPr>
          <p:cNvPr id="21" name="Rounded Rectangle 20"/>
          <p:cNvSpPr/>
          <p:nvPr/>
        </p:nvSpPr>
        <p:spPr>
          <a:xfrm>
            <a:off x="5650992" y="5025145"/>
            <a:ext cx="105156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5687568" y="5038837"/>
            <a:ext cx="978407" cy="320088"/>
          </a:xfrm>
          <a:prstGeom prst="rect">
            <a:avLst/>
          </a:prstGeom>
          <a:noFill/>
        </p:spPr>
        <p:txBody>
          <a:bodyPr wrap="square" lIns="36576" tIns="36576" rIns="36576" bIns="36576" anchor="ctr">
            <a:spAutoFit/>
          </a:bodyPr>
          <a:lstStyle/>
          <a:p>
            <a:pPr algn="ctr"/>
            <a:r>
              <a:rPr sz="1600" b="1">
                <a:solidFill>
                  <a:srgbClr val="2F639D"/>
                </a:solidFill>
                <a:latin typeface="Aptos"/>
              </a:rPr>
              <a:t>Past Data</a:t>
            </a:r>
          </a:p>
        </p:txBody>
      </p:sp>
      <p:sp>
        <p:nvSpPr>
          <p:cNvPr id="23" name="TextBox 22"/>
          <p:cNvSpPr txBox="1"/>
          <p:nvPr/>
        </p:nvSpPr>
        <p:spPr>
          <a:xfrm>
            <a:off x="6775704"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4" name="Rounded Rectangle 23"/>
          <p:cNvSpPr/>
          <p:nvPr/>
        </p:nvSpPr>
        <p:spPr>
          <a:xfrm>
            <a:off x="7086600" y="5025145"/>
            <a:ext cx="9601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7123176" y="5038837"/>
            <a:ext cx="886968" cy="320088"/>
          </a:xfrm>
          <a:prstGeom prst="rect">
            <a:avLst/>
          </a:prstGeom>
          <a:noFill/>
        </p:spPr>
        <p:txBody>
          <a:bodyPr wrap="square" lIns="36576" tIns="36576" rIns="36576" bIns="36576" anchor="ctr">
            <a:spAutoFit/>
          </a:bodyPr>
          <a:lstStyle/>
          <a:p>
            <a:pPr algn="ctr"/>
            <a:r>
              <a:rPr sz="1600" b="1">
                <a:solidFill>
                  <a:srgbClr val="2F639D"/>
                </a:solidFill>
                <a:latin typeface="Aptos"/>
              </a:rPr>
              <a:t>Features</a:t>
            </a:r>
          </a:p>
        </p:txBody>
      </p:sp>
      <p:sp>
        <p:nvSpPr>
          <p:cNvPr id="26" name="TextBox 25"/>
          <p:cNvSpPr txBox="1"/>
          <p:nvPr/>
        </p:nvSpPr>
        <p:spPr>
          <a:xfrm>
            <a:off x="8129016"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7" name="Rounded Rectangle 26"/>
          <p:cNvSpPr/>
          <p:nvPr/>
        </p:nvSpPr>
        <p:spPr>
          <a:xfrm>
            <a:off x="8439912" y="5025145"/>
            <a:ext cx="1249998"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476488" y="5038837"/>
            <a:ext cx="1213422"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29" name="TextBox 28"/>
          <p:cNvSpPr txBox="1"/>
          <p:nvPr/>
        </p:nvSpPr>
        <p:spPr>
          <a:xfrm>
            <a:off x="9738360" y="5098297"/>
            <a:ext cx="1371600" cy="566309"/>
          </a:xfrm>
          <a:prstGeom prst="rect">
            <a:avLst/>
          </a:prstGeom>
          <a:noFill/>
        </p:spPr>
        <p:txBody>
          <a:bodyPr wrap="square" lIns="36576" tIns="36576" rIns="36576" bIns="36576" anchor="t">
            <a:spAutoFit/>
          </a:bodyPr>
          <a:lstStyle/>
          <a:p>
            <a:pPr algn="ctr"/>
            <a:r>
              <a:rPr sz="1600" b="1" dirty="0">
                <a:solidFill>
                  <a:srgbClr val="B14242"/>
                </a:solidFill>
                <a:latin typeface="Aptos"/>
              </a:rPr>
              <a:t>Future Information ✕</a:t>
            </a:r>
          </a:p>
        </p:txBody>
      </p:sp>
      <p:sp>
        <p:nvSpPr>
          <p:cNvPr id="30" name="TextBox 29"/>
          <p:cNvSpPr txBox="1"/>
          <p:nvPr/>
        </p:nvSpPr>
        <p:spPr>
          <a:xfrm>
            <a:off x="594360" y="5683513"/>
            <a:ext cx="4389120" cy="320088"/>
          </a:xfrm>
          <a:prstGeom prst="rect">
            <a:avLst/>
          </a:prstGeom>
          <a:noFill/>
        </p:spPr>
        <p:txBody>
          <a:bodyPr wrap="square" lIns="36576" tIns="36576" rIns="36576" bIns="36576" anchor="t">
            <a:spAutoFit/>
          </a:bodyPr>
          <a:lstStyle/>
          <a:p>
            <a:pPr algn="l"/>
            <a:r>
              <a:rPr sz="1600" b="1">
                <a:solidFill>
                  <a:srgbClr val="2F639D"/>
                </a:solidFill>
                <a:latin typeface="Aptos"/>
              </a:rPr>
              <a:t>4. FEATURE MATRIX — ĐẦU VÀO CHO MODEL</a:t>
            </a:r>
          </a:p>
        </p:txBody>
      </p:sp>
      <p:sp>
        <p:nvSpPr>
          <p:cNvPr id="31" name="TextBox 30"/>
          <p:cNvSpPr txBox="1"/>
          <p:nvPr/>
        </p:nvSpPr>
        <p:spPr>
          <a:xfrm>
            <a:off x="621792" y="6003553"/>
            <a:ext cx="10698480" cy="301621"/>
          </a:xfrm>
          <a:prstGeom prst="rect">
            <a:avLst/>
          </a:prstGeom>
          <a:noFill/>
        </p:spPr>
        <p:txBody>
          <a:bodyPr wrap="square" lIns="45720" tIns="27432" rIns="45720" bIns="27432">
            <a:spAutoFit/>
          </a:bodyPr>
          <a:lstStyle/>
          <a:p>
            <a:pPr algn="l"/>
            <a:r>
              <a:rPr sz="1600" b="1">
                <a:solidFill>
                  <a:srgbClr val="162C46"/>
                </a:solidFill>
                <a:latin typeface="Aptos"/>
              </a:rPr>
              <a:t>Clean Data</a:t>
            </a:r>
            <a:r>
              <a:rPr sz="1600" b="0">
                <a:solidFill>
                  <a:srgbClr val="5E6A78"/>
                </a:solidFill>
                <a:latin typeface="Aptos"/>
              </a:rPr>
              <a:t>  →  Delivery + Customer History + Product History  →  </a:t>
            </a:r>
            <a:r>
              <a:rPr sz="1600" b="1">
                <a:solidFill>
                  <a:srgbClr val="2F639D"/>
                </a:solidFill>
                <a:latin typeface="Aptos"/>
              </a:rPr>
              <a:t>Feature Matrix X + Target y</a:t>
            </a:r>
            <a:r>
              <a:rPr sz="1600" b="0">
                <a:solidFill>
                  <a:srgbClr val="242B33"/>
                </a:solidFill>
                <a:latin typeface="Aptos"/>
              </a:rPr>
              <a:t>  →  Modeling</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11</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MODELING — XÂY DỰNG MÔ HÌNH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13</a:t>
            </a:r>
          </a:p>
        </p:txBody>
      </p:sp>
      <p:sp>
        <p:nvSpPr>
          <p:cNvPr id="5" name="TextBox 4"/>
          <p:cNvSpPr txBox="1"/>
          <p:nvPr/>
        </p:nvSpPr>
        <p:spPr>
          <a:xfrm>
            <a:off x="658368" y="1188101"/>
            <a:ext cx="2286000" cy="320088"/>
          </a:xfrm>
          <a:prstGeom prst="rect">
            <a:avLst/>
          </a:prstGeom>
          <a:noFill/>
        </p:spPr>
        <p:txBody>
          <a:bodyPr wrap="square" lIns="36576" tIns="36576" rIns="36576" bIns="36576" anchor="t">
            <a:spAutoFit/>
          </a:bodyPr>
          <a:lstStyle/>
          <a:p>
            <a:pPr algn="l"/>
            <a:r>
              <a:rPr sz="1600" b="1">
                <a:solidFill>
                  <a:srgbClr val="2F639D"/>
                </a:solidFill>
                <a:latin typeface="Aptos"/>
              </a:rPr>
              <a:t>1. TEMPORAL SPLIT</a:t>
            </a:r>
          </a:p>
        </p:txBody>
      </p:sp>
      <p:sp>
        <p:nvSpPr>
          <p:cNvPr id="6" name="Rounded Rectangle 5"/>
          <p:cNvSpPr/>
          <p:nvPr/>
        </p:nvSpPr>
        <p:spPr>
          <a:xfrm>
            <a:off x="658368" y="1526429"/>
            <a:ext cx="507492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58368" y="1593911"/>
            <a:ext cx="50749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PAST  ──────────</a:t>
            </a:r>
            <a:r>
              <a:rPr lang="en-US" sz="1600" b="1" dirty="0">
                <a:solidFill>
                  <a:srgbClr val="162C46"/>
                </a:solidFill>
                <a:latin typeface="Aptos"/>
              </a:rPr>
              <a:t>─────</a:t>
            </a:r>
            <a:r>
              <a:rPr sz="1600" b="1" dirty="0">
                <a:solidFill>
                  <a:srgbClr val="162C46"/>
                </a:solidFill>
                <a:latin typeface="Aptos"/>
              </a:rPr>
              <a:t>  2023  │  2024 ───────── 2026</a:t>
            </a:r>
          </a:p>
        </p:txBody>
      </p:sp>
      <p:sp>
        <p:nvSpPr>
          <p:cNvPr id="8" name="TextBox 7"/>
          <p:cNvSpPr txBox="1"/>
          <p:nvPr/>
        </p:nvSpPr>
        <p:spPr>
          <a:xfrm>
            <a:off x="658368" y="1923095"/>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TRAIN: 157.173 reviews          │          TEST: 41.182 reviews</a:t>
            </a:r>
          </a:p>
        </p:txBody>
      </p:sp>
      <p:sp>
        <p:nvSpPr>
          <p:cNvPr id="9" name="TextBox 8"/>
          <p:cNvSpPr txBox="1"/>
          <p:nvPr/>
        </p:nvSpPr>
        <p:spPr>
          <a:xfrm>
            <a:off x="658368" y="2173233"/>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Test: 1.465 Low Rating · weighted population rate 1,68%</a:t>
            </a:r>
          </a:p>
        </p:txBody>
      </p:sp>
      <p:sp>
        <p:nvSpPr>
          <p:cNvPr id="10" name="TextBox 9"/>
          <p:cNvSpPr txBox="1"/>
          <p:nvPr/>
        </p:nvSpPr>
        <p:spPr>
          <a:xfrm>
            <a:off x="6053328" y="1188101"/>
            <a:ext cx="1828800" cy="320088"/>
          </a:xfrm>
          <a:prstGeom prst="rect">
            <a:avLst/>
          </a:prstGeom>
          <a:noFill/>
        </p:spPr>
        <p:txBody>
          <a:bodyPr wrap="square" lIns="36576" tIns="36576" rIns="36576" bIns="36576" anchor="t">
            <a:spAutoFit/>
          </a:bodyPr>
          <a:lstStyle/>
          <a:p>
            <a:pPr algn="l"/>
            <a:r>
              <a:rPr sz="1600" b="1">
                <a:solidFill>
                  <a:srgbClr val="2F639D"/>
                </a:solidFill>
                <a:latin typeface="Aptos"/>
              </a:rPr>
              <a:t>2. BASELINE</a:t>
            </a:r>
          </a:p>
        </p:txBody>
      </p:sp>
      <p:sp>
        <p:nvSpPr>
          <p:cNvPr id="11" name="Rounded Rectangle 10"/>
          <p:cNvSpPr/>
          <p:nvPr/>
        </p:nvSpPr>
        <p:spPr>
          <a:xfrm>
            <a:off x="6053328" y="1526429"/>
            <a:ext cx="5440680" cy="105156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6217920" y="1545309"/>
            <a:ext cx="1517903" cy="320088"/>
          </a:xfrm>
          <a:prstGeom prst="rect">
            <a:avLst/>
          </a:prstGeom>
          <a:noFill/>
        </p:spPr>
        <p:txBody>
          <a:bodyPr wrap="square" lIns="36576" tIns="36576" rIns="36576" bIns="36576" anchor="t">
            <a:spAutoFit/>
          </a:bodyPr>
          <a:lstStyle/>
          <a:p>
            <a:pPr algn="l"/>
            <a:r>
              <a:rPr sz="1600" b="1" dirty="0">
                <a:solidFill>
                  <a:srgbClr val="162C46"/>
                </a:solidFill>
                <a:latin typeface="Aptos"/>
              </a:rPr>
              <a:t>M0  Prevalence</a:t>
            </a:r>
          </a:p>
        </p:txBody>
      </p:sp>
      <p:sp>
        <p:nvSpPr>
          <p:cNvPr id="13" name="TextBox 12"/>
          <p:cNvSpPr txBox="1"/>
          <p:nvPr/>
        </p:nvSpPr>
        <p:spPr>
          <a:xfrm>
            <a:off x="7895843" y="1540594"/>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M1a  SLA Breach</a:t>
            </a:r>
          </a:p>
        </p:txBody>
      </p:sp>
      <p:sp>
        <p:nvSpPr>
          <p:cNvPr id="14" name="TextBox 13"/>
          <p:cNvSpPr txBox="1"/>
          <p:nvPr/>
        </p:nvSpPr>
        <p:spPr>
          <a:xfrm>
            <a:off x="9829800" y="1542450"/>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M1b  Lead Time</a:t>
            </a:r>
          </a:p>
        </p:txBody>
      </p:sp>
      <p:sp>
        <p:nvSpPr>
          <p:cNvPr id="15" name="TextBox 14"/>
          <p:cNvSpPr txBox="1"/>
          <p:nvPr/>
        </p:nvSpPr>
        <p:spPr>
          <a:xfrm>
            <a:off x="6181344" y="1938037"/>
            <a:ext cx="5312664"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Mốc</a:t>
            </a:r>
            <a:r>
              <a:rPr sz="1600" b="0" dirty="0">
                <a:solidFill>
                  <a:srgbClr val="5E6A78"/>
                </a:solidFill>
                <a:latin typeface="Aptos"/>
              </a:rPr>
              <a:t> so </a:t>
            </a:r>
            <a:r>
              <a:rPr sz="1600" b="0" dirty="0" err="1">
                <a:solidFill>
                  <a:srgbClr val="5E6A78"/>
                </a:solidFill>
                <a:latin typeface="Aptos"/>
              </a:rPr>
              <a:t>sánh</a:t>
            </a:r>
            <a:r>
              <a:rPr sz="1600" b="0" dirty="0">
                <a:solidFill>
                  <a:srgbClr val="5E6A78"/>
                </a:solidFill>
                <a:latin typeface="Aptos"/>
              </a:rPr>
              <a:t> </a:t>
            </a:r>
            <a:r>
              <a:rPr sz="1600" b="0" dirty="0" err="1">
                <a:solidFill>
                  <a:srgbClr val="5E6A78"/>
                </a:solidFill>
                <a:latin typeface="Aptos"/>
              </a:rPr>
              <a:t>để</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tra</a:t>
            </a:r>
            <a:r>
              <a:rPr sz="1600" b="0" dirty="0">
                <a:solidFill>
                  <a:srgbClr val="5E6A78"/>
                </a:solidFill>
                <a:latin typeface="Aptos"/>
              </a:rPr>
              <a:t> ML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tạo</a:t>
            </a:r>
            <a:r>
              <a:rPr sz="1600" b="0" dirty="0">
                <a:solidFill>
                  <a:srgbClr val="5E6A78"/>
                </a:solidFill>
                <a:latin typeface="Aptos"/>
              </a:rPr>
              <a:t> </a:t>
            </a:r>
            <a:r>
              <a:rPr sz="1600" b="0" dirty="0" err="1">
                <a:solidFill>
                  <a:srgbClr val="5E6A78"/>
                </a:solidFill>
                <a:latin typeface="Aptos"/>
              </a:rPr>
              <a:t>thêm</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trị</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nhìn</a:t>
            </a:r>
            <a:r>
              <a:rPr sz="1600" b="0" dirty="0">
                <a:solidFill>
                  <a:srgbClr val="5E6A78"/>
                </a:solidFill>
                <a:latin typeface="Aptos"/>
              </a:rPr>
              <a:t> SLA hay </a:t>
            </a:r>
            <a:r>
              <a:rPr sz="1600" b="0" dirty="0" err="1">
                <a:solidFill>
                  <a:srgbClr val="5E6A78"/>
                </a:solidFill>
                <a:latin typeface="Aptos"/>
              </a:rPr>
              <a:t>không</a:t>
            </a:r>
            <a:r>
              <a:rPr sz="1600" b="0" dirty="0">
                <a:solidFill>
                  <a:srgbClr val="5E6A78"/>
                </a:solidFill>
                <a:latin typeface="Aptos"/>
              </a:rPr>
              <a:t>.</a:t>
            </a:r>
          </a:p>
        </p:txBody>
      </p:sp>
      <p:sp>
        <p:nvSpPr>
          <p:cNvPr id="16" name="TextBox 15"/>
          <p:cNvSpPr txBox="1"/>
          <p:nvPr/>
        </p:nvSpPr>
        <p:spPr>
          <a:xfrm>
            <a:off x="658368" y="289802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3. CANDIDATE MODELS</a:t>
            </a:r>
          </a:p>
        </p:txBody>
      </p:sp>
      <p:sp>
        <p:nvSpPr>
          <p:cNvPr id="17" name="Rounded Rectangle 16"/>
          <p:cNvSpPr/>
          <p:nvPr/>
        </p:nvSpPr>
        <p:spPr>
          <a:xfrm>
            <a:off x="658368"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795528"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LOGISTIC REGRESSION</a:t>
            </a:r>
          </a:p>
        </p:txBody>
      </p:sp>
      <p:sp>
        <p:nvSpPr>
          <p:cNvPr id="19" name="TextBox 18"/>
          <p:cNvSpPr txBox="1"/>
          <p:nvPr/>
        </p:nvSpPr>
        <p:spPr>
          <a:xfrm>
            <a:off x="822959" y="3827499"/>
            <a:ext cx="2185416" cy="320088"/>
          </a:xfrm>
          <a:prstGeom prst="rect">
            <a:avLst/>
          </a:prstGeom>
          <a:noFill/>
        </p:spPr>
        <p:txBody>
          <a:bodyPr wrap="square" lIns="36576" tIns="36576" rIns="36576" bIns="36576" anchor="t">
            <a:spAutoFit/>
          </a:bodyPr>
          <a:lstStyle/>
          <a:p>
            <a:pPr algn="ctr"/>
            <a:r>
              <a:rPr sz="1600" b="0">
                <a:solidFill>
                  <a:srgbClr val="5E6A78"/>
                </a:solidFill>
                <a:latin typeface="Aptos"/>
              </a:rPr>
              <a:t>Tuyến tính · dễ diễn giải</a:t>
            </a:r>
          </a:p>
        </p:txBody>
      </p:sp>
      <p:sp>
        <p:nvSpPr>
          <p:cNvPr id="20" name="Rounded Rectangle 19"/>
          <p:cNvSpPr/>
          <p:nvPr/>
        </p:nvSpPr>
        <p:spPr>
          <a:xfrm>
            <a:off x="3419856"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3557016"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RANDOM FOREST</a:t>
            </a:r>
          </a:p>
        </p:txBody>
      </p:sp>
      <p:sp>
        <p:nvSpPr>
          <p:cNvPr id="22" name="TextBox 21"/>
          <p:cNvSpPr txBox="1"/>
          <p:nvPr/>
        </p:nvSpPr>
        <p:spPr>
          <a:xfrm>
            <a:off x="3584448" y="3827499"/>
            <a:ext cx="2185416" cy="566309"/>
          </a:xfrm>
          <a:prstGeom prst="rect">
            <a:avLst/>
          </a:prstGeom>
          <a:noFill/>
        </p:spPr>
        <p:txBody>
          <a:bodyPr wrap="square" lIns="36576" tIns="36576" rIns="36576" bIns="36576" anchor="t">
            <a:spAutoFit/>
          </a:bodyPr>
          <a:lstStyle/>
          <a:p>
            <a:pPr algn="ctr"/>
            <a:r>
              <a:rPr sz="1600" b="0">
                <a:solidFill>
                  <a:srgbClr val="5E6A78"/>
                </a:solidFill>
                <a:latin typeface="Aptos"/>
              </a:rPr>
              <a:t>Mô hình cây ensemble · phi tuyến</a:t>
            </a:r>
          </a:p>
        </p:txBody>
      </p:sp>
      <p:sp>
        <p:nvSpPr>
          <p:cNvPr id="23" name="Rounded Rectangle 22"/>
          <p:cNvSpPr/>
          <p:nvPr/>
        </p:nvSpPr>
        <p:spPr>
          <a:xfrm>
            <a:off x="6181344"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6318504"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GRADIENT BOOSTING</a:t>
            </a:r>
          </a:p>
        </p:txBody>
      </p:sp>
      <p:sp>
        <p:nvSpPr>
          <p:cNvPr id="25" name="TextBox 24"/>
          <p:cNvSpPr txBox="1"/>
          <p:nvPr/>
        </p:nvSpPr>
        <p:spPr>
          <a:xfrm>
            <a:off x="6345936" y="3827499"/>
            <a:ext cx="2185416" cy="566309"/>
          </a:xfrm>
          <a:prstGeom prst="rect">
            <a:avLst/>
          </a:prstGeom>
          <a:noFill/>
        </p:spPr>
        <p:txBody>
          <a:bodyPr wrap="square" lIns="36576" tIns="36576" rIns="36576" bIns="36576" anchor="t">
            <a:spAutoFit/>
          </a:bodyPr>
          <a:lstStyle/>
          <a:p>
            <a:pPr algn="ctr"/>
            <a:r>
              <a:rPr sz="1600" b="0">
                <a:solidFill>
                  <a:srgbClr val="5E6A78"/>
                </a:solidFill>
                <a:latin typeface="Aptos"/>
              </a:rPr>
              <a:t>Học tuần tự từ lỗi · quan hệ phức tạp</a:t>
            </a:r>
          </a:p>
        </p:txBody>
      </p:sp>
      <p:sp>
        <p:nvSpPr>
          <p:cNvPr id="26" name="Rounded Rectangle 25"/>
          <p:cNvSpPr/>
          <p:nvPr/>
        </p:nvSpPr>
        <p:spPr>
          <a:xfrm>
            <a:off x="8942832" y="3245501"/>
            <a:ext cx="2514600" cy="1261872"/>
          </a:xfrm>
          <a:prstGeom prst="roundRect">
            <a:avLst/>
          </a:prstGeom>
          <a:solidFill>
            <a:srgbClr val="EEF4FA"/>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9079992"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ENSEMBLE</a:t>
            </a:r>
          </a:p>
        </p:txBody>
      </p:sp>
      <p:sp>
        <p:nvSpPr>
          <p:cNvPr id="28" name="TextBox 27"/>
          <p:cNvSpPr txBox="1"/>
          <p:nvPr/>
        </p:nvSpPr>
        <p:spPr>
          <a:xfrm>
            <a:off x="9107424" y="3827499"/>
            <a:ext cx="2185416" cy="320088"/>
          </a:xfrm>
          <a:prstGeom prst="rect">
            <a:avLst/>
          </a:prstGeom>
          <a:noFill/>
        </p:spPr>
        <p:txBody>
          <a:bodyPr wrap="square" lIns="36576" tIns="36576" rIns="36576" bIns="36576" anchor="t">
            <a:spAutoFit/>
          </a:bodyPr>
          <a:lstStyle/>
          <a:p>
            <a:pPr algn="ctr"/>
            <a:r>
              <a:rPr sz="1600" b="0">
                <a:solidFill>
                  <a:srgbClr val="5E6A78"/>
                </a:solidFill>
                <a:latin typeface="Aptos"/>
              </a:rPr>
              <a:t>Logistic + GBM</a:t>
            </a:r>
          </a:p>
        </p:txBody>
      </p:sp>
      <p:sp>
        <p:nvSpPr>
          <p:cNvPr id="29" name="TextBox 28"/>
          <p:cNvSpPr txBox="1"/>
          <p:nvPr/>
        </p:nvSpPr>
        <p:spPr>
          <a:xfrm>
            <a:off x="658368" y="481826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4. TRAINING STRATEGY</a:t>
            </a:r>
          </a:p>
        </p:txBody>
      </p:sp>
      <p:sp>
        <p:nvSpPr>
          <p:cNvPr id="30" name="Rounded Rectangle 29"/>
          <p:cNvSpPr/>
          <p:nvPr/>
        </p:nvSpPr>
        <p:spPr>
          <a:xfrm>
            <a:off x="658368"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795528" y="5293757"/>
            <a:ext cx="1981791" cy="566309"/>
          </a:xfrm>
          <a:prstGeom prst="rect">
            <a:avLst/>
          </a:prstGeom>
          <a:noFill/>
        </p:spPr>
        <p:txBody>
          <a:bodyPr wrap="square" lIns="36576" tIns="36576" rIns="36576" bIns="36576" anchor="t">
            <a:spAutoFit/>
          </a:bodyPr>
          <a:lstStyle/>
          <a:p>
            <a:pPr algn="l"/>
            <a:r>
              <a:rPr sz="1600" b="1">
                <a:solidFill>
                  <a:srgbClr val="162C46"/>
                </a:solidFill>
                <a:latin typeface="Aptos"/>
              </a:rPr>
              <a:t>WEIGHTED TRAINING</a:t>
            </a:r>
          </a:p>
        </p:txBody>
      </p:sp>
      <p:sp>
        <p:nvSpPr>
          <p:cNvPr id="32" name="TextBox 31"/>
          <p:cNvSpPr txBox="1"/>
          <p:nvPr/>
        </p:nvSpPr>
        <p:spPr>
          <a:xfrm>
            <a:off x="2322576" y="5293757"/>
            <a:ext cx="1508760" cy="566309"/>
          </a:xfrm>
          <a:prstGeom prst="rect">
            <a:avLst/>
          </a:prstGeom>
          <a:noFill/>
        </p:spPr>
        <p:txBody>
          <a:bodyPr wrap="square" lIns="36576" tIns="36576" rIns="36576" bIns="36576" anchor="t">
            <a:spAutoFit/>
          </a:bodyPr>
          <a:lstStyle/>
          <a:p>
            <a:pPr algn="r"/>
            <a:r>
              <a:rPr sz="1600" b="0" dirty="0">
                <a:solidFill>
                  <a:srgbClr val="5E6A78"/>
                </a:solidFill>
                <a:latin typeface="Aptos"/>
              </a:rPr>
              <a:t>Sampling weight</a:t>
            </a:r>
          </a:p>
        </p:txBody>
      </p:sp>
      <p:sp>
        <p:nvSpPr>
          <p:cNvPr id="33" name="Rounded Rectangle 32"/>
          <p:cNvSpPr/>
          <p:nvPr/>
        </p:nvSpPr>
        <p:spPr>
          <a:xfrm>
            <a:off x="4334255" y="5156596"/>
            <a:ext cx="3364992" cy="744803"/>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4" name="TextBox 33"/>
          <p:cNvSpPr txBox="1"/>
          <p:nvPr/>
        </p:nvSpPr>
        <p:spPr>
          <a:xfrm>
            <a:off x="4498847" y="5293757"/>
            <a:ext cx="1508760" cy="566309"/>
          </a:xfrm>
          <a:prstGeom prst="rect">
            <a:avLst/>
          </a:prstGeom>
          <a:noFill/>
        </p:spPr>
        <p:txBody>
          <a:bodyPr wrap="square" lIns="36576" tIns="36576" rIns="36576" bIns="36576" anchor="t">
            <a:spAutoFit/>
          </a:bodyPr>
          <a:lstStyle/>
          <a:p>
            <a:pPr algn="l"/>
            <a:r>
              <a:rPr sz="1600" b="1">
                <a:solidFill>
                  <a:srgbClr val="162C46"/>
                </a:solidFill>
                <a:latin typeface="Aptos"/>
              </a:rPr>
              <a:t>TEMPORAL VALIDATION</a:t>
            </a:r>
          </a:p>
        </p:txBody>
      </p:sp>
      <p:sp>
        <p:nvSpPr>
          <p:cNvPr id="35" name="TextBox 34"/>
          <p:cNvSpPr txBox="1"/>
          <p:nvPr/>
        </p:nvSpPr>
        <p:spPr>
          <a:xfrm>
            <a:off x="5998464"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Validation 2022 → 2023</a:t>
            </a:r>
          </a:p>
        </p:txBody>
      </p:sp>
      <p:sp>
        <p:nvSpPr>
          <p:cNvPr id="36" name="Rounded Rectangle 35"/>
          <p:cNvSpPr/>
          <p:nvPr/>
        </p:nvSpPr>
        <p:spPr>
          <a:xfrm>
            <a:off x="8010144"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8174736" y="5293757"/>
            <a:ext cx="1508760" cy="320088"/>
          </a:xfrm>
          <a:prstGeom prst="rect">
            <a:avLst/>
          </a:prstGeom>
          <a:noFill/>
        </p:spPr>
        <p:txBody>
          <a:bodyPr wrap="square" lIns="36576" tIns="36576" rIns="36576" bIns="36576" anchor="t">
            <a:spAutoFit/>
          </a:bodyPr>
          <a:lstStyle/>
          <a:p>
            <a:pPr algn="l"/>
            <a:r>
              <a:rPr sz="1600" b="1">
                <a:solidFill>
                  <a:srgbClr val="162C46"/>
                </a:solidFill>
                <a:latin typeface="Aptos"/>
              </a:rPr>
              <a:t>CALIBRATION</a:t>
            </a:r>
          </a:p>
        </p:txBody>
      </p:sp>
      <p:sp>
        <p:nvSpPr>
          <p:cNvPr id="38" name="TextBox 37"/>
          <p:cNvSpPr txBox="1"/>
          <p:nvPr/>
        </p:nvSpPr>
        <p:spPr>
          <a:xfrm>
            <a:off x="9674352"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Hiệu chỉnh xác suất</a:t>
            </a:r>
          </a:p>
        </p:txBody>
      </p:sp>
      <p:sp>
        <p:nvSpPr>
          <p:cNvPr id="39" name="TextBox 38"/>
          <p:cNvSpPr txBox="1"/>
          <p:nvPr/>
        </p:nvSpPr>
        <p:spPr>
          <a:xfrm>
            <a:off x="685800" y="6075267"/>
            <a:ext cx="1060704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Mô</a:t>
            </a:r>
            <a:r>
              <a:rPr sz="1600" b="0" dirty="0">
                <a:solidFill>
                  <a:srgbClr val="5E6A78"/>
                </a:solidFill>
                <a:latin typeface="Aptos"/>
              </a:rPr>
              <a:t> </a:t>
            </a:r>
            <a:r>
              <a:rPr sz="1600" b="0" dirty="0" err="1">
                <a:solidFill>
                  <a:srgbClr val="5E6A78"/>
                </a:solidFill>
                <a:latin typeface="Aptos"/>
              </a:rPr>
              <a:t>hình</a:t>
            </a:r>
            <a:r>
              <a:rPr sz="1600" b="0" dirty="0">
                <a:solidFill>
                  <a:srgbClr val="5E6A78"/>
                </a:solidFill>
                <a:latin typeface="Aptos"/>
              </a:rPr>
              <a:t>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quá</a:t>
            </a:r>
            <a:r>
              <a:rPr sz="1600" b="0" dirty="0">
                <a:solidFill>
                  <a:srgbClr val="5E6A78"/>
                </a:solidFill>
                <a:latin typeface="Aptos"/>
              </a:rPr>
              <a:t> </a:t>
            </a:r>
            <a:r>
              <a:rPr sz="1600" b="0" dirty="0" err="1">
                <a:solidFill>
                  <a:srgbClr val="5E6A78"/>
                </a:solidFill>
                <a:latin typeface="Aptos"/>
              </a:rPr>
              <a:t>khứ</a:t>
            </a:r>
            <a:r>
              <a:rPr sz="1600" b="0" dirty="0">
                <a:solidFill>
                  <a:srgbClr val="5E6A78"/>
                </a:solidFill>
                <a:latin typeface="Aptos"/>
              </a:rPr>
              <a:t>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giai</a:t>
            </a:r>
            <a:r>
              <a:rPr sz="1600" b="0" dirty="0">
                <a:solidFill>
                  <a:srgbClr val="5E6A78"/>
                </a:solidFill>
                <a:latin typeface="Aptos"/>
              </a:rPr>
              <a:t> </a:t>
            </a:r>
            <a:r>
              <a:rPr sz="1600" b="0" dirty="0" err="1">
                <a:solidFill>
                  <a:srgbClr val="5E6A78"/>
                </a:solidFill>
                <a:latin typeface="Aptos"/>
              </a:rPr>
              <a:t>đoạn</a:t>
            </a:r>
            <a:r>
              <a:rPr sz="1600" b="0" dirty="0">
                <a:solidFill>
                  <a:srgbClr val="5E6A78"/>
                </a:solidFill>
                <a:latin typeface="Aptos"/>
              </a:rPr>
              <a:t> </a:t>
            </a:r>
            <a:r>
              <a:rPr sz="1600" b="0" dirty="0" err="1">
                <a:solidFill>
                  <a:srgbClr val="5E6A78"/>
                </a:solidFill>
                <a:latin typeface="Aptos"/>
              </a:rPr>
              <a:t>tương</a:t>
            </a:r>
            <a:r>
              <a:rPr sz="1600" b="0" dirty="0">
                <a:solidFill>
                  <a:srgbClr val="5E6A78"/>
                </a:solidFill>
                <a:latin typeface="Aptos"/>
              </a:rPr>
              <a:t> lai.</a:t>
            </a:r>
          </a:p>
        </p:txBody>
      </p:sp>
      <p:sp>
        <p:nvSpPr>
          <p:cNvPr id="40" name="TextBox 3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41" name="TextBox 4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13</a:t>
            </a:r>
          </a:p>
        </p:txBody>
      </p:sp>
      <p:sp>
        <p:nvSpPr>
          <p:cNvPr id="42" name="Rounded Rectangle 4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43" name="Rounded Rectangle 4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44" name="Rounded Rectangle 4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45" name="Rounded Rectangle 4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46" name="Rounded Rectangle 4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47" name="Rounded Rectangle 4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48" name="Rounded Rectangle 4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9" name="Rounded Rectangle 4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EVALUATION — ĐÁNH GIÁ HIỆU QUẢ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18</a:t>
            </a:r>
          </a:p>
        </p:txBody>
      </p:sp>
      <p:sp>
        <p:nvSpPr>
          <p:cNvPr id="5" name="TextBox 4"/>
          <p:cNvSpPr txBox="1"/>
          <p:nvPr/>
        </p:nvSpPr>
        <p:spPr>
          <a:xfrm>
            <a:off x="658368" y="1078992"/>
            <a:ext cx="27432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EVALUATION METRICS</a:t>
            </a:r>
          </a:p>
        </p:txBody>
      </p:sp>
      <p:sp>
        <p:nvSpPr>
          <p:cNvPr id="6" name="Rounded Rectangle 5"/>
          <p:cNvSpPr/>
          <p:nvPr/>
        </p:nvSpPr>
        <p:spPr>
          <a:xfrm>
            <a:off x="658368" y="1563066"/>
            <a:ext cx="2011680" cy="100521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76809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PR-AUC</a:t>
            </a:r>
          </a:p>
        </p:txBody>
      </p:sp>
      <p:sp>
        <p:nvSpPr>
          <p:cNvPr id="8" name="TextBox 7"/>
          <p:cNvSpPr txBox="1"/>
          <p:nvPr/>
        </p:nvSpPr>
        <p:spPr>
          <a:xfrm>
            <a:off x="658368" y="1948976"/>
            <a:ext cx="20116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r>
              <a:rPr sz="1600" b="0" dirty="0">
                <a:solidFill>
                  <a:srgbClr val="5E6A78"/>
                </a:solidFill>
                <a:latin typeface="Aptos"/>
              </a:rPr>
              <a:t> Low Rating</a:t>
            </a:r>
          </a:p>
        </p:txBody>
      </p:sp>
      <p:sp>
        <p:nvSpPr>
          <p:cNvPr id="9" name="Rounded Rectangle 8"/>
          <p:cNvSpPr/>
          <p:nvPr/>
        </p:nvSpPr>
        <p:spPr>
          <a:xfrm>
            <a:off x="2898648" y="1563066"/>
            <a:ext cx="2011680" cy="10052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300837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LIFT</a:t>
            </a:r>
          </a:p>
        </p:txBody>
      </p:sp>
      <p:sp>
        <p:nvSpPr>
          <p:cNvPr id="11" name="TextBox 10"/>
          <p:cNvSpPr txBox="1"/>
          <p:nvPr/>
        </p:nvSpPr>
        <p:spPr>
          <a:xfrm>
            <a:off x="2898648" y="2001977"/>
            <a:ext cx="2011680" cy="566309"/>
          </a:xfrm>
          <a:prstGeom prst="rect">
            <a:avLst/>
          </a:prstGeom>
          <a:noFill/>
        </p:spPr>
        <p:txBody>
          <a:bodyPr wrap="square" lIns="36576" tIns="36576" rIns="36576" bIns="36576" anchor="t">
            <a:spAutoFit/>
          </a:bodyPr>
          <a:lstStyle/>
          <a:p>
            <a:pPr algn="ct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random</a:t>
            </a:r>
          </a:p>
        </p:txBody>
      </p:sp>
      <p:sp>
        <p:nvSpPr>
          <p:cNvPr id="12" name="Rounded Rectangle 11"/>
          <p:cNvSpPr/>
          <p:nvPr/>
        </p:nvSpPr>
        <p:spPr>
          <a:xfrm>
            <a:off x="5138928" y="1563065"/>
            <a:ext cx="2011680" cy="1005219"/>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524865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CALIBRATION</a:t>
            </a:r>
          </a:p>
        </p:txBody>
      </p:sp>
      <p:sp>
        <p:nvSpPr>
          <p:cNvPr id="14" name="TextBox 13"/>
          <p:cNvSpPr txBox="1"/>
          <p:nvPr/>
        </p:nvSpPr>
        <p:spPr>
          <a:xfrm>
            <a:off x="5199889" y="1947594"/>
            <a:ext cx="1792224"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Độ</a:t>
            </a:r>
            <a:r>
              <a:rPr sz="1600" b="0" dirty="0">
                <a:solidFill>
                  <a:srgbClr val="5E6A78"/>
                </a:solidFill>
                <a:latin typeface="Aptos"/>
              </a:rPr>
              <a:t> tin </a:t>
            </a:r>
            <a:r>
              <a:rPr sz="1600" b="0" dirty="0" err="1">
                <a:solidFill>
                  <a:srgbClr val="5E6A78"/>
                </a:solidFill>
                <a:latin typeface="Aptos"/>
              </a:rPr>
              <a:t>cậy</a:t>
            </a:r>
            <a:r>
              <a:rPr sz="1600" b="0" dirty="0">
                <a:solidFill>
                  <a:srgbClr val="5E6A78"/>
                </a:solidFill>
                <a:latin typeface="Aptos"/>
              </a:rPr>
              <a:t> </a:t>
            </a:r>
            <a:r>
              <a:rPr sz="1600" b="0" dirty="0" err="1">
                <a:solidFill>
                  <a:srgbClr val="5E6A78"/>
                </a:solidFill>
                <a:latin typeface="Aptos"/>
              </a:rPr>
              <a:t>xác</a:t>
            </a:r>
            <a:r>
              <a:rPr sz="1600" b="0" dirty="0">
                <a:solidFill>
                  <a:srgbClr val="5E6A78"/>
                </a:solidFill>
                <a:latin typeface="Aptos"/>
              </a:rPr>
              <a:t> </a:t>
            </a:r>
            <a:r>
              <a:rPr sz="1600" b="0" dirty="0" err="1">
                <a:solidFill>
                  <a:srgbClr val="5E6A78"/>
                </a:solidFill>
                <a:latin typeface="Aptos"/>
              </a:rPr>
              <a:t>suất</a:t>
            </a:r>
            <a:endParaRPr sz="1600" b="0" dirty="0">
              <a:solidFill>
                <a:srgbClr val="5E6A78"/>
              </a:solidFill>
              <a:latin typeface="Aptos"/>
            </a:endParaRPr>
          </a:p>
        </p:txBody>
      </p:sp>
      <p:sp>
        <p:nvSpPr>
          <p:cNvPr id="15" name="TextBox 14"/>
          <p:cNvSpPr txBox="1"/>
          <p:nvPr/>
        </p:nvSpPr>
        <p:spPr>
          <a:xfrm>
            <a:off x="652273" y="2870880"/>
            <a:ext cx="4206240" cy="320088"/>
          </a:xfrm>
          <a:prstGeom prst="rect">
            <a:avLst/>
          </a:prstGeom>
          <a:noFill/>
        </p:spPr>
        <p:txBody>
          <a:bodyPr wrap="square" lIns="36576" tIns="36576" rIns="36576" bIns="36576" anchor="t">
            <a:spAutoFit/>
          </a:bodyPr>
          <a:lstStyle/>
          <a:p>
            <a:pPr algn="l"/>
            <a:r>
              <a:rPr sz="1600" b="1">
                <a:solidFill>
                  <a:srgbClr val="2F639D"/>
                </a:solidFill>
                <a:latin typeface="Aptos"/>
              </a:rPr>
              <a:t>2. MODEL PERFORMANCE — TEST 2024–2026</a:t>
            </a:r>
          </a:p>
        </p:txBody>
      </p:sp>
      <p:sp>
        <p:nvSpPr>
          <p:cNvPr id="16" name="Rectangle 15"/>
          <p:cNvSpPr/>
          <p:nvPr/>
        </p:nvSpPr>
        <p:spPr>
          <a:xfrm>
            <a:off x="652273" y="3209208"/>
            <a:ext cx="27432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707137" y="3309792"/>
            <a:ext cx="2633472" cy="320088"/>
          </a:xfrm>
          <a:prstGeom prst="rect">
            <a:avLst/>
          </a:prstGeom>
          <a:noFill/>
        </p:spPr>
        <p:txBody>
          <a:bodyPr wrap="square" lIns="36576" tIns="36576" rIns="36576" bIns="36576" anchor="t">
            <a:spAutoFit/>
          </a:bodyPr>
          <a:lstStyle/>
          <a:p>
            <a:pPr algn="l"/>
            <a:r>
              <a:rPr sz="1600" b="1">
                <a:solidFill>
                  <a:srgbClr val="FFFFFF"/>
                </a:solidFill>
                <a:latin typeface="Aptos"/>
              </a:rPr>
              <a:t>Model</a:t>
            </a:r>
          </a:p>
        </p:txBody>
      </p:sp>
      <p:sp>
        <p:nvSpPr>
          <p:cNvPr id="18" name="Rectangle 17"/>
          <p:cNvSpPr/>
          <p:nvPr/>
        </p:nvSpPr>
        <p:spPr>
          <a:xfrm>
            <a:off x="3395473" y="3209208"/>
            <a:ext cx="11430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9" name="TextBox 18"/>
          <p:cNvSpPr txBox="1"/>
          <p:nvPr/>
        </p:nvSpPr>
        <p:spPr>
          <a:xfrm>
            <a:off x="3450337" y="3309792"/>
            <a:ext cx="1033271" cy="320088"/>
          </a:xfrm>
          <a:prstGeom prst="rect">
            <a:avLst/>
          </a:prstGeom>
          <a:noFill/>
        </p:spPr>
        <p:txBody>
          <a:bodyPr wrap="square" lIns="36576" tIns="36576" rIns="36576" bIns="36576" anchor="t">
            <a:spAutoFit/>
          </a:bodyPr>
          <a:lstStyle/>
          <a:p>
            <a:pPr algn="ctr"/>
            <a:r>
              <a:rPr sz="1600" b="1">
                <a:solidFill>
                  <a:srgbClr val="FFFFFF"/>
                </a:solidFill>
                <a:latin typeface="Aptos"/>
              </a:rPr>
              <a:t>PR-AUC</a:t>
            </a:r>
          </a:p>
        </p:txBody>
      </p:sp>
      <p:sp>
        <p:nvSpPr>
          <p:cNvPr id="20" name="Rectangle 19"/>
          <p:cNvSpPr/>
          <p:nvPr/>
        </p:nvSpPr>
        <p:spPr>
          <a:xfrm>
            <a:off x="4538473" y="3209208"/>
            <a:ext cx="109728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4593336" y="3309792"/>
            <a:ext cx="987552" cy="320088"/>
          </a:xfrm>
          <a:prstGeom prst="rect">
            <a:avLst/>
          </a:prstGeom>
          <a:noFill/>
        </p:spPr>
        <p:txBody>
          <a:bodyPr wrap="square" lIns="36576" tIns="36576" rIns="36576" bIns="36576" anchor="t">
            <a:spAutoFit/>
          </a:bodyPr>
          <a:lstStyle/>
          <a:p>
            <a:pPr algn="ctr"/>
            <a:r>
              <a:rPr sz="1600" b="1">
                <a:solidFill>
                  <a:srgbClr val="FFFFFF"/>
                </a:solidFill>
                <a:latin typeface="Aptos"/>
              </a:rPr>
              <a:t>Lift</a:t>
            </a:r>
          </a:p>
        </p:txBody>
      </p:sp>
      <p:sp>
        <p:nvSpPr>
          <p:cNvPr id="22" name="Rectangle 21"/>
          <p:cNvSpPr/>
          <p:nvPr/>
        </p:nvSpPr>
        <p:spPr>
          <a:xfrm>
            <a:off x="652273" y="364812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707137" y="373956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M0 — Prevalence</a:t>
            </a:r>
          </a:p>
        </p:txBody>
      </p:sp>
      <p:sp>
        <p:nvSpPr>
          <p:cNvPr id="24" name="Rectangle 23"/>
          <p:cNvSpPr/>
          <p:nvPr/>
        </p:nvSpPr>
        <p:spPr>
          <a:xfrm>
            <a:off x="3395473" y="364812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3450337" y="373956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0,0168</a:t>
            </a:r>
          </a:p>
        </p:txBody>
      </p:sp>
      <p:sp>
        <p:nvSpPr>
          <p:cNvPr id="26" name="Rectangle 25"/>
          <p:cNvSpPr/>
          <p:nvPr/>
        </p:nvSpPr>
        <p:spPr>
          <a:xfrm>
            <a:off x="4538473" y="364812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4593336" y="373956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1,00×</a:t>
            </a:r>
          </a:p>
        </p:txBody>
      </p:sp>
      <p:sp>
        <p:nvSpPr>
          <p:cNvPr id="28" name="Rectangle 27"/>
          <p:cNvSpPr/>
          <p:nvPr/>
        </p:nvSpPr>
        <p:spPr>
          <a:xfrm>
            <a:off x="652273" y="405960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707137" y="415103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M1a — SLA Breach</a:t>
            </a:r>
          </a:p>
        </p:txBody>
      </p:sp>
      <p:sp>
        <p:nvSpPr>
          <p:cNvPr id="30" name="Rectangle 29"/>
          <p:cNvSpPr/>
          <p:nvPr/>
        </p:nvSpPr>
        <p:spPr>
          <a:xfrm>
            <a:off x="3395473" y="405960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3450337" y="415103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0,0179</a:t>
            </a:r>
          </a:p>
        </p:txBody>
      </p:sp>
      <p:sp>
        <p:nvSpPr>
          <p:cNvPr id="32" name="Rectangle 31"/>
          <p:cNvSpPr/>
          <p:nvPr/>
        </p:nvSpPr>
        <p:spPr>
          <a:xfrm>
            <a:off x="4538473" y="405960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4593336" y="415103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1,06×</a:t>
            </a:r>
          </a:p>
        </p:txBody>
      </p:sp>
      <p:sp>
        <p:nvSpPr>
          <p:cNvPr id="34" name="Rectangle 33"/>
          <p:cNvSpPr/>
          <p:nvPr/>
        </p:nvSpPr>
        <p:spPr>
          <a:xfrm>
            <a:off x="652273" y="447108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707137" y="456252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M1b — Lead Time</a:t>
            </a:r>
          </a:p>
        </p:txBody>
      </p:sp>
      <p:sp>
        <p:nvSpPr>
          <p:cNvPr id="36" name="Rectangle 35"/>
          <p:cNvSpPr/>
          <p:nvPr/>
        </p:nvSpPr>
        <p:spPr>
          <a:xfrm>
            <a:off x="3395473" y="447108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3450337" y="456252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0,0244</a:t>
            </a:r>
          </a:p>
        </p:txBody>
      </p:sp>
      <p:sp>
        <p:nvSpPr>
          <p:cNvPr id="38" name="Rectangle 37"/>
          <p:cNvSpPr/>
          <p:nvPr/>
        </p:nvSpPr>
        <p:spPr>
          <a:xfrm>
            <a:off x="4538473" y="447108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9" name="TextBox 38"/>
          <p:cNvSpPr txBox="1"/>
          <p:nvPr/>
        </p:nvSpPr>
        <p:spPr>
          <a:xfrm>
            <a:off x="4593336" y="456252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1,45×</a:t>
            </a:r>
          </a:p>
        </p:txBody>
      </p:sp>
      <p:sp>
        <p:nvSpPr>
          <p:cNvPr id="40" name="Rectangle 39"/>
          <p:cNvSpPr/>
          <p:nvPr/>
        </p:nvSpPr>
        <p:spPr>
          <a:xfrm>
            <a:off x="652273" y="488256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40"/>
          <p:cNvSpPr txBox="1"/>
          <p:nvPr/>
        </p:nvSpPr>
        <p:spPr>
          <a:xfrm>
            <a:off x="707137" y="497400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M2 — Logistic Regression</a:t>
            </a:r>
          </a:p>
        </p:txBody>
      </p:sp>
      <p:sp>
        <p:nvSpPr>
          <p:cNvPr id="42" name="Rectangle 41"/>
          <p:cNvSpPr/>
          <p:nvPr/>
        </p:nvSpPr>
        <p:spPr>
          <a:xfrm>
            <a:off x="3395473" y="488256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3450337" y="497400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0,0641</a:t>
            </a:r>
          </a:p>
        </p:txBody>
      </p:sp>
      <p:sp>
        <p:nvSpPr>
          <p:cNvPr id="44" name="Rectangle 43"/>
          <p:cNvSpPr/>
          <p:nvPr/>
        </p:nvSpPr>
        <p:spPr>
          <a:xfrm>
            <a:off x="4538473" y="488256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TextBox 44"/>
          <p:cNvSpPr txBox="1"/>
          <p:nvPr/>
        </p:nvSpPr>
        <p:spPr>
          <a:xfrm>
            <a:off x="4593336" y="497400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3,82×</a:t>
            </a:r>
          </a:p>
        </p:txBody>
      </p:sp>
      <p:sp>
        <p:nvSpPr>
          <p:cNvPr id="46" name="Rectangle 45"/>
          <p:cNvSpPr/>
          <p:nvPr/>
        </p:nvSpPr>
        <p:spPr>
          <a:xfrm>
            <a:off x="652273" y="529404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7" name="TextBox 46"/>
          <p:cNvSpPr txBox="1"/>
          <p:nvPr/>
        </p:nvSpPr>
        <p:spPr>
          <a:xfrm>
            <a:off x="707137" y="538548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M5 — GBM</a:t>
            </a:r>
          </a:p>
        </p:txBody>
      </p:sp>
      <p:sp>
        <p:nvSpPr>
          <p:cNvPr id="48" name="Rectangle 47"/>
          <p:cNvSpPr/>
          <p:nvPr/>
        </p:nvSpPr>
        <p:spPr>
          <a:xfrm>
            <a:off x="3395473" y="529404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3450337" y="538548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0,0548</a:t>
            </a:r>
          </a:p>
        </p:txBody>
      </p:sp>
      <p:sp>
        <p:nvSpPr>
          <p:cNvPr id="50" name="Rectangle 49"/>
          <p:cNvSpPr/>
          <p:nvPr/>
        </p:nvSpPr>
        <p:spPr>
          <a:xfrm>
            <a:off x="4538473" y="529404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1" name="TextBox 50"/>
          <p:cNvSpPr txBox="1"/>
          <p:nvPr/>
        </p:nvSpPr>
        <p:spPr>
          <a:xfrm>
            <a:off x="4593336" y="538548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3,27×</a:t>
            </a:r>
          </a:p>
        </p:txBody>
      </p:sp>
      <p:sp>
        <p:nvSpPr>
          <p:cNvPr id="52" name="Rectangle 51"/>
          <p:cNvSpPr/>
          <p:nvPr/>
        </p:nvSpPr>
        <p:spPr>
          <a:xfrm>
            <a:off x="652273" y="570552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3" name="TextBox 52"/>
          <p:cNvSpPr txBox="1"/>
          <p:nvPr/>
        </p:nvSpPr>
        <p:spPr>
          <a:xfrm>
            <a:off x="707137" y="579695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M7 — Ensemble</a:t>
            </a:r>
          </a:p>
        </p:txBody>
      </p:sp>
      <p:sp>
        <p:nvSpPr>
          <p:cNvPr id="54" name="Rectangle 53"/>
          <p:cNvSpPr/>
          <p:nvPr/>
        </p:nvSpPr>
        <p:spPr>
          <a:xfrm>
            <a:off x="3395473" y="570552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5" name="TextBox 54"/>
          <p:cNvSpPr txBox="1"/>
          <p:nvPr/>
        </p:nvSpPr>
        <p:spPr>
          <a:xfrm>
            <a:off x="3450337" y="579695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0,0632</a:t>
            </a:r>
          </a:p>
        </p:txBody>
      </p:sp>
      <p:sp>
        <p:nvSpPr>
          <p:cNvPr id="56" name="Rectangle 55"/>
          <p:cNvSpPr/>
          <p:nvPr/>
        </p:nvSpPr>
        <p:spPr>
          <a:xfrm>
            <a:off x="4538473" y="570552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7" name="TextBox 56"/>
          <p:cNvSpPr txBox="1"/>
          <p:nvPr/>
        </p:nvSpPr>
        <p:spPr>
          <a:xfrm>
            <a:off x="4593336" y="579695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3,76×</a:t>
            </a:r>
          </a:p>
        </p:txBody>
      </p:sp>
      <p:sp>
        <p:nvSpPr>
          <p:cNvPr id="58" name="TextBox 57"/>
          <p:cNvSpPr txBox="1"/>
          <p:nvPr/>
        </p:nvSpPr>
        <p:spPr>
          <a:xfrm>
            <a:off x="7333488" y="1078992"/>
            <a:ext cx="29260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PRACTICAL PERFORMANCE</a:t>
            </a:r>
          </a:p>
        </p:txBody>
      </p:sp>
      <p:sp>
        <p:nvSpPr>
          <p:cNvPr id="59" name="Rounded Rectangle 58"/>
          <p:cNvSpPr/>
          <p:nvPr/>
        </p:nvSpPr>
        <p:spPr>
          <a:xfrm>
            <a:off x="7327394" y="1443524"/>
            <a:ext cx="4434840" cy="29260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0" name="TextBox 59"/>
          <p:cNvSpPr txBox="1"/>
          <p:nvPr/>
        </p:nvSpPr>
        <p:spPr>
          <a:xfrm>
            <a:off x="7601713" y="1518021"/>
            <a:ext cx="370332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a:t>
            </a:r>
          </a:p>
        </p:txBody>
      </p:sp>
      <p:sp>
        <p:nvSpPr>
          <p:cNvPr id="61" name="TextBox 60"/>
          <p:cNvSpPr txBox="1"/>
          <p:nvPr/>
        </p:nvSpPr>
        <p:spPr>
          <a:xfrm>
            <a:off x="7601713" y="1984365"/>
            <a:ext cx="3703320" cy="320088"/>
          </a:xfrm>
          <a:prstGeom prst="rect">
            <a:avLst/>
          </a:prstGeom>
          <a:noFill/>
        </p:spPr>
        <p:txBody>
          <a:bodyPr wrap="square" lIns="36576" tIns="36576" rIns="36576" bIns="36576" anchor="t">
            <a:spAutoFit/>
          </a:bodyPr>
          <a:lstStyle/>
          <a:p>
            <a:pPr algn="ctr"/>
            <a:r>
              <a:rPr sz="1600" b="1">
                <a:solidFill>
                  <a:srgbClr val="2F639D"/>
                </a:solidFill>
                <a:latin typeface="Aptos"/>
              </a:rPr>
              <a:t>23,3%</a:t>
            </a:r>
          </a:p>
        </p:txBody>
      </p:sp>
      <p:sp>
        <p:nvSpPr>
          <p:cNvPr id="62" name="TextBox 61"/>
          <p:cNvSpPr txBox="1"/>
          <p:nvPr/>
        </p:nvSpPr>
        <p:spPr>
          <a:xfrm>
            <a:off x="7601713" y="2533005"/>
            <a:ext cx="370332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số</a:t>
            </a:r>
            <a:r>
              <a:rPr sz="1600" b="0" dirty="0">
                <a:solidFill>
                  <a:srgbClr val="5E6A78"/>
                </a:solidFill>
                <a:latin typeface="Aptos"/>
              </a:rPr>
              <a:t> Low Rating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endParaRPr sz="1600" b="0" dirty="0">
              <a:solidFill>
                <a:srgbClr val="5E6A78"/>
              </a:solidFill>
              <a:latin typeface="Aptos"/>
            </a:endParaRPr>
          </a:p>
        </p:txBody>
      </p:sp>
      <p:sp>
        <p:nvSpPr>
          <p:cNvPr id="63" name="TextBox 62"/>
          <p:cNvSpPr txBox="1"/>
          <p:nvPr/>
        </p:nvSpPr>
        <p:spPr>
          <a:xfrm>
            <a:off x="7601713" y="3008493"/>
            <a:ext cx="1691640" cy="320088"/>
          </a:xfrm>
          <a:prstGeom prst="rect">
            <a:avLst/>
          </a:prstGeom>
          <a:noFill/>
        </p:spPr>
        <p:txBody>
          <a:bodyPr wrap="square" lIns="36576" tIns="36576" rIns="36576" bIns="36576" anchor="t">
            <a:spAutoFit/>
          </a:bodyPr>
          <a:lstStyle/>
          <a:p>
            <a:pPr algn="ctr"/>
            <a:r>
              <a:rPr sz="1600" b="1">
                <a:solidFill>
                  <a:srgbClr val="162C46"/>
                </a:solidFill>
                <a:latin typeface="Aptos"/>
              </a:rPr>
              <a:t>Precision 7,8%</a:t>
            </a:r>
          </a:p>
        </p:txBody>
      </p:sp>
      <p:sp>
        <p:nvSpPr>
          <p:cNvPr id="64" name="TextBox 63"/>
          <p:cNvSpPr txBox="1"/>
          <p:nvPr/>
        </p:nvSpPr>
        <p:spPr>
          <a:xfrm>
            <a:off x="9384793" y="3008493"/>
            <a:ext cx="1874519" cy="320088"/>
          </a:xfrm>
          <a:prstGeom prst="rect">
            <a:avLst/>
          </a:prstGeom>
          <a:noFill/>
        </p:spPr>
        <p:txBody>
          <a:bodyPr wrap="square" lIns="36576" tIns="36576" rIns="36576" bIns="36576" anchor="t">
            <a:spAutoFit/>
          </a:bodyPr>
          <a:lstStyle/>
          <a:p>
            <a:pPr algn="ctr"/>
            <a:r>
              <a:rPr sz="1600" b="1">
                <a:solidFill>
                  <a:srgbClr val="162C46"/>
                </a:solidFill>
                <a:latin typeface="Aptos"/>
              </a:rPr>
              <a:t>4,7× vs random</a:t>
            </a:r>
          </a:p>
        </p:txBody>
      </p:sp>
      <p:sp>
        <p:nvSpPr>
          <p:cNvPr id="65" name="TextBox 64"/>
          <p:cNvSpPr txBox="1"/>
          <p:nvPr/>
        </p:nvSpPr>
        <p:spPr>
          <a:xfrm>
            <a:off x="7391401" y="3694293"/>
            <a:ext cx="4114800" cy="566309"/>
          </a:xfrm>
          <a:prstGeom prst="rect">
            <a:avLst/>
          </a:prstGeom>
          <a:noFill/>
        </p:spPr>
        <p:txBody>
          <a:bodyPr wrap="square" lIns="36576" tIns="36576" rIns="36576" bIns="36576" anchor="t">
            <a:spAutoFit/>
          </a:bodyPr>
          <a:lstStyle/>
          <a:p>
            <a:pPr algn="ctr"/>
            <a:r>
              <a:rPr sz="1600" b="0">
                <a:solidFill>
                  <a:srgbClr val="5E6A78"/>
                </a:solidFill>
                <a:latin typeface="Aptos"/>
              </a:rPr>
              <a:t>Ensemble calibration: Predicted 1,63% ≈ Actual 1,68% · ECE 0,003</a:t>
            </a:r>
          </a:p>
        </p:txBody>
      </p:sp>
      <p:sp>
        <p:nvSpPr>
          <p:cNvPr id="66" name="Rounded Rectangle 65"/>
          <p:cNvSpPr/>
          <p:nvPr/>
        </p:nvSpPr>
        <p:spPr>
          <a:xfrm>
            <a:off x="7333488" y="4640580"/>
            <a:ext cx="4434840" cy="1425850"/>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TextBox 66"/>
          <p:cNvSpPr txBox="1"/>
          <p:nvPr/>
        </p:nvSpPr>
        <p:spPr>
          <a:xfrm>
            <a:off x="7580376" y="4841748"/>
            <a:ext cx="10972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LUẬN</a:t>
            </a:r>
          </a:p>
        </p:txBody>
      </p:sp>
      <p:sp>
        <p:nvSpPr>
          <p:cNvPr id="68" name="TextBox 67"/>
          <p:cNvSpPr txBox="1"/>
          <p:nvPr/>
        </p:nvSpPr>
        <p:spPr>
          <a:xfrm>
            <a:off x="7580376" y="5161788"/>
            <a:ext cx="3886200" cy="812530"/>
          </a:xfrm>
          <a:prstGeom prst="rect">
            <a:avLst/>
          </a:prstGeom>
          <a:noFill/>
        </p:spPr>
        <p:txBody>
          <a:bodyPr wrap="square" lIns="36576" tIns="36576" rIns="36576" bIns="36576" anchor="t">
            <a:spAutoFit/>
          </a:bodyPr>
          <a:lstStyle/>
          <a:p>
            <a:pPr algn="l"/>
            <a:r>
              <a:rPr sz="1600" b="1" dirty="0">
                <a:solidFill>
                  <a:srgbClr val="162C46"/>
                </a:solidFill>
                <a:latin typeface="Aptos"/>
              </a:rPr>
              <a:t>SLA </a:t>
            </a:r>
            <a:r>
              <a:rPr sz="1600" b="1" dirty="0" err="1">
                <a:solidFill>
                  <a:srgbClr val="162C46"/>
                </a:solidFill>
                <a:latin typeface="Aptos"/>
              </a:rPr>
              <a:t>đơn</a:t>
            </a:r>
            <a:r>
              <a:rPr sz="1600" b="1" dirty="0">
                <a:solidFill>
                  <a:srgbClr val="162C46"/>
                </a:solidFill>
                <a:latin typeface="Aptos"/>
              </a:rPr>
              <a:t> </a:t>
            </a:r>
            <a:r>
              <a:rPr sz="1600" b="1" dirty="0" err="1">
                <a:solidFill>
                  <a:srgbClr val="162C46"/>
                </a:solidFill>
                <a:latin typeface="Aptos"/>
              </a:rPr>
              <a:t>lẻ</a:t>
            </a:r>
            <a:r>
              <a:rPr sz="1600" b="1" dirty="0">
                <a:solidFill>
                  <a:srgbClr val="162C46"/>
                </a:solidFill>
                <a:latin typeface="Aptos"/>
              </a:rPr>
              <a:t> </a:t>
            </a:r>
            <a:r>
              <a:rPr sz="1600" b="1" dirty="0" err="1">
                <a:solidFill>
                  <a:srgbClr val="162C46"/>
                </a:solidFill>
                <a:latin typeface="Aptos"/>
              </a:rPr>
              <a:t>cung</a:t>
            </a:r>
            <a:r>
              <a:rPr sz="1600" b="1" dirty="0">
                <a:solidFill>
                  <a:srgbClr val="162C46"/>
                </a:solidFill>
                <a:latin typeface="Aptos"/>
              </a:rPr>
              <a:t> </a:t>
            </a:r>
            <a:r>
              <a:rPr sz="1600" b="1" dirty="0" err="1">
                <a:solidFill>
                  <a:srgbClr val="162C46"/>
                </a:solidFill>
                <a:latin typeface="Aptos"/>
              </a:rPr>
              <a:t>cấp</a:t>
            </a:r>
            <a:r>
              <a:rPr sz="1600" b="1" dirty="0">
                <a:solidFill>
                  <a:srgbClr val="162C46"/>
                </a:solidFill>
                <a:latin typeface="Aptos"/>
              </a:rPr>
              <a:t> </a:t>
            </a:r>
            <a:r>
              <a:rPr sz="1600" b="1" dirty="0" err="1">
                <a:solidFill>
                  <a:srgbClr val="162C46"/>
                </a:solidFill>
                <a:latin typeface="Aptos"/>
              </a:rPr>
              <a:t>ít</a:t>
            </a:r>
            <a:r>
              <a:rPr sz="1600" b="1" dirty="0">
                <a:solidFill>
                  <a:srgbClr val="162C46"/>
                </a:solidFill>
                <a:latin typeface="Aptos"/>
              </a:rPr>
              <a:t> </a:t>
            </a:r>
            <a:r>
              <a:rPr sz="1600" b="1" dirty="0" err="1">
                <a:solidFill>
                  <a:srgbClr val="162C46"/>
                </a:solidFill>
                <a:latin typeface="Aptos"/>
              </a:rPr>
              <a:t>khả</a:t>
            </a:r>
            <a:r>
              <a:rPr sz="1600" b="1" dirty="0">
                <a:solidFill>
                  <a:srgbClr val="162C46"/>
                </a:solidFill>
                <a:latin typeface="Aptos"/>
              </a:rPr>
              <a:t> </a:t>
            </a:r>
            <a:r>
              <a:rPr sz="1600" b="1" dirty="0" err="1">
                <a:solidFill>
                  <a:srgbClr val="162C46"/>
                </a:solidFill>
                <a:latin typeface="Aptos"/>
              </a:rPr>
              <a:t>năng</a:t>
            </a:r>
            <a:r>
              <a:rPr sz="1600" b="1" dirty="0">
                <a:solidFill>
                  <a:srgbClr val="162C46"/>
                </a:solidFill>
                <a:latin typeface="Aptos"/>
              </a:rPr>
              <a:t> </a:t>
            </a:r>
            <a:r>
              <a:rPr sz="1600" b="1" dirty="0" err="1">
                <a:solidFill>
                  <a:srgbClr val="162C46"/>
                </a:solidFill>
                <a:latin typeface="Aptos"/>
              </a:rPr>
              <a:t>nhận</a:t>
            </a:r>
            <a:r>
              <a:rPr sz="1600" b="1" dirty="0">
                <a:solidFill>
                  <a:srgbClr val="162C46"/>
                </a:solidFill>
                <a:latin typeface="Aptos"/>
              </a:rPr>
              <a:t> </a:t>
            </a:r>
            <a:r>
              <a:rPr sz="1600" b="1" dirty="0" err="1">
                <a:solidFill>
                  <a:srgbClr val="162C46"/>
                </a:solidFill>
                <a:latin typeface="Aptos"/>
              </a:rPr>
              <a:t>diện</a:t>
            </a:r>
            <a:r>
              <a:rPr sz="1600" b="1" dirty="0">
                <a:solidFill>
                  <a:srgbClr val="162C46"/>
                </a:solidFill>
                <a:latin typeface="Aptos"/>
              </a:rPr>
              <a:t> Low Rating </a:t>
            </a:r>
            <a:r>
              <a:rPr sz="1600" b="1" dirty="0" err="1">
                <a:solidFill>
                  <a:srgbClr val="162C46"/>
                </a:solidFill>
                <a:latin typeface="Aptos"/>
              </a:rPr>
              <a:t>hơn</a:t>
            </a:r>
            <a:r>
              <a:rPr sz="1600" b="1" dirty="0">
                <a:solidFill>
                  <a:srgbClr val="162C46"/>
                </a:solidFill>
                <a:latin typeface="Aptos"/>
              </a:rPr>
              <a:t>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hình</a:t>
            </a:r>
            <a:r>
              <a:rPr sz="1600" b="1" dirty="0">
                <a:solidFill>
                  <a:srgbClr val="162C46"/>
                </a:solidFill>
                <a:latin typeface="Aptos"/>
              </a:rPr>
              <a:t> </a:t>
            </a:r>
            <a:r>
              <a:rPr sz="1600" b="1" dirty="0" err="1">
                <a:solidFill>
                  <a:srgbClr val="162C46"/>
                </a:solidFill>
                <a:latin typeface="Aptos"/>
              </a:rPr>
              <a:t>kết</a:t>
            </a:r>
            <a:r>
              <a:rPr sz="1600" b="1" dirty="0">
                <a:solidFill>
                  <a:srgbClr val="162C46"/>
                </a:solidFill>
                <a:latin typeface="Aptos"/>
              </a:rPr>
              <a:t> </a:t>
            </a:r>
            <a:r>
              <a:rPr sz="1600" b="1" dirty="0" err="1">
                <a:solidFill>
                  <a:srgbClr val="162C46"/>
                </a:solidFill>
                <a:latin typeface="Aptos"/>
              </a:rPr>
              <a:t>hợp</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Features.</a:t>
            </a:r>
          </a:p>
        </p:txBody>
      </p:sp>
      <p:sp>
        <p:nvSpPr>
          <p:cNvPr id="69" name="TextBox 6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70" name="TextBox 6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18</a:t>
            </a:r>
          </a:p>
        </p:txBody>
      </p:sp>
      <p:sp>
        <p:nvSpPr>
          <p:cNvPr id="71" name="Rounded Rectangle 7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72" name="Rounded Rectangle 7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73" name="Rounded Rectangle 7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74" name="Rounded Rectangle 7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75" name="Rounded Rectangle 7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76" name="Rounded Rectangle 7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77" name="Rounded Rectangle 76"/>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Evaluation</a:t>
            </a:r>
          </a:p>
        </p:txBody>
      </p:sp>
      <p:sp>
        <p:nvSpPr>
          <p:cNvPr id="78" name="Rounded Rectangle 7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INSIGHTS — VÌ SAO CHỈ NHÌN SLA LÀ CHƯA ĐỦ?</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20</a:t>
            </a:r>
          </a:p>
        </p:txBody>
      </p:sp>
      <p:sp>
        <p:nvSpPr>
          <p:cNvPr id="5" name="TextBox 4"/>
          <p:cNvSpPr txBox="1"/>
          <p:nvPr/>
        </p:nvSpPr>
        <p:spPr>
          <a:xfrm>
            <a:off x="658368" y="1078992"/>
            <a:ext cx="3657600" cy="320088"/>
          </a:xfrm>
          <a:prstGeom prst="rect">
            <a:avLst/>
          </a:prstGeom>
          <a:noFill/>
        </p:spPr>
        <p:txBody>
          <a:bodyPr wrap="square" lIns="36576" tIns="36576" rIns="36576" bIns="36576" anchor="t">
            <a:spAutoFit/>
          </a:bodyPr>
          <a:lstStyle/>
          <a:p>
            <a:pPr algn="l"/>
            <a:r>
              <a:rPr sz="1600" b="1">
                <a:solidFill>
                  <a:srgbClr val="2F639D"/>
                </a:solidFill>
                <a:latin typeface="Aptos"/>
              </a:rPr>
              <a:t>1. SLA BINARY LÀM MẤT THÔNG TIN</a:t>
            </a:r>
          </a:p>
        </p:txBody>
      </p:sp>
      <p:sp>
        <p:nvSpPr>
          <p:cNvPr id="6" name="Rounded Rectangle 5"/>
          <p:cNvSpPr/>
          <p:nvPr/>
        </p:nvSpPr>
        <p:spPr>
          <a:xfrm>
            <a:off x="658368" y="1417320"/>
            <a:ext cx="10835640" cy="10241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96112" y="1618489"/>
            <a:ext cx="2926080" cy="320088"/>
          </a:xfrm>
          <a:prstGeom prst="rect">
            <a:avLst/>
          </a:prstGeom>
          <a:noFill/>
        </p:spPr>
        <p:txBody>
          <a:bodyPr wrap="square" lIns="36576" tIns="36576" rIns="36576" bIns="36576" anchor="t">
            <a:spAutoFit/>
          </a:bodyPr>
          <a:lstStyle/>
          <a:p>
            <a:pPr algn="ctr"/>
            <a:r>
              <a:rPr sz="1600" b="1" dirty="0">
                <a:solidFill>
                  <a:srgbClr val="387D67"/>
                </a:solidFill>
                <a:latin typeface="Aptos"/>
              </a:rPr>
              <a:t>1 </a:t>
            </a:r>
            <a:r>
              <a:rPr sz="1600" b="1" dirty="0" err="1">
                <a:solidFill>
                  <a:srgbClr val="387D67"/>
                </a:solidFill>
                <a:latin typeface="Aptos"/>
              </a:rPr>
              <a:t>ngày</a:t>
            </a:r>
            <a:r>
              <a:rPr sz="1600" b="1" dirty="0">
                <a:solidFill>
                  <a:srgbClr val="387D67"/>
                </a:solidFill>
                <a:latin typeface="Aptos"/>
              </a:rPr>
              <a:t> ───────── 4,9</a:t>
            </a:r>
          </a:p>
        </p:txBody>
      </p:sp>
      <p:sp>
        <p:nvSpPr>
          <p:cNvPr id="8" name="TextBox 7"/>
          <p:cNvSpPr txBox="1"/>
          <p:nvPr/>
        </p:nvSpPr>
        <p:spPr>
          <a:xfrm>
            <a:off x="3746310" y="1618489"/>
            <a:ext cx="1557210" cy="320088"/>
          </a:xfrm>
          <a:prstGeom prst="rect">
            <a:avLst/>
          </a:prstGeom>
          <a:noFill/>
        </p:spPr>
        <p:txBody>
          <a:bodyPr wrap="square" lIns="36576" tIns="36576" rIns="36576" bIns="36576" anchor="t">
            <a:spAutoFit/>
          </a:bodyPr>
          <a:lstStyle/>
          <a:p>
            <a:pPr algn="ctr"/>
            <a:r>
              <a:rPr sz="1600" b="1" dirty="0">
                <a:solidFill>
                  <a:srgbClr val="B14242"/>
                </a:solidFill>
                <a:latin typeface="Aptos"/>
              </a:rPr>
              <a:t>│ SLA = 5 </a:t>
            </a:r>
            <a:r>
              <a:rPr sz="1600" b="1" dirty="0" err="1">
                <a:solidFill>
                  <a:srgbClr val="B14242"/>
                </a:solidFill>
                <a:latin typeface="Aptos"/>
              </a:rPr>
              <a:t>ngày</a:t>
            </a:r>
            <a:r>
              <a:rPr sz="1600" b="1" dirty="0">
                <a:solidFill>
                  <a:srgbClr val="B14242"/>
                </a:solidFill>
                <a:latin typeface="Aptos"/>
              </a:rPr>
              <a:t> │</a:t>
            </a:r>
          </a:p>
        </p:txBody>
      </p:sp>
      <p:sp>
        <p:nvSpPr>
          <p:cNvPr id="9" name="TextBox 8"/>
          <p:cNvSpPr txBox="1"/>
          <p:nvPr/>
        </p:nvSpPr>
        <p:spPr>
          <a:xfrm>
            <a:off x="5449824" y="1618489"/>
            <a:ext cx="3108960" cy="320088"/>
          </a:xfrm>
          <a:prstGeom prst="rect">
            <a:avLst/>
          </a:prstGeom>
          <a:noFill/>
        </p:spPr>
        <p:txBody>
          <a:bodyPr wrap="square" lIns="36576" tIns="36576" rIns="36576" bIns="36576" anchor="t">
            <a:spAutoFit/>
          </a:bodyPr>
          <a:lstStyle/>
          <a:p>
            <a:pPr algn="ctr"/>
            <a:r>
              <a:rPr sz="1600" b="1" dirty="0">
                <a:solidFill>
                  <a:srgbClr val="BE7D2F"/>
                </a:solidFill>
                <a:latin typeface="Aptos"/>
              </a:rPr>
              <a:t>5,1 ───────────── 10 </a:t>
            </a:r>
            <a:r>
              <a:rPr sz="1600" b="1" dirty="0" err="1">
                <a:solidFill>
                  <a:srgbClr val="BE7D2F"/>
                </a:solidFill>
                <a:latin typeface="Aptos"/>
              </a:rPr>
              <a:t>ngày</a:t>
            </a:r>
            <a:endParaRPr sz="1600" b="1" dirty="0">
              <a:solidFill>
                <a:srgbClr val="BE7D2F"/>
              </a:solidFill>
              <a:latin typeface="Aptos"/>
            </a:endParaRPr>
          </a:p>
        </p:txBody>
      </p:sp>
      <p:sp>
        <p:nvSpPr>
          <p:cNvPr id="10" name="TextBox 9"/>
          <p:cNvSpPr txBox="1"/>
          <p:nvPr/>
        </p:nvSpPr>
        <p:spPr>
          <a:xfrm>
            <a:off x="896112" y="1956817"/>
            <a:ext cx="2926080" cy="320088"/>
          </a:xfrm>
          <a:prstGeom prst="rect">
            <a:avLst/>
          </a:prstGeom>
          <a:noFill/>
        </p:spPr>
        <p:txBody>
          <a:bodyPr wrap="square" lIns="36576" tIns="36576" rIns="36576" bIns="36576" anchor="t">
            <a:spAutoFit/>
          </a:bodyPr>
          <a:lstStyle/>
          <a:p>
            <a:pPr algn="ctr"/>
            <a:r>
              <a:rPr sz="1600" b="1">
                <a:solidFill>
                  <a:srgbClr val="387D67"/>
                </a:solidFill>
                <a:latin typeface="Aptos"/>
              </a:rPr>
              <a:t>WITHIN SLA</a:t>
            </a:r>
          </a:p>
        </p:txBody>
      </p:sp>
      <p:sp>
        <p:nvSpPr>
          <p:cNvPr id="11" name="TextBox 10"/>
          <p:cNvSpPr txBox="1"/>
          <p:nvPr/>
        </p:nvSpPr>
        <p:spPr>
          <a:xfrm>
            <a:off x="5449824" y="1956817"/>
            <a:ext cx="3108960" cy="320088"/>
          </a:xfrm>
          <a:prstGeom prst="rect">
            <a:avLst/>
          </a:prstGeom>
          <a:noFill/>
        </p:spPr>
        <p:txBody>
          <a:bodyPr wrap="square" lIns="36576" tIns="36576" rIns="36576" bIns="36576" anchor="t">
            <a:spAutoFit/>
          </a:bodyPr>
          <a:lstStyle/>
          <a:p>
            <a:pPr algn="ctr"/>
            <a:r>
              <a:rPr sz="1600" b="1">
                <a:solidFill>
                  <a:srgbClr val="BE7D2F"/>
                </a:solidFill>
                <a:latin typeface="Aptos"/>
              </a:rPr>
              <a:t>BREACH</a:t>
            </a:r>
          </a:p>
        </p:txBody>
      </p:sp>
      <p:sp>
        <p:nvSpPr>
          <p:cNvPr id="12" name="TextBox 11"/>
          <p:cNvSpPr txBox="1"/>
          <p:nvPr/>
        </p:nvSpPr>
        <p:spPr>
          <a:xfrm>
            <a:off x="8668512" y="1517905"/>
            <a:ext cx="2423160" cy="812530"/>
          </a:xfrm>
          <a:prstGeom prst="rect">
            <a:avLst/>
          </a:prstGeom>
          <a:noFill/>
        </p:spPr>
        <p:txBody>
          <a:bodyPr wrap="square" lIns="36576" tIns="36576" rIns="36576" bIns="36576" anchor="t">
            <a:spAutoFit/>
          </a:bodyPr>
          <a:lstStyle/>
          <a:p>
            <a:pPr algn="ct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nhị</a:t>
            </a:r>
            <a:r>
              <a:rPr sz="1600" b="1" dirty="0">
                <a:solidFill>
                  <a:srgbClr val="162C46"/>
                </a:solidFill>
                <a:latin typeface="Aptos"/>
              </a:rPr>
              <a:t> </a:t>
            </a:r>
            <a:r>
              <a:rPr sz="1600" b="1" dirty="0" err="1">
                <a:solidFill>
                  <a:srgbClr val="162C46"/>
                </a:solidFill>
                <a:latin typeface="Aptos"/>
              </a:rPr>
              <a:t>phân</a:t>
            </a:r>
            <a:r>
              <a:rPr sz="1600" b="1" dirty="0">
                <a:solidFill>
                  <a:srgbClr val="162C46"/>
                </a:solidFill>
                <a:latin typeface="Aptos"/>
              </a:rPr>
              <a:t> </a:t>
            </a:r>
            <a:r>
              <a:rPr sz="1600" b="1" dirty="0" err="1">
                <a:solidFill>
                  <a:srgbClr val="162C46"/>
                </a:solidFill>
                <a:latin typeface="Aptos"/>
              </a:rPr>
              <a:t>làm</a:t>
            </a:r>
            <a:r>
              <a:rPr sz="1600" b="1" dirty="0">
                <a:solidFill>
                  <a:srgbClr val="162C46"/>
                </a:solidFill>
                <a:latin typeface="Aptos"/>
              </a:rPr>
              <a:t> </a:t>
            </a:r>
            <a:r>
              <a:rPr sz="1600" b="1" dirty="0" err="1">
                <a:solidFill>
                  <a:srgbClr val="162C46"/>
                </a:solidFill>
                <a:latin typeface="Aptos"/>
              </a:rPr>
              <a:t>mất</a:t>
            </a:r>
            <a:r>
              <a:rPr sz="1600" b="1" dirty="0">
                <a:solidFill>
                  <a:srgbClr val="162C46"/>
                </a:solidFill>
                <a:latin typeface="Aptos"/>
              </a:rPr>
              <a:t> </a:t>
            </a:r>
            <a:r>
              <a:rPr sz="1600" b="1" dirty="0" err="1">
                <a:solidFill>
                  <a:srgbClr val="162C46"/>
                </a:solidFill>
                <a:latin typeface="Aptos"/>
              </a:rPr>
              <a:t>một</a:t>
            </a:r>
            <a:r>
              <a:rPr sz="1600" b="1" dirty="0">
                <a:solidFill>
                  <a:srgbClr val="162C46"/>
                </a:solidFill>
                <a:latin typeface="Aptos"/>
              </a:rPr>
              <a:t> </a:t>
            </a:r>
            <a:r>
              <a:rPr sz="1600" b="1" dirty="0" err="1">
                <a:solidFill>
                  <a:srgbClr val="162C46"/>
                </a:solidFill>
                <a:latin typeface="Aptos"/>
              </a:rPr>
              <a:t>phần</a:t>
            </a:r>
            <a:r>
              <a:rPr sz="1600" b="1" dirty="0">
                <a:solidFill>
                  <a:srgbClr val="162C46"/>
                </a:solidFill>
                <a:latin typeface="Aptos"/>
              </a:rPr>
              <a:t> </a:t>
            </a:r>
            <a:r>
              <a:rPr sz="1600" b="1" dirty="0" err="1">
                <a:solidFill>
                  <a:srgbClr val="162C46"/>
                </a:solidFill>
                <a:latin typeface="Aptos"/>
              </a:rPr>
              <a:t>thông</a:t>
            </a:r>
            <a:r>
              <a:rPr sz="1600" b="1" dirty="0">
                <a:solidFill>
                  <a:srgbClr val="162C46"/>
                </a:solidFill>
                <a:latin typeface="Aptos"/>
              </a:rPr>
              <a:t> tin </a:t>
            </a:r>
            <a:r>
              <a:rPr sz="1600" b="1" dirty="0" err="1">
                <a:solidFill>
                  <a:srgbClr val="162C46"/>
                </a:solidFill>
                <a:latin typeface="Aptos"/>
              </a:rPr>
              <a:t>của</a:t>
            </a:r>
            <a:r>
              <a:rPr sz="1600" b="1" dirty="0">
                <a:solidFill>
                  <a:srgbClr val="162C46"/>
                </a:solidFill>
                <a:latin typeface="Aptos"/>
              </a:rPr>
              <a:t> Lead Time </a:t>
            </a:r>
            <a:r>
              <a:rPr sz="1600" b="1" dirty="0" err="1">
                <a:solidFill>
                  <a:srgbClr val="162C46"/>
                </a:solidFill>
                <a:latin typeface="Aptos"/>
              </a:rPr>
              <a:t>liên</a:t>
            </a:r>
            <a:r>
              <a:rPr sz="1600" b="1" dirty="0">
                <a:solidFill>
                  <a:srgbClr val="162C46"/>
                </a:solidFill>
                <a:latin typeface="Aptos"/>
              </a:rPr>
              <a:t> </a:t>
            </a:r>
            <a:r>
              <a:rPr sz="1600" b="1" dirty="0" err="1">
                <a:solidFill>
                  <a:srgbClr val="162C46"/>
                </a:solidFill>
                <a:latin typeface="Aptos"/>
              </a:rPr>
              <a:t>tục</a:t>
            </a:r>
            <a:r>
              <a:rPr sz="1600" b="1" dirty="0">
                <a:solidFill>
                  <a:srgbClr val="162C46"/>
                </a:solidFill>
                <a:latin typeface="Aptos"/>
              </a:rPr>
              <a:t>.</a:t>
            </a:r>
          </a:p>
        </p:txBody>
      </p:sp>
      <p:sp>
        <p:nvSpPr>
          <p:cNvPr id="13" name="TextBox 12"/>
          <p:cNvSpPr txBox="1"/>
          <p:nvPr/>
        </p:nvSpPr>
        <p:spPr>
          <a:xfrm>
            <a:off x="658368" y="2651756"/>
            <a:ext cx="46177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CUSTOMER SIGNAL BỔ SUNG THÔNG TIN</a:t>
            </a:r>
          </a:p>
        </p:txBody>
      </p:sp>
      <p:sp>
        <p:nvSpPr>
          <p:cNvPr id="14" name="Rounded Rectangle 13"/>
          <p:cNvSpPr/>
          <p:nvPr/>
        </p:nvSpPr>
        <p:spPr>
          <a:xfrm>
            <a:off x="658368" y="3090672"/>
            <a:ext cx="5212080" cy="22456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5" name="TextBox 14"/>
          <p:cNvSpPr txBox="1"/>
          <p:nvPr/>
        </p:nvSpPr>
        <p:spPr>
          <a:xfrm>
            <a:off x="932688" y="3171370"/>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SLA Breach</a:t>
            </a:r>
          </a:p>
        </p:txBody>
      </p:sp>
      <p:sp>
        <p:nvSpPr>
          <p:cNvPr id="16" name="TextBox 15"/>
          <p:cNvSpPr txBox="1"/>
          <p:nvPr/>
        </p:nvSpPr>
        <p:spPr>
          <a:xfrm>
            <a:off x="4379976" y="3171370"/>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1,09×</a:t>
            </a:r>
          </a:p>
        </p:txBody>
      </p:sp>
      <p:sp>
        <p:nvSpPr>
          <p:cNvPr id="17" name="TextBox 16"/>
          <p:cNvSpPr txBox="1"/>
          <p:nvPr/>
        </p:nvSpPr>
        <p:spPr>
          <a:xfrm>
            <a:off x="932688" y="3564562"/>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Lead Time</a:t>
            </a:r>
          </a:p>
        </p:txBody>
      </p:sp>
      <p:sp>
        <p:nvSpPr>
          <p:cNvPr id="18" name="TextBox 17"/>
          <p:cNvSpPr txBox="1"/>
          <p:nvPr/>
        </p:nvSpPr>
        <p:spPr>
          <a:xfrm>
            <a:off x="4379976" y="3564562"/>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19" name="TextBox 18"/>
          <p:cNvSpPr txBox="1"/>
          <p:nvPr/>
        </p:nvSpPr>
        <p:spPr>
          <a:xfrm>
            <a:off x="932688" y="3957753"/>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Customer Delivery Status</a:t>
            </a:r>
          </a:p>
        </p:txBody>
      </p:sp>
      <p:sp>
        <p:nvSpPr>
          <p:cNvPr id="20" name="TextBox 19"/>
          <p:cNvSpPr txBox="1"/>
          <p:nvPr/>
        </p:nvSpPr>
        <p:spPr>
          <a:xfrm>
            <a:off x="4379976" y="3957753"/>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21" name="TextBox 20"/>
          <p:cNvSpPr txBox="1"/>
          <p:nvPr/>
        </p:nvSpPr>
        <p:spPr>
          <a:xfrm>
            <a:off x="932688" y="4350945"/>
            <a:ext cx="3154680" cy="320088"/>
          </a:xfrm>
          <a:prstGeom prst="rect">
            <a:avLst/>
          </a:prstGeom>
          <a:noFill/>
        </p:spPr>
        <p:txBody>
          <a:bodyPr wrap="square" lIns="36576" tIns="36576" rIns="36576" bIns="36576" anchor="t">
            <a:spAutoFit/>
          </a:bodyPr>
          <a:lstStyle/>
          <a:p>
            <a:pPr algn="l"/>
            <a:r>
              <a:rPr sz="1600" b="1">
                <a:solidFill>
                  <a:srgbClr val="162C46"/>
                </a:solidFill>
                <a:latin typeface="Aptos"/>
              </a:rPr>
              <a:t>Lead Time + Customer Status</a:t>
            </a:r>
          </a:p>
        </p:txBody>
      </p:sp>
      <p:sp>
        <p:nvSpPr>
          <p:cNvPr id="22" name="TextBox 21"/>
          <p:cNvSpPr txBox="1"/>
          <p:nvPr/>
        </p:nvSpPr>
        <p:spPr>
          <a:xfrm>
            <a:off x="4379976" y="4350945"/>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2,52×</a:t>
            </a:r>
          </a:p>
        </p:txBody>
      </p:sp>
      <p:sp>
        <p:nvSpPr>
          <p:cNvPr id="23" name="TextBox 22"/>
          <p:cNvSpPr txBox="1"/>
          <p:nvPr/>
        </p:nvSpPr>
        <p:spPr>
          <a:xfrm>
            <a:off x="932688" y="4670986"/>
            <a:ext cx="46177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ΔPR-AUC (Lead Time + Status vs Lead Time): +0,0195 · 95% CI [+0,0109; +0,0342]</a:t>
            </a:r>
          </a:p>
        </p:txBody>
      </p:sp>
      <p:sp>
        <p:nvSpPr>
          <p:cNvPr id="24" name="TextBox 23"/>
          <p:cNvSpPr txBox="1"/>
          <p:nvPr/>
        </p:nvSpPr>
        <p:spPr>
          <a:xfrm>
            <a:off x="6172200" y="2646831"/>
            <a:ext cx="40233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LOW RATING KHÔNG CHỈ LÀ DELIVERY</a:t>
            </a:r>
          </a:p>
        </p:txBody>
      </p:sp>
      <p:sp>
        <p:nvSpPr>
          <p:cNvPr id="25" name="Rounded Rectangle 24"/>
          <p:cNvSpPr/>
          <p:nvPr/>
        </p:nvSpPr>
        <p:spPr>
          <a:xfrm>
            <a:off x="6172200" y="3090672"/>
            <a:ext cx="5321808" cy="2245603"/>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419088" y="3319272"/>
            <a:ext cx="4800600" cy="320088"/>
          </a:xfrm>
          <a:prstGeom prst="rect">
            <a:avLst/>
          </a:prstGeom>
          <a:noFill/>
        </p:spPr>
        <p:txBody>
          <a:bodyPr wrap="square" lIns="36576" tIns="36576" rIns="36576" bIns="36576" anchor="t">
            <a:spAutoFit/>
          </a:bodyPr>
          <a:lstStyle/>
          <a:p>
            <a:pPr algn="l"/>
            <a:r>
              <a:rPr sz="1600" b="1">
                <a:solidFill>
                  <a:srgbClr val="162C46"/>
                </a:solidFill>
                <a:latin typeface="Aptos"/>
              </a:rPr>
              <a:t>Mức giảm PR-AUC khi loại nhóm Feature</a:t>
            </a:r>
          </a:p>
        </p:txBody>
      </p:sp>
      <p:sp>
        <p:nvSpPr>
          <p:cNvPr id="27" name="TextBox 26"/>
          <p:cNvSpPr txBox="1"/>
          <p:nvPr/>
        </p:nvSpPr>
        <p:spPr>
          <a:xfrm>
            <a:off x="6419088" y="3749039"/>
            <a:ext cx="1783080" cy="320088"/>
          </a:xfrm>
          <a:prstGeom prst="rect">
            <a:avLst/>
          </a:prstGeom>
          <a:noFill/>
        </p:spPr>
        <p:txBody>
          <a:bodyPr wrap="square" lIns="36576" tIns="36576" rIns="36576" bIns="36576" anchor="t">
            <a:spAutoFit/>
          </a:bodyPr>
          <a:lstStyle/>
          <a:p>
            <a:pPr algn="l"/>
            <a:r>
              <a:rPr sz="1400" b="0">
                <a:solidFill>
                  <a:srgbClr val="242B33"/>
                </a:solidFill>
                <a:latin typeface="Aptos"/>
              </a:rPr>
              <a:t>Product History</a:t>
            </a:r>
          </a:p>
        </p:txBody>
      </p:sp>
      <p:sp>
        <p:nvSpPr>
          <p:cNvPr id="28" name="Rectangle 27"/>
          <p:cNvSpPr/>
          <p:nvPr/>
        </p:nvSpPr>
        <p:spPr>
          <a:xfrm>
            <a:off x="8156448" y="3776472"/>
            <a:ext cx="2331720"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10588752" y="3728840"/>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−0,0103</a:t>
            </a:r>
          </a:p>
        </p:txBody>
      </p:sp>
      <p:sp>
        <p:nvSpPr>
          <p:cNvPr id="30" name="TextBox 29"/>
          <p:cNvSpPr txBox="1"/>
          <p:nvPr/>
        </p:nvSpPr>
        <p:spPr>
          <a:xfrm>
            <a:off x="6419088" y="4187952"/>
            <a:ext cx="1783080" cy="566309"/>
          </a:xfrm>
          <a:prstGeom prst="rect">
            <a:avLst/>
          </a:prstGeom>
          <a:noFill/>
        </p:spPr>
        <p:txBody>
          <a:bodyPr wrap="square" lIns="36576" tIns="36576" rIns="36576" bIns="36576" anchor="t">
            <a:spAutoFit/>
          </a:bodyPr>
          <a:lstStyle/>
          <a:p>
            <a:pPr algn="l"/>
            <a:r>
              <a:rPr sz="1400" b="0">
                <a:solidFill>
                  <a:srgbClr val="242B33"/>
                </a:solidFill>
                <a:latin typeface="Aptos"/>
              </a:rPr>
              <a:t>Customer History</a:t>
            </a:r>
          </a:p>
        </p:txBody>
      </p:sp>
      <p:sp>
        <p:nvSpPr>
          <p:cNvPr id="31" name="Rectangle 30"/>
          <p:cNvSpPr/>
          <p:nvPr/>
        </p:nvSpPr>
        <p:spPr>
          <a:xfrm>
            <a:off x="8156448" y="4215384"/>
            <a:ext cx="1607302"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10588752" y="4187952"/>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−0,0071</a:t>
            </a:r>
          </a:p>
        </p:txBody>
      </p:sp>
      <p:sp>
        <p:nvSpPr>
          <p:cNvPr id="33" name="TextBox 32"/>
          <p:cNvSpPr txBox="1"/>
          <p:nvPr/>
        </p:nvSpPr>
        <p:spPr>
          <a:xfrm>
            <a:off x="6419088" y="4626864"/>
            <a:ext cx="1783080" cy="320088"/>
          </a:xfrm>
          <a:prstGeom prst="rect">
            <a:avLst/>
          </a:prstGeom>
          <a:noFill/>
        </p:spPr>
        <p:txBody>
          <a:bodyPr wrap="square" lIns="36576" tIns="36576" rIns="36576" bIns="36576" anchor="t">
            <a:spAutoFit/>
          </a:bodyPr>
          <a:lstStyle/>
          <a:p>
            <a:pPr algn="l"/>
            <a:r>
              <a:rPr sz="1400" b="0">
                <a:solidFill>
                  <a:srgbClr val="242B33"/>
                </a:solidFill>
                <a:latin typeface="Aptos"/>
              </a:rPr>
              <a:t>Delivery Features</a:t>
            </a:r>
          </a:p>
        </p:txBody>
      </p:sp>
      <p:sp>
        <p:nvSpPr>
          <p:cNvPr id="34" name="Rectangle 33"/>
          <p:cNvSpPr/>
          <p:nvPr/>
        </p:nvSpPr>
        <p:spPr>
          <a:xfrm>
            <a:off x="8156448" y="4654296"/>
            <a:ext cx="294294"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10588752" y="4626864"/>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−0,0013</a:t>
            </a:r>
          </a:p>
        </p:txBody>
      </p:sp>
      <p:sp>
        <p:nvSpPr>
          <p:cNvPr id="36" name="Rounded Rectangle 35"/>
          <p:cNvSpPr/>
          <p:nvPr/>
        </p:nvSpPr>
        <p:spPr>
          <a:xfrm>
            <a:off x="658368" y="5594799"/>
            <a:ext cx="10835640" cy="658368"/>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932688" y="5777679"/>
            <a:ext cx="10287000" cy="320088"/>
          </a:xfrm>
          <a:prstGeom prst="rect">
            <a:avLst/>
          </a:prstGeom>
          <a:noFill/>
        </p:spPr>
        <p:txBody>
          <a:bodyPr wrap="square" lIns="36576" tIns="36576" rIns="36576" bIns="36576" anchor="t">
            <a:spAutoFit/>
          </a:bodyPr>
          <a:lstStyle/>
          <a:p>
            <a:pPr algn="ctr"/>
            <a:r>
              <a:rPr sz="1600" b="1">
                <a:solidFill>
                  <a:srgbClr val="FFFFFF"/>
                </a:solidFill>
                <a:latin typeface="Aptos"/>
              </a:rPr>
              <a:t>SLA là một tín hiệu hữu ích, nhưng không đủ để mô tả toàn bộ trải nghiệm giao hàng và nguy cơ Low Rating.</a:t>
            </a:r>
          </a:p>
        </p:txBody>
      </p:sp>
      <p:sp>
        <p:nvSpPr>
          <p:cNvPr id="38" name="TextBox 37"/>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9" name="TextBox 3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20</a:t>
            </a:r>
          </a:p>
        </p:txBody>
      </p:sp>
      <p:sp>
        <p:nvSpPr>
          <p:cNvPr id="40" name="Rounded Rectangle 39"/>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41" name="Rounded Rectangle 40"/>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42" name="Rounded Rectangle 41"/>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43" name="Rounded Rectangle 42"/>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44" name="Rounded Rectangle 43"/>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45" name="Rounded Rectangle 44"/>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46" name="Rounded Rectangle 45"/>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Evaluation</a:t>
            </a:r>
          </a:p>
        </p:txBody>
      </p:sp>
      <p:sp>
        <p:nvSpPr>
          <p:cNvPr id="47" name="Rounded Rectangle 46"/>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136661"/>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BUSINESS VALUE — TỪ SLA ĐẾN GÓC NHÌN LẤY KHÁCH HÀNG LÀM TRUNG TÂM</a:t>
            </a:r>
          </a:p>
        </p:txBody>
      </p:sp>
      <p:cxnSp>
        <p:nvCxnSpPr>
          <p:cNvPr id="3" name="Connector 2"/>
          <p:cNvCxnSpPr/>
          <p:nvPr/>
        </p:nvCxnSpPr>
        <p:spPr>
          <a:xfrm>
            <a:off x="566928" y="106193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21</a:t>
            </a:r>
          </a:p>
        </p:txBody>
      </p:sp>
      <p:sp>
        <p:nvSpPr>
          <p:cNvPr id="5" name="TextBox 4"/>
          <p:cNvSpPr txBox="1"/>
          <p:nvPr/>
        </p:nvSpPr>
        <p:spPr>
          <a:xfrm>
            <a:off x="594360" y="1272471"/>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KẾT LUẬN NGHIÊN CỨU</a:t>
            </a:r>
          </a:p>
        </p:txBody>
      </p:sp>
      <p:sp>
        <p:nvSpPr>
          <p:cNvPr id="6" name="TextBox 5"/>
          <p:cNvSpPr txBox="1"/>
          <p:nvPr/>
        </p:nvSpPr>
        <p:spPr>
          <a:xfrm>
            <a:off x="594360" y="1610799"/>
            <a:ext cx="5257800" cy="2276008"/>
          </a:xfrm>
          <a:prstGeom prst="rect">
            <a:avLst/>
          </a:prstGeom>
          <a:noFill/>
        </p:spPr>
        <p:txBody>
          <a:bodyPr wrap="square" lIns="36576" tIns="18288" rIns="18288" bIns="18288">
            <a:spAutoFit/>
          </a:bodyPr>
          <a:lstStyle/>
          <a:p>
            <a:pPr>
              <a:spcAft>
                <a:spcPts val="700"/>
              </a:spcAft>
              <a:defRPr sz="1250">
                <a:solidFill>
                  <a:srgbClr val="242B33"/>
                </a:solidFill>
                <a:latin typeface="Aptos"/>
              </a:defRPr>
            </a:pPr>
            <a:r>
              <a:rPr sz="1600" dirty="0"/>
              <a:t>• Median Lead Time 1,26 </a:t>
            </a:r>
            <a:r>
              <a:rPr sz="1600" dirty="0" err="1"/>
              <a:t>ngày</a:t>
            </a:r>
            <a:r>
              <a:rPr sz="1600" dirty="0"/>
              <a:t>, </a:t>
            </a:r>
            <a:r>
              <a:rPr sz="1600" dirty="0" err="1"/>
              <a:t>nhưng</a:t>
            </a:r>
            <a:r>
              <a:rPr sz="1600" dirty="0"/>
              <a:t> </a:t>
            </a:r>
            <a:r>
              <a:rPr sz="1600" dirty="0" err="1"/>
              <a:t>vẫn</a:t>
            </a:r>
            <a:r>
              <a:rPr sz="1600" dirty="0"/>
              <a:t> </a:t>
            </a:r>
            <a:r>
              <a:rPr sz="1600" dirty="0" err="1"/>
              <a:t>tồn</a:t>
            </a:r>
            <a:r>
              <a:rPr sz="1600" dirty="0"/>
              <a:t> </a:t>
            </a:r>
            <a:r>
              <a:rPr sz="1600" dirty="0" err="1"/>
              <a:t>tại</a:t>
            </a:r>
            <a:r>
              <a:rPr sz="1600" dirty="0"/>
              <a:t> </a:t>
            </a:r>
            <a:r>
              <a:rPr sz="1600" dirty="0" err="1"/>
              <a:t>nhóm</a:t>
            </a:r>
            <a:r>
              <a:rPr sz="1600" dirty="0"/>
              <a:t> </a:t>
            </a:r>
            <a:r>
              <a:rPr sz="1600" dirty="0" err="1"/>
              <a:t>giao</a:t>
            </a:r>
            <a:r>
              <a:rPr sz="1600" dirty="0"/>
              <a:t> </a:t>
            </a:r>
            <a:r>
              <a:rPr sz="1600" dirty="0" err="1"/>
              <a:t>rất</a:t>
            </a:r>
            <a:r>
              <a:rPr sz="1600" dirty="0"/>
              <a:t> </a:t>
            </a:r>
            <a:r>
              <a:rPr sz="1600" dirty="0" err="1"/>
              <a:t>chậm</a:t>
            </a:r>
            <a:r>
              <a:rPr sz="1600" dirty="0"/>
              <a:t>.</a:t>
            </a:r>
          </a:p>
          <a:p>
            <a:pPr>
              <a:spcAft>
                <a:spcPts val="700"/>
              </a:spcAft>
              <a:defRPr sz="1250">
                <a:solidFill>
                  <a:srgbClr val="242B33"/>
                </a:solidFill>
                <a:latin typeface="Aptos"/>
              </a:defRPr>
            </a:pPr>
            <a:r>
              <a:rPr sz="1600" dirty="0"/>
              <a:t>• SLA </a:t>
            </a:r>
            <a:r>
              <a:rPr sz="1600" dirty="0" err="1"/>
              <a:t>và</a:t>
            </a:r>
            <a:r>
              <a:rPr sz="1600" dirty="0"/>
              <a:t> </a:t>
            </a:r>
            <a:r>
              <a:rPr sz="1600" dirty="0" err="1"/>
              <a:t>cảm</a:t>
            </a:r>
            <a:r>
              <a:rPr sz="1600" dirty="0"/>
              <a:t> </a:t>
            </a:r>
            <a:r>
              <a:rPr sz="1600" dirty="0" err="1"/>
              <a:t>nhận</a:t>
            </a:r>
            <a:r>
              <a:rPr sz="1600" dirty="0"/>
              <a:t> </a:t>
            </a:r>
            <a:r>
              <a:rPr sz="1600" dirty="0" err="1"/>
              <a:t>khách</a:t>
            </a:r>
            <a:r>
              <a:rPr sz="1600" dirty="0"/>
              <a:t> </a:t>
            </a:r>
            <a:r>
              <a:rPr sz="1600" dirty="0" err="1"/>
              <a:t>hàng</a:t>
            </a:r>
            <a:r>
              <a:rPr sz="1600" dirty="0"/>
              <a:t> </a:t>
            </a:r>
            <a:r>
              <a:rPr sz="1600" dirty="0" err="1"/>
              <a:t>không</a:t>
            </a:r>
            <a:r>
              <a:rPr sz="1600" dirty="0"/>
              <a:t> </a:t>
            </a:r>
            <a:r>
              <a:rPr sz="1600" dirty="0" err="1"/>
              <a:t>phải</a:t>
            </a:r>
            <a:r>
              <a:rPr sz="1600" dirty="0"/>
              <a:t> </a:t>
            </a:r>
            <a:r>
              <a:rPr sz="1600" dirty="0" err="1"/>
              <a:t>lúc</a:t>
            </a:r>
            <a:r>
              <a:rPr sz="1600" dirty="0"/>
              <a:t> </a:t>
            </a:r>
            <a:r>
              <a:rPr sz="1600" dirty="0" err="1"/>
              <a:t>nào</a:t>
            </a:r>
            <a:r>
              <a:rPr sz="1600" dirty="0"/>
              <a:t> </a:t>
            </a:r>
            <a:r>
              <a:rPr sz="1600" dirty="0" err="1"/>
              <a:t>cũng</a:t>
            </a:r>
            <a:r>
              <a:rPr sz="1600" dirty="0"/>
              <a:t> </a:t>
            </a:r>
            <a:r>
              <a:rPr sz="1600" dirty="0" err="1"/>
              <a:t>đồng</a:t>
            </a:r>
            <a:r>
              <a:rPr sz="1600" dirty="0"/>
              <a:t> </a:t>
            </a:r>
            <a:r>
              <a:rPr sz="1600" dirty="0" err="1"/>
              <a:t>nhất</a:t>
            </a:r>
            <a:r>
              <a:rPr sz="1600" dirty="0"/>
              <a:t>.</a:t>
            </a:r>
          </a:p>
          <a:p>
            <a:pPr>
              <a:spcAft>
                <a:spcPts val="700"/>
              </a:spcAft>
              <a:defRPr sz="1250">
                <a:solidFill>
                  <a:srgbClr val="242B33"/>
                </a:solidFill>
                <a:latin typeface="Aptos"/>
              </a:defRPr>
            </a:pPr>
            <a:r>
              <a:rPr sz="1600" dirty="0"/>
              <a:t>• SLA Breach </a:t>
            </a:r>
            <a:r>
              <a:rPr sz="1600" dirty="0" err="1"/>
              <a:t>đơn</a:t>
            </a:r>
            <a:r>
              <a:rPr sz="1600" dirty="0"/>
              <a:t> </a:t>
            </a:r>
            <a:r>
              <a:rPr sz="1600" dirty="0" err="1"/>
              <a:t>lẻ</a:t>
            </a:r>
            <a:r>
              <a:rPr sz="1600" dirty="0"/>
              <a:t> </a:t>
            </a:r>
            <a:r>
              <a:rPr sz="1600" dirty="0" err="1"/>
              <a:t>chỉ</a:t>
            </a:r>
            <a:r>
              <a:rPr sz="1600" dirty="0"/>
              <a:t> </a:t>
            </a:r>
            <a:r>
              <a:rPr sz="1600" dirty="0" err="1"/>
              <a:t>đạt</a:t>
            </a:r>
            <a:r>
              <a:rPr sz="1600" dirty="0"/>
              <a:t> Lift 1,06× </a:t>
            </a:r>
            <a:r>
              <a:rPr sz="1600" dirty="0" err="1"/>
              <a:t>trong</a:t>
            </a:r>
            <a:r>
              <a:rPr sz="1600" dirty="0"/>
              <a:t> </a:t>
            </a:r>
            <a:r>
              <a:rPr sz="1600" dirty="0" err="1"/>
              <a:t>nhận</a:t>
            </a:r>
            <a:r>
              <a:rPr sz="1600" dirty="0"/>
              <a:t> </a:t>
            </a:r>
            <a:r>
              <a:rPr sz="1600" dirty="0" err="1"/>
              <a:t>diện</a:t>
            </a:r>
            <a:r>
              <a:rPr sz="1600" dirty="0"/>
              <a:t> Low Rating.</a:t>
            </a:r>
          </a:p>
          <a:p>
            <a:pPr>
              <a:spcAft>
                <a:spcPts val="700"/>
              </a:spcAft>
              <a:defRPr sz="1250">
                <a:solidFill>
                  <a:srgbClr val="242B33"/>
                </a:solidFill>
                <a:latin typeface="Aptos"/>
              </a:defRPr>
            </a:pPr>
            <a:r>
              <a:rPr sz="1600" dirty="0"/>
              <a:t>• </a:t>
            </a:r>
            <a:r>
              <a:rPr sz="1600" dirty="0" err="1"/>
              <a:t>Mô</a:t>
            </a:r>
            <a:r>
              <a:rPr sz="1600" dirty="0"/>
              <a:t> </a:t>
            </a:r>
            <a:r>
              <a:rPr sz="1600" dirty="0" err="1"/>
              <a:t>hình</a:t>
            </a:r>
            <a:r>
              <a:rPr sz="1600" dirty="0"/>
              <a:t> </a:t>
            </a:r>
            <a:r>
              <a:rPr sz="1600" dirty="0" err="1"/>
              <a:t>kết</a:t>
            </a:r>
            <a:r>
              <a:rPr sz="1600" dirty="0"/>
              <a:t> </a:t>
            </a:r>
            <a:r>
              <a:rPr sz="1600" dirty="0" err="1"/>
              <a:t>hợp</a:t>
            </a:r>
            <a:r>
              <a:rPr sz="1600" dirty="0"/>
              <a:t> </a:t>
            </a:r>
            <a:r>
              <a:rPr sz="1600" dirty="0" err="1"/>
              <a:t>nhiều</a:t>
            </a:r>
            <a:r>
              <a:rPr sz="1600" dirty="0"/>
              <a:t> Features </a:t>
            </a:r>
            <a:r>
              <a:rPr sz="1600" dirty="0" err="1"/>
              <a:t>cung</a:t>
            </a:r>
            <a:r>
              <a:rPr sz="1600" dirty="0"/>
              <a:t> </a:t>
            </a:r>
            <a:r>
              <a:rPr sz="1600" dirty="0" err="1"/>
              <a:t>cấp</a:t>
            </a:r>
            <a:r>
              <a:rPr sz="1600" dirty="0"/>
              <a:t> </a:t>
            </a:r>
            <a:r>
              <a:rPr sz="1600" dirty="0" err="1"/>
              <a:t>tín</a:t>
            </a:r>
            <a:r>
              <a:rPr sz="1600" dirty="0"/>
              <a:t> </a:t>
            </a:r>
            <a:r>
              <a:rPr sz="1600" dirty="0" err="1"/>
              <a:t>hiệu</a:t>
            </a:r>
            <a:r>
              <a:rPr sz="1600" dirty="0"/>
              <a:t> </a:t>
            </a:r>
            <a:r>
              <a:rPr sz="1600" dirty="0" err="1"/>
              <a:t>rủi</a:t>
            </a:r>
            <a:r>
              <a:rPr sz="1600" dirty="0"/>
              <a:t> </a:t>
            </a:r>
            <a:r>
              <a:rPr sz="1600" dirty="0" err="1"/>
              <a:t>ro</a:t>
            </a:r>
            <a:r>
              <a:rPr sz="1600" dirty="0"/>
              <a:t> </a:t>
            </a:r>
            <a:r>
              <a:rPr sz="1600" dirty="0" err="1"/>
              <a:t>tốt</a:t>
            </a:r>
            <a:r>
              <a:rPr sz="1600" dirty="0"/>
              <a:t> </a:t>
            </a:r>
            <a:r>
              <a:rPr sz="1600" dirty="0" err="1"/>
              <a:t>hơn</a:t>
            </a:r>
            <a:r>
              <a:rPr sz="1600" dirty="0"/>
              <a:t> SLA </a:t>
            </a:r>
            <a:r>
              <a:rPr sz="1600" dirty="0" err="1"/>
              <a:t>đơn</a:t>
            </a:r>
            <a:r>
              <a:rPr sz="1600" dirty="0"/>
              <a:t> </a:t>
            </a:r>
            <a:r>
              <a:rPr sz="1600" dirty="0" err="1"/>
              <a:t>lẻ</a:t>
            </a:r>
            <a:r>
              <a:rPr sz="1600" dirty="0"/>
              <a:t>.</a:t>
            </a:r>
          </a:p>
        </p:txBody>
      </p:sp>
      <p:sp>
        <p:nvSpPr>
          <p:cNvPr id="7" name="TextBox 6"/>
          <p:cNvSpPr txBox="1"/>
          <p:nvPr/>
        </p:nvSpPr>
        <p:spPr>
          <a:xfrm>
            <a:off x="6108192" y="1272471"/>
            <a:ext cx="2560320" cy="320088"/>
          </a:xfrm>
          <a:prstGeom prst="rect">
            <a:avLst/>
          </a:prstGeom>
          <a:noFill/>
        </p:spPr>
        <p:txBody>
          <a:bodyPr wrap="square" lIns="36576" tIns="36576" rIns="36576" bIns="36576" anchor="t">
            <a:spAutoFit/>
          </a:bodyPr>
          <a:lstStyle/>
          <a:p>
            <a:pPr algn="l"/>
            <a:r>
              <a:rPr sz="1600" b="1">
                <a:solidFill>
                  <a:srgbClr val="2F639D"/>
                </a:solidFill>
                <a:latin typeface="Aptos"/>
              </a:rPr>
              <a:t>2. BUSINESS VALUE</a:t>
            </a:r>
          </a:p>
        </p:txBody>
      </p:sp>
      <p:sp>
        <p:nvSpPr>
          <p:cNvPr id="8" name="Rounded Rectangle 7"/>
          <p:cNvSpPr/>
          <p:nvPr/>
        </p:nvSpPr>
        <p:spPr>
          <a:xfrm>
            <a:off x="6108192" y="1610799"/>
            <a:ext cx="5321808" cy="242316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Rounded Rectangle 8"/>
          <p:cNvSpPr/>
          <p:nvPr/>
        </p:nvSpPr>
        <p:spPr>
          <a:xfrm>
            <a:off x="6318504" y="1930838"/>
            <a:ext cx="1417320" cy="106364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6391656" y="1954009"/>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 LEAD TIME</a:t>
            </a:r>
          </a:p>
        </p:txBody>
      </p:sp>
      <p:sp>
        <p:nvSpPr>
          <p:cNvPr id="11" name="TextBox 10"/>
          <p:cNvSpPr txBox="1"/>
          <p:nvPr/>
        </p:nvSpPr>
        <p:spPr>
          <a:xfrm>
            <a:off x="6391656" y="2433759"/>
            <a:ext cx="1271016"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Theo </a:t>
            </a:r>
            <a:r>
              <a:rPr sz="1600" b="0" dirty="0" err="1">
                <a:solidFill>
                  <a:srgbClr val="5E6A78"/>
                </a:solidFill>
                <a:latin typeface="Aptos"/>
              </a:rPr>
              <a:t>dõi</a:t>
            </a:r>
            <a:r>
              <a:rPr sz="1600" b="0" dirty="0">
                <a:solidFill>
                  <a:srgbClr val="5E6A78"/>
                </a:solidFill>
                <a:latin typeface="Aptos"/>
              </a:rPr>
              <a:t> </a:t>
            </a:r>
            <a:r>
              <a:rPr sz="1600" b="0" dirty="0" err="1">
                <a:solidFill>
                  <a:srgbClr val="5E6A78"/>
                </a:solidFill>
                <a:latin typeface="Aptos"/>
              </a:rPr>
              <a:t>vận</a:t>
            </a:r>
            <a:r>
              <a:rPr sz="1600" b="0" dirty="0">
                <a:solidFill>
                  <a:srgbClr val="5E6A78"/>
                </a:solidFill>
                <a:latin typeface="Aptos"/>
              </a:rPr>
              <a:t> </a:t>
            </a:r>
            <a:r>
              <a:rPr sz="1600" b="0" dirty="0" err="1">
                <a:solidFill>
                  <a:srgbClr val="5E6A78"/>
                </a:solidFill>
                <a:latin typeface="Aptos"/>
              </a:rPr>
              <a:t>hành</a:t>
            </a:r>
            <a:endParaRPr sz="1600" b="0" dirty="0">
              <a:solidFill>
                <a:srgbClr val="5E6A78"/>
              </a:solidFill>
              <a:latin typeface="Aptos"/>
            </a:endParaRPr>
          </a:p>
        </p:txBody>
      </p:sp>
      <p:sp>
        <p:nvSpPr>
          <p:cNvPr id="12" name="Rounded Rectangle 11"/>
          <p:cNvSpPr/>
          <p:nvPr/>
        </p:nvSpPr>
        <p:spPr>
          <a:xfrm>
            <a:off x="7946136" y="1930839"/>
            <a:ext cx="1417320" cy="106364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8019288" y="1958634"/>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SIGNAL</a:t>
            </a:r>
          </a:p>
        </p:txBody>
      </p:sp>
      <p:sp>
        <p:nvSpPr>
          <p:cNvPr id="14" name="TextBox 13"/>
          <p:cNvSpPr txBox="1"/>
          <p:nvPr/>
        </p:nvSpPr>
        <p:spPr>
          <a:xfrm>
            <a:off x="8019288" y="2433759"/>
            <a:ext cx="1271016" cy="566309"/>
          </a:xfrm>
          <a:prstGeom prst="rect">
            <a:avLst/>
          </a:prstGeom>
          <a:noFill/>
        </p:spPr>
        <p:txBody>
          <a:bodyPr wrap="square" lIns="36576" tIns="36576" rIns="36576" bIns="36576" anchor="t">
            <a:spAutoFit/>
          </a:bodyPr>
          <a:lstStyle/>
          <a:p>
            <a:pPr algn="ctr"/>
            <a:r>
              <a:rPr sz="1600" b="0">
                <a:solidFill>
                  <a:srgbClr val="5E6A78"/>
                </a:solidFill>
                <a:latin typeface="Aptos"/>
              </a:rPr>
              <a:t>Lắng nghe trải nghiệm</a:t>
            </a:r>
          </a:p>
        </p:txBody>
      </p:sp>
      <p:sp>
        <p:nvSpPr>
          <p:cNvPr id="15" name="Rounded Rectangle 14"/>
          <p:cNvSpPr/>
          <p:nvPr/>
        </p:nvSpPr>
        <p:spPr>
          <a:xfrm>
            <a:off x="9573768" y="1930838"/>
            <a:ext cx="1417320" cy="1085367"/>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9646920" y="1953651"/>
            <a:ext cx="1271016"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RISK MODEL</a:t>
            </a:r>
          </a:p>
        </p:txBody>
      </p:sp>
      <p:sp>
        <p:nvSpPr>
          <p:cNvPr id="17" name="TextBox 16"/>
          <p:cNvSpPr txBox="1"/>
          <p:nvPr/>
        </p:nvSpPr>
        <p:spPr>
          <a:xfrm>
            <a:off x="9646920" y="2203676"/>
            <a:ext cx="1271016" cy="812530"/>
          </a:xfrm>
          <a:prstGeom prst="rect">
            <a:avLst/>
          </a:prstGeom>
          <a:noFill/>
        </p:spPr>
        <p:txBody>
          <a:bodyPr wrap="square" lIns="36576" tIns="36576" rIns="36576" bIns="36576" anchor="t">
            <a:spAutoFit/>
          </a:bodyPr>
          <a:lstStyle/>
          <a:p>
            <a:pPr algn="ctr"/>
            <a:r>
              <a:rPr sz="1600" b="0" dirty="0" err="1">
                <a:solidFill>
                  <a:srgbClr val="5E6A78"/>
                </a:solidFill>
                <a:latin typeface="Aptos"/>
              </a:rPr>
              <a:t>Ưu</a:t>
            </a:r>
            <a:r>
              <a:rPr sz="1600" b="0" dirty="0">
                <a:solidFill>
                  <a:srgbClr val="5E6A78"/>
                </a:solidFill>
                <a:latin typeface="Aptos"/>
              </a:rPr>
              <a:t> </a:t>
            </a:r>
            <a:r>
              <a:rPr sz="1600" b="0" dirty="0" err="1">
                <a:solidFill>
                  <a:srgbClr val="5E6A78"/>
                </a:solidFill>
                <a:latin typeface="Aptos"/>
              </a:rPr>
              <a:t>tiên</a:t>
            </a:r>
            <a:r>
              <a:rPr sz="1600" b="0" dirty="0">
                <a:solidFill>
                  <a:srgbClr val="5E6A78"/>
                </a:solidFill>
                <a:latin typeface="Aptos"/>
              </a:rPr>
              <a:t> </a:t>
            </a:r>
            <a:r>
              <a:rPr sz="1600" b="0" dirty="0" err="1">
                <a:solidFill>
                  <a:srgbClr val="5E6A78"/>
                </a:solidFill>
                <a:latin typeface="Aptos"/>
              </a:rPr>
              <a:t>trường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rủi</a:t>
            </a:r>
            <a:r>
              <a:rPr sz="1600" b="0" dirty="0">
                <a:solidFill>
                  <a:srgbClr val="5E6A78"/>
                </a:solidFill>
                <a:latin typeface="Aptos"/>
              </a:rPr>
              <a:t> </a:t>
            </a:r>
            <a:r>
              <a:rPr sz="1600" b="0" dirty="0" err="1">
                <a:solidFill>
                  <a:srgbClr val="5E6A78"/>
                </a:solidFill>
                <a:latin typeface="Aptos"/>
              </a:rPr>
              <a:t>ro</a:t>
            </a:r>
            <a:endParaRPr sz="1600" b="0" dirty="0">
              <a:solidFill>
                <a:srgbClr val="5E6A78"/>
              </a:solidFill>
              <a:latin typeface="Aptos"/>
            </a:endParaRPr>
          </a:p>
        </p:txBody>
      </p:sp>
      <p:sp>
        <p:nvSpPr>
          <p:cNvPr id="18" name="TextBox 17"/>
          <p:cNvSpPr txBox="1"/>
          <p:nvPr/>
        </p:nvSpPr>
        <p:spPr>
          <a:xfrm>
            <a:off x="8421624" y="2954967"/>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19" name="TextBox 18"/>
          <p:cNvSpPr txBox="1"/>
          <p:nvPr/>
        </p:nvSpPr>
        <p:spPr>
          <a:xfrm>
            <a:off x="6656832" y="3284151"/>
            <a:ext cx="4251960" cy="320088"/>
          </a:xfrm>
          <a:prstGeom prst="rect">
            <a:avLst/>
          </a:prstGeom>
          <a:noFill/>
        </p:spPr>
        <p:txBody>
          <a:bodyPr wrap="square" lIns="36576" tIns="36576" rIns="36576" bIns="36576" anchor="t">
            <a:spAutoFit/>
          </a:bodyPr>
          <a:lstStyle/>
          <a:p>
            <a:pPr algn="ctr"/>
            <a:r>
              <a:rPr sz="1600" b="1">
                <a:solidFill>
                  <a:srgbClr val="2F639D"/>
                </a:solidFill>
                <a:latin typeface="Aptos"/>
              </a:rPr>
              <a:t>ĐÁNH GIÁ TRẢI NGHIỆM TOÀN DIỆN HƠN</a:t>
            </a:r>
          </a:p>
        </p:txBody>
      </p:sp>
      <p:sp>
        <p:nvSpPr>
          <p:cNvPr id="20" name="TextBox 19"/>
          <p:cNvSpPr txBox="1"/>
          <p:nvPr/>
        </p:nvSpPr>
        <p:spPr>
          <a:xfrm>
            <a:off x="6656832" y="3649911"/>
            <a:ext cx="425196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 → 23,3% Low Rating</a:t>
            </a:r>
          </a:p>
        </p:txBody>
      </p:sp>
      <p:sp>
        <p:nvSpPr>
          <p:cNvPr id="21" name="TextBox 20"/>
          <p:cNvSpPr txBox="1"/>
          <p:nvPr/>
        </p:nvSpPr>
        <p:spPr>
          <a:xfrm>
            <a:off x="594360" y="3924231"/>
            <a:ext cx="3840480" cy="320088"/>
          </a:xfrm>
          <a:prstGeom prst="rect">
            <a:avLst/>
          </a:prstGeom>
          <a:noFill/>
        </p:spPr>
        <p:txBody>
          <a:bodyPr wrap="square" lIns="36576" tIns="36576" rIns="36576" bIns="36576" anchor="t">
            <a:spAutoFit/>
          </a:bodyPr>
          <a:lstStyle/>
          <a:p>
            <a:pPr algn="l"/>
            <a:r>
              <a:rPr sz="1600" b="1">
                <a:solidFill>
                  <a:srgbClr val="2F639D"/>
                </a:solidFill>
                <a:latin typeface="Aptos"/>
              </a:rPr>
              <a:t>3. GIỚI HẠN &amp; HƯỚNG PHÁT TRIỂN</a:t>
            </a:r>
          </a:p>
        </p:txBody>
      </p:sp>
      <p:sp>
        <p:nvSpPr>
          <p:cNvPr id="22" name="Rounded Rectangle 21"/>
          <p:cNvSpPr/>
          <p:nvPr/>
        </p:nvSpPr>
        <p:spPr>
          <a:xfrm>
            <a:off x="594360" y="4262559"/>
            <a:ext cx="10835640" cy="1105576"/>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832104" y="4390265"/>
            <a:ext cx="32461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Delivery Status </a:t>
            </a:r>
            <a:r>
              <a:rPr sz="1600" b="1" dirty="0" err="1">
                <a:solidFill>
                  <a:srgbClr val="162C46"/>
                </a:solidFill>
                <a:latin typeface="Aptos"/>
              </a:rPr>
              <a:t>còn</a:t>
            </a:r>
            <a:r>
              <a:rPr sz="1600" b="1" dirty="0">
                <a:solidFill>
                  <a:srgbClr val="162C46"/>
                </a:solidFill>
                <a:latin typeface="Aptos"/>
              </a:rPr>
              <a:t> </a:t>
            </a:r>
            <a:r>
              <a:rPr sz="1600" b="1" dirty="0" err="1">
                <a:solidFill>
                  <a:srgbClr val="162C46"/>
                </a:solidFill>
                <a:latin typeface="Aptos"/>
              </a:rPr>
              <a:t>thiếu</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endParaRPr sz="1600" b="1" dirty="0">
              <a:solidFill>
                <a:srgbClr val="162C46"/>
              </a:solidFill>
              <a:latin typeface="Aptos"/>
            </a:endParaRPr>
          </a:p>
        </p:txBody>
      </p:sp>
      <p:sp>
        <p:nvSpPr>
          <p:cNvPr id="24" name="TextBox 23"/>
          <p:cNvSpPr txBox="1"/>
          <p:nvPr/>
        </p:nvSpPr>
        <p:spPr>
          <a:xfrm>
            <a:off x="4251960" y="4390265"/>
            <a:ext cx="34747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5 </a:t>
            </a:r>
            <a:r>
              <a:rPr sz="1600" b="1" dirty="0" err="1">
                <a:solidFill>
                  <a:srgbClr val="162C46"/>
                </a:solidFill>
                <a:latin typeface="Aptos"/>
              </a:rPr>
              <a:t>ngày</a:t>
            </a:r>
            <a:r>
              <a:rPr sz="1600" b="1" dirty="0">
                <a:solidFill>
                  <a:srgbClr val="162C46"/>
                </a:solidFill>
                <a:latin typeface="Aptos"/>
              </a:rPr>
              <a:t> </a:t>
            </a:r>
            <a:r>
              <a:rPr sz="1600" b="1" dirty="0" err="1">
                <a:solidFill>
                  <a:srgbClr val="162C46"/>
                </a:solidFill>
                <a:latin typeface="Aptos"/>
              </a:rPr>
              <a:t>là</a:t>
            </a:r>
            <a:r>
              <a:rPr sz="1600" b="1" dirty="0">
                <a:solidFill>
                  <a:srgbClr val="162C46"/>
                </a:solidFill>
                <a:latin typeface="Aptos"/>
              </a:rPr>
              <a:t> </a:t>
            </a: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chung</a:t>
            </a:r>
            <a:r>
              <a:rPr sz="1600" b="1" dirty="0">
                <a:solidFill>
                  <a:srgbClr val="162C46"/>
                </a:solidFill>
                <a:latin typeface="Aptos"/>
              </a:rPr>
              <a:t>, </a:t>
            </a:r>
            <a:r>
              <a:rPr sz="1600" b="1" dirty="0" err="1">
                <a:solidFill>
                  <a:srgbClr val="162C46"/>
                </a:solidFill>
                <a:latin typeface="Aptos"/>
              </a:rPr>
              <a:t>không</a:t>
            </a:r>
            <a:r>
              <a:rPr sz="1600" b="1" dirty="0">
                <a:solidFill>
                  <a:srgbClr val="162C46"/>
                </a:solidFill>
                <a:latin typeface="Aptos"/>
              </a:rPr>
              <a:t> </a:t>
            </a:r>
            <a:r>
              <a:rPr sz="1600" b="1" dirty="0" err="1">
                <a:solidFill>
                  <a:srgbClr val="162C46"/>
                </a:solidFill>
                <a:latin typeface="Aptos"/>
              </a:rPr>
              <a:t>phải</a:t>
            </a:r>
            <a:r>
              <a:rPr sz="1600" b="1" dirty="0">
                <a:solidFill>
                  <a:srgbClr val="162C46"/>
                </a:solidFill>
                <a:latin typeface="Aptos"/>
              </a:rPr>
              <a:t> promise </a:t>
            </a:r>
            <a:r>
              <a:rPr sz="1600" b="1" dirty="0" err="1">
                <a:solidFill>
                  <a:srgbClr val="162C46"/>
                </a:solidFill>
                <a:latin typeface="Aptos"/>
              </a:rPr>
              <a:t>từng</a:t>
            </a:r>
            <a:r>
              <a:rPr sz="1600" b="1" dirty="0">
                <a:solidFill>
                  <a:srgbClr val="162C46"/>
                </a:solidFill>
                <a:latin typeface="Aptos"/>
              </a:rPr>
              <a:t> </a:t>
            </a:r>
            <a:r>
              <a:rPr sz="1600" b="1" dirty="0" err="1">
                <a:solidFill>
                  <a:srgbClr val="162C46"/>
                </a:solidFill>
                <a:latin typeface="Aptos"/>
              </a:rPr>
              <a:t>đơn</a:t>
            </a:r>
            <a:endParaRPr sz="1600" b="1" dirty="0">
              <a:solidFill>
                <a:srgbClr val="162C46"/>
              </a:solidFill>
              <a:latin typeface="Aptos"/>
            </a:endParaRPr>
          </a:p>
        </p:txBody>
      </p:sp>
      <p:sp>
        <p:nvSpPr>
          <p:cNvPr id="25" name="TextBox 24"/>
          <p:cNvSpPr txBox="1"/>
          <p:nvPr/>
        </p:nvSpPr>
        <p:spPr>
          <a:xfrm>
            <a:off x="7936992" y="4390265"/>
            <a:ext cx="3154680" cy="566309"/>
          </a:xfrm>
          <a:prstGeom prst="rect">
            <a:avLst/>
          </a:prstGeom>
          <a:noFill/>
        </p:spPr>
        <p:txBody>
          <a:bodyPr wrap="square" lIns="36576" tIns="36576" rIns="36576" bIns="36576" anchor="t">
            <a:spAutoFit/>
          </a:bodyPr>
          <a:lstStyle/>
          <a:p>
            <a:pPr algn="ctr"/>
            <a:r>
              <a:rPr sz="1600" b="1">
                <a:solidFill>
                  <a:srgbClr val="162C46"/>
                </a:solidFill>
                <a:latin typeface="Aptos"/>
              </a:rPr>
              <a:t>Dữ liệu chỉ từ Tiki — chưa đại diện toàn thị trường</a:t>
            </a:r>
          </a:p>
        </p:txBody>
      </p:sp>
      <p:sp>
        <p:nvSpPr>
          <p:cNvPr id="26" name="TextBox 25"/>
          <p:cNvSpPr txBox="1"/>
          <p:nvPr/>
        </p:nvSpPr>
        <p:spPr>
          <a:xfrm>
            <a:off x="762000" y="4926155"/>
            <a:ext cx="102412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Hướng</a:t>
            </a:r>
            <a:r>
              <a:rPr sz="1600" b="0" dirty="0">
                <a:solidFill>
                  <a:srgbClr val="5E6A78"/>
                </a:solidFill>
                <a:latin typeface="Aptos"/>
              </a:rPr>
              <a:t> </a:t>
            </a:r>
            <a:r>
              <a:rPr sz="1600" b="0" dirty="0" err="1">
                <a:solidFill>
                  <a:srgbClr val="5E6A78"/>
                </a:solidFill>
                <a:latin typeface="Aptos"/>
              </a:rPr>
              <a:t>phát</a:t>
            </a:r>
            <a:r>
              <a:rPr sz="1600" b="0" dirty="0">
                <a:solidFill>
                  <a:srgbClr val="5E6A78"/>
                </a:solidFill>
                <a:latin typeface="Aptos"/>
              </a:rPr>
              <a:t> </a:t>
            </a:r>
            <a:r>
              <a:rPr sz="1600" b="0" dirty="0" err="1">
                <a:solidFill>
                  <a:srgbClr val="5E6A78"/>
                </a:solidFill>
                <a:latin typeface="Aptos"/>
              </a:rPr>
              <a:t>triển</a:t>
            </a:r>
            <a:r>
              <a:rPr sz="1600" b="0" dirty="0">
                <a:solidFill>
                  <a:srgbClr val="5E6A78"/>
                </a:solidFill>
                <a:latin typeface="Aptos"/>
              </a:rPr>
              <a:t>: </a:t>
            </a:r>
            <a:r>
              <a:rPr sz="1600" b="0" dirty="0" err="1">
                <a:solidFill>
                  <a:srgbClr val="5E6A78"/>
                </a:solidFill>
                <a:latin typeface="Aptos"/>
              </a:rPr>
              <a:t>mở</a:t>
            </a:r>
            <a:r>
              <a:rPr sz="1600" b="0" dirty="0">
                <a:solidFill>
                  <a:srgbClr val="5E6A78"/>
                </a:solidFill>
                <a:latin typeface="Aptos"/>
              </a:rPr>
              <a:t> </a:t>
            </a:r>
            <a:r>
              <a:rPr sz="1600" b="0" dirty="0" err="1">
                <a:solidFill>
                  <a:srgbClr val="5E6A78"/>
                </a:solidFill>
                <a:latin typeface="Aptos"/>
              </a:rPr>
              <a:t>rộng</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customer labels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chứng</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các</a:t>
            </a:r>
            <a:r>
              <a:rPr sz="1600" b="0" dirty="0">
                <a:solidFill>
                  <a:srgbClr val="5E6A78"/>
                </a:solidFill>
                <a:latin typeface="Aptos"/>
              </a:rPr>
              <a:t> </a:t>
            </a:r>
            <a:r>
              <a:rPr sz="1600" b="0" dirty="0" err="1">
                <a:solidFill>
                  <a:srgbClr val="5E6A78"/>
                </a:solidFill>
                <a:latin typeface="Aptos"/>
              </a:rPr>
              <a:t>nền</a:t>
            </a:r>
            <a:r>
              <a:rPr sz="1600" b="0" dirty="0">
                <a:solidFill>
                  <a:srgbClr val="5E6A78"/>
                </a:solidFill>
                <a:latin typeface="Aptos"/>
              </a:rPr>
              <a:t> </a:t>
            </a:r>
            <a:r>
              <a:rPr sz="1600" b="0" dirty="0" err="1">
                <a:solidFill>
                  <a:srgbClr val="5E6A78"/>
                </a:solidFill>
                <a:latin typeface="Aptos"/>
              </a:rPr>
              <a:t>tảng</a:t>
            </a:r>
            <a:r>
              <a:rPr sz="1600" b="0" dirty="0">
                <a:solidFill>
                  <a:srgbClr val="5E6A78"/>
                </a:solidFill>
                <a:latin typeface="Aptos"/>
              </a:rPr>
              <a:t> /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khác</a:t>
            </a:r>
            <a:r>
              <a:rPr sz="1600" b="0" dirty="0">
                <a:solidFill>
                  <a:srgbClr val="5E6A78"/>
                </a:solidFill>
                <a:latin typeface="Aptos"/>
              </a:rPr>
              <a:t>.</a:t>
            </a:r>
          </a:p>
        </p:txBody>
      </p:sp>
      <p:sp>
        <p:nvSpPr>
          <p:cNvPr id="27" name="Rounded Rectangle 26"/>
          <p:cNvSpPr/>
          <p:nvPr/>
        </p:nvSpPr>
        <p:spPr>
          <a:xfrm>
            <a:off x="594360" y="5515287"/>
            <a:ext cx="10835640" cy="777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68680" y="5616181"/>
            <a:ext cx="10287000" cy="566309"/>
          </a:xfrm>
          <a:prstGeom prst="rect">
            <a:avLst/>
          </a:prstGeom>
          <a:noFill/>
        </p:spPr>
        <p:txBody>
          <a:bodyPr wrap="square" lIns="36576" tIns="36576" rIns="36576" bIns="36576" anchor="ctr">
            <a:spAutoFit/>
          </a:bodyPr>
          <a:lstStyle/>
          <a:p>
            <a:pPr algn="ctr"/>
            <a:r>
              <a:rPr sz="1600" b="1" dirty="0">
                <a:solidFill>
                  <a:srgbClr val="FFFFFF"/>
                </a:solidFill>
                <a:latin typeface="Aptos"/>
              </a:rPr>
              <a:t>SLA </a:t>
            </a:r>
            <a:r>
              <a:rPr sz="1600" b="1" dirty="0" err="1">
                <a:solidFill>
                  <a:srgbClr val="FFFFFF"/>
                </a:solidFill>
                <a:latin typeface="Aptos"/>
              </a:rPr>
              <a:t>nên</a:t>
            </a:r>
            <a:r>
              <a:rPr sz="1600" b="1" dirty="0">
                <a:solidFill>
                  <a:srgbClr val="FFFFFF"/>
                </a:solidFill>
                <a:latin typeface="Aptos"/>
              </a:rPr>
              <a:t> </a:t>
            </a:r>
            <a:r>
              <a:rPr sz="1600" b="1" dirty="0" err="1">
                <a:solidFill>
                  <a:srgbClr val="FFFFFF"/>
                </a:solidFill>
                <a:latin typeface="Aptos"/>
              </a:rPr>
              <a:t>được</a:t>
            </a:r>
            <a:r>
              <a:rPr sz="1600" b="1" dirty="0">
                <a:solidFill>
                  <a:srgbClr val="FFFFFF"/>
                </a:solidFill>
                <a:latin typeface="Aptos"/>
              </a:rPr>
              <a:t> </a:t>
            </a:r>
            <a:r>
              <a:rPr sz="1600" b="1" dirty="0" err="1">
                <a:solidFill>
                  <a:srgbClr val="FFFFFF"/>
                </a:solidFill>
                <a:latin typeface="Aptos"/>
              </a:rPr>
              <a:t>xem</a:t>
            </a:r>
            <a:r>
              <a:rPr sz="1600" b="1" dirty="0">
                <a:solidFill>
                  <a:srgbClr val="FFFFFF"/>
                </a:solidFill>
                <a:latin typeface="Aptos"/>
              </a:rPr>
              <a:t> </a:t>
            </a:r>
            <a:r>
              <a:rPr sz="1600" b="1" dirty="0" err="1">
                <a:solidFill>
                  <a:srgbClr val="FFFFFF"/>
                </a:solidFill>
                <a:latin typeface="Aptos"/>
              </a:rPr>
              <a:t>là</a:t>
            </a:r>
            <a:r>
              <a:rPr sz="1600" b="1" dirty="0">
                <a:solidFill>
                  <a:srgbClr val="FFFFFF"/>
                </a:solidFill>
                <a:latin typeface="Aptos"/>
              </a:rPr>
              <a:t> </a:t>
            </a:r>
            <a:r>
              <a:rPr sz="1600" b="1" dirty="0" err="1">
                <a:solidFill>
                  <a:srgbClr val="FFFFFF"/>
                </a:solidFill>
                <a:latin typeface="Aptos"/>
              </a:rPr>
              <a:t>một</a:t>
            </a:r>
            <a:r>
              <a:rPr sz="1600" b="1" dirty="0">
                <a:solidFill>
                  <a:srgbClr val="FFFFFF"/>
                </a:solidFill>
                <a:latin typeface="Aptos"/>
              </a:rPr>
              <a:t> </a:t>
            </a:r>
            <a:r>
              <a:rPr sz="1600" b="1" dirty="0" err="1">
                <a:solidFill>
                  <a:srgbClr val="FFFFFF"/>
                </a:solidFill>
                <a:latin typeface="Aptos"/>
              </a:rPr>
              <a:t>tín</a:t>
            </a:r>
            <a:r>
              <a:rPr sz="1600" b="1" dirty="0">
                <a:solidFill>
                  <a:srgbClr val="FFFFFF"/>
                </a:solidFill>
                <a:latin typeface="Aptos"/>
              </a:rPr>
              <a:t> </a:t>
            </a:r>
            <a:r>
              <a:rPr sz="1600" b="1" dirty="0" err="1">
                <a:solidFill>
                  <a:srgbClr val="FFFFFF"/>
                </a:solidFill>
                <a:latin typeface="Aptos"/>
              </a:rPr>
              <a:t>hiệu</a:t>
            </a:r>
            <a:r>
              <a:rPr sz="1600" b="1" dirty="0">
                <a:solidFill>
                  <a:srgbClr val="FFFFFF"/>
                </a:solidFill>
                <a:latin typeface="Aptos"/>
              </a:rPr>
              <a:t> </a:t>
            </a:r>
            <a:r>
              <a:rPr sz="1600" b="1" dirty="0" err="1">
                <a:solidFill>
                  <a:srgbClr val="FFFFFF"/>
                </a:solidFill>
                <a:latin typeface="Aptos"/>
              </a:rPr>
              <a:t>vận</a:t>
            </a:r>
            <a:r>
              <a:rPr sz="1600" b="1" dirty="0">
                <a:solidFill>
                  <a:srgbClr val="FFFFFF"/>
                </a:solidFill>
                <a:latin typeface="Aptos"/>
              </a:rPr>
              <a:t> </a:t>
            </a:r>
            <a:r>
              <a:rPr sz="1600" b="1" dirty="0" err="1">
                <a:solidFill>
                  <a:srgbClr val="FFFFFF"/>
                </a:solidFill>
                <a:latin typeface="Aptos"/>
              </a:rPr>
              <a:t>hành</a:t>
            </a:r>
            <a:r>
              <a:rPr sz="1600" b="1" dirty="0">
                <a:solidFill>
                  <a:srgbClr val="FFFFFF"/>
                </a:solidFill>
                <a:latin typeface="Aptos"/>
              </a:rPr>
              <a:t> </a:t>
            </a:r>
            <a:r>
              <a:rPr sz="1600" b="1" dirty="0" err="1">
                <a:solidFill>
                  <a:srgbClr val="FFFFFF"/>
                </a:solidFill>
                <a:latin typeface="Aptos"/>
              </a:rPr>
              <a:t>quan</a:t>
            </a:r>
            <a:r>
              <a:rPr sz="1600" b="1" dirty="0">
                <a:solidFill>
                  <a:srgbClr val="FFFFFF"/>
                </a:solidFill>
                <a:latin typeface="Aptos"/>
              </a:rPr>
              <a:t> </a:t>
            </a:r>
            <a:r>
              <a:rPr sz="1600" b="1" dirty="0" err="1">
                <a:solidFill>
                  <a:srgbClr val="FFFFFF"/>
                </a:solidFill>
                <a:latin typeface="Aptos"/>
              </a:rPr>
              <a:t>trọng</a:t>
            </a:r>
            <a:r>
              <a:rPr sz="1600" b="1" dirty="0">
                <a:solidFill>
                  <a:srgbClr val="FFFFFF"/>
                </a:solidFill>
                <a:latin typeface="Aptos"/>
              </a:rPr>
              <a:t>, </a:t>
            </a:r>
            <a:r>
              <a:rPr sz="1600" b="1" dirty="0" err="1">
                <a:solidFill>
                  <a:srgbClr val="FFFFFF"/>
                </a:solidFill>
                <a:latin typeface="Aptos"/>
              </a:rPr>
              <a:t>nhưng</a:t>
            </a:r>
            <a:r>
              <a:rPr sz="1600" b="1" dirty="0">
                <a:solidFill>
                  <a:srgbClr val="FFFFFF"/>
                </a:solidFill>
                <a:latin typeface="Aptos"/>
              </a:rPr>
              <a:t> </a:t>
            </a:r>
            <a:r>
              <a:rPr sz="1600" b="1" dirty="0" err="1">
                <a:solidFill>
                  <a:srgbClr val="FFFFFF"/>
                </a:solidFill>
                <a:latin typeface="Aptos"/>
              </a:rPr>
              <a:t>cần</a:t>
            </a:r>
            <a:r>
              <a:rPr sz="1600" b="1" dirty="0">
                <a:solidFill>
                  <a:srgbClr val="FFFFFF"/>
                </a:solidFill>
                <a:latin typeface="Aptos"/>
              </a:rPr>
              <a:t> </a:t>
            </a:r>
            <a:r>
              <a:rPr sz="1600" b="1" dirty="0" err="1">
                <a:solidFill>
                  <a:srgbClr val="FFFFFF"/>
                </a:solidFill>
                <a:latin typeface="Aptos"/>
              </a:rPr>
              <a:t>kết</a:t>
            </a:r>
            <a:r>
              <a:rPr sz="1600" b="1" dirty="0">
                <a:solidFill>
                  <a:srgbClr val="FFFFFF"/>
                </a:solidFill>
                <a:latin typeface="Aptos"/>
              </a:rPr>
              <a:t> </a:t>
            </a:r>
            <a:r>
              <a:rPr sz="1600" b="1" dirty="0" err="1">
                <a:solidFill>
                  <a:srgbClr val="FFFFFF"/>
                </a:solidFill>
                <a:latin typeface="Aptos"/>
              </a:rPr>
              <a:t>hợp</a:t>
            </a:r>
            <a:r>
              <a:rPr sz="1600" b="1" dirty="0">
                <a:solidFill>
                  <a:srgbClr val="FFFFFF"/>
                </a:solidFill>
                <a:latin typeface="Aptos"/>
              </a:rPr>
              <a:t> Lead Time, </a:t>
            </a:r>
            <a:r>
              <a:rPr sz="1600" b="1" dirty="0" err="1">
                <a:solidFill>
                  <a:srgbClr val="FFFFFF"/>
                </a:solidFill>
                <a:latin typeface="Aptos"/>
              </a:rPr>
              <a:t>phản</a:t>
            </a:r>
            <a:r>
              <a:rPr sz="1600" b="1" dirty="0">
                <a:solidFill>
                  <a:srgbClr val="FFFFFF"/>
                </a:solidFill>
                <a:latin typeface="Aptos"/>
              </a:rPr>
              <a:t> </a:t>
            </a:r>
            <a:r>
              <a:rPr sz="1600" b="1" dirty="0" err="1">
                <a:solidFill>
                  <a:srgbClr val="FFFFFF"/>
                </a:solidFill>
                <a:latin typeface="Aptos"/>
              </a:rPr>
              <a:t>hồi</a:t>
            </a:r>
            <a:r>
              <a:rPr sz="1600" b="1" dirty="0">
                <a:solidFill>
                  <a:srgbClr val="FFFFFF"/>
                </a:solidFill>
                <a:latin typeface="Aptos"/>
              </a:rPr>
              <a:t> </a:t>
            </a:r>
            <a:r>
              <a:rPr sz="1600" b="1" dirty="0" err="1">
                <a:solidFill>
                  <a:srgbClr val="FFFFFF"/>
                </a:solidFill>
                <a:latin typeface="Aptos"/>
              </a:rPr>
              <a:t>khách</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và</a:t>
            </a:r>
            <a:r>
              <a:rPr sz="1600" b="1" dirty="0">
                <a:solidFill>
                  <a:srgbClr val="FFFFFF"/>
                </a:solidFill>
                <a:latin typeface="Aptos"/>
              </a:rPr>
              <a:t> </a:t>
            </a:r>
            <a:r>
              <a:rPr sz="1600" b="1" dirty="0" err="1">
                <a:solidFill>
                  <a:srgbClr val="FFFFFF"/>
                </a:solidFill>
                <a:latin typeface="Aptos"/>
              </a:rPr>
              <a:t>mô</a:t>
            </a:r>
            <a:r>
              <a:rPr sz="1600" b="1" dirty="0">
                <a:solidFill>
                  <a:srgbClr val="FFFFFF"/>
                </a:solidFill>
                <a:latin typeface="Aptos"/>
              </a:rPr>
              <a:t> </a:t>
            </a:r>
            <a:r>
              <a:rPr sz="1600" b="1" dirty="0" err="1">
                <a:solidFill>
                  <a:srgbClr val="FFFFFF"/>
                </a:solidFill>
                <a:latin typeface="Aptos"/>
              </a:rPr>
              <a:t>hình</a:t>
            </a:r>
            <a:r>
              <a:rPr sz="1600" b="1" dirty="0">
                <a:solidFill>
                  <a:srgbClr val="FFFFFF"/>
                </a:solidFill>
                <a:latin typeface="Aptos"/>
              </a:rPr>
              <a:t> </a:t>
            </a:r>
            <a:r>
              <a:rPr sz="1600" b="1" dirty="0" err="1">
                <a:solidFill>
                  <a:srgbClr val="FFFFFF"/>
                </a:solidFill>
                <a:latin typeface="Aptos"/>
              </a:rPr>
              <a:t>rủi</a:t>
            </a:r>
            <a:r>
              <a:rPr sz="1600" b="1" dirty="0">
                <a:solidFill>
                  <a:srgbClr val="FFFFFF"/>
                </a:solidFill>
                <a:latin typeface="Aptos"/>
              </a:rPr>
              <a:t> </a:t>
            </a:r>
            <a:r>
              <a:rPr sz="1600" b="1" dirty="0" err="1">
                <a:solidFill>
                  <a:srgbClr val="FFFFFF"/>
                </a:solidFill>
                <a:latin typeface="Aptos"/>
              </a:rPr>
              <a:t>ro</a:t>
            </a:r>
            <a:r>
              <a:rPr sz="1600" b="1" dirty="0">
                <a:solidFill>
                  <a:srgbClr val="FFFFFF"/>
                </a:solidFill>
                <a:latin typeface="Aptos"/>
              </a:rPr>
              <a:t> </a:t>
            </a:r>
            <a:r>
              <a:rPr sz="1600" b="1" dirty="0" err="1">
                <a:solidFill>
                  <a:srgbClr val="FFFFFF"/>
                </a:solidFill>
                <a:latin typeface="Aptos"/>
              </a:rPr>
              <a:t>để</a:t>
            </a:r>
            <a:r>
              <a:rPr sz="1600" b="1" dirty="0">
                <a:solidFill>
                  <a:srgbClr val="FFFFFF"/>
                </a:solidFill>
                <a:latin typeface="Aptos"/>
              </a:rPr>
              <a:t> </a:t>
            </a:r>
            <a:r>
              <a:rPr sz="1600" b="1" dirty="0" err="1">
                <a:solidFill>
                  <a:srgbClr val="FFFFFF"/>
                </a:solidFill>
                <a:latin typeface="Aptos"/>
              </a:rPr>
              <a:t>đánh</a:t>
            </a:r>
            <a:r>
              <a:rPr sz="1600" b="1" dirty="0">
                <a:solidFill>
                  <a:srgbClr val="FFFFFF"/>
                </a:solidFill>
                <a:latin typeface="Aptos"/>
              </a:rPr>
              <a:t> </a:t>
            </a:r>
            <a:r>
              <a:rPr sz="1600" b="1" dirty="0" err="1">
                <a:solidFill>
                  <a:srgbClr val="FFFFFF"/>
                </a:solidFill>
                <a:latin typeface="Aptos"/>
              </a:rPr>
              <a:t>giá</a:t>
            </a:r>
            <a:r>
              <a:rPr sz="1600" b="1" dirty="0">
                <a:solidFill>
                  <a:srgbClr val="FFFFFF"/>
                </a:solidFill>
                <a:latin typeface="Aptos"/>
              </a:rPr>
              <a:t> </a:t>
            </a:r>
            <a:r>
              <a:rPr sz="1600" b="1" dirty="0" err="1">
                <a:solidFill>
                  <a:srgbClr val="FFFFFF"/>
                </a:solidFill>
                <a:latin typeface="Aptos"/>
              </a:rPr>
              <a:t>trải</a:t>
            </a:r>
            <a:r>
              <a:rPr sz="1600" b="1" dirty="0">
                <a:solidFill>
                  <a:srgbClr val="FFFFFF"/>
                </a:solidFill>
                <a:latin typeface="Aptos"/>
              </a:rPr>
              <a:t> </a:t>
            </a:r>
            <a:r>
              <a:rPr sz="1600" b="1" dirty="0" err="1">
                <a:solidFill>
                  <a:srgbClr val="FFFFFF"/>
                </a:solidFill>
                <a:latin typeface="Aptos"/>
              </a:rPr>
              <a:t>nghiệm</a:t>
            </a:r>
            <a:r>
              <a:rPr sz="1600" b="1" dirty="0">
                <a:solidFill>
                  <a:srgbClr val="FFFFFF"/>
                </a:solidFill>
                <a:latin typeface="Aptos"/>
              </a:rPr>
              <a:t> </a:t>
            </a:r>
            <a:r>
              <a:rPr sz="1600" b="1" dirty="0" err="1">
                <a:solidFill>
                  <a:srgbClr val="FFFFFF"/>
                </a:solidFill>
                <a:latin typeface="Aptos"/>
              </a:rPr>
              <a:t>giao</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đầy</a:t>
            </a:r>
            <a:r>
              <a:rPr sz="1600" b="1" dirty="0">
                <a:solidFill>
                  <a:srgbClr val="FFFFFF"/>
                </a:solidFill>
                <a:latin typeface="Aptos"/>
              </a:rPr>
              <a:t> </a:t>
            </a:r>
            <a:r>
              <a:rPr sz="1600" b="1" dirty="0" err="1">
                <a:solidFill>
                  <a:srgbClr val="FFFFFF"/>
                </a:solidFill>
                <a:latin typeface="Aptos"/>
              </a:rPr>
              <a:t>đủ</a:t>
            </a:r>
            <a:r>
              <a:rPr sz="1600" b="1" dirty="0">
                <a:solidFill>
                  <a:srgbClr val="FFFFFF"/>
                </a:solidFill>
                <a:latin typeface="Aptos"/>
              </a:rPr>
              <a:t> </a:t>
            </a:r>
            <a:r>
              <a:rPr sz="1600" b="1" dirty="0" err="1">
                <a:solidFill>
                  <a:srgbClr val="FFFFFF"/>
                </a:solidFill>
                <a:latin typeface="Aptos"/>
              </a:rPr>
              <a:t>hơn</a:t>
            </a:r>
            <a:r>
              <a:rPr sz="1600" b="1" dirty="0">
                <a:solidFill>
                  <a:srgbClr val="FFFFFF"/>
                </a:solidFill>
                <a:latin typeface="Aptos"/>
              </a:rPr>
              <a:t>.</a:t>
            </a:r>
          </a:p>
        </p:txBody>
      </p:sp>
      <p:sp>
        <p:nvSpPr>
          <p:cNvPr id="29" name="TextBox 2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0" name="TextBox 2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21</a:t>
            </a:r>
          </a:p>
        </p:txBody>
      </p:sp>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Business Value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DATA COLLECTION — LẤY MẪU PHÂN TẦNG THEO SAO &amp; TRỌNG SỐ</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05</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5</a:t>
            </a:r>
          </a:p>
        </p:txBody>
      </p:sp>
      <p:sp>
        <p:nvSpPr>
          <p:cNvPr id="7" name="TextBox 6"/>
          <p:cNvSpPr txBox="1"/>
          <p:nvPr/>
        </p:nvSpPr>
        <p:spPr>
          <a:xfrm>
            <a:off x="603504" y="1005840"/>
            <a:ext cx="56692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VÌ SAO KHÔNG CÀO THEO THỨ TỰ MẶC ĐỊNH?</a:t>
            </a:r>
          </a:p>
        </p:txBody>
      </p:sp>
      <p:sp>
        <p:nvSpPr>
          <p:cNvPr id="8" name="Rounded Rectangle 7"/>
          <p:cNvSpPr/>
          <p:nvPr/>
        </p:nvSpPr>
        <p:spPr>
          <a:xfrm>
            <a:off x="603504" y="1335024"/>
            <a:ext cx="557784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389888"/>
            <a:ext cx="5303520" cy="777240"/>
          </a:xfrm>
          <a:prstGeom prst="rect">
            <a:avLst/>
          </a:prstGeom>
          <a:noFill/>
        </p:spPr>
        <p:txBody>
          <a:bodyPr wrap="square" anchor="t" lIns="36576" rIns="36576" tIns="36576" bIns="36576">
            <a:noAutofit/>
          </a:bodyPr>
          <a:lstStyle/>
          <a:p>
            <a:pPr algn="l">
              <a:spcAft>
                <a:spcPts val="300"/>
              </a:spcAft>
            </a:pPr>
            <a:r>
              <a:rPr sz="2200" b="1" i="0">
                <a:solidFill>
                  <a:srgbClr val="B14242"/>
                </a:solidFill>
                <a:latin typeface="Aptos"/>
              </a:rPr>
              <a:t>95,9%</a:t>
            </a:r>
            <a:r>
              <a:rPr sz="1300" b="0" i="0">
                <a:solidFill>
                  <a:srgbClr val="242B33"/>
                </a:solidFill>
                <a:latin typeface="Aptos"/>
              </a:rPr>
              <a:t>  review 5★ ở mẫu thử 3.811 review</a:t>
            </a:r>
          </a:p>
          <a:p>
            <a:pPr algn="l">
              <a:spcAft>
                <a:spcPts val="300"/>
              </a:spcAft>
            </a:pPr>
            <a:r>
              <a:rPr sz="1300" b="0" i="0">
                <a:solidFill>
                  <a:srgbClr val="5E6A78"/>
                </a:solidFill>
                <a:latin typeface="Aptos"/>
              </a:rPr>
              <a:t>→ biến mục tiêu gần như không có phương sai, mô hình không có gì để học.</a:t>
            </a:r>
          </a:p>
        </p:txBody>
      </p:sp>
      <p:sp>
        <p:nvSpPr>
          <p:cNvPr id="10" name="TextBox 9"/>
          <p:cNvSpPr txBox="1"/>
          <p:nvPr/>
        </p:nvSpPr>
        <p:spPr>
          <a:xfrm>
            <a:off x="603504" y="2331720"/>
            <a:ext cx="56692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2. THIẾT KẾ: PHÂN TẦNG THEO SỐ SAO</a:t>
            </a:r>
          </a:p>
        </p:txBody>
      </p:sp>
      <p:sp>
        <p:nvSpPr>
          <p:cNvPr id="11" name="Rounded Rectangle 10"/>
          <p:cNvSpPr/>
          <p:nvPr/>
        </p:nvSpPr>
        <p:spPr>
          <a:xfrm>
            <a:off x="603504" y="2679192"/>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825496"/>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34640"/>
            <a:ext cx="329184" cy="310896"/>
          </a:xfrm>
          <a:prstGeom prst="rect">
            <a:avLst/>
          </a:prstGeom>
          <a:noFill/>
        </p:spPr>
        <p:txBody>
          <a:bodyPr wrap="square" anchor="t" lIns="36576" rIns="36576" tIns="36576" bIns="36576">
            <a:noAutofit/>
          </a:bodyPr>
          <a:lstStyle/>
          <a:p>
            <a:pPr algn="ctr">
              <a:spcAft>
                <a:spcPts val="300"/>
              </a:spcAft>
            </a:pPr>
            <a:r>
              <a:rPr sz="1300" b="1" i="0">
                <a:solidFill>
                  <a:srgbClr val="FFFFFF"/>
                </a:solidFill>
                <a:latin typeface="Aptos"/>
              </a:rPr>
              <a:t>1</a:t>
            </a:r>
          </a:p>
        </p:txBody>
      </p:sp>
      <p:sp>
        <p:nvSpPr>
          <p:cNvPr id="14" name="TextBox 13"/>
          <p:cNvSpPr txBox="1"/>
          <p:nvPr/>
        </p:nvSpPr>
        <p:spPr>
          <a:xfrm>
            <a:off x="1188720" y="2715768"/>
            <a:ext cx="4937760" cy="274320"/>
          </a:xfrm>
          <a:prstGeom prst="rect">
            <a:avLst/>
          </a:prstGeom>
          <a:noFill/>
        </p:spPr>
        <p:txBody>
          <a:bodyPr wrap="square" anchor="t" lIns="36576" rIns="36576" tIns="36576" bIns="36576">
            <a:noAutofit/>
          </a:bodyPr>
          <a:lstStyle/>
          <a:p>
            <a:pPr algn="l">
              <a:spcAft>
                <a:spcPts val="300"/>
              </a:spcAft>
            </a:pPr>
            <a:r>
              <a:rPr sz="1300" b="1" i="0">
                <a:solidFill>
                  <a:srgbClr val="162C46"/>
                </a:solidFill>
                <a:latin typeface="Aptos"/>
              </a:rPr>
              <a:t>Đọc histogram sao cấp quần thể</a:t>
            </a:r>
          </a:p>
        </p:txBody>
      </p:sp>
      <p:sp>
        <p:nvSpPr>
          <p:cNvPr id="15" name="TextBox 14"/>
          <p:cNvSpPr txBox="1"/>
          <p:nvPr/>
        </p:nvSpPr>
        <p:spPr>
          <a:xfrm>
            <a:off x="1188720" y="2980944"/>
            <a:ext cx="4937760" cy="274320"/>
          </a:xfrm>
          <a:prstGeom prst="rect">
            <a:avLst/>
          </a:prstGeom>
          <a:noFill/>
        </p:spPr>
        <p:txBody>
          <a:bodyPr wrap="square" anchor="t" lIns="36576" rIns="36576" tIns="36576" bIns="36576">
            <a:noAutofit/>
          </a:bodyPr>
          <a:lstStyle/>
          <a:p>
            <a:pPr algn="l">
              <a:spcAft>
                <a:spcPts val="300"/>
              </a:spcAft>
            </a:pPr>
            <a:r>
              <a:rPr sz="1150" b="0" i="0">
                <a:solidFill>
                  <a:srgbClr val="5E6A78"/>
                </a:solidFill>
                <a:latin typeface="Aptos"/>
              </a:rPr>
              <a:t>API trả kèm stars[h].count — đếm thật ⇒ biết N_h</a:t>
            </a:r>
          </a:p>
        </p:txBody>
      </p:sp>
      <p:sp>
        <p:nvSpPr>
          <p:cNvPr id="16" name="Rounded Rectangle 15"/>
          <p:cNvSpPr/>
          <p:nvPr/>
        </p:nvSpPr>
        <p:spPr>
          <a:xfrm>
            <a:off x="603504" y="3392424"/>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538728"/>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47872"/>
            <a:ext cx="329184" cy="310896"/>
          </a:xfrm>
          <a:prstGeom prst="rect">
            <a:avLst/>
          </a:prstGeom>
          <a:noFill/>
        </p:spPr>
        <p:txBody>
          <a:bodyPr wrap="square" anchor="t" lIns="36576" rIns="36576" tIns="36576" bIns="36576">
            <a:noAutofit/>
          </a:bodyPr>
          <a:lstStyle/>
          <a:p>
            <a:pPr algn="ctr">
              <a:spcAft>
                <a:spcPts val="300"/>
              </a:spcAft>
            </a:pPr>
            <a:r>
              <a:rPr sz="1300" b="1" i="0">
                <a:solidFill>
                  <a:srgbClr val="FFFFFF"/>
                </a:solidFill>
                <a:latin typeface="Aptos"/>
              </a:rPr>
              <a:t>2</a:t>
            </a:r>
          </a:p>
        </p:txBody>
      </p:sp>
      <p:sp>
        <p:nvSpPr>
          <p:cNvPr id="19" name="TextBox 18"/>
          <p:cNvSpPr txBox="1"/>
          <p:nvPr/>
        </p:nvSpPr>
        <p:spPr>
          <a:xfrm>
            <a:off x="1188720" y="3429000"/>
            <a:ext cx="4937760" cy="274320"/>
          </a:xfrm>
          <a:prstGeom prst="rect">
            <a:avLst/>
          </a:prstGeom>
          <a:noFill/>
        </p:spPr>
        <p:txBody>
          <a:bodyPr wrap="square" anchor="t" lIns="36576" rIns="36576" tIns="36576" bIns="36576">
            <a:noAutofit/>
          </a:bodyPr>
          <a:lstStyle/>
          <a:p>
            <a:pPr algn="l">
              <a:spcAft>
                <a:spcPts val="300"/>
              </a:spcAft>
            </a:pPr>
            <a:r>
              <a:rPr sz="1300" b="1" i="0">
                <a:solidFill>
                  <a:srgbClr val="162C46"/>
                </a:solidFill>
                <a:latin typeface="Aptos"/>
              </a:rPr>
              <a:t>Vét cạn tầng hiếm, lấy mẫu tầng đông</a:t>
            </a:r>
          </a:p>
        </p:txBody>
      </p:sp>
      <p:sp>
        <p:nvSpPr>
          <p:cNvPr id="20" name="TextBox 19"/>
          <p:cNvSpPr txBox="1"/>
          <p:nvPr/>
        </p:nvSpPr>
        <p:spPr>
          <a:xfrm>
            <a:off x="1188720" y="3694176"/>
            <a:ext cx="4937760" cy="274320"/>
          </a:xfrm>
          <a:prstGeom prst="rect">
            <a:avLst/>
          </a:prstGeom>
          <a:noFill/>
        </p:spPr>
        <p:txBody>
          <a:bodyPr wrap="square" anchor="t" lIns="36576" rIns="36576" tIns="36576" bIns="36576">
            <a:noAutofit/>
          </a:bodyPr>
          <a:lstStyle/>
          <a:p>
            <a:pPr algn="l">
              <a:spcAft>
                <a:spcPts val="300"/>
              </a:spcAft>
            </a:pPr>
            <a:r>
              <a:rPr sz="1150" b="0" i="0">
                <a:solidFill>
                  <a:srgbClr val="5E6A78"/>
                </a:solidFill>
                <a:latin typeface="Aptos"/>
              </a:rPr>
              <a:t>sort=stars|1…3: lấy hết · 4–5★: tối đa 200 review/sản phẩm</a:t>
            </a:r>
          </a:p>
        </p:txBody>
      </p:sp>
      <p:sp>
        <p:nvSpPr>
          <p:cNvPr id="21" name="Rounded Rectangle 20"/>
          <p:cNvSpPr/>
          <p:nvPr/>
        </p:nvSpPr>
        <p:spPr>
          <a:xfrm>
            <a:off x="603504" y="4105656"/>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251960"/>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261104"/>
            <a:ext cx="329184" cy="310896"/>
          </a:xfrm>
          <a:prstGeom prst="rect">
            <a:avLst/>
          </a:prstGeom>
          <a:noFill/>
        </p:spPr>
        <p:txBody>
          <a:bodyPr wrap="square" anchor="t" lIns="36576" rIns="36576" tIns="36576" bIns="36576">
            <a:noAutofit/>
          </a:bodyPr>
          <a:lstStyle/>
          <a:p>
            <a:pPr algn="ctr">
              <a:spcAft>
                <a:spcPts val="300"/>
              </a:spcAft>
            </a:pPr>
            <a:r>
              <a:rPr sz="1300" b="1" i="0">
                <a:solidFill>
                  <a:srgbClr val="FFFFFF"/>
                </a:solidFill>
                <a:latin typeface="Aptos"/>
              </a:rPr>
              <a:t>3</a:t>
            </a:r>
          </a:p>
        </p:txBody>
      </p:sp>
      <p:sp>
        <p:nvSpPr>
          <p:cNvPr id="24" name="TextBox 23"/>
          <p:cNvSpPr txBox="1"/>
          <p:nvPr/>
        </p:nvSpPr>
        <p:spPr>
          <a:xfrm>
            <a:off x="1188720" y="4142232"/>
            <a:ext cx="4937760" cy="274320"/>
          </a:xfrm>
          <a:prstGeom prst="rect">
            <a:avLst/>
          </a:prstGeom>
          <a:noFill/>
        </p:spPr>
        <p:txBody>
          <a:bodyPr wrap="square" anchor="t" lIns="36576" rIns="36576" tIns="36576" bIns="36576">
            <a:noAutofit/>
          </a:bodyPr>
          <a:lstStyle/>
          <a:p>
            <a:pPr algn="l">
              <a:spcAft>
                <a:spcPts val="300"/>
              </a:spcAft>
            </a:pPr>
            <a:r>
              <a:rPr sz="1300" b="1" i="0">
                <a:solidFill>
                  <a:srgbClr val="162C46"/>
                </a:solidFill>
                <a:latin typeface="Aptos"/>
              </a:rPr>
              <a:t>Gắn trọng số w_h = N_h / n_h</a:t>
            </a:r>
          </a:p>
        </p:txBody>
      </p:sp>
      <p:sp>
        <p:nvSpPr>
          <p:cNvPr id="25" name="TextBox 24"/>
          <p:cNvSpPr txBox="1"/>
          <p:nvPr/>
        </p:nvSpPr>
        <p:spPr>
          <a:xfrm>
            <a:off x="1188720" y="4407408"/>
            <a:ext cx="4937760" cy="274320"/>
          </a:xfrm>
          <a:prstGeom prst="rect">
            <a:avLst/>
          </a:prstGeom>
          <a:noFill/>
        </p:spPr>
        <p:txBody>
          <a:bodyPr wrap="square" anchor="t" lIns="36576" rIns="36576" tIns="36576" bIns="36576">
            <a:noAutofit/>
          </a:bodyPr>
          <a:lstStyle/>
          <a:p>
            <a:pPr algn="l">
              <a:spcAft>
                <a:spcPts val="300"/>
              </a:spcAft>
            </a:pPr>
            <a:r>
              <a:rPr sz="1150" b="0" i="0">
                <a:solidFill>
                  <a:srgbClr val="5E6A78"/>
                </a:solidFill>
                <a:latin typeface="Aptos"/>
              </a:rPr>
              <a:t>mọi ước lượng quần thể nhân w · luôn báo kèm n_eff</a:t>
            </a:r>
          </a:p>
        </p:txBody>
      </p:sp>
      <p:sp>
        <p:nvSpPr>
          <p:cNvPr id="26" name="TextBox 25"/>
          <p:cNvSpPr txBox="1"/>
          <p:nvPr/>
        </p:nvSpPr>
        <p:spPr>
          <a:xfrm>
            <a:off x="603504" y="4873752"/>
            <a:ext cx="56692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3. KIỂM CHỨNG ĐỘC LẬP TRỌNG SỐ</a:t>
            </a:r>
          </a:p>
        </p:txBody>
      </p:sp>
      <p:sp>
        <p:nvSpPr>
          <p:cNvPr id="27" name="Rounded Rectangle 26"/>
          <p:cNvSpPr/>
          <p:nvPr/>
        </p:nvSpPr>
        <p:spPr>
          <a:xfrm>
            <a:off x="603504" y="5202936"/>
            <a:ext cx="5577840" cy="109728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266944"/>
            <a:ext cx="2103120" cy="1005840"/>
          </a:xfrm>
          <a:prstGeom prst="rect">
            <a:avLst/>
          </a:prstGeom>
          <a:noFill/>
        </p:spPr>
        <p:txBody>
          <a:bodyPr wrap="square" anchor="t" lIns="36576" rIns="36576" tIns="36576" bIns="36576">
            <a:noAutofit/>
          </a:bodyPr>
          <a:lstStyle/>
          <a:p>
            <a:pPr algn="ctr">
              <a:spcAft>
                <a:spcPts val="300"/>
              </a:spcAft>
            </a:pPr>
            <a:r>
              <a:rPr sz="2800" b="1" i="0">
                <a:solidFill>
                  <a:srgbClr val="162C46"/>
                </a:solidFill>
                <a:latin typeface="Aptos"/>
              </a:rPr>
              <a:t>0,0091%</a:t>
            </a:r>
          </a:p>
          <a:p>
            <a:pPr algn="ctr">
              <a:spcAft>
                <a:spcPts val="300"/>
              </a:spcAft>
            </a:pPr>
            <a:r>
              <a:rPr sz="1100" b="0" i="0">
                <a:solidFill>
                  <a:srgbClr val="5E6A78"/>
                </a:solidFill>
                <a:latin typeface="Aptos"/>
              </a:rPr>
              <a:t>độ lệch</a:t>
            </a:r>
          </a:p>
        </p:txBody>
      </p:sp>
      <p:sp>
        <p:nvSpPr>
          <p:cNvPr id="29" name="TextBox 28"/>
          <p:cNvSpPr txBox="1"/>
          <p:nvPr/>
        </p:nvSpPr>
        <p:spPr>
          <a:xfrm>
            <a:off x="2788920" y="5285232"/>
            <a:ext cx="3291840" cy="1005840"/>
          </a:xfrm>
          <a:prstGeom prst="rect">
            <a:avLst/>
          </a:prstGeom>
          <a:noFill/>
        </p:spPr>
        <p:txBody>
          <a:bodyPr wrap="square" anchor="t" lIns="36576" rIns="36576" tIns="36576" bIns="36576">
            <a:noAutofit/>
          </a:bodyPr>
          <a:lstStyle/>
          <a:p>
            <a:pPr algn="l">
              <a:spcAft>
                <a:spcPts val="200"/>
              </a:spcAft>
            </a:pPr>
            <a:r>
              <a:rPr sz="1150" b="1" i="0">
                <a:solidFill>
                  <a:srgbClr val="242B33"/>
                </a:solidFill>
                <a:latin typeface="Aptos"/>
              </a:rPr>
              <a:t>Σ weight</a:t>
            </a:r>
            <a:r>
              <a:rPr sz="1150" b="0" i="0">
                <a:solidFill>
                  <a:srgbClr val="5E6A78"/>
                </a:solidFill>
                <a:latin typeface="Aptos"/>
              </a:rPr>
              <a:t> (từ endpoint review) = 438.255</a:t>
            </a:r>
          </a:p>
          <a:p>
            <a:pPr algn="l">
              <a:spcAft>
                <a:spcPts val="200"/>
              </a:spcAft>
            </a:pPr>
            <a:r>
              <a:rPr sz="1150" b="1" i="0">
                <a:solidFill>
                  <a:srgbClr val="242B33"/>
                </a:solidFill>
                <a:latin typeface="Aptos"/>
              </a:rPr>
              <a:t>Σ review_count</a:t>
            </a:r>
            <a:r>
              <a:rPr sz="1150" b="0" i="0">
                <a:solidFill>
                  <a:srgbClr val="5E6A78"/>
                </a:solidFill>
                <a:latin typeface="Aptos"/>
              </a:rPr>
              <a:t> (endpoint listing) = 438.295</a:t>
            </a:r>
          </a:p>
          <a:p>
            <a:pPr algn="l">
              <a:spcAft>
                <a:spcPts val="200"/>
              </a:spcAft>
            </a:pPr>
            <a:r>
              <a:rPr sz="1150" b="0" i="0">
                <a:solidFill>
                  <a:srgbClr val="5E6A78"/>
                </a:solidFill>
                <a:latin typeface="Aptos"/>
              </a:rPr>
              <a:t>Hai nguồn độc lập, không ép khớp.</a:t>
            </a:r>
          </a:p>
        </p:txBody>
      </p:sp>
      <p:pic>
        <p:nvPicPr>
          <p:cNvPr id="30" name="Picture 29" descr="B08_rating.png"/>
          <p:cNvPicPr>
            <a:picLocks noChangeAspect="1"/>
          </p:cNvPicPr>
          <p:nvPr/>
        </p:nvPicPr>
        <p:blipFill>
          <a:blip r:embed="rId3"/>
          <a:stretch>
            <a:fillRect/>
          </a:stretch>
        </p:blipFill>
        <p:spPr>
          <a:xfrm>
            <a:off x="6446520" y="1024128"/>
            <a:ext cx="5166360" cy="3199422"/>
          </a:xfrm>
          <a:prstGeom prst="rect">
            <a:avLst/>
          </a:prstGeom>
        </p:spPr>
      </p:pic>
      <p:sp>
        <p:nvSpPr>
          <p:cNvPr id="31" name="TextBox 30"/>
          <p:cNvSpPr txBox="1"/>
          <p:nvPr/>
        </p:nvSpPr>
        <p:spPr>
          <a:xfrm>
            <a:off x="6446520" y="4261104"/>
            <a:ext cx="5166360" cy="457200"/>
          </a:xfrm>
          <a:prstGeom prst="rect">
            <a:avLst/>
          </a:prstGeom>
          <a:noFill/>
        </p:spPr>
        <p:txBody>
          <a:bodyPr wrap="square" anchor="t" lIns="36576" rIns="36576" tIns="36576" bIns="36576">
            <a:noAutofit/>
          </a:bodyPr>
          <a:lstStyle/>
          <a:p>
            <a:pPr algn="l">
              <a:spcAft>
                <a:spcPts val="300"/>
              </a:spcAft>
            </a:pPr>
            <a:r>
              <a:rPr sz="1200" b="1" i="0">
                <a:solidFill>
                  <a:srgbClr val="B14242"/>
                </a:solidFill>
                <a:latin typeface="Aptos"/>
              </a:rPr>
              <a:t>Mẫu thô: 8,6% review ≤3★</a:t>
            </a:r>
            <a:r>
              <a:rPr sz="1200" b="0" i="0">
                <a:solidFill>
                  <a:srgbClr val="5E6A78"/>
                </a:solidFill>
                <a:latin typeface="Aptos"/>
              </a:rPr>
              <a:t>  ·  quần thể (có trọng số): </a:t>
            </a:r>
            <a:r>
              <a:rPr sz="1200" b="1" i="0">
                <a:solidFill>
                  <a:srgbClr val="162C46"/>
                </a:solidFill>
                <a:latin typeface="Aptos"/>
              </a:rPr>
              <a:t>4,0%</a:t>
            </a:r>
          </a:p>
          <a:p>
            <a:pPr algn="l">
              <a:spcAft>
                <a:spcPts val="300"/>
              </a:spcAft>
            </a:pPr>
            <a:r>
              <a:rPr sz="1200" b="0" i="0">
                <a:solidFill>
                  <a:srgbClr val="5E6A78"/>
                </a:solidFill>
                <a:latin typeface="Aptos"/>
              </a:rPr>
              <a:t>Vẽ thô sẽ phóng đại tỉ lệ review xấu gấp đôi.</a:t>
            </a:r>
          </a:p>
        </p:txBody>
      </p:sp>
      <p:sp>
        <p:nvSpPr>
          <p:cNvPr id="32" name="Rounded Rectangle 31"/>
          <p:cNvSpPr/>
          <p:nvPr/>
        </p:nvSpPr>
        <p:spPr>
          <a:xfrm>
            <a:off x="6446520" y="4873752"/>
            <a:ext cx="5166360" cy="1426464"/>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4937760"/>
            <a:ext cx="4937760" cy="1325880"/>
          </a:xfrm>
          <a:prstGeom prst="rect">
            <a:avLst/>
          </a:prstGeom>
          <a:noFill/>
        </p:spPr>
        <p:txBody>
          <a:bodyPr wrap="square" anchor="t" lIns="36576" rIns="36576" tIns="36576" bIns="36576">
            <a:noAutofit/>
          </a:bodyPr>
          <a:lstStyle/>
          <a:p>
            <a:pPr algn="l">
              <a:spcAft>
                <a:spcPts val="200"/>
              </a:spcAft>
            </a:pPr>
            <a:r>
              <a:rPr sz="1150" b="1" i="0">
                <a:solidFill>
                  <a:srgbClr val="162C46"/>
                </a:solidFill>
                <a:latin typeface="Aptos"/>
              </a:rPr>
              <a:t>Đạo đức thu thập</a:t>
            </a:r>
          </a:p>
          <a:p>
            <a:pPr algn="l">
              <a:spcAft>
                <a:spcPts val="200"/>
              </a:spcAft>
            </a:pPr>
            <a:r>
              <a:rPr sz="1150" b="0" i="0">
                <a:solidFill>
                  <a:srgbClr val="5E6A78"/>
                </a:solidFill>
                <a:latin typeface="Aptos"/>
              </a:rPr>
              <a:t>Tôn trọng robots.txt, không đụng /me, /order, /customer</a:t>
            </a:r>
          </a:p>
          <a:p>
            <a:pPr algn="l">
              <a:spcAft>
                <a:spcPts val="200"/>
              </a:spcAft>
            </a:pPr>
            <a:r>
              <a:rPr sz="1150" b="0" i="0">
                <a:solidFill>
                  <a:srgbClr val="5E6A78"/>
                </a:solidFill>
                <a:latin typeface="Aptos"/>
              </a:rPr>
              <a:t>1 request/giây, không chạy song song · cache, cào đúng một lần</a:t>
            </a:r>
          </a:p>
          <a:p>
            <a:pPr algn="l">
              <a:spcAft>
                <a:spcPts val="200"/>
              </a:spcAft>
            </a:pPr>
            <a:r>
              <a:rPr sz="1150" b="0" i="0">
                <a:solidFill>
                  <a:srgbClr val="5E6A78"/>
                </a:solidFill>
                <a:latin typeface="Aptos"/>
              </a:rPr>
              <a:t>User-Agent khai rõ đồ án môn học</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CLEANING — HAI LỖI IM LẶNG TỰ BẮT ĐƯỢC</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07</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7</a:t>
            </a:r>
          </a:p>
        </p:txBody>
      </p:sp>
      <p:sp>
        <p:nvSpPr>
          <p:cNvPr id="7" name="TextBox 6"/>
          <p:cNvSpPr txBox="1"/>
          <p:nvPr/>
        </p:nvSpPr>
        <p:spPr>
          <a:xfrm>
            <a:off x="603504" y="1005840"/>
            <a:ext cx="530352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① MỘT API, HAI ĐỒNG HỒ</a:t>
            </a:r>
          </a:p>
        </p:txBody>
      </p:sp>
      <p:sp>
        <p:nvSpPr>
          <p:cNvPr id="8" name="Rounded Rectangle 7"/>
          <p:cNvSpPr/>
          <p:nvPr/>
        </p:nvSpPr>
        <p:spPr>
          <a:xfrm>
            <a:off x="603504" y="1335024"/>
            <a:ext cx="5257800" cy="23317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399032"/>
            <a:ext cx="5029200" cy="2240280"/>
          </a:xfrm>
          <a:prstGeom prst="rect">
            <a:avLst/>
          </a:prstGeom>
          <a:noFill/>
        </p:spPr>
        <p:txBody>
          <a:bodyPr wrap="square" anchor="t" lIns="36576" rIns="36576" tIns="36576" bIns="36576">
            <a:noAutofit/>
          </a:bodyPr>
          <a:lstStyle/>
          <a:p>
            <a:pPr algn="l">
              <a:spcAft>
                <a:spcPts val="400"/>
              </a:spcAft>
            </a:pPr>
            <a:r>
              <a:rPr sz="1200" b="1" i="0">
                <a:solidFill>
                  <a:srgbClr val="242B33"/>
                </a:solidFill>
                <a:latin typeface="Courier New"/>
              </a:rPr>
              <a:t>purchased_at</a:t>
            </a:r>
            <a:r>
              <a:rPr sz="1250" b="0" i="0">
                <a:solidFill>
                  <a:srgbClr val="5E6A78"/>
                </a:solidFill>
                <a:latin typeface="Aptos"/>
              </a:rPr>
              <a:t> = epoch UTC</a:t>
            </a:r>
          </a:p>
          <a:p>
            <a:pPr algn="l">
              <a:spcAft>
                <a:spcPts val="400"/>
              </a:spcAft>
            </a:pPr>
            <a:r>
              <a:rPr sz="1200" b="1" i="0">
                <a:solidFill>
                  <a:srgbClr val="242B33"/>
                </a:solidFill>
                <a:latin typeface="Courier New"/>
              </a:rPr>
              <a:t>delivery_date</a:t>
            </a:r>
            <a:r>
              <a:rPr sz="1250" b="0" i="0">
                <a:solidFill>
                  <a:srgbClr val="5E6A78"/>
                </a:solidFill>
                <a:latin typeface="Aptos"/>
              </a:rPr>
              <a:t> = chuỗi giờ Việt Nam</a:t>
            </a:r>
          </a:p>
          <a:p>
            <a:pPr algn="l">
              <a:spcAft>
                <a:spcPts val="400"/>
              </a:spcAft>
            </a:pPr>
            <a:r>
              <a:rPr sz="1250" b="0" i="0">
                <a:solidFill>
                  <a:srgbClr val="5E6A78"/>
                </a:solidFill>
                <a:latin typeface="Aptos"/>
              </a:rPr>
              <a:t>Trừ thẳng → </a:t>
            </a:r>
            <a:r>
              <a:rPr sz="1250" b="1" i="0">
                <a:solidFill>
                  <a:srgbClr val="B14242"/>
                </a:solidFill>
                <a:latin typeface="Aptos"/>
              </a:rPr>
              <a:t>mọi lead time dư đúng 7 giờ</a:t>
            </a:r>
          </a:p>
          <a:p>
            <a:pPr algn="l">
              <a:spcAft>
                <a:spcPts val="400"/>
              </a:spcAft>
            </a:pPr>
            <a:r>
              <a:rPr sz="1250" b="1" i="0">
                <a:solidFill>
                  <a:srgbClr val="162C46"/>
                </a:solidFill>
                <a:latin typeface="Aptos"/>
              </a:rPr>
              <a:t>Đo, không đoán: </a:t>
            </a:r>
            <a:r>
              <a:rPr sz="1250" b="0" i="0">
                <a:solidFill>
                  <a:srgbClr val="5E6A78"/>
                </a:solidFill>
                <a:latin typeface="Aptos"/>
              </a:rPr>
              <a:t>created_at − review_created_date (cùng một sự kiện) trên 200.307 review = </a:t>
            </a:r>
            <a:r>
              <a:rPr sz="1250" b="1" i="0">
                <a:solidFill>
                  <a:srgbClr val="162C46"/>
                </a:solidFill>
                <a:latin typeface="Aptos"/>
              </a:rPr>
              <a:t>7,0000 h, SD = 0</a:t>
            </a:r>
          </a:p>
          <a:p>
            <a:pPr algn="l">
              <a:spcAft>
                <a:spcPts val="400"/>
              </a:spcAft>
            </a:pPr>
            <a:r>
              <a:rPr sz="1250" b="1" i="0">
                <a:solidFill>
                  <a:srgbClr val="162C46"/>
                </a:solidFill>
                <a:latin typeface="Aptos"/>
              </a:rPr>
              <a:t>Tác động: </a:t>
            </a:r>
            <a:r>
              <a:rPr sz="1250" b="0" i="0">
                <a:solidFill>
                  <a:srgbClr val="5E6A78"/>
                </a:solidFill>
                <a:latin typeface="Aptos"/>
              </a:rPr>
              <a:t>trung vị 1,55 → 1,26 ngày · vượt SLA 8,45% → 7,12%</a:t>
            </a:r>
          </a:p>
          <a:p>
            <a:pPr algn="l">
              <a:spcAft>
                <a:spcPts val="400"/>
              </a:spcAft>
            </a:pPr>
            <a:r>
              <a:rPr sz="1250" b="1" i="0">
                <a:solidFill>
                  <a:srgbClr val="162C46"/>
                </a:solidFill>
                <a:latin typeface="Aptos"/>
              </a:rPr>
              <a:t>Khoá bằng test: </a:t>
            </a:r>
            <a:r>
              <a:rPr sz="1250" b="0" i="0">
                <a:solidFill>
                  <a:srgbClr val="5E6A78"/>
                </a:solidFill>
                <a:latin typeface="Aptos"/>
              </a:rPr>
              <a:t>đặt &amp; giao cùng lúc ⇒ lead_days = 0</a:t>
            </a:r>
          </a:p>
        </p:txBody>
      </p:sp>
      <p:sp>
        <p:nvSpPr>
          <p:cNvPr id="10" name="TextBox 9"/>
          <p:cNvSpPr txBox="1"/>
          <p:nvPr/>
        </p:nvSpPr>
        <p:spPr>
          <a:xfrm>
            <a:off x="603504" y="3776472"/>
            <a:ext cx="530352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② 1.799 DÒNG LEAD_DAYS ÂM (0,88%)</a:t>
            </a:r>
          </a:p>
        </p:txBody>
      </p:sp>
      <p:sp>
        <p:nvSpPr>
          <p:cNvPr id="11" name="Rounded Rectangle 10"/>
          <p:cNvSpPr/>
          <p:nvPr/>
        </p:nvSpPr>
        <p:spPr>
          <a:xfrm>
            <a:off x="603504" y="4105656"/>
            <a:ext cx="5257800" cy="14813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160520"/>
            <a:ext cx="5029200" cy="1417320"/>
          </a:xfrm>
          <a:prstGeom prst="rect">
            <a:avLst/>
          </a:prstGeom>
          <a:noFill/>
        </p:spPr>
        <p:txBody>
          <a:bodyPr wrap="square" anchor="t" lIns="36576" rIns="36576" tIns="36576" bIns="36576">
            <a:noAutofit/>
          </a:bodyPr>
          <a:lstStyle/>
          <a:p>
            <a:pPr algn="l">
              <a:spcAft>
                <a:spcPts val="400"/>
              </a:spcAft>
            </a:pPr>
            <a:r>
              <a:rPr sz="1250" b="1" i="0">
                <a:solidFill>
                  <a:srgbClr val="162C46"/>
                </a:solidFill>
                <a:latin typeface="Aptos"/>
              </a:rPr>
              <a:t>Nguyên nhân: </a:t>
            </a:r>
            <a:r>
              <a:rPr sz="1250" b="0" i="0">
                <a:solidFill>
                  <a:srgbClr val="5E6A78"/>
                </a:solidFill>
                <a:latin typeface="Aptos"/>
              </a:rPr>
              <a:t>purchased_at ghi lần mua gần nhất — 93,4% dòng âm có ngày đặt SAU ngày viết review</a:t>
            </a:r>
          </a:p>
          <a:p>
            <a:pPr algn="l">
              <a:spcAft>
                <a:spcPts val="400"/>
              </a:spcAft>
            </a:pPr>
            <a:r>
              <a:rPr sz="1250" b="1" i="0">
                <a:solidFill>
                  <a:srgbClr val="162C46"/>
                </a:solidFill>
                <a:latin typeface="Aptos"/>
              </a:rPr>
              <a:t>Xử lý: </a:t>
            </a:r>
            <a:r>
              <a:rPr sz="1250" b="0" i="0">
                <a:solidFill>
                  <a:srgbClr val="5E6A78"/>
                </a:solidFill>
                <a:latin typeface="Aptos"/>
              </a:rPr>
              <a:t>gắn cờ quality_flag, không xoá im lặng</a:t>
            </a:r>
          </a:p>
          <a:p>
            <a:pPr algn="l">
              <a:spcAft>
                <a:spcPts val="400"/>
              </a:spcAft>
            </a:pPr>
            <a:r>
              <a:rPr sz="1250" b="1" i="0">
                <a:solidFill>
                  <a:srgbClr val="162C46"/>
                </a:solidFill>
                <a:latin typeface="Aptos"/>
              </a:rPr>
              <a:t>Loại ra có lệch không? </a:t>
            </a:r>
            <a:r>
              <a:rPr sz="1250" b="0" i="0">
                <a:solidFill>
                  <a:srgbClr val="5E6A78"/>
                </a:solidFill>
                <a:latin typeface="Aptos"/>
              </a:rPr>
              <a:t>đếm thô nói có (1★: 6,9% vs 3,1%); có trọng số thì không (rating 4,770 vs 4,781)</a:t>
            </a:r>
          </a:p>
        </p:txBody>
      </p:sp>
      <p:pic>
        <p:nvPicPr>
          <p:cNvPr id="13" name="Picture 12" descr="A02_hai_dong_ho.png"/>
          <p:cNvPicPr>
            <a:picLocks noChangeAspect="1"/>
          </p:cNvPicPr>
          <p:nvPr/>
        </p:nvPicPr>
        <p:blipFill>
          <a:blip r:embed="rId3"/>
          <a:stretch>
            <a:fillRect/>
          </a:stretch>
        </p:blipFill>
        <p:spPr>
          <a:xfrm>
            <a:off x="6080760" y="1024128"/>
            <a:ext cx="5532120" cy="2081730"/>
          </a:xfrm>
          <a:prstGeom prst="rect">
            <a:avLst/>
          </a:prstGeom>
        </p:spPr>
      </p:pic>
      <p:sp>
        <p:nvSpPr>
          <p:cNvPr id="14" name="TextBox 13"/>
          <p:cNvSpPr txBox="1"/>
          <p:nvPr/>
        </p:nvSpPr>
        <p:spPr>
          <a:xfrm>
            <a:off x="6080760" y="3200400"/>
            <a:ext cx="548640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DATA CONTRACT — GẮN CỜ, KHÔNG XOÁ</a:t>
            </a:r>
          </a:p>
        </p:txBody>
      </p:sp>
      <p:graphicFrame>
        <p:nvGraphicFramePr>
          <p:cNvPr id="15" name="Table 14"/>
          <p:cNvGraphicFramePr>
            <a:graphicFrameLocks noGrp="1"/>
          </p:cNvGraphicFramePr>
          <p:nvPr/>
        </p:nvGraphicFramePr>
        <p:xfrm>
          <a:off x="6080760" y="3547872"/>
          <a:ext cx="5532120" cy="1645920"/>
        </p:xfrm>
        <a:graphic>
          <a:graphicData uri="http://schemas.openxmlformats.org/drawingml/2006/table">
            <a:tbl>
              <a:tblPr firstRow="1">
                <a:tableStyleId>{5C22544A-7EE6-4342-B048-85BDC9FD1C3A}</a:tableStyleId>
              </a:tblPr>
              <a:tblGrid>
                <a:gridCol w="3154680"/>
                <a:gridCol w="1188720"/>
                <a:gridCol w="1188720"/>
              </a:tblGrid>
              <a:tr h="274320">
                <a:tc>
                  <a:txBody>
                    <a:bodyPr wrap="square"/>
                    <a:lstStyle/>
                    <a:p>
                      <a:pPr algn="l"/>
                      <a:r>
                        <a:rPr sz="1150" b="1" i="0">
                          <a:solidFill>
                            <a:srgbClr val="FFFFFF"/>
                          </a:solidFill>
                          <a:latin typeface="Aptos"/>
                        </a:rPr>
                        <a:t>quality_flag</a:t>
                      </a:r>
                    </a:p>
                  </a:txBody>
                  <a:tcPr marL="54864" marR="54864" marT="27432" marB="27432" anchor="ctr">
                    <a:solidFill>
                      <a:srgbClr val="162C46"/>
                    </a:solidFill>
                  </a:tcPr>
                </a:tc>
                <a:tc>
                  <a:txBody>
                    <a:bodyPr wrap="square"/>
                    <a:lstStyle/>
                    <a:p>
                      <a:pPr algn="l"/>
                      <a:r>
                        <a:rPr sz="1150" b="1" i="0">
                          <a:solidFill>
                            <a:srgbClr val="FFFFFF"/>
                          </a:solidFill>
                          <a:latin typeface="Aptos"/>
                        </a:rPr>
                        <a:t>n</a:t>
                      </a:r>
                    </a:p>
                  </a:txBody>
                  <a:tcPr marL="54864" marR="54864" marT="27432" marB="27432" anchor="ctr">
                    <a:solidFill>
                      <a:srgbClr val="162C46"/>
                    </a:solidFill>
                  </a:tcPr>
                </a:tc>
                <a:tc>
                  <a:txBody>
                    <a:bodyPr wrap="square"/>
                    <a:lstStyle/>
                    <a:p>
                      <a:pPr algn="l"/>
                      <a:r>
                        <a:rPr sz="1150" b="1" i="0">
                          <a:solidFill>
                            <a:srgbClr val="FFFFFF"/>
                          </a:solidFill>
                          <a:latin typeface="Aptos"/>
                        </a:rPr>
                        <a:t>%</a:t>
                      </a:r>
                    </a:p>
                  </a:txBody>
                  <a:tcPr marL="54864" marR="54864" marT="27432" marB="27432" anchor="ctr">
                    <a:solidFill>
                      <a:srgbClr val="162C46"/>
                    </a:solidFill>
                  </a:tcPr>
                </a:tc>
              </a:tr>
              <a:tr h="274320">
                <a:tc>
                  <a:txBody>
                    <a:bodyPr wrap="square"/>
                    <a:lstStyle/>
                    <a:p>
                      <a:pPr algn="l"/>
                      <a:r>
                        <a:rPr sz="1150" b="1" i="0">
                          <a:solidFill>
                            <a:srgbClr val="242B33"/>
                          </a:solidFill>
                          <a:latin typeface="Aptos"/>
                        </a:rPr>
                        <a:t>ok — phân tích được</a:t>
                      </a:r>
                    </a:p>
                  </a:txBody>
                  <a:tcPr marL="54864" marR="54864" marT="27432" marB="27432" anchor="ctr">
                    <a:solidFill>
                      <a:srgbClr val="E3ECF6"/>
                    </a:solidFill>
                  </a:tcPr>
                </a:tc>
                <a:tc>
                  <a:txBody>
                    <a:bodyPr wrap="square"/>
                    <a:lstStyle/>
                    <a:p>
                      <a:pPr algn="r"/>
                      <a:r>
                        <a:rPr sz="1150" b="1" i="0">
                          <a:solidFill>
                            <a:srgbClr val="242B33"/>
                          </a:solidFill>
                          <a:latin typeface="Aptos"/>
                        </a:rPr>
                        <a:t>198.355</a:t>
                      </a:r>
                    </a:p>
                  </a:txBody>
                  <a:tcPr marL="54864" marR="54864" marT="27432" marB="27432" anchor="ctr">
                    <a:solidFill>
                      <a:srgbClr val="E3ECF6"/>
                    </a:solidFill>
                  </a:tcPr>
                </a:tc>
                <a:tc>
                  <a:txBody>
                    <a:bodyPr wrap="square"/>
                    <a:lstStyle/>
                    <a:p>
                      <a:pPr algn="r"/>
                      <a:r>
                        <a:rPr sz="1150" b="1" i="0">
                          <a:solidFill>
                            <a:srgbClr val="242B33"/>
                          </a:solidFill>
                          <a:latin typeface="Aptos"/>
                        </a:rPr>
                        <a:t>97,47%</a:t>
                      </a:r>
                    </a:p>
                  </a:txBody>
                  <a:tcPr marL="54864" marR="54864" marT="27432" marB="27432" anchor="ctr">
                    <a:solidFill>
                      <a:srgbClr val="E3ECF6"/>
                    </a:solidFill>
                  </a:tcPr>
                </a:tc>
              </a:tr>
              <a:tr h="274320">
                <a:tc>
                  <a:txBody>
                    <a:bodyPr wrap="square"/>
                    <a:lstStyle/>
                    <a:p>
                      <a:pPr algn="l"/>
                      <a:r>
                        <a:rPr sz="1150" b="0" i="0">
                          <a:solidFill>
                            <a:srgbClr val="242B33"/>
                          </a:solidFill>
                          <a:latin typeface="Aptos"/>
                        </a:rPr>
                        <a:t>thiếu delivery_date</a:t>
                      </a:r>
                    </a:p>
                  </a:txBody>
                  <a:tcPr marL="54864" marR="54864" marT="27432" marB="27432" anchor="ctr">
                    <a:solidFill>
                      <a:srgbClr val="F6F9FC"/>
                    </a:solidFill>
                  </a:tcPr>
                </a:tc>
                <a:tc>
                  <a:txBody>
                    <a:bodyPr wrap="square"/>
                    <a:lstStyle/>
                    <a:p>
                      <a:pPr algn="r"/>
                      <a:r>
                        <a:rPr sz="1150" b="0" i="0">
                          <a:solidFill>
                            <a:srgbClr val="242B33"/>
                          </a:solidFill>
                          <a:latin typeface="Aptos"/>
                        </a:rPr>
                        <a:t>3.064</a:t>
                      </a:r>
                    </a:p>
                  </a:txBody>
                  <a:tcPr marL="54864" marR="54864" marT="27432" marB="27432" anchor="ctr">
                    <a:solidFill>
                      <a:srgbClr val="F6F9FC"/>
                    </a:solidFill>
                  </a:tcPr>
                </a:tc>
                <a:tc>
                  <a:txBody>
                    <a:bodyPr wrap="square"/>
                    <a:lstStyle/>
                    <a:p>
                      <a:pPr algn="r"/>
                      <a:r>
                        <a:rPr sz="1150" b="0" i="0">
                          <a:solidFill>
                            <a:srgbClr val="242B33"/>
                          </a:solidFill>
                          <a:latin typeface="Aptos"/>
                        </a:rPr>
                        <a:t>1,51%</a:t>
                      </a:r>
                    </a:p>
                  </a:txBody>
                  <a:tcPr marL="54864" marR="54864" marT="27432" marB="27432" anchor="ctr">
                    <a:solidFill>
                      <a:srgbClr val="F6F9FC"/>
                    </a:solidFill>
                  </a:tcPr>
                </a:tc>
              </a:tr>
              <a:tr h="274320">
                <a:tc>
                  <a:txBody>
                    <a:bodyPr wrap="square"/>
                    <a:lstStyle/>
                    <a:p>
                      <a:pPr algn="l"/>
                      <a:r>
                        <a:rPr sz="1150" b="0" i="0">
                          <a:solidFill>
                            <a:srgbClr val="242B33"/>
                          </a:solidFill>
                          <a:latin typeface="Aptos"/>
                        </a:rPr>
                        <a:t>lead_days âm</a:t>
                      </a:r>
                    </a:p>
                  </a:txBody>
                  <a:tcPr marL="54864" marR="54864" marT="27432" marB="27432" anchor="ctr">
                    <a:solidFill>
                      <a:srgbClr val="FFFFFF"/>
                    </a:solidFill>
                  </a:tcPr>
                </a:tc>
                <a:tc>
                  <a:txBody>
                    <a:bodyPr wrap="square"/>
                    <a:lstStyle/>
                    <a:p>
                      <a:pPr algn="r"/>
                      <a:r>
                        <a:rPr sz="1150" b="0" i="0">
                          <a:solidFill>
                            <a:srgbClr val="242B33"/>
                          </a:solidFill>
                          <a:latin typeface="Aptos"/>
                        </a:rPr>
                        <a:t>1.799</a:t>
                      </a:r>
                    </a:p>
                  </a:txBody>
                  <a:tcPr marL="54864" marR="54864" marT="27432" marB="27432" anchor="ctr">
                    <a:solidFill>
                      <a:srgbClr val="FFFFFF"/>
                    </a:solidFill>
                  </a:tcPr>
                </a:tc>
                <a:tc>
                  <a:txBody>
                    <a:bodyPr wrap="square"/>
                    <a:lstStyle/>
                    <a:p>
                      <a:pPr algn="r"/>
                      <a:r>
                        <a:rPr sz="1150" b="0" i="0">
                          <a:solidFill>
                            <a:srgbClr val="242B33"/>
                          </a:solidFill>
                          <a:latin typeface="Aptos"/>
                        </a:rPr>
                        <a:t>0,88%</a:t>
                      </a:r>
                    </a:p>
                  </a:txBody>
                  <a:tcPr marL="54864" marR="54864" marT="27432" marB="27432" anchor="ctr">
                    <a:solidFill>
                      <a:srgbClr val="FFFFFF"/>
                    </a:solidFill>
                  </a:tcPr>
                </a:tc>
              </a:tr>
              <a:tr h="274320">
                <a:tc>
                  <a:txBody>
                    <a:bodyPr wrap="square"/>
                    <a:lstStyle/>
                    <a:p>
                      <a:pPr algn="l"/>
                      <a:r>
                        <a:rPr sz="1150" b="0" i="0">
                          <a:solidFill>
                            <a:srgbClr val="242B33"/>
                          </a:solidFill>
                          <a:latin typeface="Aptos"/>
                        </a:rPr>
                        <a:t>thiếu purchased_at</a:t>
                      </a:r>
                    </a:p>
                  </a:txBody>
                  <a:tcPr marL="54864" marR="54864" marT="27432" marB="27432" anchor="ctr">
                    <a:solidFill>
                      <a:srgbClr val="F6F9FC"/>
                    </a:solidFill>
                  </a:tcPr>
                </a:tc>
                <a:tc>
                  <a:txBody>
                    <a:bodyPr wrap="square"/>
                    <a:lstStyle/>
                    <a:p>
                      <a:pPr algn="r"/>
                      <a:r>
                        <a:rPr sz="1150" b="0" i="0">
                          <a:solidFill>
                            <a:srgbClr val="242B33"/>
                          </a:solidFill>
                          <a:latin typeface="Aptos"/>
                        </a:rPr>
                        <a:t>280</a:t>
                      </a:r>
                    </a:p>
                  </a:txBody>
                  <a:tcPr marL="54864" marR="54864" marT="27432" marB="27432" anchor="ctr">
                    <a:solidFill>
                      <a:srgbClr val="F6F9FC"/>
                    </a:solidFill>
                  </a:tcPr>
                </a:tc>
                <a:tc>
                  <a:txBody>
                    <a:bodyPr wrap="square"/>
                    <a:lstStyle/>
                    <a:p>
                      <a:pPr algn="r"/>
                      <a:r>
                        <a:rPr sz="1150" b="0" i="0">
                          <a:solidFill>
                            <a:srgbClr val="242B33"/>
                          </a:solidFill>
                          <a:latin typeface="Aptos"/>
                        </a:rPr>
                        <a:t>0,14%</a:t>
                      </a:r>
                    </a:p>
                  </a:txBody>
                  <a:tcPr marL="54864" marR="54864" marT="27432" marB="27432" anchor="ctr">
                    <a:solidFill>
                      <a:srgbClr val="F6F9FC"/>
                    </a:solidFill>
                  </a:tcPr>
                </a:tc>
              </a:tr>
              <a:tr h="274320">
                <a:tc>
                  <a:txBody>
                    <a:bodyPr wrap="square"/>
                    <a:lstStyle/>
                    <a:p>
                      <a:pPr algn="l"/>
                      <a:r>
                        <a:rPr sz="1150" b="0" i="0">
                          <a:solidFill>
                            <a:srgbClr val="242B33"/>
                          </a:solidFill>
                          <a:latin typeface="Aptos"/>
                        </a:rPr>
                        <a:t>lead_days &gt; 90 ngày</a:t>
                      </a:r>
                    </a:p>
                  </a:txBody>
                  <a:tcPr marL="54864" marR="54864" marT="27432" marB="27432" anchor="ctr">
                    <a:solidFill>
                      <a:srgbClr val="FFFFFF"/>
                    </a:solidFill>
                  </a:tcPr>
                </a:tc>
                <a:tc>
                  <a:txBody>
                    <a:bodyPr wrap="square"/>
                    <a:lstStyle/>
                    <a:p>
                      <a:pPr algn="r"/>
                      <a:r>
                        <a:rPr sz="1150" b="0" i="0">
                          <a:solidFill>
                            <a:srgbClr val="242B33"/>
                          </a:solidFill>
                          <a:latin typeface="Aptos"/>
                        </a:rPr>
                        <a:t>12</a:t>
                      </a:r>
                    </a:p>
                  </a:txBody>
                  <a:tcPr marL="54864" marR="54864" marT="27432" marB="27432" anchor="ctr">
                    <a:solidFill>
                      <a:srgbClr val="FFFFFF"/>
                    </a:solidFill>
                  </a:tcPr>
                </a:tc>
                <a:tc>
                  <a:txBody>
                    <a:bodyPr wrap="square"/>
                    <a:lstStyle/>
                    <a:p>
                      <a:pPr algn="r"/>
                      <a:r>
                        <a:rPr sz="1150" b="0" i="0">
                          <a:solidFill>
                            <a:srgbClr val="242B33"/>
                          </a:solidFill>
                          <a:latin typeface="Aptos"/>
                        </a:rPr>
                        <a:t>0,01%</a:t>
                      </a:r>
                    </a:p>
                  </a:txBody>
                  <a:tcPr marL="54864" marR="54864" marT="27432" marB="27432" anchor="ctr">
                    <a:solidFill>
                      <a:srgbClr val="FFFFFF"/>
                    </a:solidFill>
                  </a:tcPr>
                </a:tc>
              </a:tr>
            </a:tbl>
          </a:graphicData>
        </a:graphic>
      </p:graphicFrame>
      <p:sp>
        <p:nvSpPr>
          <p:cNvPr id="16" name="Rounded Rectangle 15"/>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i="0">
                <a:solidFill>
                  <a:srgbClr val="FFFFFF"/>
                </a:solidFill>
                <a:latin typeface="Aptos"/>
              </a:rPr>
              <a:t>22/22 phép kiểm data contract đạt</a:t>
            </a:r>
            <a:r>
              <a:rPr sz="1300" b="0" i="0">
                <a:solidFill>
                  <a:srgbClr val="FFFFFF"/>
                </a:solidFill>
                <a:latin typeface="Aptos"/>
              </a:rPr>
              <a:t>  ·  mọi dòng lỗi đều đếm được, báo cáo được — không dropna() trong im lặng</a:t>
            </a:r>
          </a:p>
        </p:txBody>
      </p:sp>
      <p:sp>
        <p:nvSpPr>
          <p:cNvPr id="17" name="Rounded Rectangle 1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18" name="Rounded Rectangle 1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19" name="Rounded Rectangle 18"/>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Cleaning</a:t>
            </a:r>
          </a:p>
        </p:txBody>
      </p:sp>
      <p:sp>
        <p:nvSpPr>
          <p:cNvPr id="20" name="Rounded Rectangle 1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21" name="Rounded Rectangle 2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2" name="Rounded Rectangle 21"/>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23" name="Rounded Rectangle 2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24" name="Rounded Rectangle 2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EDA — KẾT QUẢ CHÍNH: NHÃN KHÁCH ĐO SỰ HÀI LÒNG TỐT HƠN SLA</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10</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10</a:t>
            </a:r>
          </a:p>
        </p:txBody>
      </p:sp>
      <p:sp>
        <p:nvSpPr>
          <p:cNvPr id="7" name="TextBox 6"/>
          <p:cNvSpPr txBox="1"/>
          <p:nvPr/>
        </p:nvSpPr>
        <p:spPr>
          <a:xfrm>
            <a:off x="603504" y="1005840"/>
            <a:ext cx="539496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SỨC PHÂN BIỆT = |Δ RATING| GIỮA HAI NHÓM</a:t>
            </a:r>
          </a:p>
        </p:txBody>
      </p:sp>
      <p:graphicFrame>
        <p:nvGraphicFramePr>
          <p:cNvPr id="8" name="Table 7"/>
          <p:cNvGraphicFramePr>
            <a:graphicFrameLocks noGrp="1"/>
          </p:cNvGraphicFramePr>
          <p:nvPr/>
        </p:nvGraphicFramePr>
        <p:xfrm>
          <a:off x="603504" y="1353312"/>
          <a:ext cx="5349240" cy="1097280"/>
        </p:xfrm>
        <a:graphic>
          <a:graphicData uri="http://schemas.openxmlformats.org/drawingml/2006/table">
            <a:tbl>
              <a:tblPr firstRow="1">
                <a:tableStyleId>{5C22544A-7EE6-4342-B048-85BDC9FD1C3A}</a:tableStyleId>
              </a:tblPr>
              <a:tblGrid>
                <a:gridCol w="2514600"/>
                <a:gridCol w="914400"/>
                <a:gridCol w="1051560"/>
                <a:gridCol w="868680"/>
              </a:tblGrid>
              <a:tr h="365760">
                <a:tc>
                  <a:txBody>
                    <a:bodyPr wrap="square"/>
                    <a:lstStyle/>
                    <a:p>
                      <a:pPr algn="l"/>
                      <a:r>
                        <a:rPr sz="1200" b="1" i="0">
                          <a:solidFill>
                            <a:srgbClr val="FFFFFF"/>
                          </a:solidFill>
                          <a:latin typeface="Aptos"/>
                        </a:rPr>
                        <a:t>Chỉ báo (cùng 15.816 review)</a:t>
                      </a:r>
                    </a:p>
                  </a:txBody>
                  <a:tcPr marL="54864" marR="54864" marT="27432" marB="27432" anchor="ctr">
                    <a:solidFill>
                      <a:srgbClr val="162C46"/>
                    </a:solidFill>
                  </a:tcPr>
                </a:tc>
                <a:tc>
                  <a:txBody>
                    <a:bodyPr wrap="square"/>
                    <a:lstStyle/>
                    <a:p>
                      <a:pPr algn="l"/>
                      <a:r>
                        <a:rPr sz="1200" b="1" i="0">
                          <a:solidFill>
                            <a:srgbClr val="FFFFFF"/>
                          </a:solidFill>
                          <a:latin typeface="Aptos"/>
                        </a:rPr>
                        <a:t>nhóm 'có'</a:t>
                      </a:r>
                    </a:p>
                  </a:txBody>
                  <a:tcPr marL="54864" marR="54864" marT="27432" marB="27432" anchor="ctr">
                    <a:solidFill>
                      <a:srgbClr val="162C46"/>
                    </a:solidFill>
                  </a:tcPr>
                </a:tc>
                <a:tc>
                  <a:txBody>
                    <a:bodyPr wrap="square"/>
                    <a:lstStyle/>
                    <a:p>
                      <a:pPr algn="l"/>
                      <a:r>
                        <a:rPr sz="1200" b="1" i="0">
                          <a:solidFill>
                            <a:srgbClr val="FFFFFF"/>
                          </a:solidFill>
                          <a:latin typeface="Aptos"/>
                        </a:rPr>
                        <a:t>nhóm 'không'</a:t>
                      </a:r>
                    </a:p>
                  </a:txBody>
                  <a:tcPr marL="54864" marR="54864" marT="27432" marB="27432" anchor="ctr">
                    <a:solidFill>
                      <a:srgbClr val="162C46"/>
                    </a:solidFill>
                  </a:tcPr>
                </a:tc>
                <a:tc>
                  <a:txBody>
                    <a:bodyPr wrap="square"/>
                    <a:lstStyle/>
                    <a:p>
                      <a:pPr algn="l"/>
                      <a:r>
                        <a:rPr sz="1200" b="1" i="0">
                          <a:solidFill>
                            <a:srgbClr val="FFFFFF"/>
                          </a:solidFill>
                          <a:latin typeface="Aptos"/>
                        </a:rPr>
                        <a:t>|Δ|</a:t>
                      </a:r>
                    </a:p>
                  </a:txBody>
                  <a:tcPr marL="54864" marR="54864" marT="27432" marB="27432" anchor="ctr">
                    <a:solidFill>
                      <a:srgbClr val="162C46"/>
                    </a:solidFill>
                  </a:tcPr>
                </a:tc>
              </a:tr>
              <a:tr h="365760">
                <a:tc>
                  <a:txBody>
                    <a:bodyPr wrap="square"/>
                    <a:lstStyle/>
                    <a:p>
                      <a:pPr algn="l"/>
                      <a:r>
                        <a:rPr sz="1200" b="0" i="0">
                          <a:solidFill>
                            <a:srgbClr val="242B33"/>
                          </a:solidFill>
                          <a:latin typeface="Aptos"/>
                        </a:rPr>
                        <a:t>Khách tự báo: trễ hẹn?</a:t>
                      </a:r>
                    </a:p>
                  </a:txBody>
                  <a:tcPr marL="54864" marR="54864" marT="27432" marB="27432" anchor="ctr">
                    <a:solidFill>
                      <a:srgbClr val="FFFFFF"/>
                    </a:solidFill>
                  </a:tcPr>
                </a:tc>
                <a:tc>
                  <a:txBody>
                    <a:bodyPr wrap="square"/>
                    <a:lstStyle/>
                    <a:p>
                      <a:pPr algn="r"/>
                      <a:r>
                        <a:rPr sz="1200" b="0" i="0">
                          <a:solidFill>
                            <a:srgbClr val="242B33"/>
                          </a:solidFill>
                          <a:latin typeface="Aptos"/>
                        </a:rPr>
                        <a:t>4,595</a:t>
                      </a:r>
                    </a:p>
                  </a:txBody>
                  <a:tcPr marL="54864" marR="54864" marT="27432" marB="27432" anchor="ctr">
                    <a:solidFill>
                      <a:srgbClr val="FFFFFF"/>
                    </a:solidFill>
                  </a:tcPr>
                </a:tc>
                <a:tc>
                  <a:txBody>
                    <a:bodyPr wrap="square"/>
                    <a:lstStyle/>
                    <a:p>
                      <a:pPr algn="r"/>
                      <a:r>
                        <a:rPr sz="1200" b="0" i="0">
                          <a:solidFill>
                            <a:srgbClr val="242B33"/>
                          </a:solidFill>
                          <a:latin typeface="Aptos"/>
                        </a:rPr>
                        <a:t>4,909</a:t>
                      </a:r>
                    </a:p>
                  </a:txBody>
                  <a:tcPr marL="54864" marR="54864" marT="27432" marB="27432" anchor="ctr">
                    <a:solidFill>
                      <a:srgbClr val="FFFFFF"/>
                    </a:solidFill>
                  </a:tcPr>
                </a:tc>
                <a:tc>
                  <a:txBody>
                    <a:bodyPr wrap="square"/>
                    <a:lstStyle/>
                    <a:p>
                      <a:pPr algn="r"/>
                      <a:r>
                        <a:rPr sz="1200" b="1" i="0">
                          <a:solidFill>
                            <a:srgbClr val="162C46"/>
                          </a:solidFill>
                          <a:latin typeface="Aptos"/>
                        </a:rPr>
                        <a:t>0,315</a:t>
                      </a:r>
                    </a:p>
                  </a:txBody>
                  <a:tcPr marL="54864" marR="54864" marT="27432" marB="27432" anchor="ctr">
                    <a:solidFill>
                      <a:srgbClr val="FFFFFF"/>
                    </a:solidFill>
                  </a:tcPr>
                </a:tc>
              </a:tr>
              <a:tr h="365760">
                <a:tc>
                  <a:txBody>
                    <a:bodyPr wrap="square"/>
                    <a:lstStyle/>
                    <a:p>
                      <a:pPr algn="l"/>
                      <a:r>
                        <a:rPr sz="1200" b="0" i="0">
                          <a:solidFill>
                            <a:srgbClr val="242B33"/>
                          </a:solidFill>
                          <a:latin typeface="Aptos"/>
                        </a:rPr>
                        <a:t>SLA: giao &gt; 5 ngày?</a:t>
                      </a:r>
                    </a:p>
                  </a:txBody>
                  <a:tcPr marL="54864" marR="54864" marT="27432" marB="27432" anchor="ctr">
                    <a:solidFill>
                      <a:srgbClr val="F6F9FC"/>
                    </a:solidFill>
                  </a:tcPr>
                </a:tc>
                <a:tc>
                  <a:txBody>
                    <a:bodyPr wrap="square"/>
                    <a:lstStyle/>
                    <a:p>
                      <a:pPr algn="r"/>
                      <a:r>
                        <a:rPr sz="1200" b="0" i="0">
                          <a:solidFill>
                            <a:srgbClr val="242B33"/>
                          </a:solidFill>
                          <a:latin typeface="Aptos"/>
                        </a:rPr>
                        <a:t>4,799</a:t>
                      </a:r>
                    </a:p>
                  </a:txBody>
                  <a:tcPr marL="54864" marR="54864" marT="27432" marB="27432" anchor="ctr">
                    <a:solidFill>
                      <a:srgbClr val="F6F9FC"/>
                    </a:solidFill>
                  </a:tcPr>
                </a:tc>
                <a:tc>
                  <a:txBody>
                    <a:bodyPr wrap="square"/>
                    <a:lstStyle/>
                    <a:p>
                      <a:pPr algn="r"/>
                      <a:r>
                        <a:rPr sz="1200" b="0" i="0">
                          <a:solidFill>
                            <a:srgbClr val="242B33"/>
                          </a:solidFill>
                          <a:latin typeface="Aptos"/>
                        </a:rPr>
                        <a:t>4,905</a:t>
                      </a:r>
                    </a:p>
                  </a:txBody>
                  <a:tcPr marL="54864" marR="54864" marT="27432" marB="27432" anchor="ctr">
                    <a:solidFill>
                      <a:srgbClr val="F6F9FC"/>
                    </a:solidFill>
                  </a:tcPr>
                </a:tc>
                <a:tc>
                  <a:txBody>
                    <a:bodyPr wrap="square"/>
                    <a:lstStyle/>
                    <a:p>
                      <a:pPr algn="r"/>
                      <a:r>
                        <a:rPr sz="1200" b="1" i="0">
                          <a:solidFill>
                            <a:srgbClr val="BE7D2F"/>
                          </a:solidFill>
                          <a:latin typeface="Aptos"/>
                        </a:rPr>
                        <a:t>0,106</a:t>
                      </a:r>
                    </a:p>
                  </a:txBody>
                  <a:tcPr marL="54864" marR="54864" marT="27432" marB="27432" anchor="ctr">
                    <a:solidFill>
                      <a:srgbClr val="F6F9FC"/>
                    </a:solidFill>
                  </a:tcPr>
                </a:tc>
              </a:tr>
            </a:tbl>
          </a:graphicData>
        </a:graphic>
      </p:graphicFrame>
      <p:sp>
        <p:nvSpPr>
          <p:cNvPr id="9" name="TextBox 8"/>
          <p:cNvSpPr txBox="1"/>
          <p:nvPr/>
        </p:nvSpPr>
        <p:spPr>
          <a:xfrm>
            <a:off x="603504" y="2514600"/>
            <a:ext cx="53492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rating trung bình có trọng số · n nhóm 'có': 317 và 404</a:t>
            </a:r>
          </a:p>
        </p:txBody>
      </p:sp>
      <p:sp>
        <p:nvSpPr>
          <p:cNvPr id="10" name="Rounded Rectangle 9"/>
          <p:cNvSpPr/>
          <p:nvPr/>
        </p:nvSpPr>
        <p:spPr>
          <a:xfrm>
            <a:off x="603504" y="2880360"/>
            <a:ext cx="5349240" cy="269748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44368"/>
            <a:ext cx="5120640" cy="320040"/>
          </a:xfrm>
          <a:prstGeom prst="rect">
            <a:avLst/>
          </a:prstGeom>
          <a:noFill/>
        </p:spPr>
        <p:txBody>
          <a:bodyPr wrap="square" anchor="t" lIns="36576" rIns="36576" tIns="36576" bIns="36576">
            <a:noAutofit/>
          </a:bodyPr>
          <a:lstStyle/>
          <a:p>
            <a:pPr algn="ctr">
              <a:spcAft>
                <a:spcPts val="300"/>
              </a:spcAft>
            </a:pPr>
            <a:r>
              <a:rPr sz="1200" b="1" i="0">
                <a:solidFill>
                  <a:srgbClr val="2F639D"/>
                </a:solidFill>
                <a:latin typeface="Aptos"/>
              </a:rPr>
              <a:t>CHÊNH LỆCH SỨC PHÂN BIỆT (nhãn khách − SLA)</a:t>
            </a:r>
          </a:p>
        </p:txBody>
      </p:sp>
      <p:sp>
        <p:nvSpPr>
          <p:cNvPr id="12" name="TextBox 11"/>
          <p:cNvSpPr txBox="1"/>
          <p:nvPr/>
        </p:nvSpPr>
        <p:spPr>
          <a:xfrm>
            <a:off x="731520" y="3246120"/>
            <a:ext cx="5120640" cy="914400"/>
          </a:xfrm>
          <a:prstGeom prst="rect">
            <a:avLst/>
          </a:prstGeom>
          <a:noFill/>
        </p:spPr>
        <p:txBody>
          <a:bodyPr wrap="square" anchor="t" lIns="36576" rIns="36576" tIns="36576" bIns="36576">
            <a:noAutofit/>
          </a:bodyPr>
          <a:lstStyle/>
          <a:p>
            <a:pPr algn="ctr">
              <a:spcAft>
                <a:spcPts val="300"/>
              </a:spcAft>
            </a:pPr>
            <a:r>
              <a:rPr sz="5400" b="1" i="0">
                <a:solidFill>
                  <a:srgbClr val="162C46"/>
                </a:solidFill>
                <a:latin typeface="Aptos Display"/>
              </a:rPr>
              <a:t>+0,208</a:t>
            </a:r>
          </a:p>
        </p:txBody>
      </p:sp>
      <p:sp>
        <p:nvSpPr>
          <p:cNvPr id="13" name="TextBox 12"/>
          <p:cNvSpPr txBox="1"/>
          <p:nvPr/>
        </p:nvSpPr>
        <p:spPr>
          <a:xfrm>
            <a:off x="731520" y="4206240"/>
            <a:ext cx="5120640" cy="1325880"/>
          </a:xfrm>
          <a:prstGeom prst="rect">
            <a:avLst/>
          </a:prstGeom>
          <a:noFill/>
        </p:spPr>
        <p:txBody>
          <a:bodyPr wrap="square" anchor="t" lIns="36576" rIns="36576" tIns="36576" bIns="36576">
            <a:noAutofit/>
          </a:bodyPr>
          <a:lstStyle/>
          <a:p>
            <a:pPr algn="ctr">
              <a:spcAft>
                <a:spcPts val="300"/>
              </a:spcAft>
            </a:pPr>
            <a:r>
              <a:rPr sz="1500" b="1" i="0">
                <a:solidFill>
                  <a:srgbClr val="242B33"/>
                </a:solidFill>
                <a:latin typeface="Aptos"/>
              </a:rPr>
              <a:t>KTC 95% [0,097 · 0,353]</a:t>
            </a:r>
          </a:p>
          <a:p>
            <a:pPr algn="ctr">
              <a:spcAft>
                <a:spcPts val="300"/>
              </a:spcAft>
            </a:pPr>
            <a:r>
              <a:rPr sz="1200" b="0" i="0">
                <a:solidFill>
                  <a:srgbClr val="5E6A78"/>
                </a:solidFill>
                <a:latin typeface="Aptos"/>
              </a:rPr>
              <a:t>n = 15.816 · n_eff = 4.689 · 1.916 cụm sản phẩm</a:t>
            </a:r>
          </a:p>
          <a:p>
            <a:pPr algn="ctr">
              <a:spcAft>
                <a:spcPts val="300"/>
              </a:spcAft>
            </a:pPr>
            <a:r>
              <a:rPr sz="1200" b="0" i="0">
                <a:solidFill>
                  <a:srgbClr val="5E6A78"/>
                </a:solidFill>
                <a:latin typeface="Aptos"/>
              </a:rPr>
              <a:t>bootstrap theo cụm sản phẩm, 2.000 lần — KTC không chứa 0</a:t>
            </a:r>
          </a:p>
        </p:txBody>
      </p:sp>
      <p:pic>
        <p:nvPicPr>
          <p:cNvPr id="14" name="Picture 13" descr="A01_forest_tai_lap.png"/>
          <p:cNvPicPr>
            <a:picLocks noChangeAspect="1"/>
          </p:cNvPicPr>
          <p:nvPr/>
        </p:nvPicPr>
        <p:blipFill>
          <a:blip r:embed="rId3"/>
          <a:stretch>
            <a:fillRect/>
          </a:stretch>
        </p:blipFill>
        <p:spPr>
          <a:xfrm>
            <a:off x="6217920" y="1024128"/>
            <a:ext cx="5394960" cy="2516918"/>
          </a:xfrm>
          <a:prstGeom prst="rect">
            <a:avLst/>
          </a:prstGeom>
        </p:spPr>
      </p:pic>
      <p:sp>
        <p:nvSpPr>
          <p:cNvPr id="15" name="TextBox 14"/>
          <p:cNvSpPr txBox="1"/>
          <p:nvPr/>
        </p:nvSpPr>
        <p:spPr>
          <a:xfrm>
            <a:off x="6217920" y="3611880"/>
            <a:ext cx="5394960" cy="82296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Tái lập từ dữ liệu thô: </a:t>
            </a:r>
            <a:r>
              <a:rPr sz="1200" b="0" i="0">
                <a:solidFill>
                  <a:srgbClr val="5E6A78"/>
                </a:solidFill>
                <a:latin typeface="Aptos"/>
              </a:rPr>
              <a:t>chạy lại đúng pipeline trên 3 mẻ cào × 2 cách đọc đồng hồ → 4/4 số đã công bố khớp, 6/6 KTC nằm bên phải số 0.</a:t>
            </a:r>
          </a:p>
        </p:txBody>
      </p:sp>
      <p:sp>
        <p:nvSpPr>
          <p:cNvPr id="16" name="Rounded Rectangle 15"/>
          <p:cNvSpPr/>
          <p:nvPr/>
        </p:nvSpPr>
        <p:spPr>
          <a:xfrm>
            <a:off x="6217920" y="4526280"/>
            <a:ext cx="539496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590288"/>
            <a:ext cx="5166360" cy="9601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Bẫy SLA (bảng chéo 2×2): </a:t>
            </a:r>
          </a:p>
          <a:p>
            <a:pPr algn="l">
              <a:spcAft>
                <a:spcPts val="300"/>
              </a:spcAft>
            </a:pPr>
            <a:r>
              <a:rPr sz="1200" b="1" i="0">
                <a:solidFill>
                  <a:srgbClr val="B14242"/>
                </a:solidFill>
                <a:latin typeface="Aptos"/>
              </a:rPr>
              <a:t>252</a:t>
            </a:r>
            <a:r>
              <a:rPr sz="1200" b="0" i="0">
                <a:solidFill>
                  <a:srgbClr val="5E6A78"/>
                </a:solidFill>
                <a:latin typeface="Aptos"/>
              </a:rPr>
              <a:t> đơn trong SLA mà khách nói trễ  ·  </a:t>
            </a:r>
            <a:r>
              <a:rPr sz="1200" b="1" i="0">
                <a:solidFill>
                  <a:srgbClr val="BE7D2F"/>
                </a:solidFill>
                <a:latin typeface="Aptos"/>
              </a:rPr>
              <a:t>339</a:t>
            </a:r>
            <a:r>
              <a:rPr sz="1200" b="0" i="0">
                <a:solidFill>
                  <a:srgbClr val="5E6A78"/>
                </a:solidFill>
                <a:latin typeface="Aptos"/>
              </a:rPr>
              <a:t> đơn vượt SLA mà khách nói đúng hẹn</a:t>
            </a:r>
          </a:p>
        </p:txBody>
      </p:sp>
      <p:sp>
        <p:nvSpPr>
          <p:cNvPr id="18" name="Rounded Rectangle 17"/>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i="0">
                <a:solidFill>
                  <a:srgbClr val="FFFFFF"/>
                </a:solidFill>
                <a:latin typeface="Aptos"/>
              </a:rPr>
              <a:t>Khách nói trễ → rating giảm 0,31 điểm; đơn vượt SLA → chỉ giảm 0,11 điểm. SLA đang đo sai thứ.</a:t>
            </a:r>
          </a:p>
        </p:txBody>
      </p:sp>
      <p:sp>
        <p:nvSpPr>
          <p:cNvPr id="19" name="Rounded Rectangle 18"/>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20" name="Rounded Rectangle 19"/>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1" name="Rounded Rectangle 20"/>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2" name="Rounded Rectangle 21"/>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EDA</a:t>
            </a:r>
          </a:p>
        </p:txBody>
      </p:sp>
      <p:sp>
        <p:nvSpPr>
          <p:cNvPr id="23" name="Rounded Rectangle 22"/>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4" name="Rounded Rectangle 23"/>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25" name="Rounded Rectangle 24"/>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26" name="Rounded Rectangle 25"/>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FEATURES — 17 BIẾN EX-ANTE &amp; DANH SÁCH BIẾN CẤM</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12</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12</a:t>
            </a:r>
          </a:p>
        </p:txBody>
      </p:sp>
      <p:sp>
        <p:nvSpPr>
          <p:cNvPr id="7" name="TextBox 6"/>
          <p:cNvSpPr txBox="1"/>
          <p:nvPr/>
        </p:nvSpPr>
        <p:spPr>
          <a:xfrm>
            <a:off x="603504" y="1005840"/>
            <a:ext cx="65836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17 FEATURE CHIA 6 NHÓM (biết trước lúc dự báo)</a:t>
            </a:r>
          </a:p>
        </p:txBody>
      </p:sp>
      <p:graphicFrame>
        <p:nvGraphicFramePr>
          <p:cNvPr id="8" name="Table 7"/>
          <p:cNvGraphicFramePr>
            <a:graphicFrameLocks noGrp="1"/>
          </p:cNvGraphicFramePr>
          <p:nvPr/>
        </p:nvGraphicFramePr>
        <p:xfrm>
          <a:off x="603504" y="1344168"/>
          <a:ext cx="6629400" cy="2688336"/>
        </p:xfrm>
        <a:graphic>
          <a:graphicData uri="http://schemas.openxmlformats.org/drawingml/2006/table">
            <a:tbl>
              <a:tblPr firstRow="1">
                <a:tableStyleId>{5C22544A-7EE6-4342-B048-85BDC9FD1C3A}</a:tableStyleId>
              </a:tblPr>
              <a:tblGrid>
                <a:gridCol w="1417320"/>
                <a:gridCol w="2788920"/>
                <a:gridCol w="2423160"/>
              </a:tblGrid>
              <a:tr h="384048">
                <a:tc>
                  <a:txBody>
                    <a:bodyPr wrap="square"/>
                    <a:lstStyle/>
                    <a:p>
                      <a:pPr algn="l"/>
                      <a:r>
                        <a:rPr sz="1100" b="1" i="0">
                          <a:solidFill>
                            <a:srgbClr val="FFFFFF"/>
                          </a:solidFill>
                          <a:latin typeface="Aptos"/>
                        </a:rPr>
                        <a:t>Nhóm</a:t>
                      </a:r>
                    </a:p>
                  </a:txBody>
                  <a:tcPr marL="54864" marR="54864" marT="27432" marB="27432" anchor="ctr">
                    <a:solidFill>
                      <a:srgbClr val="162C46"/>
                    </a:solidFill>
                  </a:tcPr>
                </a:tc>
                <a:tc>
                  <a:txBody>
                    <a:bodyPr wrap="square"/>
                    <a:lstStyle/>
                    <a:p>
                      <a:pPr algn="l"/>
                      <a:r>
                        <a:rPr sz="1100" b="1" i="0">
                          <a:solidFill>
                            <a:srgbClr val="FFFFFF"/>
                          </a:solidFill>
                          <a:latin typeface="Aptos"/>
                        </a:rPr>
                        <a:t>Feature</a:t>
                      </a:r>
                    </a:p>
                  </a:txBody>
                  <a:tcPr marL="54864" marR="54864" marT="27432" marB="27432" anchor="ctr">
                    <a:solidFill>
                      <a:srgbClr val="162C46"/>
                    </a:solidFill>
                  </a:tcPr>
                </a:tc>
                <a:tc>
                  <a:txBody>
                    <a:bodyPr wrap="square"/>
                    <a:lstStyle/>
                    <a:p>
                      <a:pPr algn="l"/>
                      <a:r>
                        <a:rPr sz="1100" b="1" i="0">
                          <a:solidFill>
                            <a:srgbClr val="FFFFFF"/>
                          </a:solidFill>
                          <a:latin typeface="Aptos"/>
                        </a:rPr>
                        <a:t>Ý nghĩa</a:t>
                      </a:r>
                    </a:p>
                  </a:txBody>
                  <a:tcPr marL="54864" marR="54864" marT="27432" marB="27432" anchor="ctr">
                    <a:solidFill>
                      <a:srgbClr val="162C46"/>
                    </a:solidFill>
                  </a:tcPr>
                </a:tc>
              </a:tr>
              <a:tr h="384048">
                <a:tc>
                  <a:txBody>
                    <a:bodyPr wrap="square"/>
                    <a:lstStyle/>
                    <a:p>
                      <a:pPr algn="l"/>
                      <a:r>
                        <a:rPr sz="1100" b="1" i="0">
                          <a:solidFill>
                            <a:srgbClr val="242B33"/>
                          </a:solidFill>
                          <a:latin typeface="Aptos"/>
                        </a:rPr>
                        <a:t>Giao hàng</a:t>
                      </a:r>
                    </a:p>
                  </a:txBody>
                  <a:tcPr marL="54864" marR="54864" marT="27432" marB="27432" anchor="ctr">
                    <a:solidFill>
                      <a:srgbClr val="FFFFFF"/>
                    </a:solidFill>
                  </a:tcPr>
                </a:tc>
                <a:tc>
                  <a:txBody>
                    <a:bodyPr wrap="square"/>
                    <a:lstStyle/>
                    <a:p>
                      <a:pPr algn="l"/>
                      <a:r>
                        <a:rPr sz="1100" b="0" i="0">
                          <a:solidFill>
                            <a:srgbClr val="242B33"/>
                          </a:solidFill>
                          <a:latin typeface="Aptos"/>
                        </a:rPr>
                        <a:t>lead_days, delivered_hour, delivered_weekend</a:t>
                      </a:r>
                    </a:p>
                  </a:txBody>
                  <a:tcPr marL="54864" marR="54864" marT="27432" marB="27432" anchor="ctr">
                    <a:solidFill>
                      <a:srgbClr val="FFFFFF"/>
                    </a:solidFill>
                  </a:tcPr>
                </a:tc>
                <a:tc>
                  <a:txBody>
                    <a:bodyPr wrap="square"/>
                    <a:lstStyle/>
                    <a:p>
                      <a:pPr algn="l"/>
                      <a:r>
                        <a:rPr sz="1100" b="0" i="0">
                          <a:solidFill>
                            <a:srgbClr val="242B33"/>
                          </a:solidFill>
                          <a:latin typeface="Aptos"/>
                        </a:rPr>
                        <a:t>thời gian giao thực tế, giờ/ngày nhận</a:t>
                      </a:r>
                    </a:p>
                  </a:txBody>
                  <a:tcPr marL="54864" marR="54864" marT="27432" marB="27432" anchor="ctr">
                    <a:solidFill>
                      <a:srgbClr val="FFFFFF"/>
                    </a:solidFill>
                  </a:tcPr>
                </a:tc>
              </a:tr>
              <a:tr h="384048">
                <a:tc>
                  <a:txBody>
                    <a:bodyPr wrap="square"/>
                    <a:lstStyle/>
                    <a:p>
                      <a:pPr algn="l"/>
                      <a:r>
                        <a:rPr sz="1100" b="1" i="0">
                          <a:solidFill>
                            <a:srgbClr val="242B33"/>
                          </a:solidFill>
                          <a:latin typeface="Aptos"/>
                        </a:rPr>
                        <a:t>Thời điểm mua</a:t>
                      </a:r>
                    </a:p>
                  </a:txBody>
                  <a:tcPr marL="54864" marR="54864" marT="27432" marB="27432" anchor="ctr">
                    <a:solidFill>
                      <a:srgbClr val="F6F9FC"/>
                    </a:solidFill>
                  </a:tcPr>
                </a:tc>
                <a:tc>
                  <a:txBody>
                    <a:bodyPr wrap="square"/>
                    <a:lstStyle/>
                    <a:p>
                      <a:pPr algn="l"/>
                      <a:r>
                        <a:rPr sz="1100" b="0" i="0">
                          <a:solidFill>
                            <a:srgbClr val="242B33"/>
                          </a:solidFill>
                          <a:latin typeface="Aptos"/>
                        </a:rPr>
                        <a:t>purchase_month, _weekday, _hour</a:t>
                      </a:r>
                    </a:p>
                  </a:txBody>
                  <a:tcPr marL="54864" marR="54864" marT="27432" marB="27432" anchor="ctr">
                    <a:solidFill>
                      <a:srgbClr val="F6F9FC"/>
                    </a:solidFill>
                  </a:tcPr>
                </a:tc>
                <a:tc>
                  <a:txBody>
                    <a:bodyPr wrap="square"/>
                    <a:lstStyle/>
                    <a:p>
                      <a:pPr algn="l"/>
                      <a:r>
                        <a:rPr sz="1100" b="0" i="0">
                          <a:solidFill>
                            <a:srgbClr val="242B33"/>
                          </a:solidFill>
                          <a:latin typeface="Aptos"/>
                        </a:rPr>
                        <a:t>mùa vụ, thói quen mua</a:t>
                      </a:r>
                    </a:p>
                  </a:txBody>
                  <a:tcPr marL="54864" marR="54864" marT="27432" marB="27432" anchor="ctr">
                    <a:solidFill>
                      <a:srgbClr val="F6F9FC"/>
                    </a:solidFill>
                  </a:tcPr>
                </a:tc>
              </a:tr>
              <a:tr h="384048">
                <a:tc>
                  <a:txBody>
                    <a:bodyPr wrap="square"/>
                    <a:lstStyle/>
                    <a:p>
                      <a:pPr algn="l"/>
                      <a:r>
                        <a:rPr sz="1100" b="1" i="0">
                          <a:solidFill>
                            <a:srgbClr val="242B33"/>
                          </a:solidFill>
                          <a:latin typeface="Aptos"/>
                        </a:rPr>
                        <a:t>Sản phẩm</a:t>
                      </a:r>
                    </a:p>
                  </a:txBody>
                  <a:tcPr marL="54864" marR="54864" marT="27432" marB="27432" anchor="ctr">
                    <a:solidFill>
                      <a:srgbClr val="FFFFFF"/>
                    </a:solidFill>
                  </a:tcPr>
                </a:tc>
                <a:tc>
                  <a:txBody>
                    <a:bodyPr wrap="square"/>
                    <a:lstStyle/>
                    <a:p>
                      <a:pPr algn="l"/>
                      <a:r>
                        <a:rPr sz="1100" b="0" i="0">
                          <a:solidFill>
                            <a:srgbClr val="242B33"/>
                          </a:solidFill>
                          <a:latin typeface="Aptos"/>
                        </a:rPr>
                        <a:t>category, is_tiki_trading, log_price, discount_rate</a:t>
                      </a:r>
                    </a:p>
                  </a:txBody>
                  <a:tcPr marL="54864" marR="54864" marT="27432" marB="27432" anchor="ctr">
                    <a:solidFill>
                      <a:srgbClr val="FFFFFF"/>
                    </a:solidFill>
                  </a:tcPr>
                </a:tc>
                <a:tc>
                  <a:txBody>
                    <a:bodyPr wrap="square"/>
                    <a:lstStyle/>
                    <a:p>
                      <a:pPr algn="l"/>
                      <a:r>
                        <a:rPr sz="1100" b="0" i="0">
                          <a:solidFill>
                            <a:srgbClr val="242B33"/>
                          </a:solidFill>
                          <a:latin typeface="Aptos"/>
                        </a:rPr>
                        <a:t>ngành, hàng sàn tự bán, giá</a:t>
                      </a:r>
                    </a:p>
                  </a:txBody>
                  <a:tcPr marL="54864" marR="54864" marT="27432" marB="27432" anchor="ctr">
                    <a:solidFill>
                      <a:srgbClr val="FFFFFF"/>
                    </a:solidFill>
                  </a:tcPr>
                </a:tc>
              </a:tr>
              <a:tr h="384048">
                <a:tc>
                  <a:txBody>
                    <a:bodyPr wrap="square"/>
                    <a:lstStyle/>
                    <a:p>
                      <a:pPr algn="l"/>
                      <a:r>
                        <a:rPr sz="1100" b="1" i="0">
                          <a:solidFill>
                            <a:srgbClr val="242B33"/>
                          </a:solidFill>
                          <a:latin typeface="Aptos"/>
                        </a:rPr>
                        <a:t>Lịch sử sản phẩm</a:t>
                      </a:r>
                    </a:p>
                  </a:txBody>
                  <a:tcPr marL="54864" marR="54864" marT="27432" marB="27432" anchor="ctr">
                    <a:solidFill>
                      <a:srgbClr val="F6F9FC"/>
                    </a:solidFill>
                  </a:tcPr>
                </a:tc>
                <a:tc>
                  <a:txBody>
                    <a:bodyPr wrap="square"/>
                    <a:lstStyle/>
                    <a:p>
                      <a:pPr algn="l"/>
                      <a:r>
                        <a:rPr sz="1100" b="0" i="0">
                          <a:solidFill>
                            <a:srgbClr val="242B33"/>
                          </a:solidFill>
                          <a:latin typeface="Aptos"/>
                        </a:rPr>
                        <a:t>prod_hist_n, prod_hist_rate</a:t>
                      </a:r>
                    </a:p>
                  </a:txBody>
                  <a:tcPr marL="54864" marR="54864" marT="27432" marB="27432" anchor="ctr">
                    <a:solidFill>
                      <a:srgbClr val="F6F9FC"/>
                    </a:solidFill>
                  </a:tcPr>
                </a:tc>
                <a:tc>
                  <a:txBody>
                    <a:bodyPr wrap="square"/>
                    <a:lstStyle/>
                    <a:p>
                      <a:pPr algn="l"/>
                      <a:r>
                        <a:rPr sz="1100" b="0" i="0">
                          <a:solidFill>
                            <a:srgbClr val="242B33"/>
                          </a:solidFill>
                          <a:latin typeface="Aptos"/>
                        </a:rPr>
                        <a:t>số review &amp; tỉ lệ review xấu TRƯỚC lúc giao</a:t>
                      </a:r>
                    </a:p>
                  </a:txBody>
                  <a:tcPr marL="54864" marR="54864" marT="27432" marB="27432" anchor="ctr">
                    <a:solidFill>
                      <a:srgbClr val="F6F9FC"/>
                    </a:solidFill>
                  </a:tcPr>
                </a:tc>
              </a:tr>
              <a:tr h="384048">
                <a:tc>
                  <a:txBody>
                    <a:bodyPr wrap="square"/>
                    <a:lstStyle/>
                    <a:p>
                      <a:pPr algn="l"/>
                      <a:r>
                        <a:rPr sz="1100" b="1" i="0">
                          <a:solidFill>
                            <a:srgbClr val="242B33"/>
                          </a:solidFill>
                          <a:latin typeface="Aptos"/>
                        </a:rPr>
                        <a:t>Lịch sử nhà bán</a:t>
                      </a:r>
                    </a:p>
                  </a:txBody>
                  <a:tcPr marL="54864" marR="54864" marT="27432" marB="27432" anchor="ctr">
                    <a:solidFill>
                      <a:srgbClr val="FFFFFF"/>
                    </a:solidFill>
                  </a:tcPr>
                </a:tc>
                <a:tc>
                  <a:txBody>
                    <a:bodyPr wrap="square"/>
                    <a:lstStyle/>
                    <a:p>
                      <a:pPr algn="l"/>
                      <a:r>
                        <a:rPr sz="1100" b="0" i="0">
                          <a:solidFill>
                            <a:srgbClr val="242B33"/>
                          </a:solidFill>
                          <a:latin typeface="Aptos"/>
                        </a:rPr>
                        <a:t>seller_hist_n, seller_hist_rate</a:t>
                      </a:r>
                    </a:p>
                  </a:txBody>
                  <a:tcPr marL="54864" marR="54864" marT="27432" marB="27432" anchor="ctr">
                    <a:solidFill>
                      <a:srgbClr val="FFFFFF"/>
                    </a:solidFill>
                  </a:tcPr>
                </a:tc>
                <a:tc>
                  <a:txBody>
                    <a:bodyPr wrap="square"/>
                    <a:lstStyle/>
                    <a:p>
                      <a:pPr algn="l"/>
                      <a:r>
                        <a:rPr sz="1100" b="0" i="0">
                          <a:solidFill>
                            <a:srgbClr val="242B33"/>
                          </a:solidFill>
                          <a:latin typeface="Aptos"/>
                        </a:rPr>
                        <a:t>như trên, cho nhà bán</a:t>
                      </a:r>
                    </a:p>
                  </a:txBody>
                  <a:tcPr marL="54864" marR="54864" marT="27432" marB="27432" anchor="ctr">
                    <a:solidFill>
                      <a:srgbClr val="FFFFFF"/>
                    </a:solidFill>
                  </a:tcPr>
                </a:tc>
              </a:tr>
              <a:tr h="384048">
                <a:tc>
                  <a:txBody>
                    <a:bodyPr wrap="square"/>
                    <a:lstStyle/>
                    <a:p>
                      <a:pPr algn="l"/>
                      <a:r>
                        <a:rPr sz="1100" b="1" i="0">
                          <a:solidFill>
                            <a:srgbClr val="242B33"/>
                          </a:solidFill>
                          <a:latin typeface="Aptos"/>
                        </a:rPr>
                        <a:t>Khách hàng</a:t>
                      </a:r>
                    </a:p>
                  </a:txBody>
                  <a:tcPr marL="54864" marR="54864" marT="27432" marB="27432" anchor="ctr">
                    <a:solidFill>
                      <a:srgbClr val="F6F9FC"/>
                    </a:solidFill>
                  </a:tcPr>
                </a:tc>
                <a:tc>
                  <a:txBody>
                    <a:bodyPr wrap="square"/>
                    <a:lstStyle/>
                    <a:p>
                      <a:pPr algn="l"/>
                      <a:r>
                        <a:rPr sz="1100" b="0" i="0">
                          <a:solidFill>
                            <a:srgbClr val="242B33"/>
                          </a:solidFill>
                          <a:latin typeface="Aptos"/>
                        </a:rPr>
                        <a:t>cust_tenure_days, cust_hist_n, cust_hist_rate</a:t>
                      </a:r>
                    </a:p>
                  </a:txBody>
                  <a:tcPr marL="54864" marR="54864" marT="27432" marB="27432" anchor="ctr">
                    <a:solidFill>
                      <a:srgbClr val="F6F9FC"/>
                    </a:solidFill>
                  </a:tcPr>
                </a:tc>
                <a:tc>
                  <a:txBody>
                    <a:bodyPr wrap="square"/>
                    <a:lstStyle/>
                    <a:p>
                      <a:pPr algn="l"/>
                      <a:r>
                        <a:rPr sz="1100" b="0" i="0">
                          <a:solidFill>
                            <a:srgbClr val="242B33"/>
                          </a:solidFill>
                          <a:latin typeface="Aptos"/>
                        </a:rPr>
                        <a:t>thâm niên; khách có hay chấm thấp không</a:t>
                      </a:r>
                    </a:p>
                  </a:txBody>
                  <a:tcPr marL="54864" marR="54864" marT="27432" marB="27432" anchor="ctr">
                    <a:solidFill>
                      <a:srgbClr val="F6F9FC"/>
                    </a:solidFill>
                  </a:tcPr>
                </a:tc>
              </a:tr>
            </a:tbl>
          </a:graphicData>
        </a:graphic>
      </p:graphicFrame>
      <p:sp>
        <p:nvSpPr>
          <p:cNvPr id="9" name="Rounded Rectangle 8"/>
          <p:cNvSpPr/>
          <p:nvPr/>
        </p:nvSpPr>
        <p:spPr>
          <a:xfrm>
            <a:off x="603504" y="4215384"/>
            <a:ext cx="6629400" cy="137160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270248"/>
            <a:ext cx="6400800" cy="1280160"/>
          </a:xfrm>
          <a:prstGeom prst="rect">
            <a:avLst/>
          </a:prstGeom>
          <a:noFill/>
        </p:spPr>
        <p:txBody>
          <a:bodyPr wrap="square" anchor="t" lIns="36576" rIns="36576" tIns="36576" bIns="36576">
            <a:noAutofit/>
          </a:bodyPr>
          <a:lstStyle/>
          <a:p>
            <a:pPr algn="l">
              <a:spcAft>
                <a:spcPts val="300"/>
              </a:spcAft>
            </a:pPr>
            <a:r>
              <a:rPr sz="1150" b="1" i="0">
                <a:solidFill>
                  <a:srgbClr val="162C46"/>
                </a:solidFill>
                <a:latin typeface="Aptos"/>
              </a:rPr>
              <a:t>Feature lịch sử "as-of" — không nhìn tương lai</a:t>
            </a:r>
          </a:p>
          <a:p>
            <a:pPr algn="l">
              <a:spcAft>
                <a:spcPts val="300"/>
              </a:spcAft>
            </a:pPr>
            <a:r>
              <a:rPr sz="1100" b="1" i="0">
                <a:solidFill>
                  <a:srgbClr val="242B33"/>
                </a:solidFill>
                <a:latin typeface="Courier New"/>
              </a:rPr>
              <a:t>prod_hist_rate</a:t>
            </a:r>
            <a:r>
              <a:rPr sz="1150" b="0" i="0">
                <a:solidFill>
                  <a:srgbClr val="5E6A78"/>
                </a:solidFill>
                <a:latin typeface="Aptos"/>
              </a:rPr>
              <a:t> chỉ cộng review đăng trước thời điểm giao, không gồm chính dòng đó; có trọng số; làm trơn Bayes về tỉ lệ chung (prior Beta) để sản phẩm mới không bị gán 0% / 100%.</a:t>
            </a:r>
          </a:p>
          <a:p>
            <a:pPr algn="l">
              <a:spcAft>
                <a:spcPts val="300"/>
              </a:spcAft>
            </a:pPr>
            <a:r>
              <a:rPr sz="1150" b="0" i="0">
                <a:solidFill>
                  <a:srgbClr val="5E6A78"/>
                </a:solidFill>
                <a:latin typeface="Aptos"/>
              </a:rPr>
              <a:t>Cài vector hoá bằng </a:t>
            </a:r>
            <a:r>
              <a:rPr sz="1100" b="1" i="0">
                <a:solidFill>
                  <a:srgbClr val="242B33"/>
                </a:solidFill>
                <a:latin typeface="Courier New"/>
              </a:rPr>
              <a:t>np.searchsorted</a:t>
            </a:r>
            <a:r>
              <a:rPr sz="1150" b="0" i="0">
                <a:solidFill>
                  <a:srgbClr val="5E6A78"/>
                </a:solidFill>
                <a:latin typeface="Aptos"/>
              </a:rPr>
              <a:t> (Buổi 2), test khớp từng số với bản vòng lặp.</a:t>
            </a:r>
          </a:p>
        </p:txBody>
      </p:sp>
      <p:sp>
        <p:nvSpPr>
          <p:cNvPr id="11" name="TextBox 10"/>
          <p:cNvSpPr txBox="1"/>
          <p:nvPr/>
        </p:nvSpPr>
        <p:spPr>
          <a:xfrm>
            <a:off x="7452360" y="1005840"/>
            <a:ext cx="420624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2. BIẾN CẤM — VÌ SAO</a:t>
            </a:r>
          </a:p>
        </p:txBody>
      </p:sp>
      <p:sp>
        <p:nvSpPr>
          <p:cNvPr id="12" name="Rounded Rectangle 11"/>
          <p:cNvSpPr/>
          <p:nvPr/>
        </p:nvSpPr>
        <p:spPr>
          <a:xfrm>
            <a:off x="7452360" y="1344168"/>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71231" y="1380744"/>
            <a:ext cx="3977639" cy="256032"/>
          </a:xfrm>
          <a:prstGeom prst="rect">
            <a:avLst/>
          </a:prstGeom>
          <a:noFill/>
        </p:spPr>
        <p:txBody>
          <a:bodyPr wrap="square" anchor="t" lIns="36576" rIns="36576" tIns="36576" bIns="36576">
            <a:noAutofit/>
          </a:bodyPr>
          <a:lstStyle/>
          <a:p>
            <a:pPr algn="l">
              <a:spcAft>
                <a:spcPts val="300"/>
              </a:spcAft>
            </a:pPr>
            <a:r>
              <a:rPr sz="1200" b="1" i="0">
                <a:solidFill>
                  <a:srgbClr val="B14242"/>
                </a:solidFill>
                <a:latin typeface="Aptos"/>
              </a:rPr>
              <a:t>Chính là nhãn</a:t>
            </a:r>
          </a:p>
        </p:txBody>
      </p:sp>
      <p:sp>
        <p:nvSpPr>
          <p:cNvPr id="14" name="TextBox 13"/>
          <p:cNvSpPr txBox="1"/>
          <p:nvPr/>
        </p:nvSpPr>
        <p:spPr>
          <a:xfrm>
            <a:off x="7571231" y="1618488"/>
            <a:ext cx="3977639" cy="237744"/>
          </a:xfrm>
          <a:prstGeom prst="rect">
            <a:avLst/>
          </a:prstGeom>
          <a:noFill/>
        </p:spPr>
        <p:txBody>
          <a:bodyPr wrap="square" anchor="t" lIns="36576" rIns="36576" tIns="36576" bIns="36576">
            <a:noAutofit/>
          </a:bodyPr>
          <a:lstStyle/>
          <a:p>
            <a:pPr algn="l">
              <a:spcAft>
                <a:spcPts val="300"/>
              </a:spcAft>
            </a:pPr>
            <a:r>
              <a:rPr sz="1050" b="1" i="0">
                <a:solidFill>
                  <a:srgbClr val="242B33"/>
                </a:solidFill>
                <a:latin typeface="Courier New"/>
              </a:rPr>
              <a:t>rating · stratum · weight · title</a:t>
            </a:r>
          </a:p>
        </p:txBody>
      </p:sp>
      <p:sp>
        <p:nvSpPr>
          <p:cNvPr id="15" name="TextBox 14"/>
          <p:cNvSpPr txBox="1"/>
          <p:nvPr/>
        </p:nvSpPr>
        <p:spPr>
          <a:xfrm>
            <a:off x="7571231" y="1837943"/>
            <a:ext cx="3977639" cy="237744"/>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weight = N_h/n_h phụ thuộc tầng sao</a:t>
            </a:r>
          </a:p>
        </p:txBody>
      </p:sp>
      <p:sp>
        <p:nvSpPr>
          <p:cNvPr id="16" name="Rounded Rectangle 15"/>
          <p:cNvSpPr/>
          <p:nvPr/>
        </p:nvSpPr>
        <p:spPr>
          <a:xfrm>
            <a:off x="7452360" y="2194560"/>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2231136"/>
            <a:ext cx="3977639" cy="256032"/>
          </a:xfrm>
          <a:prstGeom prst="rect">
            <a:avLst/>
          </a:prstGeom>
          <a:noFill/>
        </p:spPr>
        <p:txBody>
          <a:bodyPr wrap="square" anchor="t" lIns="36576" rIns="36576" tIns="36576" bIns="36576">
            <a:noAutofit/>
          </a:bodyPr>
          <a:lstStyle/>
          <a:p>
            <a:pPr algn="l">
              <a:spcAft>
                <a:spcPts val="300"/>
              </a:spcAft>
            </a:pPr>
            <a:r>
              <a:rPr sz="1200" b="1" i="0">
                <a:solidFill>
                  <a:srgbClr val="B14242"/>
                </a:solidFill>
                <a:latin typeface="Aptos"/>
              </a:rPr>
              <a:t>Hệ quả của nhãn</a:t>
            </a:r>
          </a:p>
        </p:txBody>
      </p:sp>
      <p:sp>
        <p:nvSpPr>
          <p:cNvPr id="18" name="TextBox 17"/>
          <p:cNvSpPr txBox="1"/>
          <p:nvPr/>
        </p:nvSpPr>
        <p:spPr>
          <a:xfrm>
            <a:off x="7571231" y="2468879"/>
            <a:ext cx="3977639" cy="237744"/>
          </a:xfrm>
          <a:prstGeom prst="rect">
            <a:avLst/>
          </a:prstGeom>
          <a:noFill/>
        </p:spPr>
        <p:txBody>
          <a:bodyPr wrap="square" anchor="t" lIns="36576" rIns="36576" tIns="36576" bIns="36576">
            <a:noAutofit/>
          </a:bodyPr>
          <a:lstStyle/>
          <a:p>
            <a:pPr algn="l">
              <a:spcAft>
                <a:spcPts val="300"/>
              </a:spcAft>
            </a:pPr>
            <a:r>
              <a:rPr sz="1050" b="1" i="0">
                <a:solidFill>
                  <a:srgbClr val="242B33"/>
                </a:solidFill>
                <a:latin typeface="Courier New"/>
              </a:rPr>
              <a:t>thank_count</a:t>
            </a:r>
          </a:p>
        </p:txBody>
      </p:sp>
      <p:sp>
        <p:nvSpPr>
          <p:cNvPr id="19" name="TextBox 18"/>
          <p:cNvSpPr txBox="1"/>
          <p:nvPr/>
        </p:nvSpPr>
        <p:spPr>
          <a:xfrm>
            <a:off x="7571231" y="2688336"/>
            <a:ext cx="3977639" cy="237744"/>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người khác bấm "cảm ơn" SAU khi đăng</a:t>
            </a:r>
          </a:p>
        </p:txBody>
      </p:sp>
      <p:sp>
        <p:nvSpPr>
          <p:cNvPr id="20" name="Rounded Rectangle 19"/>
          <p:cNvSpPr/>
          <p:nvPr/>
        </p:nvSpPr>
        <p:spPr>
          <a:xfrm>
            <a:off x="7452360" y="3044952"/>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71231" y="3081528"/>
            <a:ext cx="3977639" cy="256032"/>
          </a:xfrm>
          <a:prstGeom prst="rect">
            <a:avLst/>
          </a:prstGeom>
          <a:noFill/>
        </p:spPr>
        <p:txBody>
          <a:bodyPr wrap="square" anchor="t" lIns="36576" rIns="36576" tIns="36576" bIns="36576">
            <a:noAutofit/>
          </a:bodyPr>
          <a:lstStyle/>
          <a:p>
            <a:pPr algn="l">
              <a:spcAft>
                <a:spcPts val="300"/>
              </a:spcAft>
            </a:pPr>
            <a:r>
              <a:rPr sz="1200" b="1" i="0">
                <a:solidFill>
                  <a:srgbClr val="BE7D2F"/>
                </a:solidFill>
                <a:latin typeface="Aptos"/>
              </a:rPr>
              <a:t>Thông tin tương lai</a:t>
            </a:r>
          </a:p>
        </p:txBody>
      </p:sp>
      <p:sp>
        <p:nvSpPr>
          <p:cNvPr id="22" name="TextBox 21"/>
          <p:cNvSpPr txBox="1"/>
          <p:nvPr/>
        </p:nvSpPr>
        <p:spPr>
          <a:xfrm>
            <a:off x="7571231" y="3319272"/>
            <a:ext cx="3977639" cy="237744"/>
          </a:xfrm>
          <a:prstGeom prst="rect">
            <a:avLst/>
          </a:prstGeom>
          <a:noFill/>
        </p:spPr>
        <p:txBody>
          <a:bodyPr wrap="square" anchor="t" lIns="36576" rIns="36576" tIns="36576" bIns="36576">
            <a:noAutofit/>
          </a:bodyPr>
          <a:lstStyle/>
          <a:p>
            <a:pPr algn="l">
              <a:spcAft>
                <a:spcPts val="300"/>
              </a:spcAft>
            </a:pPr>
            <a:r>
              <a:rPr sz="1050" b="1" i="0">
                <a:solidFill>
                  <a:srgbClr val="242B33"/>
                </a:solidFill>
                <a:latin typeface="Courier New"/>
              </a:rPr>
              <a:t>rating_average · review_count · review_ts</a:t>
            </a:r>
          </a:p>
        </p:txBody>
      </p:sp>
      <p:sp>
        <p:nvSpPr>
          <p:cNvPr id="23" name="TextBox 22"/>
          <p:cNvSpPr txBox="1"/>
          <p:nvPr/>
        </p:nvSpPr>
        <p:spPr>
          <a:xfrm>
            <a:off x="7571231" y="3538728"/>
            <a:ext cx="3977639" cy="237744"/>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ảnh chụp lúc cào 2026, chứa cả review cần dự báo</a:t>
            </a:r>
          </a:p>
        </p:txBody>
      </p:sp>
      <p:sp>
        <p:nvSpPr>
          <p:cNvPr id="24" name="Rounded Rectangle 23"/>
          <p:cNvSpPr/>
          <p:nvPr/>
        </p:nvSpPr>
        <p:spPr>
          <a:xfrm>
            <a:off x="7452360" y="3895344"/>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1231" y="3931920"/>
            <a:ext cx="3977639" cy="256032"/>
          </a:xfrm>
          <a:prstGeom prst="rect">
            <a:avLst/>
          </a:prstGeom>
          <a:noFill/>
        </p:spPr>
        <p:txBody>
          <a:bodyPr wrap="square" anchor="t" lIns="36576" rIns="36576" tIns="36576" bIns="36576">
            <a:noAutofit/>
          </a:bodyPr>
          <a:lstStyle/>
          <a:p>
            <a:pPr algn="l">
              <a:spcAft>
                <a:spcPts val="300"/>
              </a:spcAft>
            </a:pPr>
            <a:r>
              <a:rPr sz="1200" b="1" i="0">
                <a:solidFill>
                  <a:srgbClr val="BE7D2F"/>
                </a:solidFill>
                <a:latin typeface="Aptos"/>
              </a:rPr>
              <a:t>Trùng thông tin</a:t>
            </a:r>
          </a:p>
        </p:txBody>
      </p:sp>
      <p:sp>
        <p:nvSpPr>
          <p:cNvPr id="26" name="TextBox 25"/>
          <p:cNvSpPr txBox="1"/>
          <p:nvPr/>
        </p:nvSpPr>
        <p:spPr>
          <a:xfrm>
            <a:off x="7571231" y="4169663"/>
            <a:ext cx="3977639" cy="237744"/>
          </a:xfrm>
          <a:prstGeom prst="rect">
            <a:avLst/>
          </a:prstGeom>
          <a:noFill/>
        </p:spPr>
        <p:txBody>
          <a:bodyPr wrap="square" anchor="t" lIns="36576" rIns="36576" tIns="36576" bIns="36576">
            <a:noAutofit/>
          </a:bodyPr>
          <a:lstStyle/>
          <a:p>
            <a:pPr algn="l">
              <a:spcAft>
                <a:spcPts val="300"/>
              </a:spcAft>
            </a:pPr>
            <a:r>
              <a:rPr sz="1050" b="1" i="0">
                <a:solidFill>
                  <a:srgbClr val="242B33"/>
                </a:solidFill>
                <a:latin typeface="Courier New"/>
              </a:rPr>
              <a:t>gap_days · sla_status</a:t>
            </a:r>
          </a:p>
        </p:txBody>
      </p:sp>
      <p:sp>
        <p:nvSpPr>
          <p:cNvPr id="27" name="TextBox 26"/>
          <p:cNvSpPr txBox="1"/>
          <p:nvPr/>
        </p:nvSpPr>
        <p:spPr>
          <a:xfrm>
            <a:off x="7571231" y="4389120"/>
            <a:ext cx="3977639" cy="237744"/>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gap_days = lead_days − 5, tương quan đúng 1,0</a:t>
            </a:r>
          </a:p>
        </p:txBody>
      </p:sp>
      <p:sp>
        <p:nvSpPr>
          <p:cNvPr id="28" name="Rounded Rectangle 27"/>
          <p:cNvSpPr/>
          <p:nvPr/>
        </p:nvSpPr>
        <p:spPr>
          <a:xfrm>
            <a:off x="7452360" y="4745736"/>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71231" y="4782312"/>
            <a:ext cx="3977639" cy="256032"/>
          </a:xfrm>
          <a:prstGeom prst="rect">
            <a:avLst/>
          </a:prstGeom>
          <a:noFill/>
        </p:spPr>
        <p:txBody>
          <a:bodyPr wrap="square" anchor="t" lIns="36576" rIns="36576" tIns="36576" bIns="36576">
            <a:noAutofit/>
          </a:bodyPr>
          <a:lstStyle/>
          <a:p>
            <a:pPr algn="l">
              <a:spcAft>
                <a:spcPts val="300"/>
              </a:spcAft>
            </a:pPr>
            <a:r>
              <a:rPr sz="1200" b="1" i="0">
                <a:solidFill>
                  <a:srgbClr val="5E6A78"/>
                </a:solidFill>
                <a:latin typeface="Aptos"/>
              </a:rPr>
              <a:t>Không khái quát</a:t>
            </a:r>
          </a:p>
        </p:txBody>
      </p:sp>
      <p:sp>
        <p:nvSpPr>
          <p:cNvPr id="30" name="TextBox 29"/>
          <p:cNvSpPr txBox="1"/>
          <p:nvPr/>
        </p:nvSpPr>
        <p:spPr>
          <a:xfrm>
            <a:off x="7571231" y="5020056"/>
            <a:ext cx="3977639" cy="237744"/>
          </a:xfrm>
          <a:prstGeom prst="rect">
            <a:avLst/>
          </a:prstGeom>
          <a:noFill/>
        </p:spPr>
        <p:txBody>
          <a:bodyPr wrap="square" anchor="t" lIns="36576" rIns="36576" tIns="36576" bIns="36576">
            <a:noAutofit/>
          </a:bodyPr>
          <a:lstStyle/>
          <a:p>
            <a:pPr algn="l">
              <a:spcAft>
                <a:spcPts val="300"/>
              </a:spcAft>
            </a:pPr>
            <a:r>
              <a:rPr sz="1050" b="1" i="0">
                <a:solidFill>
                  <a:srgbClr val="242B33"/>
                </a:solidFill>
                <a:latin typeface="Courier New"/>
              </a:rPr>
              <a:t>year thô · id</a:t>
            </a:r>
          </a:p>
        </p:txBody>
      </p:sp>
      <p:sp>
        <p:nvSpPr>
          <p:cNvPr id="31" name="TextBox 30"/>
          <p:cNvSpPr txBox="1"/>
          <p:nvPr/>
        </p:nvSpPr>
        <p:spPr>
          <a:xfrm>
            <a:off x="7571231" y="5239512"/>
            <a:ext cx="3977639" cy="237744"/>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train ≤2023: cây không ngoại suy được 2024+</a:t>
            </a:r>
          </a:p>
        </p:txBody>
      </p:sp>
      <p:sp>
        <p:nvSpPr>
          <p:cNvPr id="32" name="Rounded Rectangle 31"/>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i="0">
                <a:solidFill>
                  <a:srgbClr val="FFFFFF"/>
                </a:solidFill>
                <a:latin typeface="Aptos"/>
              </a:rPr>
              <a:t>Thời điểm dự báo = lúc hàng tới tay khách, trước khi viết review. Chưa biết lúc đó ⇒ cấm làm feature.</a:t>
            </a:r>
          </a:p>
        </p:txBody>
      </p:sp>
      <p:sp>
        <p:nvSpPr>
          <p:cNvPr id="33" name="Rounded Rectangle 32"/>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4" name="Rounded Rectangle 3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5" name="Rounded Rectangle 3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6" name="Rounded Rectangle 3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7" name="Rounded Rectangle 36"/>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Features</a:t>
            </a:r>
          </a:p>
        </p:txBody>
      </p:sp>
      <p:sp>
        <p:nvSpPr>
          <p:cNvPr id="38" name="Rounded Rectangle 3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39" name="Rounded Rectangle 3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40" name="Rounded Rectangle 3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INTERFACE OOP: MỘT LỚP CHA, MỌI MÔ HÌNH</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14</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14</a:t>
            </a:r>
          </a:p>
        </p:txBody>
      </p:sp>
      <p:sp>
        <p:nvSpPr>
          <p:cNvPr id="7" name="Rounded Rectangle 6"/>
          <p:cNvSpPr/>
          <p:nvPr/>
        </p:nvSpPr>
        <p:spPr>
          <a:xfrm>
            <a:off x="731520"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069848"/>
            <a:ext cx="1874519" cy="274320"/>
          </a:xfrm>
          <a:prstGeom prst="rect">
            <a:avLst/>
          </a:prstGeom>
          <a:noFill/>
        </p:spPr>
        <p:txBody>
          <a:bodyPr wrap="square" anchor="t" lIns="36576" rIns="36576" tIns="36576" bIns="36576">
            <a:noAutofit/>
          </a:bodyPr>
          <a:lstStyle/>
          <a:p>
            <a:pPr algn="ctr">
              <a:spcAft>
                <a:spcPts val="300"/>
              </a:spcAft>
            </a:pPr>
            <a:r>
              <a:rPr sz="1150" b="1" i="0">
                <a:solidFill>
                  <a:srgbClr val="162C46"/>
                </a:solidFill>
                <a:latin typeface="Courier New"/>
              </a:rPr>
              <a:t>abc.ABC</a:t>
            </a:r>
          </a:p>
        </p:txBody>
      </p:sp>
      <p:sp>
        <p:nvSpPr>
          <p:cNvPr id="9" name="TextBox 8"/>
          <p:cNvSpPr txBox="1"/>
          <p:nvPr/>
        </p:nvSpPr>
        <p:spPr>
          <a:xfrm>
            <a:off x="731520" y="1325880"/>
            <a:ext cx="1874519" cy="274320"/>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lớp trừu tượng</a:t>
            </a:r>
          </a:p>
        </p:txBody>
      </p:sp>
      <p:cxnSp>
        <p:nvCxnSpPr>
          <p:cNvPr id="10" name="Connector 9"/>
          <p:cNvCxnSpPr/>
          <p:nvPr/>
        </p:nvCxnSpPr>
        <p:spPr>
          <a:xfrm>
            <a:off x="166878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3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39" y="1069848"/>
            <a:ext cx="1874519" cy="274320"/>
          </a:xfrm>
          <a:prstGeom prst="rect">
            <a:avLst/>
          </a:prstGeom>
          <a:noFill/>
        </p:spPr>
        <p:txBody>
          <a:bodyPr wrap="square" anchor="t" lIns="36576" rIns="36576" tIns="36576" bIns="36576">
            <a:noAutofit/>
          </a:bodyPr>
          <a:lstStyle/>
          <a:p>
            <a:pPr algn="ctr">
              <a:spcAft>
                <a:spcPts val="300"/>
              </a:spcAft>
            </a:pPr>
            <a:r>
              <a:rPr sz="1150" b="1" i="0">
                <a:solidFill>
                  <a:srgbClr val="162C46"/>
                </a:solidFill>
                <a:latin typeface="Courier New"/>
              </a:rPr>
              <a:t>BaseEstimator</a:t>
            </a:r>
          </a:p>
        </p:txBody>
      </p:sp>
      <p:sp>
        <p:nvSpPr>
          <p:cNvPr id="13" name="TextBox 12"/>
          <p:cNvSpPr txBox="1"/>
          <p:nvPr/>
        </p:nvSpPr>
        <p:spPr>
          <a:xfrm>
            <a:off x="2834639" y="1325880"/>
            <a:ext cx="1874519" cy="274320"/>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get/set_params · clone</a:t>
            </a:r>
          </a:p>
        </p:txBody>
      </p:sp>
      <p:cxnSp>
        <p:nvCxnSpPr>
          <p:cNvPr id="14" name="Connector 13"/>
          <p:cNvCxnSpPr/>
          <p:nvPr/>
        </p:nvCxnSpPr>
        <p:spPr>
          <a:xfrm>
            <a:off x="377190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59" y="1069848"/>
            <a:ext cx="1874519" cy="274320"/>
          </a:xfrm>
          <a:prstGeom prst="rect">
            <a:avLst/>
          </a:prstGeom>
          <a:noFill/>
        </p:spPr>
        <p:txBody>
          <a:bodyPr wrap="square" anchor="t" lIns="36576" rIns="36576" tIns="36576" bIns="36576">
            <a:noAutofit/>
          </a:bodyPr>
          <a:lstStyle/>
          <a:p>
            <a:pPr algn="ctr">
              <a:spcAft>
                <a:spcPts val="300"/>
              </a:spcAft>
            </a:pPr>
            <a:r>
              <a:rPr sz="1150" b="1" i="0">
                <a:solidFill>
                  <a:srgbClr val="162C46"/>
                </a:solidFill>
                <a:latin typeface="Courier New"/>
              </a:rPr>
              <a:t>ClassifierMixin</a:t>
            </a:r>
          </a:p>
        </p:txBody>
      </p:sp>
      <p:sp>
        <p:nvSpPr>
          <p:cNvPr id="17" name="TextBox 16"/>
          <p:cNvSpPr txBox="1"/>
          <p:nvPr/>
        </p:nvSpPr>
        <p:spPr>
          <a:xfrm>
            <a:off x="4937759" y="1325880"/>
            <a:ext cx="1874519" cy="274320"/>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chuẩn bộ phân loại</a:t>
            </a:r>
          </a:p>
        </p:txBody>
      </p:sp>
      <p:cxnSp>
        <p:nvCxnSpPr>
          <p:cNvPr id="18" name="Connector 17"/>
          <p:cNvCxnSpPr/>
          <p:nvPr/>
        </p:nvCxnSpPr>
        <p:spPr>
          <a:xfrm>
            <a:off x="5875019"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3504" y="1965960"/>
            <a:ext cx="6309360" cy="1481328"/>
          </a:xfrm>
          <a:prstGeom prst="roundRect">
            <a:avLst>
              <a:gd name="adj" fmla="val 1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011680"/>
            <a:ext cx="6035040" cy="365760"/>
          </a:xfrm>
          <a:prstGeom prst="rect">
            <a:avLst/>
          </a:prstGeom>
          <a:noFill/>
        </p:spPr>
        <p:txBody>
          <a:bodyPr wrap="square" anchor="t" lIns="36576" rIns="36576" tIns="36576" bIns="36576">
            <a:noAutofit/>
          </a:bodyPr>
          <a:lstStyle/>
          <a:p>
            <a:pPr algn="l">
              <a:spcAft>
                <a:spcPts val="300"/>
              </a:spcAft>
            </a:pPr>
            <a:r>
              <a:rPr sz="1700" b="1" i="0">
                <a:solidFill>
                  <a:srgbClr val="FFFFFF"/>
                </a:solidFill>
                <a:latin typeface="Courier New"/>
              </a:rPr>
              <a:t>BaseModel</a:t>
            </a:r>
            <a:r>
              <a:rPr sz="1200" b="0" i="0">
                <a:solidFill>
                  <a:srgbClr val="CADCFC"/>
                </a:solidFill>
                <a:latin typeface="Aptos"/>
              </a:rPr>
              <a:t>   — lớp cha trừu tượng</a:t>
            </a:r>
          </a:p>
        </p:txBody>
      </p:sp>
      <p:sp>
        <p:nvSpPr>
          <p:cNvPr id="21" name="TextBox 20"/>
          <p:cNvSpPr txBox="1"/>
          <p:nvPr/>
        </p:nvSpPr>
        <p:spPr>
          <a:xfrm>
            <a:off x="731520" y="2395728"/>
            <a:ext cx="6035040" cy="1051560"/>
          </a:xfrm>
          <a:prstGeom prst="rect">
            <a:avLst/>
          </a:prstGeom>
          <a:noFill/>
        </p:spPr>
        <p:txBody>
          <a:bodyPr wrap="square" anchor="t" lIns="36576" rIns="36576" tIns="36576" bIns="36576">
            <a:noAutofit/>
          </a:bodyPr>
          <a:lstStyle/>
          <a:p>
            <a:pPr algn="l">
              <a:spcAft>
                <a:spcPts val="500"/>
              </a:spcAft>
            </a:pPr>
            <a:r>
              <a:rPr sz="1200" b="1" i="0">
                <a:solidFill>
                  <a:srgbClr val="FFFFFF"/>
                </a:solidFill>
                <a:latin typeface="Aptos"/>
              </a:rPr>
              <a:t>Viết MỘT lần, mọi lớp con dùng chung: </a:t>
            </a:r>
            <a:r>
              <a:rPr sz="1100" b="0" i="0">
                <a:solidFill>
                  <a:srgbClr val="E6EEF8"/>
                </a:solidFill>
                <a:latin typeface="Courier New"/>
              </a:rPr>
              <a:t>fit() · predict_proba() · score() = PR-AUC · tune() · save() / load() · export_hyperparams()</a:t>
            </a:r>
          </a:p>
          <a:p>
            <a:pPr algn="l">
              <a:spcAft>
                <a:spcPts val="500"/>
              </a:spcAft>
            </a:pPr>
            <a:r>
              <a:rPr sz="1200" b="1" i="0">
                <a:solidFill>
                  <a:srgbClr val="FFFFFF"/>
                </a:solidFill>
                <a:latin typeface="Aptos"/>
              </a:rPr>
              <a:t>@abstractmethod — lớp con BẮT BUỘC cài: </a:t>
            </a:r>
            <a:r>
              <a:rPr sz="1100" b="0" i="0">
                <a:solidFill>
                  <a:srgbClr val="E6EEF8"/>
                </a:solidFill>
                <a:latin typeface="Courier New"/>
              </a:rPr>
              <a:t>_fit() · _predict_positive()</a:t>
            </a:r>
          </a:p>
        </p:txBody>
      </p:sp>
      <p:sp>
        <p:nvSpPr>
          <p:cNvPr id="22" name="Rounded Rectangle 21"/>
          <p:cNvSpPr/>
          <p:nvPr/>
        </p:nvSpPr>
        <p:spPr>
          <a:xfrm>
            <a:off x="603504"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39044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PriorBaseline</a:t>
            </a:r>
          </a:p>
        </p:txBody>
      </p:sp>
      <p:sp>
        <p:nvSpPr>
          <p:cNvPr id="24" name="TextBox 23"/>
          <p:cNvSpPr txBox="1"/>
          <p:nvPr/>
        </p:nvSpPr>
        <p:spPr>
          <a:xfrm>
            <a:off x="603504" y="42062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M0</a:t>
            </a:r>
          </a:p>
        </p:txBody>
      </p:sp>
      <p:sp>
        <p:nvSpPr>
          <p:cNvPr id="25" name="Rounded Rectangle 24"/>
          <p:cNvSpPr/>
          <p:nvPr/>
        </p:nvSpPr>
        <p:spPr>
          <a:xfrm>
            <a:off x="2734056"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4056" y="39044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LogisticModel</a:t>
            </a:r>
          </a:p>
        </p:txBody>
      </p:sp>
      <p:sp>
        <p:nvSpPr>
          <p:cNvPr id="27" name="TextBox 26"/>
          <p:cNvSpPr txBox="1"/>
          <p:nvPr/>
        </p:nvSpPr>
        <p:spPr>
          <a:xfrm>
            <a:off x="2734056" y="42062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M1a · M1b · M2</a:t>
            </a:r>
          </a:p>
        </p:txBody>
      </p:sp>
      <p:sp>
        <p:nvSpPr>
          <p:cNvPr id="28" name="Rounded Rectangle 27"/>
          <p:cNvSpPr/>
          <p:nvPr/>
        </p:nvSpPr>
        <p:spPr>
          <a:xfrm>
            <a:off x="4864608"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4608" y="39044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RandomForestModel</a:t>
            </a:r>
          </a:p>
        </p:txBody>
      </p:sp>
      <p:sp>
        <p:nvSpPr>
          <p:cNvPr id="30" name="TextBox 29"/>
          <p:cNvSpPr txBox="1"/>
          <p:nvPr/>
        </p:nvSpPr>
        <p:spPr>
          <a:xfrm>
            <a:off x="4864608" y="42062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M3</a:t>
            </a:r>
          </a:p>
        </p:txBody>
      </p:sp>
      <p:sp>
        <p:nvSpPr>
          <p:cNvPr id="31" name="Rounded Rectangle 30"/>
          <p:cNvSpPr/>
          <p:nvPr/>
        </p:nvSpPr>
        <p:spPr>
          <a:xfrm>
            <a:off x="603504" y="47548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 y="48188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GBMModel</a:t>
            </a:r>
          </a:p>
        </p:txBody>
      </p:sp>
      <p:sp>
        <p:nvSpPr>
          <p:cNvPr id="33" name="TextBox 32"/>
          <p:cNvSpPr txBox="1"/>
          <p:nvPr/>
        </p:nvSpPr>
        <p:spPr>
          <a:xfrm>
            <a:off x="603504" y="51206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M4 · M5</a:t>
            </a:r>
          </a:p>
        </p:txBody>
      </p:sp>
      <p:sp>
        <p:nvSpPr>
          <p:cNvPr id="34" name="Rounded Rectangle 33"/>
          <p:cNvSpPr/>
          <p:nvPr/>
        </p:nvSpPr>
        <p:spPr>
          <a:xfrm>
            <a:off x="2734056"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34056" y="48188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EnsembleModel</a:t>
            </a:r>
          </a:p>
        </p:txBody>
      </p:sp>
      <p:sp>
        <p:nvSpPr>
          <p:cNvPr id="36" name="TextBox 35"/>
          <p:cNvSpPr txBox="1"/>
          <p:nvPr/>
        </p:nvSpPr>
        <p:spPr>
          <a:xfrm>
            <a:off x="2734056" y="51206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«Composite» chứa n mô hình</a:t>
            </a:r>
          </a:p>
        </p:txBody>
      </p:sp>
      <p:sp>
        <p:nvSpPr>
          <p:cNvPr id="37" name="Rounded Rectangle 36"/>
          <p:cNvSpPr/>
          <p:nvPr/>
        </p:nvSpPr>
        <p:spPr>
          <a:xfrm>
            <a:off x="4864608"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64608" y="4818888"/>
            <a:ext cx="2011680" cy="292608"/>
          </a:xfrm>
          <a:prstGeom prst="rect">
            <a:avLst/>
          </a:prstGeom>
          <a:noFill/>
        </p:spPr>
        <p:txBody>
          <a:bodyPr wrap="square" anchor="t" lIns="36576" rIns="36576" tIns="36576" bIns="36576">
            <a:noAutofit/>
          </a:bodyPr>
          <a:lstStyle/>
          <a:p>
            <a:pPr algn="ctr">
              <a:spcAft>
                <a:spcPts val="300"/>
              </a:spcAft>
            </a:pPr>
            <a:r>
              <a:rPr sz="1100" b="1" i="0">
                <a:solidFill>
                  <a:srgbClr val="162C46"/>
                </a:solidFill>
                <a:latin typeface="Courier New"/>
              </a:rPr>
              <a:t>CalibratedModel</a:t>
            </a:r>
          </a:p>
        </p:txBody>
      </p:sp>
      <p:sp>
        <p:nvSpPr>
          <p:cNvPr id="39" name="TextBox 38"/>
          <p:cNvSpPr txBox="1"/>
          <p:nvPr/>
        </p:nvSpPr>
        <p:spPr>
          <a:xfrm>
            <a:off x="4864608" y="5120640"/>
            <a:ext cx="2011680" cy="329184"/>
          </a:xfrm>
          <a:prstGeom prst="rect">
            <a:avLst/>
          </a:prstGeom>
          <a:noFill/>
        </p:spPr>
        <p:txBody>
          <a:bodyPr wrap="square" anchor="t" lIns="36576" rIns="36576" tIns="36576" bIns="36576">
            <a:noAutofit/>
          </a:bodyPr>
          <a:lstStyle/>
          <a:p>
            <a:pPr algn="ctr">
              <a:spcAft>
                <a:spcPts val="300"/>
              </a:spcAft>
            </a:pPr>
            <a:r>
              <a:rPr sz="1050" b="0" i="0">
                <a:solidFill>
                  <a:srgbClr val="5E6A78"/>
                </a:solidFill>
                <a:latin typeface="Aptos"/>
              </a:rPr>
              <a:t>«Decorator» bọc 1 mô hình</a:t>
            </a:r>
          </a:p>
        </p:txBody>
      </p:sp>
      <p:cxnSp>
        <p:nvCxnSpPr>
          <p:cNvPr id="40" name="Connector 39"/>
          <p:cNvCxnSpPr/>
          <p:nvPr/>
        </p:nvCxnSpPr>
        <p:spPr>
          <a:xfrm>
            <a:off x="1609344" y="3648456"/>
            <a:ext cx="4261104" cy="0"/>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09344"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39896"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70448"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39896" y="3447288"/>
            <a:ext cx="0" cy="201168"/>
          </a:xfrm>
          <a:prstGeom prst="line">
            <a:avLst/>
          </a:prstGeom>
          <a:ln w="19050">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840480" y="3456432"/>
            <a:ext cx="2286000" cy="201168"/>
          </a:xfrm>
          <a:prstGeom prst="rect">
            <a:avLst/>
          </a:prstGeom>
          <a:noFill/>
        </p:spPr>
        <p:txBody>
          <a:bodyPr wrap="square" anchor="t" lIns="36576" rIns="36576" tIns="36576" bIns="36576">
            <a:noAutofit/>
          </a:bodyPr>
          <a:lstStyle/>
          <a:p>
            <a:pPr algn="l">
              <a:spcAft>
                <a:spcPts val="300"/>
              </a:spcAft>
            </a:pPr>
            <a:r>
              <a:rPr sz="950" b="0" i="1">
                <a:solidFill>
                  <a:srgbClr val="2F639D"/>
                </a:solidFill>
                <a:latin typeface="Aptos"/>
              </a:rPr>
              <a:t>kế thừa (is-a) — cả 6 lớp con</a:t>
            </a:r>
          </a:p>
        </p:txBody>
      </p:sp>
      <p:sp>
        <p:nvSpPr>
          <p:cNvPr id="46" name="TextBox 45"/>
          <p:cNvSpPr txBox="1"/>
          <p:nvPr/>
        </p:nvSpPr>
        <p:spPr>
          <a:xfrm>
            <a:off x="7178040" y="1005840"/>
            <a:ext cx="448056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KHÁI NIỆM OOP → LỢI ÍCH THẬT</a:t>
            </a:r>
          </a:p>
        </p:txBody>
      </p:sp>
      <p:sp>
        <p:nvSpPr>
          <p:cNvPr id="47" name="Rounded Rectangle 46"/>
          <p:cNvSpPr/>
          <p:nvPr/>
        </p:nvSpPr>
        <p:spPr>
          <a:xfrm>
            <a:off x="7178040" y="134416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96912" y="1380744"/>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Lớp trừu tượng</a:t>
            </a:r>
          </a:p>
        </p:txBody>
      </p:sp>
      <p:sp>
        <p:nvSpPr>
          <p:cNvPr id="49" name="TextBox 48"/>
          <p:cNvSpPr txBox="1"/>
          <p:nvPr/>
        </p:nvSpPr>
        <p:spPr>
          <a:xfrm>
            <a:off x="7296912" y="1645920"/>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quên cài _fit() → lỗi ngay lúc khởi tạo, không đợi lúc chạy</a:t>
            </a:r>
          </a:p>
        </p:txBody>
      </p:sp>
      <p:sp>
        <p:nvSpPr>
          <p:cNvPr id="50" name="Rounded Rectangle 49"/>
          <p:cNvSpPr/>
          <p:nvPr/>
        </p:nvSpPr>
        <p:spPr>
          <a:xfrm>
            <a:off x="7178040" y="2057400"/>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96912" y="2093976"/>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Template method</a:t>
            </a:r>
          </a:p>
        </p:txBody>
      </p:sp>
      <p:sp>
        <p:nvSpPr>
          <p:cNvPr id="52" name="TextBox 51"/>
          <p:cNvSpPr txBox="1"/>
          <p:nvPr/>
        </p:nvSpPr>
        <p:spPr>
          <a:xfrm>
            <a:off x="7296912" y="2359152"/>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fit() tự kiểm tra đầu vào, chọn cột, kẹp xác suất [0,1]</a:t>
            </a:r>
          </a:p>
        </p:txBody>
      </p:sp>
      <p:sp>
        <p:nvSpPr>
          <p:cNvPr id="53" name="Rounded Rectangle 52"/>
          <p:cNvSpPr/>
          <p:nvPr/>
        </p:nvSpPr>
        <p:spPr>
          <a:xfrm>
            <a:off x="7178040" y="2770632"/>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96912" y="2807208"/>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Kế thừa</a:t>
            </a:r>
          </a:p>
        </p:txBody>
      </p:sp>
      <p:sp>
        <p:nvSpPr>
          <p:cNvPr id="55" name="TextBox 54"/>
          <p:cNvSpPr txBox="1"/>
          <p:nvPr/>
        </p:nvSpPr>
        <p:spPr>
          <a:xfrm>
            <a:off x="7296912" y="3072384"/>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tune(), save() viết một lần — ensemble cũng tune/lưu được</a:t>
            </a:r>
          </a:p>
        </p:txBody>
      </p:sp>
      <p:sp>
        <p:nvSpPr>
          <p:cNvPr id="56" name="Rounded Rectangle 55"/>
          <p:cNvSpPr/>
          <p:nvPr/>
        </p:nvSpPr>
        <p:spPr>
          <a:xfrm>
            <a:off x="7178040" y="3483863"/>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96912" y="3520439"/>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Đa hình</a:t>
            </a:r>
          </a:p>
        </p:txBody>
      </p:sp>
      <p:sp>
        <p:nvSpPr>
          <p:cNvPr id="58" name="TextBox 57"/>
          <p:cNvSpPr txBox="1"/>
          <p:nvPr/>
        </p:nvSpPr>
        <p:spPr>
          <a:xfrm>
            <a:off x="7296912" y="3785615"/>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thêm mô hình mới không sửa dòng nào của code đánh giá</a:t>
            </a:r>
          </a:p>
        </p:txBody>
      </p:sp>
      <p:sp>
        <p:nvSpPr>
          <p:cNvPr id="59" name="Rounded Rectangle 58"/>
          <p:cNvSpPr/>
          <p:nvPr/>
        </p:nvSpPr>
        <p:spPr>
          <a:xfrm>
            <a:off x="7178040" y="4197096"/>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96912" y="4233672"/>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Ghi đè</a:t>
            </a:r>
          </a:p>
        </p:txBody>
      </p:sp>
      <p:sp>
        <p:nvSpPr>
          <p:cNvPr id="61" name="TextBox 60"/>
          <p:cNvSpPr txBox="1"/>
          <p:nvPr/>
        </p:nvSpPr>
        <p:spPr>
          <a:xfrm>
            <a:off x="7296912" y="4498848"/>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score() = PR-AUC thay accuracy (vô nghĩa khi lớp dương ~2%)</a:t>
            </a:r>
          </a:p>
        </p:txBody>
      </p:sp>
      <p:sp>
        <p:nvSpPr>
          <p:cNvPr id="62" name="Rounded Rectangle 61"/>
          <p:cNvSpPr/>
          <p:nvPr/>
        </p:nvSpPr>
        <p:spPr>
          <a:xfrm>
            <a:off x="7178040" y="491032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296912" y="4946904"/>
            <a:ext cx="420624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Decorator · Composite</a:t>
            </a:r>
          </a:p>
        </p:txBody>
      </p:sp>
      <p:sp>
        <p:nvSpPr>
          <p:cNvPr id="64" name="TextBox 63"/>
          <p:cNvSpPr txBox="1"/>
          <p:nvPr/>
        </p:nvSpPr>
        <p:spPr>
          <a:xfrm>
            <a:off x="7296912" y="5212080"/>
            <a:ext cx="4206240" cy="292608"/>
          </a:xfrm>
          <a:prstGeom prst="rect">
            <a:avLst/>
          </a:prstGeom>
          <a:noFill/>
        </p:spPr>
        <p:txBody>
          <a:bodyPr wrap="square" anchor="t" lIns="36576" rIns="36576" tIns="36576" bIns="36576">
            <a:noAutofit/>
          </a:bodyPr>
          <a:lstStyle/>
          <a:p>
            <a:pPr algn="l">
              <a:spcAft>
                <a:spcPts val="300"/>
              </a:spcAft>
            </a:pPr>
            <a:r>
              <a:rPr sz="1100" b="0" i="0">
                <a:solidFill>
                  <a:srgbClr val="5E6A78"/>
                </a:solidFill>
                <a:latin typeface="Aptos"/>
              </a:rPr>
              <a:t>hiệu chỉnh / gộp bất kỳ mô hình nào mà không sửa nó</a:t>
            </a:r>
          </a:p>
        </p:txBody>
      </p:sp>
      <p:sp>
        <p:nvSpPr>
          <p:cNvPr id="65" name="Rounded Rectangle 64"/>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300" b="0" i="0">
                <a:solidFill>
                  <a:srgbClr val="FFFFFF"/>
                </a:solidFill>
                <a:latin typeface="Aptos"/>
              </a:rPr>
              <a:t>Mô hình chốt  </a:t>
            </a:r>
            <a:r>
              <a:rPr sz="1400" b="1" i="0">
                <a:solidFill>
                  <a:srgbClr val="FFFFFF"/>
                </a:solidFill>
                <a:latin typeface="Aptos"/>
              </a:rPr>
              <a:t>M7 = CalibratedModel(EnsembleModel(GBM tuned, Logistic tuned))</a:t>
            </a:r>
            <a:r>
              <a:rPr sz="1300" b="0" i="0">
                <a:solidFill>
                  <a:srgbClr val="FFFFFF"/>
                </a:solidFill>
                <a:latin typeface="Aptos"/>
              </a:rPr>
              <a:t>  — vòng đánh giá gọi nó y hệt M0</a:t>
            </a:r>
          </a:p>
        </p:txBody>
      </p:sp>
      <p:sp>
        <p:nvSpPr>
          <p:cNvPr id="66" name="Rounded Rectangle 65"/>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67" name="Rounded Rectangle 66"/>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68" name="Rounded Rectangle 67"/>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69" name="Rounded Rectangle 68"/>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70" name="Rounded Rectangle 69"/>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71" name="Rounded Rectangle 70"/>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72" name="Rounded Rectangle 71"/>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73" name="Rounded Rectangle 72"/>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TUNE SIÊU THAM SỐ: LÀM THẾ NÀO &amp; VÌ SAO</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15</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15</a:t>
            </a:r>
          </a:p>
        </p:txBody>
      </p:sp>
      <p:sp>
        <p:nvSpPr>
          <p:cNvPr id="7" name="Rounded Rectangle 6"/>
          <p:cNvSpPr/>
          <p:nvPr/>
        </p:nvSpPr>
        <p:spPr>
          <a:xfrm>
            <a:off x="60350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069848"/>
            <a:ext cx="338328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RANDOM SEARCH · 40 CẤU HÌNH</a:t>
            </a:r>
          </a:p>
        </p:txBody>
      </p:sp>
      <p:sp>
        <p:nvSpPr>
          <p:cNvPr id="9" name="TextBox 8"/>
          <p:cNvSpPr txBox="1"/>
          <p:nvPr/>
        </p:nvSpPr>
        <p:spPr>
          <a:xfrm>
            <a:off x="713232" y="1371600"/>
            <a:ext cx="3383280" cy="1005840"/>
          </a:xfrm>
          <a:prstGeom prst="rect">
            <a:avLst/>
          </a:prstGeom>
          <a:noFill/>
        </p:spPr>
        <p:txBody>
          <a:bodyPr wrap="square" anchor="t" lIns="36576" rIns="36576" tIns="36576" bIns="36576">
            <a:noAutofit/>
          </a:bodyPr>
          <a:lstStyle/>
          <a:p>
            <a:pPr algn="l" marL="164592" indent="-164592">
              <a:spcAft>
                <a:spcPts val="300"/>
              </a:spcAft>
              <a:buClr>
                <a:srgbClr val="2F639D"/>
              </a:buClr>
              <a:buChar char="•"/>
            </a:pPr>
            <a:r>
              <a:rPr sz="1100" b="0" i="0">
                <a:solidFill>
                  <a:srgbClr val="5E6A78"/>
                </a:solidFill>
                <a:latin typeface="Aptos"/>
              </a:rPr>
              <a:t>ParameterSampler, seed 42</a:t>
            </a:r>
          </a:p>
          <a:p>
            <a:pPr algn="l" marL="164592" indent="-164592">
              <a:spcAft>
                <a:spcPts val="300"/>
              </a:spcAft>
              <a:buClr>
                <a:srgbClr val="2F639D"/>
              </a:buClr>
              <a:buChar char="•"/>
            </a:pPr>
            <a:r>
              <a:rPr sz="1100" b="0" i="0">
                <a:solidFill>
                  <a:srgbClr val="5E6A78"/>
                </a:solidFill>
                <a:latin typeface="Aptos"/>
              </a:rPr>
              <a:t>Vì sao không grid: chỉ vài chiều quan trọng → random thử nhiều giá trị hơn trên mỗi chiều</a:t>
            </a:r>
          </a:p>
        </p:txBody>
      </p:sp>
      <p:sp>
        <p:nvSpPr>
          <p:cNvPr id="10" name="Rounded Rectangle 9"/>
          <p:cNvSpPr/>
          <p:nvPr/>
        </p:nvSpPr>
        <p:spPr>
          <a:xfrm>
            <a:off x="430682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2" y="1069848"/>
            <a:ext cx="338328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CV THEO THỜI GIAN · 2 FOLD</a:t>
            </a:r>
          </a:p>
        </p:txBody>
      </p:sp>
      <p:sp>
        <p:nvSpPr>
          <p:cNvPr id="12" name="TextBox 11"/>
          <p:cNvSpPr txBox="1"/>
          <p:nvPr/>
        </p:nvSpPr>
        <p:spPr>
          <a:xfrm>
            <a:off x="4416552" y="1371600"/>
            <a:ext cx="3383280" cy="1005840"/>
          </a:xfrm>
          <a:prstGeom prst="rect">
            <a:avLst/>
          </a:prstGeom>
          <a:noFill/>
        </p:spPr>
        <p:txBody>
          <a:bodyPr wrap="square" anchor="t" lIns="36576" rIns="36576" tIns="36576" bIns="36576">
            <a:noAutofit/>
          </a:bodyPr>
          <a:lstStyle/>
          <a:p>
            <a:pPr algn="l" marL="164592" indent="-164592">
              <a:spcAft>
                <a:spcPts val="300"/>
              </a:spcAft>
              <a:buClr>
                <a:srgbClr val="2F639D"/>
              </a:buClr>
              <a:buChar char="•"/>
            </a:pPr>
            <a:r>
              <a:rPr sz="1100" b="0" i="0">
                <a:solidFill>
                  <a:srgbClr val="5E6A78"/>
                </a:solidFill>
                <a:latin typeface="Aptos"/>
              </a:rPr>
              <a:t>train ≤2021 → val 2022 · train ≤2022 → val 2023</a:t>
            </a:r>
          </a:p>
          <a:p>
            <a:pPr algn="l" marL="164592" indent="-164592">
              <a:spcAft>
                <a:spcPts val="300"/>
              </a:spcAft>
              <a:buClr>
                <a:srgbClr val="2F639D"/>
              </a:buClr>
              <a:buChar char="•"/>
            </a:pPr>
            <a:r>
              <a:rPr sz="1100" b="0" i="0">
                <a:solidFill>
                  <a:srgbClr val="5E6A78"/>
                </a:solidFill>
                <a:latin typeface="Aptos"/>
              </a:rPr>
              <a:t>Không KFold: xáo trộn cho PR-AUC </a:t>
            </a:r>
            <a:r>
              <a:rPr sz="1100" b="1" i="0">
                <a:solidFill>
                  <a:srgbClr val="B14242"/>
                </a:solidFill>
                <a:latin typeface="Aptos"/>
              </a:rPr>
              <a:t>0,130</a:t>
            </a:r>
            <a:r>
              <a:rPr sz="1100" b="0" i="0">
                <a:solidFill>
                  <a:srgbClr val="5E6A78"/>
                </a:solidFill>
                <a:latin typeface="Aptos"/>
              </a:rPr>
              <a:t> vs </a:t>
            </a:r>
            <a:r>
              <a:rPr sz="1100" b="1" i="0">
                <a:solidFill>
                  <a:srgbClr val="162C46"/>
                </a:solidFill>
                <a:latin typeface="Aptos"/>
              </a:rPr>
              <a:t>0,055</a:t>
            </a:r>
            <a:r>
              <a:rPr sz="1100" b="0" i="0">
                <a:solidFill>
                  <a:srgbClr val="5E6A78"/>
                </a:solidFill>
                <a:latin typeface="Aptos"/>
              </a:rPr>
              <a:t> theo năm — điểm ảo ×2,3</a:t>
            </a:r>
          </a:p>
        </p:txBody>
      </p:sp>
      <p:sp>
        <p:nvSpPr>
          <p:cNvPr id="13" name="Rounded Rectangle 12"/>
          <p:cNvSpPr/>
          <p:nvPr/>
        </p:nvSpPr>
        <p:spPr>
          <a:xfrm>
            <a:off x="801014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9871" y="1069848"/>
            <a:ext cx="3383280" cy="27432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ĐIỂM = PR-AUC CÓ TRỌNG SỐ</a:t>
            </a:r>
          </a:p>
        </p:txBody>
      </p:sp>
      <p:sp>
        <p:nvSpPr>
          <p:cNvPr id="15" name="TextBox 14"/>
          <p:cNvSpPr txBox="1"/>
          <p:nvPr/>
        </p:nvSpPr>
        <p:spPr>
          <a:xfrm>
            <a:off x="8119871" y="1371600"/>
            <a:ext cx="3383280" cy="1005840"/>
          </a:xfrm>
          <a:prstGeom prst="rect">
            <a:avLst/>
          </a:prstGeom>
          <a:noFill/>
        </p:spPr>
        <p:txBody>
          <a:bodyPr wrap="square" anchor="t" lIns="36576" rIns="36576" tIns="36576" bIns="36576">
            <a:noAutofit/>
          </a:bodyPr>
          <a:lstStyle/>
          <a:p>
            <a:pPr algn="l" marL="164592" indent="-164592">
              <a:spcAft>
                <a:spcPts val="300"/>
              </a:spcAft>
              <a:buClr>
                <a:srgbClr val="2F639D"/>
              </a:buClr>
              <a:buChar char="•"/>
            </a:pPr>
            <a:r>
              <a:rPr sz="1100" b="0" i="0">
                <a:solidFill>
                  <a:srgbClr val="5E6A78"/>
                </a:solidFill>
                <a:latin typeface="Aptos"/>
              </a:rPr>
              <a:t>lớp dương ~2–4% → accuracy vô nghĩa (đoán toàn "không" đã 97%)</a:t>
            </a:r>
          </a:p>
          <a:p>
            <a:pPr algn="l" marL="164592" indent="-164592">
              <a:spcAft>
                <a:spcPts val="300"/>
              </a:spcAft>
              <a:buClr>
                <a:srgbClr val="2F639D"/>
              </a:buClr>
              <a:buChar char="•"/>
            </a:pPr>
            <a:r>
              <a:rPr sz="1100" b="0" i="0">
                <a:solidFill>
                  <a:srgbClr val="5E6A78"/>
                </a:solidFill>
                <a:latin typeface="Aptos"/>
              </a:rPr>
              <a:t>chấm bằng trọng số khảo sát → điểm của quần thể</a:t>
            </a:r>
          </a:p>
        </p:txBody>
      </p:sp>
      <p:graphicFrame>
        <p:nvGraphicFramePr>
          <p:cNvPr id="16" name="Table 15"/>
          <p:cNvGraphicFramePr>
            <a:graphicFrameLocks noGrp="1"/>
          </p:cNvGraphicFramePr>
          <p:nvPr/>
        </p:nvGraphicFramePr>
        <p:xfrm>
          <a:off x="603504" y="2542032"/>
          <a:ext cx="11009376" cy="2962656"/>
        </p:xfrm>
        <a:graphic>
          <a:graphicData uri="http://schemas.openxmlformats.org/drawingml/2006/table">
            <a:tbl>
              <a:tblPr firstRow="1">
                <a:tableStyleId>{5C22544A-7EE6-4342-B048-85BDC9FD1C3A}</a:tableStyleId>
              </a:tblPr>
              <a:tblGrid>
                <a:gridCol w="1783080"/>
                <a:gridCol w="2331720"/>
                <a:gridCol w="5394960"/>
                <a:gridCol w="1499616"/>
              </a:tblGrid>
              <a:tr h="329184">
                <a:tc>
                  <a:txBody>
                    <a:bodyPr wrap="square"/>
                    <a:lstStyle/>
                    <a:p>
                      <a:pPr algn="l"/>
                      <a:r>
                        <a:rPr sz="1100" b="1" i="0">
                          <a:solidFill>
                            <a:srgbClr val="FFFFFF"/>
                          </a:solidFill>
                          <a:latin typeface="Aptos"/>
                        </a:rPr>
                        <a:t>Siêu tham số</a:t>
                      </a:r>
                    </a:p>
                  </a:txBody>
                  <a:tcPr marL="54864" marR="54864" marT="27432" marB="27432" anchor="ctr">
                    <a:solidFill>
                      <a:srgbClr val="162C46"/>
                    </a:solidFill>
                  </a:tcPr>
                </a:tc>
                <a:tc>
                  <a:txBody>
                    <a:bodyPr wrap="square"/>
                    <a:lstStyle/>
                    <a:p>
                      <a:pPr algn="l"/>
                      <a:r>
                        <a:rPr sz="1100" b="1" i="0">
                          <a:solidFill>
                            <a:srgbClr val="FFFFFF"/>
                          </a:solidFill>
                          <a:latin typeface="Aptos"/>
                        </a:rPr>
                        <a:t>Khoảng tìm</a:t>
                      </a:r>
                    </a:p>
                  </a:txBody>
                  <a:tcPr marL="54864" marR="54864" marT="27432" marB="27432" anchor="ctr">
                    <a:solidFill>
                      <a:srgbClr val="162C46"/>
                    </a:solidFill>
                  </a:tcPr>
                </a:tc>
                <a:tc>
                  <a:txBody>
                    <a:bodyPr wrap="square"/>
                    <a:lstStyle/>
                    <a:p>
                      <a:pPr algn="l"/>
                      <a:r>
                        <a:rPr sz="1100" b="1" i="0">
                          <a:solidFill>
                            <a:srgbClr val="FFFFFF"/>
                          </a:solidFill>
                          <a:latin typeface="Aptos"/>
                        </a:rPr>
                        <a:t>Tác động — vì sao tìm ở đó</a:t>
                      </a:r>
                    </a:p>
                  </a:txBody>
                  <a:tcPr marL="54864" marR="54864" marT="27432" marB="27432" anchor="ctr">
                    <a:solidFill>
                      <a:srgbClr val="162C46"/>
                    </a:solidFill>
                  </a:tcPr>
                </a:tc>
                <a:tc>
                  <a:txBody>
                    <a:bodyPr wrap="square"/>
                    <a:lstStyle/>
                    <a:p>
                      <a:pPr algn="l"/>
                      <a:r>
                        <a:rPr sz="1100" b="1" i="0">
                          <a:solidFill>
                            <a:srgbClr val="FFFFFF"/>
                          </a:solidFill>
                          <a:latin typeface="Aptos"/>
                        </a:rPr>
                        <a:t>Giá trị thắng</a:t>
                      </a:r>
                    </a:p>
                  </a:txBody>
                  <a:tcPr marL="54864" marR="54864" marT="27432" marB="27432" anchor="ctr">
                    <a:solidFill>
                      <a:srgbClr val="162C46"/>
                    </a:solidFill>
                  </a:tcPr>
                </a:tc>
              </a:tr>
              <a:tr h="329184">
                <a:tc>
                  <a:txBody>
                    <a:bodyPr wrap="square"/>
                    <a:lstStyle/>
                    <a:p>
                      <a:pPr algn="l"/>
                      <a:r>
                        <a:rPr sz="1100" b="1" i="0">
                          <a:solidFill>
                            <a:srgbClr val="242B33"/>
                          </a:solidFill>
                          <a:latin typeface="Aptos"/>
                        </a:rPr>
                        <a:t>learning_rate η</a:t>
                      </a:r>
                    </a:p>
                  </a:txBody>
                  <a:tcPr marL="54864" marR="54864" marT="27432" marB="27432" anchor="ctr">
                    <a:solidFill>
                      <a:srgbClr val="FFFFFF"/>
                    </a:solidFill>
                  </a:tcPr>
                </a:tc>
                <a:tc>
                  <a:txBody>
                    <a:bodyPr wrap="square"/>
                    <a:lstStyle/>
                    <a:p>
                      <a:pPr algn="l"/>
                      <a:r>
                        <a:rPr sz="1100" b="0" i="0">
                          <a:solidFill>
                            <a:srgbClr val="242B33"/>
                          </a:solidFill>
                          <a:latin typeface="Aptos"/>
                        </a:rPr>
                        <a:t>log-uniform [0,02; 0,2]</a:t>
                      </a:r>
                    </a:p>
                  </a:txBody>
                  <a:tcPr marL="54864" marR="54864" marT="27432" marB="27432" anchor="ctr">
                    <a:solidFill>
                      <a:srgbClr val="FFFFFF"/>
                    </a:solidFill>
                  </a:tcPr>
                </a:tc>
                <a:tc>
                  <a:txBody>
                    <a:bodyPr wrap="square"/>
                    <a:lstStyle/>
                    <a:p>
                      <a:pPr algn="l"/>
                      <a:r>
                        <a:rPr sz="1100" b="0" i="0">
                          <a:solidFill>
                            <a:srgbClr val="242B33"/>
                          </a:solidFill>
                          <a:latin typeface="Aptos"/>
                        </a:rPr>
                        <a:t>nhỏ → nhiều cây, mượt, ít quá khớp; log vì tác động theo bậc độ lớn</a:t>
                      </a:r>
                    </a:p>
                  </a:txBody>
                  <a:tcPr marL="54864" marR="54864" marT="27432" marB="27432" anchor="ctr">
                    <a:solidFill>
                      <a:srgbClr val="FFFFFF"/>
                    </a:solidFill>
                  </a:tcPr>
                </a:tc>
                <a:tc>
                  <a:txBody>
                    <a:bodyPr wrap="square"/>
                    <a:lstStyle/>
                    <a:p>
                      <a:pPr algn="r"/>
                      <a:r>
                        <a:rPr sz="1100" b="0" i="0">
                          <a:solidFill>
                            <a:srgbClr val="242B33"/>
                          </a:solidFill>
                          <a:latin typeface="Aptos"/>
                        </a:rPr>
                        <a:t>0,0225</a:t>
                      </a:r>
                    </a:p>
                  </a:txBody>
                  <a:tcPr marL="54864" marR="54864" marT="27432" marB="27432" anchor="ctr">
                    <a:solidFill>
                      <a:srgbClr val="FFFFFF"/>
                    </a:solidFill>
                  </a:tcPr>
                </a:tc>
              </a:tr>
              <a:tr h="329184">
                <a:tc>
                  <a:txBody>
                    <a:bodyPr wrap="square"/>
                    <a:lstStyle/>
                    <a:p>
                      <a:pPr algn="l"/>
                      <a:r>
                        <a:rPr sz="1100" b="1" i="0">
                          <a:solidFill>
                            <a:srgbClr val="242B33"/>
                          </a:solidFill>
                          <a:latin typeface="Aptos"/>
                        </a:rPr>
                        <a:t>max_leaf_nodes</a:t>
                      </a:r>
                    </a:p>
                  </a:txBody>
                  <a:tcPr marL="54864" marR="54864" marT="27432" marB="27432" anchor="ctr">
                    <a:solidFill>
                      <a:srgbClr val="F6F9FC"/>
                    </a:solidFill>
                  </a:tcPr>
                </a:tc>
                <a:tc>
                  <a:txBody>
                    <a:bodyPr wrap="square"/>
                    <a:lstStyle/>
                    <a:p>
                      <a:pPr algn="l"/>
                      <a:r>
                        <a:rPr sz="1100" b="0" i="0">
                          <a:solidFill>
                            <a:srgbClr val="242B33"/>
                          </a:solidFill>
                          <a:latin typeface="Aptos"/>
                        </a:rPr>
                        <a:t>nguyên [8; 64)</a:t>
                      </a:r>
                    </a:p>
                  </a:txBody>
                  <a:tcPr marL="54864" marR="54864" marT="27432" marB="27432" anchor="ctr">
                    <a:solidFill>
                      <a:srgbClr val="F6F9FC"/>
                    </a:solidFill>
                  </a:tcPr>
                </a:tc>
                <a:tc>
                  <a:txBody>
                    <a:bodyPr wrap="square"/>
                    <a:lstStyle/>
                    <a:p>
                      <a:pPr algn="l"/>
                      <a:r>
                        <a:rPr sz="1100" b="0" i="0">
                          <a:solidFill>
                            <a:srgbClr val="242B33"/>
                          </a:solidFill>
                          <a:latin typeface="Aptos"/>
                        </a:rPr>
                        <a:t>số lá = bậc tương tác; nhiều lá → chệch thấp, phương sai cao</a:t>
                      </a:r>
                    </a:p>
                  </a:txBody>
                  <a:tcPr marL="54864" marR="54864" marT="27432" marB="27432" anchor="ctr">
                    <a:solidFill>
                      <a:srgbClr val="F6F9FC"/>
                    </a:solidFill>
                  </a:tcPr>
                </a:tc>
                <a:tc>
                  <a:txBody>
                    <a:bodyPr wrap="square"/>
                    <a:lstStyle/>
                    <a:p>
                      <a:pPr algn="r"/>
                      <a:r>
                        <a:rPr sz="1100" b="0" i="0">
                          <a:solidFill>
                            <a:srgbClr val="242B33"/>
                          </a:solidFill>
                          <a:latin typeface="Aptos"/>
                        </a:rPr>
                        <a:t>8</a:t>
                      </a:r>
                    </a:p>
                  </a:txBody>
                  <a:tcPr marL="54864" marR="54864" marT="27432" marB="27432" anchor="ctr">
                    <a:solidFill>
                      <a:srgbClr val="F6F9FC"/>
                    </a:solidFill>
                  </a:tcPr>
                </a:tc>
              </a:tr>
              <a:tr h="329184">
                <a:tc>
                  <a:txBody>
                    <a:bodyPr wrap="square"/>
                    <a:lstStyle/>
                    <a:p>
                      <a:pPr algn="l"/>
                      <a:r>
                        <a:rPr sz="1100" b="1" i="0">
                          <a:solidFill>
                            <a:srgbClr val="242B33"/>
                          </a:solidFill>
                          <a:latin typeface="Aptos"/>
                        </a:rPr>
                        <a:t>min_samples_leaf</a:t>
                      </a:r>
                    </a:p>
                  </a:txBody>
                  <a:tcPr marL="54864" marR="54864" marT="27432" marB="27432" anchor="ctr">
                    <a:solidFill>
                      <a:srgbClr val="FFFFFF"/>
                    </a:solidFill>
                  </a:tcPr>
                </a:tc>
                <a:tc>
                  <a:txBody>
                    <a:bodyPr wrap="square"/>
                    <a:lstStyle/>
                    <a:p>
                      <a:pPr algn="l"/>
                      <a:r>
                        <a:rPr sz="1100" b="0" i="0">
                          <a:solidFill>
                            <a:srgbClr val="242B33"/>
                          </a:solidFill>
                          <a:latin typeface="Aptos"/>
                        </a:rPr>
                        <a:t>{20, 50, 100, 200, 400, 800}</a:t>
                      </a:r>
                    </a:p>
                  </a:txBody>
                  <a:tcPr marL="54864" marR="54864" marT="27432" marB="27432" anchor="ctr">
                    <a:solidFill>
                      <a:srgbClr val="FFFFFF"/>
                    </a:solidFill>
                  </a:tcPr>
                </a:tc>
                <a:tc>
                  <a:txBody>
                    <a:bodyPr wrap="square"/>
                    <a:lstStyle/>
                    <a:p>
                      <a:pPr algn="l"/>
                      <a:r>
                        <a:rPr sz="1100" b="0" i="0">
                          <a:solidFill>
                            <a:srgbClr val="242B33"/>
                          </a:solidFill>
                          <a:latin typeface="Aptos"/>
                        </a:rPr>
                        <a:t>lớp dương hiếm: lá quá nhỏ chỉ có 0–1 ca dương → học nhiễu</a:t>
                      </a:r>
                    </a:p>
                  </a:txBody>
                  <a:tcPr marL="54864" marR="54864" marT="27432" marB="27432" anchor="ctr">
                    <a:solidFill>
                      <a:srgbClr val="FFFFFF"/>
                    </a:solidFill>
                  </a:tcPr>
                </a:tc>
                <a:tc>
                  <a:txBody>
                    <a:bodyPr wrap="square"/>
                    <a:lstStyle/>
                    <a:p>
                      <a:pPr algn="r"/>
                      <a:r>
                        <a:rPr sz="1100" b="0" i="0">
                          <a:solidFill>
                            <a:srgbClr val="242B33"/>
                          </a:solidFill>
                          <a:latin typeface="Aptos"/>
                        </a:rPr>
                        <a:t>100</a:t>
                      </a:r>
                    </a:p>
                  </a:txBody>
                  <a:tcPr marL="54864" marR="54864" marT="27432" marB="27432" anchor="ctr">
                    <a:solidFill>
                      <a:srgbClr val="FFFFFF"/>
                    </a:solidFill>
                  </a:tcPr>
                </a:tc>
              </a:tr>
              <a:tr h="329184">
                <a:tc>
                  <a:txBody>
                    <a:bodyPr wrap="square"/>
                    <a:lstStyle/>
                    <a:p>
                      <a:pPr algn="l"/>
                      <a:r>
                        <a:rPr sz="1100" b="1" i="0">
                          <a:solidFill>
                            <a:srgbClr val="242B33"/>
                          </a:solidFill>
                          <a:latin typeface="Aptos"/>
                        </a:rPr>
                        <a:t>l2_regularization λ</a:t>
                      </a:r>
                    </a:p>
                  </a:txBody>
                  <a:tcPr marL="54864" marR="54864" marT="27432" marB="27432" anchor="ctr">
                    <a:solidFill>
                      <a:srgbClr val="F6F9FC"/>
                    </a:solidFill>
                  </a:tcPr>
                </a:tc>
                <a:tc>
                  <a:txBody>
                    <a:bodyPr wrap="square"/>
                    <a:lstStyle/>
                    <a:p>
                      <a:pPr algn="l"/>
                      <a:r>
                        <a:rPr sz="1100" b="0" i="0">
                          <a:solidFill>
                            <a:srgbClr val="242B33"/>
                          </a:solidFill>
                          <a:latin typeface="Aptos"/>
                        </a:rPr>
                        <a:t>log-uniform [10⁻³; 10]</a:t>
                      </a:r>
                    </a:p>
                  </a:txBody>
                  <a:tcPr marL="54864" marR="54864" marT="27432" marB="27432" anchor="ctr">
                    <a:solidFill>
                      <a:srgbClr val="F6F9FC"/>
                    </a:solidFill>
                  </a:tcPr>
                </a:tc>
                <a:tc>
                  <a:txBody>
                    <a:bodyPr wrap="square"/>
                    <a:lstStyle/>
                    <a:p>
                      <a:pPr algn="l"/>
                      <a:r>
                        <a:rPr sz="1100" b="0" i="0">
                          <a:solidFill>
                            <a:srgbClr val="242B33"/>
                          </a:solidFill>
                          <a:latin typeface="Aptos"/>
                        </a:rPr>
                        <a:t>co giá trị lá về 0: w* = −G / (H + λ)</a:t>
                      </a:r>
                    </a:p>
                  </a:txBody>
                  <a:tcPr marL="54864" marR="54864" marT="27432" marB="27432" anchor="ctr">
                    <a:solidFill>
                      <a:srgbClr val="F6F9FC"/>
                    </a:solidFill>
                  </a:tcPr>
                </a:tc>
                <a:tc>
                  <a:txBody>
                    <a:bodyPr wrap="square"/>
                    <a:lstStyle/>
                    <a:p>
                      <a:pPr algn="r"/>
                      <a:r>
                        <a:rPr sz="1100" b="0" i="0">
                          <a:solidFill>
                            <a:srgbClr val="242B33"/>
                          </a:solidFill>
                          <a:latin typeface="Aptos"/>
                        </a:rPr>
                        <a:t>0,1025</a:t>
                      </a:r>
                    </a:p>
                  </a:txBody>
                  <a:tcPr marL="54864" marR="54864" marT="27432" marB="27432" anchor="ctr">
                    <a:solidFill>
                      <a:srgbClr val="F6F9FC"/>
                    </a:solidFill>
                  </a:tcPr>
                </a:tc>
              </a:tr>
              <a:tr h="329184">
                <a:tc>
                  <a:txBody>
                    <a:bodyPr wrap="square"/>
                    <a:lstStyle/>
                    <a:p>
                      <a:pPr algn="l"/>
                      <a:r>
                        <a:rPr sz="1100" b="1" i="0">
                          <a:solidFill>
                            <a:srgbClr val="242B33"/>
                          </a:solidFill>
                          <a:latin typeface="Aptos"/>
                        </a:rPr>
                        <a:t>max_features</a:t>
                      </a:r>
                    </a:p>
                  </a:txBody>
                  <a:tcPr marL="54864" marR="54864" marT="27432" marB="27432" anchor="ctr">
                    <a:solidFill>
                      <a:srgbClr val="FFFFFF"/>
                    </a:solidFill>
                  </a:tcPr>
                </a:tc>
                <a:tc>
                  <a:txBody>
                    <a:bodyPr wrap="square"/>
                    <a:lstStyle/>
                    <a:p>
                      <a:pPr algn="l"/>
                      <a:r>
                        <a:rPr sz="1100" b="0" i="0">
                          <a:solidFill>
                            <a:srgbClr val="242B33"/>
                          </a:solidFill>
                          <a:latin typeface="Aptos"/>
                        </a:rPr>
                        <a:t>uniform [0,4; 1,0]</a:t>
                      </a:r>
                    </a:p>
                  </a:txBody>
                  <a:tcPr marL="54864" marR="54864" marT="27432" marB="27432" anchor="ctr">
                    <a:solidFill>
                      <a:srgbClr val="FFFFFF"/>
                    </a:solidFill>
                  </a:tcPr>
                </a:tc>
                <a:tc>
                  <a:txBody>
                    <a:bodyPr wrap="square"/>
                    <a:lstStyle/>
                    <a:p>
                      <a:pPr algn="l"/>
                      <a:r>
                        <a:rPr sz="1100" b="0" i="0">
                          <a:solidFill>
                            <a:srgbClr val="242B33"/>
                          </a:solidFill>
                          <a:latin typeface="Aptos"/>
                        </a:rPr>
                        <a:t>chọn ngẫu nhiên feature mỗi lần tách → các cây ít tương quan</a:t>
                      </a:r>
                    </a:p>
                  </a:txBody>
                  <a:tcPr marL="54864" marR="54864" marT="27432" marB="27432" anchor="ctr">
                    <a:solidFill>
                      <a:srgbClr val="FFFFFF"/>
                    </a:solidFill>
                  </a:tcPr>
                </a:tc>
                <a:tc>
                  <a:txBody>
                    <a:bodyPr wrap="square"/>
                    <a:lstStyle/>
                    <a:p>
                      <a:pPr algn="r"/>
                      <a:r>
                        <a:rPr sz="1100" b="0" i="0">
                          <a:solidFill>
                            <a:srgbClr val="242B33"/>
                          </a:solidFill>
                          <a:latin typeface="Aptos"/>
                        </a:rPr>
                        <a:t>0,607</a:t>
                      </a:r>
                    </a:p>
                  </a:txBody>
                  <a:tcPr marL="54864" marR="54864" marT="27432" marB="27432" anchor="ctr">
                    <a:solidFill>
                      <a:srgbClr val="FFFFFF"/>
                    </a:solidFill>
                  </a:tcPr>
                </a:tc>
              </a:tr>
              <a:tr h="329184">
                <a:tc>
                  <a:txBody>
                    <a:bodyPr wrap="square"/>
                    <a:lstStyle/>
                    <a:p>
                      <a:pPr algn="l"/>
                      <a:r>
                        <a:rPr sz="1100" b="1" i="0">
                          <a:solidFill>
                            <a:srgbClr val="242B33"/>
                          </a:solidFill>
                          <a:latin typeface="Aptos"/>
                        </a:rPr>
                        <a:t>max_depth</a:t>
                      </a:r>
                    </a:p>
                  </a:txBody>
                  <a:tcPr marL="54864" marR="54864" marT="27432" marB="27432" anchor="ctr">
                    <a:solidFill>
                      <a:srgbClr val="F6F9FC"/>
                    </a:solidFill>
                  </a:tcPr>
                </a:tc>
                <a:tc>
                  <a:txBody>
                    <a:bodyPr wrap="square"/>
                    <a:lstStyle/>
                    <a:p>
                      <a:pPr algn="l"/>
                      <a:r>
                        <a:rPr sz="1100" b="0" i="0">
                          <a:solidFill>
                            <a:srgbClr val="242B33"/>
                          </a:solidFill>
                          <a:latin typeface="Aptos"/>
                        </a:rPr>
                        <a:t>{None, 4, 6, 8}</a:t>
                      </a:r>
                    </a:p>
                  </a:txBody>
                  <a:tcPr marL="54864" marR="54864" marT="27432" marB="27432" anchor="ctr">
                    <a:solidFill>
                      <a:srgbClr val="F6F9FC"/>
                    </a:solidFill>
                  </a:tcPr>
                </a:tc>
                <a:tc>
                  <a:txBody>
                    <a:bodyPr wrap="square"/>
                    <a:lstStyle/>
                    <a:p>
                      <a:pPr algn="l"/>
                      <a:r>
                        <a:rPr sz="1100" b="0" i="0">
                          <a:solidFill>
                            <a:srgbClr val="242B33"/>
                          </a:solidFill>
                          <a:latin typeface="Aptos"/>
                        </a:rPr>
                        <a:t>chặn độ sâu thêm một lớp</a:t>
                      </a:r>
                    </a:p>
                  </a:txBody>
                  <a:tcPr marL="54864" marR="54864" marT="27432" marB="27432" anchor="ctr">
                    <a:solidFill>
                      <a:srgbClr val="F6F9FC"/>
                    </a:solidFill>
                  </a:tcPr>
                </a:tc>
                <a:tc>
                  <a:txBody>
                    <a:bodyPr wrap="square"/>
                    <a:lstStyle/>
                    <a:p>
                      <a:pPr algn="r"/>
                      <a:r>
                        <a:rPr sz="1100" b="0" i="0">
                          <a:solidFill>
                            <a:srgbClr val="242B33"/>
                          </a:solidFill>
                          <a:latin typeface="Aptos"/>
                        </a:rPr>
                        <a:t>None</a:t>
                      </a:r>
                    </a:p>
                  </a:txBody>
                  <a:tcPr marL="54864" marR="54864" marT="27432" marB="27432" anchor="ctr">
                    <a:solidFill>
                      <a:srgbClr val="F6F9FC"/>
                    </a:solidFill>
                  </a:tcPr>
                </a:tc>
              </a:tr>
              <a:tr h="329184">
                <a:tc>
                  <a:txBody>
                    <a:bodyPr wrap="square"/>
                    <a:lstStyle/>
                    <a:p>
                      <a:pPr algn="l"/>
                      <a:r>
                        <a:rPr sz="1100" b="1" i="0">
                          <a:solidFill>
                            <a:srgbClr val="242B33"/>
                          </a:solidFill>
                          <a:latin typeface="Aptos"/>
                        </a:rPr>
                        <a:t>max_iter (số cây)</a:t>
                      </a:r>
                    </a:p>
                  </a:txBody>
                  <a:tcPr marL="54864" marR="54864" marT="27432" marB="27432" anchor="ctr">
                    <a:solidFill>
                      <a:srgbClr val="FFFFFF"/>
                    </a:solidFill>
                  </a:tcPr>
                </a:tc>
                <a:tc>
                  <a:txBody>
                    <a:bodyPr wrap="square"/>
                    <a:lstStyle/>
                    <a:p>
                      <a:pPr algn="l"/>
                      <a:r>
                        <a:rPr sz="1100" b="0" i="0">
                          <a:solidFill>
                            <a:srgbClr val="242B33"/>
                          </a:solidFill>
                          <a:latin typeface="Aptos"/>
                        </a:rPr>
                        <a:t>không tune: trần 2.000</a:t>
                      </a:r>
                    </a:p>
                  </a:txBody>
                  <a:tcPr marL="54864" marR="54864" marT="27432" marB="27432" anchor="ctr">
                    <a:solidFill>
                      <a:srgbClr val="FFFFFF"/>
                    </a:solidFill>
                  </a:tcPr>
                </a:tc>
                <a:tc>
                  <a:txBody>
                    <a:bodyPr wrap="square"/>
                    <a:lstStyle/>
                    <a:p>
                      <a:pPr algn="l"/>
                      <a:r>
                        <a:rPr sz="1100" b="0" i="0">
                          <a:solidFill>
                            <a:srgbClr val="242B33"/>
                          </a:solidFill>
                          <a:latin typeface="Aptos"/>
                        </a:rPr>
                        <a:t>dừng sớm khi log-loss trên 10% val nội bộ không giảm sau 30 vòng</a:t>
                      </a:r>
                    </a:p>
                  </a:txBody>
                  <a:tcPr marL="54864" marR="54864" marT="27432" marB="27432" anchor="ctr">
                    <a:solidFill>
                      <a:srgbClr val="FFFFFF"/>
                    </a:solidFill>
                  </a:tcPr>
                </a:tc>
                <a:tc>
                  <a:txBody>
                    <a:bodyPr wrap="square"/>
                    <a:lstStyle/>
                    <a:p>
                      <a:pPr algn="r"/>
                      <a:r>
                        <a:rPr sz="1100" b="0" i="0">
                          <a:solidFill>
                            <a:srgbClr val="242B33"/>
                          </a:solidFill>
                          <a:latin typeface="Aptos"/>
                        </a:rPr>
                        <a:t>n_iter_ = 1.531</a:t>
                      </a:r>
                    </a:p>
                  </a:txBody>
                  <a:tcPr marL="54864" marR="54864" marT="27432" marB="27432" anchor="ctr">
                    <a:solidFill>
                      <a:srgbClr val="FFFFFF"/>
                    </a:solidFill>
                  </a:tcPr>
                </a:tc>
              </a:tr>
              <a:tr h="329184">
                <a:tc>
                  <a:txBody>
                    <a:bodyPr wrap="square"/>
                    <a:lstStyle/>
                    <a:p>
                      <a:pPr algn="l"/>
                      <a:r>
                        <a:rPr sz="1100" b="1" i="0">
                          <a:solidFill>
                            <a:srgbClr val="242B33"/>
                          </a:solidFill>
                          <a:latin typeface="Aptos"/>
                        </a:rPr>
                        <a:t>C (logistic)</a:t>
                      </a:r>
                    </a:p>
                  </a:txBody>
                  <a:tcPr marL="54864" marR="54864" marT="27432" marB="27432" anchor="ctr">
                    <a:solidFill>
                      <a:srgbClr val="F6F9FC"/>
                    </a:solidFill>
                  </a:tcPr>
                </a:tc>
                <a:tc>
                  <a:txBody>
                    <a:bodyPr wrap="square"/>
                    <a:lstStyle/>
                    <a:p>
                      <a:pPr algn="l"/>
                      <a:r>
                        <a:rPr sz="1100" b="0" i="0">
                          <a:solidFill>
                            <a:srgbClr val="242B33"/>
                          </a:solidFill>
                          <a:latin typeface="Aptos"/>
                        </a:rPr>
                        <a:t>log-uniform [10⁻⁶; 1]</a:t>
                      </a:r>
                    </a:p>
                  </a:txBody>
                  <a:tcPr marL="54864" marR="54864" marT="27432" marB="27432" anchor="ctr">
                    <a:solidFill>
                      <a:srgbClr val="F6F9FC"/>
                    </a:solidFill>
                  </a:tcPr>
                </a:tc>
                <a:tc>
                  <a:txBody>
                    <a:bodyPr wrap="square"/>
                    <a:lstStyle/>
                    <a:p>
                      <a:pPr algn="l"/>
                      <a:r>
                        <a:rPr sz="1100" b="0" i="0">
                          <a:solidFill>
                            <a:srgbClr val="242B33"/>
                          </a:solidFill>
                          <a:latin typeface="Aptos"/>
                        </a:rPr>
                        <a:t>C = 1/λ, nhân với tổng trọng số khảo sát → C tối ưu rất nhỏ</a:t>
                      </a:r>
                    </a:p>
                  </a:txBody>
                  <a:tcPr marL="54864" marR="54864" marT="27432" marB="27432" anchor="ctr">
                    <a:solidFill>
                      <a:srgbClr val="F6F9FC"/>
                    </a:solidFill>
                  </a:tcPr>
                </a:tc>
                <a:tc>
                  <a:txBody>
                    <a:bodyPr wrap="square"/>
                    <a:lstStyle/>
                    <a:p>
                      <a:pPr algn="r"/>
                      <a:r>
                        <a:rPr sz="1100" b="0" i="0">
                          <a:solidFill>
                            <a:srgbClr val="242B33"/>
                          </a:solidFill>
                          <a:latin typeface="Aptos"/>
                        </a:rPr>
                        <a:t>1,88·10⁻⁵</a:t>
                      </a:r>
                    </a:p>
                  </a:txBody>
                  <a:tcPr marL="54864" marR="54864" marT="27432" marB="27432" anchor="ctr">
                    <a:solidFill>
                      <a:srgbClr val="F6F9FC"/>
                    </a:solidFill>
                  </a:tcPr>
                </a:tc>
              </a:tr>
            </a:tbl>
          </a:graphicData>
        </a:graphic>
      </p:graphicFrame>
      <p:sp>
        <p:nvSpPr>
          <p:cNvPr id="17" name="Rounded Rectangle 16"/>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50" b="1" i="0">
                <a:solidFill>
                  <a:srgbClr val="FFFFFF"/>
                </a:solidFill>
                <a:latin typeface="Aptos"/>
              </a:rPr>
              <a:t>best_score_ = 0,0584 (CV) là điểm LẠC QUAN</a:t>
            </a:r>
            <a:r>
              <a:rPr sz="1300" b="0" i="0">
                <a:solidFill>
                  <a:srgbClr val="FFFFFF"/>
                </a:solidFill>
                <a:latin typeface="Aptos"/>
              </a:rPr>
              <a:t> — max của 40 ước lượng nhiễu (lời nguyền người thắng). Hiệu năng thật chỉ đo trên test 2024–2026, chấm MỘT lần.</a:t>
            </a:r>
          </a:p>
        </p:txBody>
      </p:sp>
      <p:sp>
        <p:nvSpPr>
          <p:cNvPr id="18" name="Rounded Rectangle 17"/>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19" name="Rounded Rectangle 18"/>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0" name="Rounded Rectangle 19"/>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1" name="Rounded Rectangle 20"/>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22" name="Rounded Rectangle 21"/>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3" name="Rounded Rectangle 22"/>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24" name="Rounded Rectangle 23"/>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25" name="Rounded Rectangle 24"/>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SIÊU THAM SỐ SAU TUNE ĐƯỢC LƯU Ở ĐÂU?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16</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16</a:t>
            </a:r>
          </a:p>
        </p:txBody>
      </p:sp>
      <p:sp>
        <p:nvSpPr>
          <p:cNvPr id="7" name="Rounded Rectangle 6"/>
          <p:cNvSpPr/>
          <p:nvPr/>
        </p:nvSpPr>
        <p:spPr>
          <a:xfrm>
            <a:off x="603504" y="1024128"/>
            <a:ext cx="5989320" cy="3017520"/>
          </a:xfrm>
          <a:prstGeom prst="roundRect">
            <a:avLst>
              <a:gd name="adj" fmla="val 4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097280"/>
            <a:ext cx="5760720" cy="2926080"/>
          </a:xfrm>
          <a:prstGeom prst="rect">
            <a:avLst/>
          </a:prstGeom>
          <a:noFill/>
        </p:spPr>
        <p:txBody>
          <a:bodyPr wrap="square" anchor="t" lIns="36576" rIns="36576" tIns="36576" bIns="36576">
            <a:noAutofit/>
          </a:bodyPr>
          <a:lstStyle/>
          <a:p>
            <a:pPr algn="l">
              <a:spcAft>
                <a:spcPts val="250"/>
              </a:spcAft>
            </a:pPr>
            <a:r>
              <a:rPr sz="1200" b="0" i="0">
                <a:solidFill>
                  <a:srgbClr val="242B33"/>
                </a:solidFill>
                <a:latin typeface="Courier New"/>
              </a:rPr>
              <a:t>gbm = GBMModel(features=EX_ANTE_FEATURES, max_iter=2000)</a:t>
            </a:r>
          </a:p>
          <a:p>
            <a:pPr algn="l">
              <a:spcAft>
                <a:spcPts val="250"/>
              </a:spcAft>
            </a:pPr>
            <a:r>
              <a:rPr sz="1200" b="0" i="0">
                <a:solidFill>
                  <a:srgbClr val="242B33"/>
                </a:solidFill>
                <a:latin typeface="Courier New"/>
              </a:rPr>
              <a:t>gbm.tune(train, y, GBM_SEARCH_SPACE, n_iter=40,</a:t>
            </a:r>
          </a:p>
          <a:p>
            <a:pPr algn="l">
              <a:spcAft>
                <a:spcPts val="250"/>
              </a:spcAft>
            </a:pPr>
            <a:r>
              <a:rPr sz="1200" b="0" i="0">
                <a:solidFill>
                  <a:srgbClr val="242B33"/>
                </a:solidFill>
                <a:latin typeface="Courier New"/>
              </a:rPr>
              <a:t>         cv=YearForwardSplit((2022, 2023)),</a:t>
            </a:r>
          </a:p>
          <a:p>
            <a:pPr algn="l">
              <a:spcAft>
                <a:spcPts val="250"/>
              </a:spcAft>
            </a:pPr>
            <a:r>
              <a:rPr sz="1200" b="0" i="0">
                <a:solidFill>
                  <a:srgbClr val="242B33"/>
                </a:solidFill>
                <a:latin typeface="Courier New"/>
              </a:rPr>
              <a:t>         sample_weight=w_train, eval_weight=w_survey)</a:t>
            </a:r>
          </a:p>
          <a:p>
            <a:pPr algn="l">
              <a:spcAft>
                <a:spcPts val="250"/>
              </a:spcAft>
            </a:pPr>
            <a:r>
              <a:rPr sz="1200" b="0" i="0">
                <a:solidFill>
                  <a:srgbClr val="2E7D4F"/>
                </a:solidFill>
                <a:latin typeface="Courier New"/>
              </a:rPr>
              <a:t># bên trong BaseModel.tune():</a:t>
            </a:r>
          </a:p>
          <a:p>
            <a:pPr algn="l">
              <a:spcAft>
                <a:spcPts val="250"/>
              </a:spcAft>
            </a:pPr>
            <a:r>
              <a:rPr sz="1200" b="1" i="0">
                <a:solidFill>
                  <a:srgbClr val="242B33"/>
                </a:solidFill>
                <a:latin typeface="Courier New"/>
              </a:rPr>
              <a:t>self.set_params(**best)     </a:t>
            </a:r>
            <a:r>
              <a:rPr sz="1200" b="0" i="0">
                <a:solidFill>
                  <a:srgbClr val="2E7D4F"/>
                </a:solidFill>
                <a:latin typeface="Courier New"/>
              </a:rPr>
              <a:t># ① ghi đè CHÍNH nó</a:t>
            </a:r>
          </a:p>
          <a:p>
            <a:pPr algn="l">
              <a:spcAft>
                <a:spcPts val="250"/>
              </a:spcAft>
            </a:pPr>
            <a:r>
              <a:rPr sz="1200" b="1" i="0">
                <a:solidFill>
                  <a:srgbClr val="242B33"/>
                </a:solidFill>
                <a:latin typeface="Courier New"/>
              </a:rPr>
              <a:t>self.best_params_ = best    </a:t>
            </a:r>
            <a:r>
              <a:rPr sz="1200" b="0" i="0">
                <a:solidFill>
                  <a:srgbClr val="2E7D4F"/>
                </a:solidFill>
                <a:latin typeface="Courier New"/>
              </a:rPr>
              <a:t># ② bản ghi quá trình</a:t>
            </a:r>
          </a:p>
          <a:p>
            <a:pPr algn="l">
              <a:spcAft>
                <a:spcPts val="250"/>
              </a:spcAft>
            </a:pPr>
            <a:r>
              <a:rPr sz="1200" b="0" i="0">
                <a:solidFill>
                  <a:srgbClr val="242B33"/>
                </a:solidFill>
                <a:latin typeface="Courier New"/>
              </a:rPr>
              <a:t>self.best_score_  = 0.0584  </a:t>
            </a:r>
            <a:r>
              <a:rPr sz="1200" b="0" i="0">
                <a:solidFill>
                  <a:srgbClr val="2E7D4F"/>
                </a:solidFill>
                <a:latin typeface="Courier New"/>
              </a:rPr>
              <a:t>#    + tuning_results_</a:t>
            </a:r>
          </a:p>
          <a:p>
            <a:pPr algn="l">
              <a:spcAft>
                <a:spcPts val="250"/>
              </a:spcAft>
            </a:pPr>
            <a:r>
              <a:rPr sz="1200" b="1" i="0">
                <a:solidFill>
                  <a:srgbClr val="242B33"/>
                </a:solidFill>
                <a:latin typeface="Courier New"/>
              </a:rPr>
              <a:t>self.fit(X, y)              </a:t>
            </a:r>
            <a:r>
              <a:rPr sz="1200" b="0" i="0">
                <a:solidFill>
                  <a:srgbClr val="2E7D4F"/>
                </a:solidFill>
                <a:latin typeface="Courier New"/>
              </a:rPr>
              <a:t># ③ train lại toàn bộ</a:t>
            </a:r>
          </a:p>
          <a:p>
            <a:pPr algn="l">
              <a:spcAft>
                <a:spcPts val="250"/>
              </a:spcAft>
            </a:pPr>
            <a:r>
              <a:rPr sz="1200" b="1" i="0">
                <a:solidFill>
                  <a:srgbClr val="242B33"/>
                </a:solidFill>
                <a:latin typeface="Courier New"/>
              </a:rPr>
              <a:t>gbm.learning_rate     </a:t>
            </a:r>
            <a:r>
              <a:rPr sz="1200" b="0" i="0">
                <a:solidFill>
                  <a:srgbClr val="2E7D4F"/>
                </a:solidFill>
                <a:latin typeface="Courier New"/>
              </a:rPr>
              <a:t># → 0.0225 (mặc định 0.1)</a:t>
            </a:r>
          </a:p>
          <a:p>
            <a:pPr algn="l">
              <a:spcAft>
                <a:spcPts val="250"/>
              </a:spcAft>
            </a:pPr>
            <a:r>
              <a:rPr sz="1200" b="1" i="0">
                <a:solidFill>
                  <a:srgbClr val="242B33"/>
                </a:solidFill>
                <a:latin typeface="Courier New"/>
              </a:rPr>
              <a:t>gbm.min_samples_leaf  </a:t>
            </a:r>
            <a:r>
              <a:rPr sz="1200" b="0" i="0">
                <a:solidFill>
                  <a:srgbClr val="2E7D4F"/>
                </a:solidFill>
                <a:latin typeface="Courier New"/>
              </a:rPr>
              <a:t># → 100    (mặc định 20)</a:t>
            </a:r>
          </a:p>
          <a:p>
            <a:pPr algn="l">
              <a:spcAft>
                <a:spcPts val="250"/>
              </a:spcAft>
            </a:pPr>
            <a:r>
              <a:rPr sz="1200" b="1" i="0">
                <a:solidFill>
                  <a:srgbClr val="242B33"/>
                </a:solidFill>
                <a:latin typeface="Courier New"/>
              </a:rPr>
              <a:t>gbm.n_iter_           </a:t>
            </a:r>
            <a:r>
              <a:rPr sz="1200" b="0" i="0">
                <a:solidFill>
                  <a:srgbClr val="2E7D4F"/>
                </a:solidFill>
                <a:latin typeface="Courier New"/>
              </a:rPr>
              <a:t># → 1531 cây — HỌC ĐƯỢC</a:t>
            </a:r>
          </a:p>
        </p:txBody>
      </p:sp>
      <p:sp>
        <p:nvSpPr>
          <p:cNvPr id="9" name="TextBox 8"/>
          <p:cNvSpPr txBox="1"/>
          <p:nvPr/>
        </p:nvSpPr>
        <p:spPr>
          <a:xfrm>
            <a:off x="603504" y="4133087"/>
            <a:ext cx="5989320" cy="274320"/>
          </a:xfrm>
          <a:prstGeom prst="rect">
            <a:avLst/>
          </a:prstGeom>
          <a:noFill/>
        </p:spPr>
        <p:txBody>
          <a:bodyPr wrap="square" anchor="t" lIns="36576" rIns="36576" tIns="36576" bIns="36576">
            <a:noAutofit/>
          </a:bodyPr>
          <a:lstStyle/>
          <a:p>
            <a:pPr algn="l">
              <a:spcAft>
                <a:spcPts val="300"/>
              </a:spcAft>
            </a:pPr>
            <a:r>
              <a:rPr sz="1150" b="1" i="0">
                <a:solidFill>
                  <a:srgbClr val="162C46"/>
                </a:solidFill>
                <a:latin typeface="Courier New"/>
              </a:rPr>
              <a:t>reports/models/gbm_tuned.json</a:t>
            </a:r>
            <a:r>
              <a:rPr sz="1100" b="0" i="0">
                <a:solidFill>
                  <a:srgbClr val="5E6A78"/>
                </a:solidFill>
                <a:latin typeface="Aptos"/>
              </a:rPr>
              <a:t>  — ghi bởi export_hyperparams()</a:t>
            </a:r>
          </a:p>
        </p:txBody>
      </p:sp>
      <p:sp>
        <p:nvSpPr>
          <p:cNvPr id="10" name="Rounded Rectangle 9"/>
          <p:cNvSpPr/>
          <p:nvPr/>
        </p:nvSpPr>
        <p:spPr>
          <a:xfrm>
            <a:off x="603504" y="4443984"/>
            <a:ext cx="5989320" cy="1097280"/>
          </a:xfrm>
          <a:prstGeom prst="roundRect">
            <a:avLst>
              <a:gd name="adj" fmla="val 6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89704"/>
            <a:ext cx="5760720" cy="1024128"/>
          </a:xfrm>
          <a:prstGeom prst="rect">
            <a:avLst/>
          </a:prstGeom>
          <a:noFill/>
        </p:spPr>
        <p:txBody>
          <a:bodyPr wrap="square" anchor="t" lIns="36576" rIns="36576" tIns="36576" bIns="36576">
            <a:noAutofit/>
          </a:bodyPr>
          <a:lstStyle/>
          <a:p>
            <a:pPr algn="l">
              <a:spcAft>
                <a:spcPts val="100"/>
              </a:spcAft>
            </a:pPr>
            <a:r>
              <a:rPr sz="950" b="0" i="0">
                <a:solidFill>
                  <a:srgbClr val="242B33"/>
                </a:solidFill>
                <a:latin typeface="Courier New"/>
              </a:rPr>
              <a:t>{"model": "GBMModel", "n_candidates": 40, "sklearn": "1.5.1",</a:t>
            </a:r>
          </a:p>
          <a:p>
            <a:pPr algn="l">
              <a:spcAft>
                <a:spcPts val="100"/>
              </a:spcAft>
            </a:pPr>
            <a:r>
              <a:rPr sz="950" b="0" i="0">
                <a:solidFill>
                  <a:srgbClr val="242B33"/>
                </a:solidFill>
                <a:latin typeface="Courier New"/>
              </a:rPr>
              <a:t> "best_params": {"learning_rate": 0.0225, "max_leaf_nodes": 8,</a:t>
            </a:r>
          </a:p>
          <a:p>
            <a:pPr algn="l">
              <a:spcAft>
                <a:spcPts val="100"/>
              </a:spcAft>
            </a:pPr>
            <a:r>
              <a:rPr sz="950" b="0" i="0">
                <a:solidFill>
                  <a:srgbClr val="242B33"/>
                </a:solidFill>
                <a:latin typeface="Courier New"/>
              </a:rPr>
              <a:t>   "min_samples_leaf": 100, "l2_regularization": 0.1025, ...},</a:t>
            </a:r>
          </a:p>
          <a:p>
            <a:pPr algn="l">
              <a:spcAft>
                <a:spcPts val="100"/>
              </a:spcAft>
            </a:pPr>
            <a:r>
              <a:rPr sz="950" b="0" i="0">
                <a:solidFill>
                  <a:srgbClr val="242B33"/>
                </a:solidFill>
                <a:latin typeface="Courier New"/>
              </a:rPr>
              <a:t> "best_score_pr_auc_cv": 0.0584,</a:t>
            </a:r>
          </a:p>
          <a:p>
            <a:pPr algn="l">
              <a:spcAft>
                <a:spcPts val="100"/>
              </a:spcAft>
            </a:pPr>
            <a:r>
              <a:rPr sz="950" b="0" i="0">
                <a:solidFill>
                  <a:srgbClr val="242B33"/>
                </a:solidFill>
                <a:latin typeface="Courier New"/>
              </a:rPr>
              <a:t> "tuning_cv": "YearForwardSplit(val_years=(2022, 2023))"}</a:t>
            </a:r>
          </a:p>
        </p:txBody>
      </p:sp>
      <p:sp>
        <p:nvSpPr>
          <p:cNvPr id="12" name="TextBox 11"/>
          <p:cNvSpPr txBox="1"/>
          <p:nvPr/>
        </p:nvSpPr>
        <p:spPr>
          <a:xfrm>
            <a:off x="6812280" y="1005840"/>
            <a:ext cx="484632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HAI LOẠI THUỘC TÍNH (quy ước scikit-learn)</a:t>
            </a:r>
          </a:p>
        </p:txBody>
      </p:sp>
      <p:sp>
        <p:nvSpPr>
          <p:cNvPr id="13" name="Rounded Rectangle 12"/>
          <p:cNvSpPr/>
          <p:nvPr/>
        </p:nvSpPr>
        <p:spPr>
          <a:xfrm>
            <a:off x="681228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389888"/>
            <a:ext cx="2148840" cy="219456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SIÊU THAM SỐ</a:t>
            </a:r>
          </a:p>
          <a:p>
            <a:pPr algn="l">
              <a:spcAft>
                <a:spcPts val="300"/>
              </a:spcAft>
            </a:pPr>
            <a:r>
              <a:rPr sz="1100" b="0" i="0">
                <a:solidFill>
                  <a:srgbClr val="5E6A78"/>
                </a:solidFill>
                <a:latin typeface="Aptos"/>
              </a:rPr>
              <a:t>người chọn, TRƯỚC fit</a:t>
            </a:r>
          </a:p>
          <a:p>
            <a:pPr algn="l">
              <a:spcAft>
                <a:spcPts val="300"/>
              </a:spcAft>
            </a:pPr>
            <a:r>
              <a:rPr sz="1100" b="0" i="0">
                <a:solidFill>
                  <a:srgbClr val="5E6A78"/>
                </a:solidFill>
                <a:latin typeface="Aptos"/>
              </a:rPr>
              <a:t>= tham số __init__, gán nguyên văn</a:t>
            </a:r>
          </a:p>
          <a:p>
            <a:pPr algn="l">
              <a:spcAft>
                <a:spcPts val="300"/>
              </a:spcAft>
            </a:pPr>
            <a:r>
              <a:rPr sz="950" b="0" i="0">
                <a:solidFill>
                  <a:srgbClr val="242B33"/>
                </a:solidFill>
                <a:latin typeface="Courier New"/>
              </a:rPr>
              <a:t>learning_rate, max_leaf_nodes, min_samples_leaf…</a:t>
            </a:r>
          </a:p>
          <a:p>
            <a:pPr algn="l">
              <a:spcAft>
                <a:spcPts val="300"/>
              </a:spcAft>
            </a:pPr>
            <a:r>
              <a:rPr sz="1050" b="1" i="0">
                <a:solidFill>
                  <a:srgbClr val="5E6A78"/>
                </a:solidFill>
                <a:latin typeface="Aptos"/>
              </a:rPr>
              <a:t>→ get_params · set_params · clone</a:t>
            </a:r>
          </a:p>
        </p:txBody>
      </p:sp>
      <p:sp>
        <p:nvSpPr>
          <p:cNvPr id="15" name="Rounded Rectangle 14"/>
          <p:cNvSpPr/>
          <p:nvPr/>
        </p:nvSpPr>
        <p:spPr>
          <a:xfrm>
            <a:off x="928116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389888"/>
            <a:ext cx="2148840" cy="2194560"/>
          </a:xfrm>
          <a:prstGeom prst="rect">
            <a:avLst/>
          </a:prstGeom>
          <a:noFill/>
        </p:spPr>
        <p:txBody>
          <a:bodyPr wrap="square" anchor="t" lIns="36576" rIns="36576" tIns="36576" bIns="36576">
            <a:noAutofit/>
          </a:bodyPr>
          <a:lstStyle/>
          <a:p>
            <a:pPr algn="l">
              <a:spcAft>
                <a:spcPts val="300"/>
              </a:spcAft>
            </a:pPr>
            <a:r>
              <a:rPr sz="1250" b="1" i="0">
                <a:solidFill>
                  <a:srgbClr val="162C46"/>
                </a:solidFill>
                <a:latin typeface="Aptos"/>
              </a:rPr>
              <a:t>HỌC ĐƯỢC (đuôi _)</a:t>
            </a:r>
          </a:p>
          <a:p>
            <a:pPr algn="l">
              <a:spcAft>
                <a:spcPts val="300"/>
              </a:spcAft>
            </a:pPr>
            <a:r>
              <a:rPr sz="1100" b="0" i="0">
                <a:solidFill>
                  <a:srgbClr val="5E6A78"/>
                </a:solidFill>
                <a:latin typeface="Aptos"/>
              </a:rPr>
              <a:t>dữ liệu quyết định, chỉ có SAU fit / tune</a:t>
            </a:r>
          </a:p>
          <a:p>
            <a:pPr algn="l">
              <a:spcAft>
                <a:spcPts val="300"/>
              </a:spcAft>
            </a:pPr>
            <a:r>
              <a:rPr sz="950" b="0" i="0">
                <a:solidFill>
                  <a:srgbClr val="242B33"/>
                </a:solidFill>
                <a:latin typeface="Courier New"/>
              </a:rPr>
              <a:t>estimator_, classes_, n_iter_, best_params_, best_score_, tuning_results_</a:t>
            </a:r>
          </a:p>
          <a:p>
            <a:pPr algn="l">
              <a:spcAft>
                <a:spcPts val="300"/>
              </a:spcAft>
            </a:pPr>
            <a:r>
              <a:rPr sz="1050" b="1" i="0">
                <a:solidFill>
                  <a:srgbClr val="5E6A78"/>
                </a:solidFill>
                <a:latin typeface="Aptos"/>
              </a:rPr>
              <a:t>→ check_is_fitted</a:t>
            </a:r>
          </a:p>
        </p:txBody>
      </p:sp>
      <p:sp>
        <p:nvSpPr>
          <p:cNvPr id="17" name="TextBox 16"/>
          <p:cNvSpPr txBox="1"/>
          <p:nvPr/>
        </p:nvSpPr>
        <p:spPr>
          <a:xfrm>
            <a:off x="6812280" y="3730752"/>
            <a:ext cx="484632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BA NƠI LƯU — BA MỤC ĐÍCH</a:t>
            </a:r>
          </a:p>
        </p:txBody>
      </p:sp>
      <p:sp>
        <p:nvSpPr>
          <p:cNvPr id="18" name="TextBox 17"/>
          <p:cNvSpPr txBox="1"/>
          <p:nvPr/>
        </p:nvSpPr>
        <p:spPr>
          <a:xfrm>
            <a:off x="6812280" y="4059936"/>
            <a:ext cx="4846320" cy="246888"/>
          </a:xfrm>
          <a:prstGeom prst="rect">
            <a:avLst/>
          </a:prstGeom>
          <a:noFill/>
        </p:spPr>
        <p:txBody>
          <a:bodyPr wrap="square" anchor="t" lIns="36576" rIns="36576" tIns="36576" bIns="36576">
            <a:noAutofit/>
          </a:bodyPr>
          <a:lstStyle/>
          <a:p>
            <a:pPr algn="l">
              <a:spcAft>
                <a:spcPts val="300"/>
              </a:spcAft>
            </a:pPr>
            <a:r>
              <a:rPr sz="1150" b="1" i="0">
                <a:solidFill>
                  <a:srgbClr val="162C46"/>
                </a:solidFill>
                <a:latin typeface="Aptos"/>
              </a:rPr>
              <a:t>① Thuộc tính đối tượng</a:t>
            </a:r>
          </a:p>
        </p:txBody>
      </p:sp>
      <p:sp>
        <p:nvSpPr>
          <p:cNvPr id="19" name="TextBox 18"/>
          <p:cNvSpPr txBox="1"/>
          <p:nvPr/>
        </p:nvSpPr>
        <p:spPr>
          <a:xfrm>
            <a:off x="6812280" y="4288536"/>
            <a:ext cx="484632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dùng ngay trong phiên; clone() giữ siêu tham số, bỏ trạng thái</a:t>
            </a:r>
          </a:p>
        </p:txBody>
      </p:sp>
      <p:sp>
        <p:nvSpPr>
          <p:cNvPr id="20" name="TextBox 19"/>
          <p:cNvSpPr txBox="1"/>
          <p:nvPr/>
        </p:nvSpPr>
        <p:spPr>
          <a:xfrm>
            <a:off x="6812280" y="4572000"/>
            <a:ext cx="4846320" cy="246888"/>
          </a:xfrm>
          <a:prstGeom prst="rect">
            <a:avLst/>
          </a:prstGeom>
          <a:noFill/>
        </p:spPr>
        <p:txBody>
          <a:bodyPr wrap="square" anchor="t" lIns="36576" rIns="36576" tIns="36576" bIns="36576">
            <a:noAutofit/>
          </a:bodyPr>
          <a:lstStyle/>
          <a:p>
            <a:pPr algn="l">
              <a:spcAft>
                <a:spcPts val="300"/>
              </a:spcAft>
            </a:pPr>
            <a:r>
              <a:rPr sz="1150" b="1" i="0">
                <a:solidFill>
                  <a:srgbClr val="162C46"/>
                </a:solidFill>
                <a:latin typeface="Courier New"/>
              </a:rPr>
              <a:t>② reports/models/gbm_tuned.json</a:t>
            </a:r>
          </a:p>
        </p:txBody>
      </p:sp>
      <p:sp>
        <p:nvSpPr>
          <p:cNvPr id="21" name="TextBox 20"/>
          <p:cNvSpPr txBox="1"/>
          <p:nvPr/>
        </p:nvSpPr>
        <p:spPr>
          <a:xfrm>
            <a:off x="6812280" y="4800600"/>
            <a:ext cx="484632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export_hyperparams(): đọc bằng mắt, kèm không gian tìm &amp; bản sklearn</a:t>
            </a:r>
          </a:p>
        </p:txBody>
      </p:sp>
      <p:sp>
        <p:nvSpPr>
          <p:cNvPr id="22" name="TextBox 21"/>
          <p:cNvSpPr txBox="1"/>
          <p:nvPr/>
        </p:nvSpPr>
        <p:spPr>
          <a:xfrm>
            <a:off x="6812280" y="5084064"/>
            <a:ext cx="4846320" cy="246888"/>
          </a:xfrm>
          <a:prstGeom prst="rect">
            <a:avLst/>
          </a:prstGeom>
          <a:noFill/>
        </p:spPr>
        <p:txBody>
          <a:bodyPr wrap="square" anchor="t" lIns="36576" rIns="36576" tIns="36576" bIns="36576">
            <a:noAutofit/>
          </a:bodyPr>
          <a:lstStyle/>
          <a:p>
            <a:pPr algn="l">
              <a:spcAft>
                <a:spcPts val="300"/>
              </a:spcAft>
            </a:pPr>
            <a:r>
              <a:rPr sz="1150" b="1" i="0">
                <a:solidFill>
                  <a:srgbClr val="162C46"/>
                </a:solidFill>
                <a:latin typeface="Courier New"/>
              </a:rPr>
              <a:t>③ reports/models/gbm_tuned.joblib</a:t>
            </a:r>
          </a:p>
        </p:txBody>
      </p:sp>
      <p:sp>
        <p:nvSpPr>
          <p:cNvPr id="23" name="TextBox 22"/>
          <p:cNvSpPr txBox="1"/>
          <p:nvPr/>
        </p:nvSpPr>
        <p:spPr>
          <a:xfrm>
            <a:off x="6812280" y="5312664"/>
            <a:ext cx="484632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save() / load(): toàn bộ đối tượng, không phải tune lại</a:t>
            </a:r>
          </a:p>
        </p:txBody>
      </p:sp>
      <p:sp>
        <p:nvSpPr>
          <p:cNvPr id="24" name="Rounded Rectangle 23"/>
          <p:cNvSpPr/>
          <p:nvPr/>
        </p:nvSpPr>
        <p:spPr>
          <a:xfrm>
            <a:off x="603504" y="5669280"/>
            <a:ext cx="11009376" cy="64008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i="0">
                <a:solidFill>
                  <a:srgbClr val="FFFFFF"/>
                </a:solidFill>
                <a:latin typeface="Aptos"/>
              </a:rPr>
              <a:t>Tái lập: </a:t>
            </a:r>
            <a:r>
              <a:rPr sz="1250" b="0" i="0">
                <a:solidFill>
                  <a:srgbClr val="FFFFFF"/>
                </a:solidFill>
                <a:latin typeface="Aptos"/>
              </a:rPr>
              <a:t>chạy lại trên scikit-learn 1.9.1 cho bộ siêu tham số GBM khác (logistic trùng 16 chữ số) → ghim scikit-learn==1.5.1 và chặn run_modeling nếu sai phiên bản.</a:t>
            </a:r>
          </a:p>
        </p:txBody>
      </p:sp>
      <p:sp>
        <p:nvSpPr>
          <p:cNvPr id="25" name="Rounded Rectangle 2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26" name="Rounded Rectangle 25"/>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7" name="Rounded Rectangle 2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8" name="Rounded Rectangle 2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29" name="Rounded Rectangle 2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0" name="Rounded Rectangle 29"/>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31" name="Rounded Rectangle 3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32" name="Rounded Rectangle 3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VÌ SAO CHỌN MÔ HÌNH NÀY, ĐỐI SỐ NÀY?</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17</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17</a:t>
            </a:r>
          </a:p>
        </p:txBody>
      </p:sp>
      <p:sp>
        <p:nvSpPr>
          <p:cNvPr id="7" name="TextBox 6"/>
          <p:cNvSpPr txBox="1"/>
          <p:nvPr/>
        </p:nvSpPr>
        <p:spPr>
          <a:xfrm>
            <a:off x="603504" y="1005840"/>
            <a:ext cx="548640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TRỌNG SỐ KHI TRAIN — CHỌN BẰNG CV</a:t>
            </a:r>
          </a:p>
        </p:txBody>
      </p:sp>
      <p:graphicFrame>
        <p:nvGraphicFramePr>
          <p:cNvPr id="8" name="Table 7"/>
          <p:cNvGraphicFramePr>
            <a:graphicFrameLocks noGrp="1"/>
          </p:cNvGraphicFramePr>
          <p:nvPr/>
        </p:nvGraphicFramePr>
        <p:xfrm>
          <a:off x="603504" y="1344168"/>
          <a:ext cx="5440680" cy="1316736"/>
        </p:xfrm>
        <a:graphic>
          <a:graphicData uri="http://schemas.openxmlformats.org/drawingml/2006/table">
            <a:tbl>
              <a:tblPr firstRow="1">
                <a:tableStyleId>{5C22544A-7EE6-4342-B048-85BDC9FD1C3A}</a:tableStyleId>
              </a:tblPr>
              <a:tblGrid>
                <a:gridCol w="2240280"/>
                <a:gridCol w="1005840"/>
                <a:gridCol w="1051560"/>
                <a:gridCol w="1143000"/>
              </a:tblGrid>
              <a:tr h="329184">
                <a:tc>
                  <a:txBody>
                    <a:bodyPr wrap="square"/>
                    <a:lstStyle/>
                    <a:p>
                      <a:pPr algn="l"/>
                      <a:r>
                        <a:rPr sz="1150" b="1" i="0">
                          <a:solidFill>
                            <a:srgbClr val="FFFFFF"/>
                          </a:solidFill>
                          <a:latin typeface="Aptos"/>
                        </a:rPr>
                        <a:t>PR-AUC CV (có trọng số)</a:t>
                      </a:r>
                    </a:p>
                  </a:txBody>
                  <a:tcPr marL="54864" marR="54864" marT="27432" marB="27432" anchor="ctr">
                    <a:solidFill>
                      <a:srgbClr val="162C46"/>
                    </a:solidFill>
                  </a:tcPr>
                </a:tc>
                <a:tc>
                  <a:txBody>
                    <a:bodyPr wrap="square"/>
                    <a:lstStyle/>
                    <a:p>
                      <a:pPr algn="l"/>
                      <a:r>
                        <a:rPr sz="1150" b="1" i="0">
                          <a:solidFill>
                            <a:srgbClr val="FFFFFF"/>
                          </a:solidFill>
                          <a:latin typeface="Aptos"/>
                        </a:rPr>
                        <a:t>none</a:t>
                      </a:r>
                    </a:p>
                  </a:txBody>
                  <a:tcPr marL="54864" marR="54864" marT="27432" marB="27432" anchor="ctr">
                    <a:solidFill>
                      <a:srgbClr val="162C46"/>
                    </a:solidFill>
                  </a:tcPr>
                </a:tc>
                <a:tc>
                  <a:txBody>
                    <a:bodyPr wrap="square"/>
                    <a:lstStyle/>
                    <a:p>
                      <a:pPr algn="l"/>
                      <a:r>
                        <a:rPr sz="1150" b="1" i="0">
                          <a:solidFill>
                            <a:srgbClr val="FFFFFF"/>
                          </a:solidFill>
                          <a:latin typeface="Aptos"/>
                        </a:rPr>
                        <a:t>survey</a:t>
                      </a:r>
                    </a:p>
                  </a:txBody>
                  <a:tcPr marL="54864" marR="54864" marT="27432" marB="27432" anchor="ctr">
                    <a:solidFill>
                      <a:srgbClr val="162C46"/>
                    </a:solidFill>
                  </a:tcPr>
                </a:tc>
                <a:tc>
                  <a:txBody>
                    <a:bodyPr wrap="square"/>
                    <a:lstStyle/>
                    <a:p>
                      <a:pPr algn="l"/>
                      <a:r>
                        <a:rPr sz="1150" b="1" i="0">
                          <a:solidFill>
                            <a:srgbClr val="FFFFFF"/>
                          </a:solidFill>
                          <a:latin typeface="Aptos"/>
                        </a:rPr>
                        <a:t>survey_bal.</a:t>
                      </a:r>
                    </a:p>
                  </a:txBody>
                  <a:tcPr marL="54864" marR="54864" marT="27432" marB="27432" anchor="ctr">
                    <a:solidFill>
                      <a:srgbClr val="162C46"/>
                    </a:solidFill>
                  </a:tcPr>
                </a:tc>
              </a:tr>
              <a:tr h="329184">
                <a:tc>
                  <a:txBody>
                    <a:bodyPr wrap="square"/>
                    <a:lstStyle/>
                    <a:p>
                      <a:pPr algn="l"/>
                      <a:r>
                        <a:rPr sz="1150" b="1" i="0">
                          <a:solidFill>
                            <a:srgbClr val="242B33"/>
                          </a:solidFill>
                          <a:latin typeface="Aptos"/>
                        </a:rPr>
                        <a:t>Logistic (L2)</a:t>
                      </a:r>
                    </a:p>
                  </a:txBody>
                  <a:tcPr marL="54864" marR="54864" marT="27432" marB="27432" anchor="ctr">
                    <a:solidFill>
                      <a:srgbClr val="FFFFFF"/>
                    </a:solidFill>
                  </a:tcPr>
                </a:tc>
                <a:tc>
                  <a:txBody>
                    <a:bodyPr wrap="square"/>
                    <a:lstStyle/>
                    <a:p>
                      <a:pPr algn="r"/>
                      <a:r>
                        <a:rPr sz="1150" b="0" i="0">
                          <a:solidFill>
                            <a:srgbClr val="242B33"/>
                          </a:solidFill>
                          <a:latin typeface="Aptos"/>
                        </a:rPr>
                        <a:t>0,0352</a:t>
                      </a:r>
                    </a:p>
                  </a:txBody>
                  <a:tcPr marL="54864" marR="54864" marT="27432" marB="27432" anchor="ctr">
                    <a:solidFill>
                      <a:srgbClr val="FFFFFF"/>
                    </a:solidFill>
                  </a:tcPr>
                </a:tc>
                <a:tc>
                  <a:txBody>
                    <a:bodyPr wrap="square"/>
                    <a:lstStyle/>
                    <a:p>
                      <a:pPr algn="r"/>
                      <a:r>
                        <a:rPr sz="1150" b="0" i="0">
                          <a:solidFill>
                            <a:srgbClr val="242B33"/>
                          </a:solidFill>
                          <a:latin typeface="Aptos"/>
                        </a:rPr>
                        <a:t>0,0548</a:t>
                      </a:r>
                    </a:p>
                  </a:txBody>
                  <a:tcPr marL="54864" marR="54864" marT="27432" marB="27432" anchor="ctr">
                    <a:solidFill>
                      <a:srgbClr val="FFFFFF"/>
                    </a:solidFill>
                  </a:tcPr>
                </a:tc>
                <a:tc>
                  <a:txBody>
                    <a:bodyPr wrap="square"/>
                    <a:lstStyle/>
                    <a:p>
                      <a:pPr algn="r"/>
                      <a:r>
                        <a:rPr sz="1150" b="1" i="0">
                          <a:solidFill>
                            <a:srgbClr val="162C46"/>
                          </a:solidFill>
                          <a:latin typeface="Aptos"/>
                        </a:rPr>
                        <a:t>0,0553</a:t>
                      </a:r>
                    </a:p>
                  </a:txBody>
                  <a:tcPr marL="54864" marR="54864" marT="27432" marB="27432" anchor="ctr">
                    <a:solidFill>
                      <a:srgbClr val="FFFFFF"/>
                    </a:solidFill>
                  </a:tcPr>
                </a:tc>
              </a:tr>
              <a:tr h="329184">
                <a:tc>
                  <a:txBody>
                    <a:bodyPr wrap="square"/>
                    <a:lstStyle/>
                    <a:p>
                      <a:pPr algn="l"/>
                      <a:r>
                        <a:rPr sz="1150" b="1" i="0">
                          <a:solidFill>
                            <a:srgbClr val="242B33"/>
                          </a:solidFill>
                          <a:latin typeface="Aptos"/>
                        </a:rPr>
                        <a:t>Random forest</a:t>
                      </a:r>
                    </a:p>
                  </a:txBody>
                  <a:tcPr marL="54864" marR="54864" marT="27432" marB="27432" anchor="ctr">
                    <a:solidFill>
                      <a:srgbClr val="F6F9FC"/>
                    </a:solidFill>
                  </a:tcPr>
                </a:tc>
                <a:tc>
                  <a:txBody>
                    <a:bodyPr wrap="square"/>
                    <a:lstStyle/>
                    <a:p>
                      <a:pPr algn="r"/>
                      <a:r>
                        <a:rPr sz="1150" b="0" i="0">
                          <a:solidFill>
                            <a:srgbClr val="242B33"/>
                          </a:solidFill>
                          <a:latin typeface="Aptos"/>
                        </a:rPr>
                        <a:t>0,0284</a:t>
                      </a:r>
                    </a:p>
                  </a:txBody>
                  <a:tcPr marL="54864" marR="54864" marT="27432" marB="27432" anchor="ctr">
                    <a:solidFill>
                      <a:srgbClr val="F6F9FC"/>
                    </a:solidFill>
                  </a:tcPr>
                </a:tc>
                <a:tc>
                  <a:txBody>
                    <a:bodyPr wrap="square"/>
                    <a:lstStyle/>
                    <a:p>
                      <a:pPr algn="r"/>
                      <a:r>
                        <a:rPr sz="1150" b="1" i="0">
                          <a:solidFill>
                            <a:srgbClr val="162C46"/>
                          </a:solidFill>
                          <a:latin typeface="Aptos"/>
                        </a:rPr>
                        <a:t>0,0511</a:t>
                      </a:r>
                    </a:p>
                  </a:txBody>
                  <a:tcPr marL="54864" marR="54864" marT="27432" marB="27432" anchor="ctr">
                    <a:solidFill>
                      <a:srgbClr val="F6F9FC"/>
                    </a:solidFill>
                  </a:tcPr>
                </a:tc>
                <a:tc>
                  <a:txBody>
                    <a:bodyPr wrap="square"/>
                    <a:lstStyle/>
                    <a:p>
                      <a:pPr algn="r"/>
                      <a:r>
                        <a:rPr sz="1150" b="0" i="0">
                          <a:solidFill>
                            <a:srgbClr val="242B33"/>
                          </a:solidFill>
                          <a:latin typeface="Aptos"/>
                        </a:rPr>
                        <a:t>0,0479</a:t>
                      </a:r>
                    </a:p>
                  </a:txBody>
                  <a:tcPr marL="54864" marR="54864" marT="27432" marB="27432" anchor="ctr">
                    <a:solidFill>
                      <a:srgbClr val="F6F9FC"/>
                    </a:solidFill>
                  </a:tcPr>
                </a:tc>
              </a:tr>
              <a:tr h="329184">
                <a:tc>
                  <a:txBody>
                    <a:bodyPr wrap="square"/>
                    <a:lstStyle/>
                    <a:p>
                      <a:pPr algn="l"/>
                      <a:r>
                        <a:rPr sz="1150" b="1" i="0">
                          <a:solidFill>
                            <a:srgbClr val="242B33"/>
                          </a:solidFill>
                          <a:latin typeface="Aptos"/>
                        </a:rPr>
                        <a:t>Gradient boosting</a:t>
                      </a:r>
                    </a:p>
                  </a:txBody>
                  <a:tcPr marL="54864" marR="54864" marT="27432" marB="27432" anchor="ctr">
                    <a:solidFill>
                      <a:srgbClr val="FFFFFF"/>
                    </a:solidFill>
                  </a:tcPr>
                </a:tc>
                <a:tc>
                  <a:txBody>
                    <a:bodyPr wrap="square"/>
                    <a:lstStyle/>
                    <a:p>
                      <a:pPr algn="r"/>
                      <a:r>
                        <a:rPr sz="1150" b="0" i="0">
                          <a:solidFill>
                            <a:srgbClr val="242B33"/>
                          </a:solidFill>
                          <a:latin typeface="Aptos"/>
                        </a:rPr>
                        <a:t>0,0293</a:t>
                      </a:r>
                    </a:p>
                  </a:txBody>
                  <a:tcPr marL="54864" marR="54864" marT="27432" marB="27432" anchor="ctr">
                    <a:solidFill>
                      <a:srgbClr val="FFFFFF"/>
                    </a:solidFill>
                  </a:tcPr>
                </a:tc>
                <a:tc>
                  <a:txBody>
                    <a:bodyPr wrap="square"/>
                    <a:lstStyle/>
                    <a:p>
                      <a:pPr algn="r"/>
                      <a:r>
                        <a:rPr sz="1150" b="0" i="0">
                          <a:solidFill>
                            <a:srgbClr val="242B33"/>
                          </a:solidFill>
                          <a:latin typeface="Aptos"/>
                        </a:rPr>
                        <a:t>0,0502</a:t>
                      </a:r>
                    </a:p>
                  </a:txBody>
                  <a:tcPr marL="54864" marR="54864" marT="27432" marB="27432" anchor="ctr">
                    <a:solidFill>
                      <a:srgbClr val="FFFFFF"/>
                    </a:solidFill>
                  </a:tcPr>
                </a:tc>
                <a:tc>
                  <a:txBody>
                    <a:bodyPr wrap="square"/>
                    <a:lstStyle/>
                    <a:p>
                      <a:pPr algn="r"/>
                      <a:r>
                        <a:rPr sz="1150" b="1" i="0">
                          <a:solidFill>
                            <a:srgbClr val="162C46"/>
                          </a:solidFill>
                          <a:latin typeface="Aptos"/>
                        </a:rPr>
                        <a:t>0,0552</a:t>
                      </a:r>
                    </a:p>
                  </a:txBody>
                  <a:tcPr marL="54864" marR="54864" marT="27432" marB="27432" anchor="ctr">
                    <a:solidFill>
                      <a:srgbClr val="FFFFFF"/>
                    </a:solidFill>
                  </a:tcPr>
                </a:tc>
              </a:tr>
            </a:tbl>
          </a:graphicData>
        </a:graphic>
      </p:graphicFrame>
      <p:sp>
        <p:nvSpPr>
          <p:cNvPr id="9" name="TextBox 8"/>
          <p:cNvSpPr txBox="1"/>
          <p:nvPr/>
        </p:nvSpPr>
        <p:spPr>
          <a:xfrm>
            <a:off x="603504" y="2724912"/>
            <a:ext cx="5440680" cy="1005840"/>
          </a:xfrm>
          <a:prstGeom prst="rect">
            <a:avLst/>
          </a:prstGeom>
          <a:noFill/>
        </p:spPr>
        <p:txBody>
          <a:bodyPr wrap="square" anchor="t" lIns="36576" rIns="36576" tIns="36576" bIns="36576">
            <a:noAutofit/>
          </a:bodyPr>
          <a:lstStyle/>
          <a:p>
            <a:pPr algn="l">
              <a:spcAft>
                <a:spcPts val="300"/>
              </a:spcAft>
            </a:pPr>
            <a:r>
              <a:rPr sz="1150" b="1" i="0">
                <a:solidFill>
                  <a:srgbClr val="B14242"/>
                </a:solidFill>
                <a:latin typeface="Aptos"/>
              </a:rPr>
              <a:t>Train không trọng số thua ở cả 3 họ. </a:t>
            </a:r>
            <a:r>
              <a:rPr sz="1150" b="0" i="0">
                <a:solidFill>
                  <a:srgbClr val="5E6A78"/>
                </a:solidFill>
                <a:latin typeface="Aptos"/>
              </a:rPr>
              <a:t>Xác suất cào một review 5★ phụ thuộc sản phẩm, không chỉ nhãn → 3/16 feature đảo chiều giữa mẫu thô và quần thể. Chọn </a:t>
            </a:r>
            <a:r>
              <a:rPr sz="1100" b="1" i="0">
                <a:solidFill>
                  <a:srgbClr val="162C46"/>
                </a:solidFill>
                <a:latin typeface="Courier New"/>
              </a:rPr>
              <a:t>survey_balanced</a:t>
            </a:r>
            <a:r>
              <a:rPr sz="1150" b="0" i="0">
                <a:solidFill>
                  <a:srgbClr val="5E6A78"/>
                </a:solidFill>
                <a:latin typeface="Aptos"/>
              </a:rPr>
              <a:t>: sửa chệch lấy mẫu + cân bằng lớp hiếm.</a:t>
            </a:r>
          </a:p>
        </p:txBody>
      </p:sp>
      <p:sp>
        <p:nvSpPr>
          <p:cNvPr id="10" name="TextBox 9"/>
          <p:cNvSpPr txBox="1"/>
          <p:nvPr/>
        </p:nvSpPr>
        <p:spPr>
          <a:xfrm>
            <a:off x="603504" y="3767328"/>
            <a:ext cx="548640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3. TRUNG THỰC VỀ KẾT QUẢ TUNE (test 2024–2026)</a:t>
            </a:r>
          </a:p>
        </p:txBody>
      </p:sp>
      <p:graphicFrame>
        <p:nvGraphicFramePr>
          <p:cNvPr id="11" name="Table 10"/>
          <p:cNvGraphicFramePr>
            <a:graphicFrameLocks noGrp="1"/>
          </p:cNvGraphicFramePr>
          <p:nvPr/>
        </p:nvGraphicFramePr>
        <p:xfrm>
          <a:off x="603504" y="4105656"/>
          <a:ext cx="5440680" cy="1316736"/>
        </p:xfrm>
        <a:graphic>
          <a:graphicData uri="http://schemas.openxmlformats.org/drawingml/2006/table">
            <a:tbl>
              <a:tblPr firstRow="1">
                <a:tableStyleId>{5C22544A-7EE6-4342-B048-85BDC9FD1C3A}</a:tableStyleId>
              </a:tblPr>
              <a:tblGrid>
                <a:gridCol w="2697480"/>
                <a:gridCol w="1097280"/>
                <a:gridCol w="1645920"/>
              </a:tblGrid>
              <a:tr h="329184">
                <a:tc>
                  <a:txBody>
                    <a:bodyPr wrap="square"/>
                    <a:lstStyle/>
                    <a:p>
                      <a:pPr algn="l"/>
                      <a:r>
                        <a:rPr sz="1150" b="1" i="0">
                          <a:solidFill>
                            <a:srgbClr val="FFFFFF"/>
                          </a:solidFill>
                          <a:latin typeface="Aptos"/>
                        </a:rPr>
                        <a:t>So sánh ghép cặp</a:t>
                      </a:r>
                    </a:p>
                  </a:txBody>
                  <a:tcPr marL="54864" marR="54864" marT="27432" marB="27432" anchor="ctr">
                    <a:solidFill>
                      <a:srgbClr val="162C46"/>
                    </a:solidFill>
                  </a:tcPr>
                </a:tc>
                <a:tc>
                  <a:txBody>
                    <a:bodyPr wrap="square"/>
                    <a:lstStyle/>
                    <a:p>
                      <a:pPr algn="l"/>
                      <a:r>
                        <a:rPr sz="1150" b="1" i="0">
                          <a:solidFill>
                            <a:srgbClr val="FFFFFF"/>
                          </a:solidFill>
                          <a:latin typeface="Aptos"/>
                        </a:rPr>
                        <a:t>ΔPR-AUC</a:t>
                      </a:r>
                    </a:p>
                  </a:txBody>
                  <a:tcPr marL="54864" marR="54864" marT="27432" marB="27432" anchor="ctr">
                    <a:solidFill>
                      <a:srgbClr val="162C46"/>
                    </a:solidFill>
                  </a:tcPr>
                </a:tc>
                <a:tc>
                  <a:txBody>
                    <a:bodyPr wrap="square"/>
                    <a:lstStyle/>
                    <a:p>
                      <a:pPr algn="l"/>
                      <a:r>
                        <a:rPr sz="1150" b="1" i="0">
                          <a:solidFill>
                            <a:srgbClr val="FFFFFF"/>
                          </a:solidFill>
                          <a:latin typeface="Aptos"/>
                        </a:rPr>
                        <a:t>KTC 95%</a:t>
                      </a:r>
                    </a:p>
                  </a:txBody>
                  <a:tcPr marL="54864" marR="54864" marT="27432" marB="27432" anchor="ctr">
                    <a:solidFill>
                      <a:srgbClr val="162C46"/>
                    </a:solidFill>
                  </a:tcPr>
                </a:tc>
              </a:tr>
              <a:tr h="329184">
                <a:tc>
                  <a:txBody>
                    <a:bodyPr wrap="square"/>
                    <a:lstStyle/>
                    <a:p>
                      <a:pPr algn="l"/>
                      <a:r>
                        <a:rPr sz="1150" b="0" i="0">
                          <a:solidFill>
                            <a:srgbClr val="242B33"/>
                          </a:solidFill>
                          <a:latin typeface="Aptos"/>
                        </a:rPr>
                        <a:t>GBM tuned − GBM mặc định</a:t>
                      </a:r>
                    </a:p>
                  </a:txBody>
                  <a:tcPr marL="54864" marR="54864" marT="27432" marB="27432" anchor="ctr">
                    <a:solidFill>
                      <a:srgbClr val="FFFFFF"/>
                    </a:solidFill>
                  </a:tcPr>
                </a:tc>
                <a:tc>
                  <a:txBody>
                    <a:bodyPr wrap="square"/>
                    <a:lstStyle/>
                    <a:p>
                      <a:pPr algn="r"/>
                      <a:r>
                        <a:rPr sz="1150" b="0" i="0">
                          <a:solidFill>
                            <a:srgbClr val="242B33"/>
                          </a:solidFill>
                          <a:latin typeface="Aptos"/>
                        </a:rPr>
                        <a:t>−0,0034</a:t>
                      </a:r>
                    </a:p>
                  </a:txBody>
                  <a:tcPr marL="54864" marR="54864" marT="27432" marB="27432" anchor="ctr">
                    <a:solidFill>
                      <a:srgbClr val="FFFFFF"/>
                    </a:solidFill>
                  </a:tcPr>
                </a:tc>
                <a:tc>
                  <a:txBody>
                    <a:bodyPr wrap="square"/>
                    <a:lstStyle/>
                    <a:p>
                      <a:pPr algn="r"/>
                      <a:r>
                        <a:rPr sz="1150" b="0" i="0">
                          <a:solidFill>
                            <a:srgbClr val="242B33"/>
                          </a:solidFill>
                          <a:latin typeface="Aptos"/>
                        </a:rPr>
                        <a:t>[−0,0078; 0,0002]</a:t>
                      </a:r>
                    </a:p>
                  </a:txBody>
                  <a:tcPr marL="54864" marR="54864" marT="27432" marB="27432" anchor="ctr">
                    <a:solidFill>
                      <a:srgbClr val="FFFFFF"/>
                    </a:solidFill>
                  </a:tcPr>
                </a:tc>
              </a:tr>
              <a:tr h="329184">
                <a:tc>
                  <a:txBody>
                    <a:bodyPr wrap="square"/>
                    <a:lstStyle/>
                    <a:p>
                      <a:pPr algn="l"/>
                      <a:r>
                        <a:rPr sz="1150" b="0" i="0">
                          <a:solidFill>
                            <a:srgbClr val="242B33"/>
                          </a:solidFill>
                          <a:latin typeface="Aptos"/>
                        </a:rPr>
                        <a:t>Ensemble chốt − Logistic tuned</a:t>
                      </a:r>
                    </a:p>
                  </a:txBody>
                  <a:tcPr marL="54864" marR="54864" marT="27432" marB="27432" anchor="ctr">
                    <a:solidFill>
                      <a:srgbClr val="F6F9FC"/>
                    </a:solidFill>
                  </a:tcPr>
                </a:tc>
                <a:tc>
                  <a:txBody>
                    <a:bodyPr wrap="square"/>
                    <a:lstStyle/>
                    <a:p>
                      <a:pPr algn="r"/>
                      <a:r>
                        <a:rPr sz="1150" b="0" i="0">
                          <a:solidFill>
                            <a:srgbClr val="242B33"/>
                          </a:solidFill>
                          <a:latin typeface="Aptos"/>
                        </a:rPr>
                        <a:t>−0,0010</a:t>
                      </a:r>
                    </a:p>
                  </a:txBody>
                  <a:tcPr marL="54864" marR="54864" marT="27432" marB="27432" anchor="ctr">
                    <a:solidFill>
                      <a:srgbClr val="F6F9FC"/>
                    </a:solidFill>
                  </a:tcPr>
                </a:tc>
                <a:tc>
                  <a:txBody>
                    <a:bodyPr wrap="square"/>
                    <a:lstStyle/>
                    <a:p>
                      <a:pPr algn="r"/>
                      <a:r>
                        <a:rPr sz="1150" b="0" i="0">
                          <a:solidFill>
                            <a:srgbClr val="242B33"/>
                          </a:solidFill>
                          <a:latin typeface="Aptos"/>
                        </a:rPr>
                        <a:t>[−0,0043; 0,0026]</a:t>
                      </a:r>
                    </a:p>
                  </a:txBody>
                  <a:tcPr marL="54864" marR="54864" marT="27432" marB="27432" anchor="ctr">
                    <a:solidFill>
                      <a:srgbClr val="F6F9FC"/>
                    </a:solidFill>
                  </a:tcPr>
                </a:tc>
              </a:tr>
              <a:tr h="329184">
                <a:tc>
                  <a:txBody>
                    <a:bodyPr wrap="square"/>
                    <a:lstStyle/>
                    <a:p>
                      <a:pPr algn="l"/>
                      <a:r>
                        <a:rPr sz="1150" b="0" i="0">
                          <a:solidFill>
                            <a:srgbClr val="242B33"/>
                          </a:solidFill>
                          <a:latin typeface="Aptos"/>
                        </a:rPr>
                        <a:t>Ensemble chốt − GBM tuned</a:t>
                      </a:r>
                    </a:p>
                  </a:txBody>
                  <a:tcPr marL="54864" marR="54864" marT="27432" marB="27432" anchor="ctr">
                    <a:solidFill>
                      <a:srgbClr val="FFFFFF"/>
                    </a:solidFill>
                  </a:tcPr>
                </a:tc>
                <a:tc>
                  <a:txBody>
                    <a:bodyPr wrap="square"/>
                    <a:lstStyle/>
                    <a:p>
                      <a:pPr algn="r"/>
                      <a:r>
                        <a:rPr sz="1150" b="1" i="0">
                          <a:solidFill>
                            <a:srgbClr val="162C46"/>
                          </a:solidFill>
                          <a:latin typeface="Aptos"/>
                        </a:rPr>
                        <a:t>+0,0083</a:t>
                      </a:r>
                    </a:p>
                  </a:txBody>
                  <a:tcPr marL="54864" marR="54864" marT="27432" marB="27432" anchor="ctr">
                    <a:solidFill>
                      <a:srgbClr val="FFFFFF"/>
                    </a:solidFill>
                  </a:tcPr>
                </a:tc>
                <a:tc>
                  <a:txBody>
                    <a:bodyPr wrap="square"/>
                    <a:lstStyle/>
                    <a:p>
                      <a:pPr algn="r"/>
                      <a:r>
                        <a:rPr sz="1150" b="0" i="0">
                          <a:solidFill>
                            <a:srgbClr val="242B33"/>
                          </a:solidFill>
                          <a:latin typeface="Aptos"/>
                        </a:rPr>
                        <a:t>[0,0052; 0,0128]</a:t>
                      </a:r>
                    </a:p>
                  </a:txBody>
                  <a:tcPr marL="54864" marR="54864" marT="27432" marB="27432" anchor="ctr">
                    <a:solidFill>
                      <a:srgbClr val="FFFFFF"/>
                    </a:solidFill>
                  </a:tcPr>
                </a:tc>
              </a:tr>
            </a:tbl>
          </a:graphicData>
        </a:graphic>
      </p:graphicFrame>
      <p:sp>
        <p:nvSpPr>
          <p:cNvPr id="12" name="TextBox 11"/>
          <p:cNvSpPr txBox="1"/>
          <p:nvPr/>
        </p:nvSpPr>
        <p:spPr>
          <a:xfrm>
            <a:off x="6309360" y="1005840"/>
            <a:ext cx="530352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2. VÌ SAO GBM + LOGISTIC, KHÔNG PHẢI MÔ HÌNH KHÁC</a:t>
            </a:r>
          </a:p>
        </p:txBody>
      </p:sp>
      <p:sp>
        <p:nvSpPr>
          <p:cNvPr id="13" name="Rounded Rectangle 12"/>
          <p:cNvSpPr/>
          <p:nvPr/>
        </p:nvSpPr>
        <p:spPr>
          <a:xfrm>
            <a:off x="6309360" y="1344168"/>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371600"/>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Logistic</a:t>
            </a:r>
          </a:p>
        </p:txBody>
      </p:sp>
      <p:sp>
        <p:nvSpPr>
          <p:cNvPr id="15" name="TextBox 14"/>
          <p:cNvSpPr txBox="1"/>
          <p:nvPr/>
        </p:nvSpPr>
        <p:spPr>
          <a:xfrm>
            <a:off x="6419088" y="1618488"/>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tuyến tính, diễn giải được (e^β = tỉ số odds), ngoại suy mượt khi dữ liệu trôi</a:t>
            </a:r>
          </a:p>
        </p:txBody>
      </p:sp>
      <p:sp>
        <p:nvSpPr>
          <p:cNvPr id="16" name="Rounded Rectangle 15"/>
          <p:cNvSpPr/>
          <p:nvPr/>
        </p:nvSpPr>
        <p:spPr>
          <a:xfrm>
            <a:off x="6309360" y="2002536"/>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029967"/>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GBM histogram</a:t>
            </a:r>
          </a:p>
        </p:txBody>
      </p:sp>
      <p:sp>
        <p:nvSpPr>
          <p:cNvPr id="18" name="TextBox 17"/>
          <p:cNvSpPr txBox="1"/>
          <p:nvPr/>
        </p:nvSpPr>
        <p:spPr>
          <a:xfrm>
            <a:off x="6419088" y="2276856"/>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học tương tác &amp; ngưỡng; tự xử lý NaN (cust_tenure thiếu 10%) và biến phân loại</a:t>
            </a:r>
          </a:p>
        </p:txBody>
      </p:sp>
      <p:sp>
        <p:nvSpPr>
          <p:cNvPr id="19" name="Rounded Rectangle 18"/>
          <p:cNvSpPr/>
          <p:nvPr/>
        </p:nvSpPr>
        <p:spPr>
          <a:xfrm>
            <a:off x="6309360" y="2660904"/>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688336"/>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Random forest</a:t>
            </a:r>
          </a:p>
        </p:txBody>
      </p:sp>
      <p:sp>
        <p:nvSpPr>
          <p:cNvPr id="21" name="TextBox 20"/>
          <p:cNvSpPr txBox="1"/>
          <p:nvPr/>
        </p:nvSpPr>
        <p:spPr>
          <a:xfrm>
            <a:off x="6419088" y="2935224"/>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thua ở CV: bagging giảm phương sai, nhưng vấn đề ở đây là độ chệch</a:t>
            </a:r>
          </a:p>
        </p:txBody>
      </p:sp>
      <p:sp>
        <p:nvSpPr>
          <p:cNvPr id="22" name="Rounded Rectangle 21"/>
          <p:cNvSpPr/>
          <p:nvPr/>
        </p:nvSpPr>
        <p:spPr>
          <a:xfrm>
            <a:off x="6309360" y="3319272"/>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346703"/>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Không deep learning</a:t>
            </a:r>
          </a:p>
        </p:txBody>
      </p:sp>
      <p:sp>
        <p:nvSpPr>
          <p:cNvPr id="24" name="TextBox 23"/>
          <p:cNvSpPr txBox="1"/>
          <p:nvPr/>
        </p:nvSpPr>
        <p:spPr>
          <a:xfrm>
            <a:off x="6419088" y="3593591"/>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dữ liệu bảng 17 biến: mô hình cây thắng mạng nơ-ron có hệ thống</a:t>
            </a:r>
          </a:p>
        </p:txBody>
      </p:sp>
      <p:sp>
        <p:nvSpPr>
          <p:cNvPr id="25" name="Rounded Rectangle 24"/>
          <p:cNvSpPr/>
          <p:nvPr/>
        </p:nvSpPr>
        <p:spPr>
          <a:xfrm>
            <a:off x="6309360" y="3977639"/>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4005072"/>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Ensemble 2 mô hình</a:t>
            </a:r>
          </a:p>
        </p:txBody>
      </p:sp>
      <p:sp>
        <p:nvSpPr>
          <p:cNvPr id="27" name="TextBox 26"/>
          <p:cNvSpPr txBox="1"/>
          <p:nvPr/>
        </p:nvSpPr>
        <p:spPr>
          <a:xfrm>
            <a:off x="6419088" y="4251959"/>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sai số TB = TB sai số riêng − độ bất đồng; CV cao nhất 0,0589</a:t>
            </a:r>
          </a:p>
        </p:txBody>
      </p:sp>
      <p:sp>
        <p:nvSpPr>
          <p:cNvPr id="28" name="Rounded Rectangle 27"/>
          <p:cNvSpPr/>
          <p:nvPr/>
        </p:nvSpPr>
        <p:spPr>
          <a:xfrm>
            <a:off x="6309360" y="4636007"/>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663440"/>
            <a:ext cx="512064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Hiệu chỉnh Platt (2023)</a:t>
            </a:r>
          </a:p>
        </p:txBody>
      </p:sp>
      <p:sp>
        <p:nvSpPr>
          <p:cNvPr id="30" name="TextBox 29"/>
          <p:cNvSpPr txBox="1"/>
          <p:nvPr/>
        </p:nvSpPr>
        <p:spPr>
          <a:xfrm>
            <a:off x="6419088" y="4910327"/>
            <a:ext cx="5120640" cy="27432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xác suất TB 1,63% ≈ thật 1,68% · ECE 0,003 · Brier skill dương duy nhất</a:t>
            </a:r>
          </a:p>
        </p:txBody>
      </p:sp>
      <p:sp>
        <p:nvSpPr>
          <p:cNvPr id="31" name="Rounded Rectangle 30"/>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i="0">
                <a:solidFill>
                  <a:srgbClr val="FFFFFF"/>
                </a:solidFill>
                <a:latin typeface="Aptos"/>
              </a:rPr>
              <a:t>Mọi lựa chọn — trọng số, họ mô hình, siêu tham số, mô hình cuối — quyết định bằng CV theo thời gian trên train. </a:t>
            </a:r>
            <a:r>
              <a:rPr sz="1300" b="1" i="0">
                <a:solidFill>
                  <a:srgbClr val="F2C94C"/>
                </a:solidFill>
                <a:latin typeface="Aptos"/>
              </a:rPr>
              <a:t>Test chỉ chấm MỘT lần.</a:t>
            </a:r>
          </a:p>
        </p:txBody>
      </p:sp>
      <p:sp>
        <p:nvSpPr>
          <p:cNvPr id="32" name="Rounded Rectangle 3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33" name="Rounded Rectangle 3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34" name="Rounded Rectangle 3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35" name="Rounded Rectangle 3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36" name="Rounded Rectangle 3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37" name="Rounded Rectangle 3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38" name="Rounded Rectangle 3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39" name="Rounded Rectangle 3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EVALUATION — CHỨNG MINH ĐÚNG: KẾT LUẬN CÓ ĐỨNG VỮNG?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19</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19</a:t>
            </a:r>
          </a:p>
        </p:txBody>
      </p:sp>
      <p:pic>
        <p:nvPicPr>
          <p:cNvPr id="7" name="Picture 6" descr="A03_nguong_sla.png"/>
          <p:cNvPicPr>
            <a:picLocks noChangeAspect="1"/>
          </p:cNvPicPr>
          <p:nvPr/>
        </p:nvPicPr>
        <p:blipFill>
          <a:blip r:embed="rId3"/>
          <a:stretch>
            <a:fillRect/>
          </a:stretch>
        </p:blipFill>
        <p:spPr>
          <a:xfrm>
            <a:off x="603504" y="1024128"/>
            <a:ext cx="5440680" cy="2644534"/>
          </a:xfrm>
          <a:prstGeom prst="rect">
            <a:avLst/>
          </a:prstGeom>
        </p:spPr>
      </p:pic>
      <p:pic>
        <p:nvPicPr>
          <p:cNvPr id="8" name="Picture 7" descr="A04_diem_gay_theta.png"/>
          <p:cNvPicPr>
            <a:picLocks noChangeAspect="1"/>
          </p:cNvPicPr>
          <p:nvPr/>
        </p:nvPicPr>
        <p:blipFill>
          <a:blip r:embed="rId4"/>
          <a:stretch>
            <a:fillRect/>
          </a:stretch>
        </p:blipFill>
        <p:spPr>
          <a:xfrm>
            <a:off x="6172200" y="1024128"/>
            <a:ext cx="5440680" cy="2644534"/>
          </a:xfrm>
          <a:prstGeom prst="rect">
            <a:avLst/>
          </a:prstGeom>
        </p:spPr>
      </p:pic>
      <p:sp>
        <p:nvSpPr>
          <p:cNvPr id="9" name="TextBox 8"/>
          <p:cNvSpPr txBox="1"/>
          <p:nvPr/>
        </p:nvSpPr>
        <p:spPr>
          <a:xfrm>
            <a:off x="603504" y="3703320"/>
            <a:ext cx="5440680" cy="54864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Đổi ngưỡng SLA 3–7 ngày: </a:t>
            </a:r>
            <a:r>
              <a:rPr sz="1200" b="0" i="0">
                <a:solidFill>
                  <a:srgbClr val="5E6A78"/>
                </a:solidFill>
                <a:latin typeface="Aptos"/>
              </a:rPr>
              <a:t>dương ở mọi ngưỡng, KTC không chứa 0 (sát 0 ở 7 ngày)</a:t>
            </a:r>
          </a:p>
        </p:txBody>
      </p:sp>
      <p:sp>
        <p:nvSpPr>
          <p:cNvPr id="10" name="TextBox 9"/>
          <p:cNvSpPr txBox="1"/>
          <p:nvPr/>
        </p:nvSpPr>
        <p:spPr>
          <a:xfrm>
            <a:off x="6172200" y="3703320"/>
            <a:ext cx="5440680" cy="54864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74% review không nhãn (MNAR): </a:t>
            </a:r>
            <a:r>
              <a:rPr sz="1200" b="0" i="0">
                <a:solidFill>
                  <a:srgbClr val="5E6A78"/>
                </a:solidFill>
                <a:latin typeface="Aptos"/>
              </a:rPr>
              <a:t>chỉ đổi dấu nếu nhãn mất &gt; 95% thông tin so với MAR</a:t>
            </a:r>
          </a:p>
        </p:txBody>
      </p:sp>
      <p:sp>
        <p:nvSpPr>
          <p:cNvPr id="11" name="Rounded Rectangle 10"/>
          <p:cNvSpPr/>
          <p:nvPr/>
        </p:nvSpPr>
        <p:spPr>
          <a:xfrm>
            <a:off x="603504"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4416552"/>
            <a:ext cx="2633472" cy="566928"/>
          </a:xfrm>
          <a:prstGeom prst="rect">
            <a:avLst/>
          </a:prstGeom>
          <a:noFill/>
        </p:spPr>
        <p:txBody>
          <a:bodyPr wrap="square" anchor="t" lIns="36576" rIns="36576" tIns="36576" bIns="36576">
            <a:noAutofit/>
          </a:bodyPr>
          <a:lstStyle/>
          <a:p>
            <a:pPr algn="ctr">
              <a:spcAft>
                <a:spcPts val="300"/>
              </a:spcAft>
            </a:pPr>
            <a:r>
              <a:rPr sz="2600" b="1" i="0">
                <a:solidFill>
                  <a:srgbClr val="162C46"/>
                </a:solidFill>
                <a:latin typeface="Aptos Display"/>
              </a:rPr>
              <a:t>4/4</a:t>
            </a:r>
          </a:p>
        </p:txBody>
      </p:sp>
      <p:sp>
        <p:nvSpPr>
          <p:cNvPr id="13" name="TextBox 12"/>
          <p:cNvSpPr txBox="1"/>
          <p:nvPr/>
        </p:nvSpPr>
        <p:spPr>
          <a:xfrm>
            <a:off x="603504" y="4983480"/>
            <a:ext cx="2633472" cy="566928"/>
          </a:xfrm>
          <a:prstGeom prst="rect">
            <a:avLst/>
          </a:prstGeom>
          <a:noFill/>
        </p:spPr>
        <p:txBody>
          <a:bodyPr wrap="square" anchor="t" lIns="36576" rIns="36576" tIns="36576" bIns="36576">
            <a:noAutofit/>
          </a:bodyPr>
          <a:lstStyle/>
          <a:p>
            <a:pPr algn="ctr">
              <a:spcAft>
                <a:spcPts val="0"/>
              </a:spcAft>
            </a:pPr>
            <a:r>
              <a:rPr sz="1100" b="0" i="0">
                <a:solidFill>
                  <a:srgbClr val="5E6A78"/>
                </a:solidFill>
                <a:latin typeface="Aptos"/>
              </a:rPr>
              <a:t>số đã công bố tái lập</a:t>
            </a:r>
          </a:p>
          <a:p>
            <a:pPr algn="ctr">
              <a:spcAft>
                <a:spcPts val="0"/>
              </a:spcAft>
            </a:pPr>
            <a:r>
              <a:rPr sz="1100" b="0" i="0">
                <a:solidFill>
                  <a:srgbClr val="5E6A78"/>
                </a:solidFill>
                <a:latin typeface="Aptos"/>
              </a:rPr>
              <a:t>từ dữ liệu thô</a:t>
            </a:r>
          </a:p>
        </p:txBody>
      </p:sp>
      <p:sp>
        <p:nvSpPr>
          <p:cNvPr id="14" name="Rounded Rectangle 13"/>
          <p:cNvSpPr/>
          <p:nvPr/>
        </p:nvSpPr>
        <p:spPr>
          <a:xfrm>
            <a:off x="3383280"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4416552"/>
            <a:ext cx="2633472" cy="566928"/>
          </a:xfrm>
          <a:prstGeom prst="rect">
            <a:avLst/>
          </a:prstGeom>
          <a:noFill/>
        </p:spPr>
        <p:txBody>
          <a:bodyPr wrap="square" anchor="t" lIns="36576" rIns="36576" tIns="36576" bIns="36576">
            <a:noAutofit/>
          </a:bodyPr>
          <a:lstStyle/>
          <a:p>
            <a:pPr algn="ctr">
              <a:spcAft>
                <a:spcPts val="300"/>
              </a:spcAft>
            </a:pPr>
            <a:r>
              <a:rPr sz="2600" b="1" i="0">
                <a:solidFill>
                  <a:srgbClr val="162C46"/>
                </a:solidFill>
                <a:latin typeface="Aptos Display"/>
              </a:rPr>
              <a:t>3–7 ngày</a:t>
            </a:r>
          </a:p>
        </p:txBody>
      </p:sp>
      <p:sp>
        <p:nvSpPr>
          <p:cNvPr id="16" name="TextBox 15"/>
          <p:cNvSpPr txBox="1"/>
          <p:nvPr/>
        </p:nvSpPr>
        <p:spPr>
          <a:xfrm>
            <a:off x="3383280" y="4983480"/>
            <a:ext cx="2633472" cy="566928"/>
          </a:xfrm>
          <a:prstGeom prst="rect">
            <a:avLst/>
          </a:prstGeom>
          <a:noFill/>
        </p:spPr>
        <p:txBody>
          <a:bodyPr wrap="square" anchor="t" lIns="36576" rIns="36576" tIns="36576" bIns="36576">
            <a:noAutofit/>
          </a:bodyPr>
          <a:lstStyle/>
          <a:p>
            <a:pPr algn="ctr">
              <a:spcAft>
                <a:spcPts val="0"/>
              </a:spcAft>
            </a:pPr>
            <a:r>
              <a:rPr sz="1100" b="0" i="0">
                <a:solidFill>
                  <a:srgbClr val="5E6A78"/>
                </a:solidFill>
                <a:latin typeface="Aptos"/>
              </a:rPr>
              <a:t>kết luận dương ở</a:t>
            </a:r>
          </a:p>
          <a:p>
            <a:pPr algn="ctr">
              <a:spcAft>
                <a:spcPts val="0"/>
              </a:spcAft>
            </a:pPr>
            <a:r>
              <a:rPr sz="1100" b="0" i="0">
                <a:solidFill>
                  <a:srgbClr val="5E6A78"/>
                </a:solidFill>
                <a:latin typeface="Aptos"/>
              </a:rPr>
              <a:t>mọi ngưỡng SLA</a:t>
            </a:r>
          </a:p>
        </p:txBody>
      </p:sp>
      <p:sp>
        <p:nvSpPr>
          <p:cNvPr id="17" name="Rounded Rectangle 16"/>
          <p:cNvSpPr/>
          <p:nvPr/>
        </p:nvSpPr>
        <p:spPr>
          <a:xfrm>
            <a:off x="6163056"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3056" y="4416552"/>
            <a:ext cx="2633472" cy="566928"/>
          </a:xfrm>
          <a:prstGeom prst="rect">
            <a:avLst/>
          </a:prstGeom>
          <a:noFill/>
        </p:spPr>
        <p:txBody>
          <a:bodyPr wrap="square" anchor="t" lIns="36576" rIns="36576" tIns="36576" bIns="36576">
            <a:noAutofit/>
          </a:bodyPr>
          <a:lstStyle/>
          <a:p>
            <a:pPr algn="ctr">
              <a:spcAft>
                <a:spcPts val="300"/>
              </a:spcAft>
            </a:pPr>
            <a:r>
              <a:rPr sz="2600" b="1" i="0">
                <a:solidFill>
                  <a:srgbClr val="162C46"/>
                </a:solidFill>
                <a:latin typeface="Aptos Display"/>
              </a:rPr>
              <a:t>θ* = 0,047</a:t>
            </a:r>
          </a:p>
        </p:txBody>
      </p:sp>
      <p:sp>
        <p:nvSpPr>
          <p:cNvPr id="19" name="TextBox 18"/>
          <p:cNvSpPr txBox="1"/>
          <p:nvPr/>
        </p:nvSpPr>
        <p:spPr>
          <a:xfrm>
            <a:off x="6163056" y="4983480"/>
            <a:ext cx="2633472" cy="566928"/>
          </a:xfrm>
          <a:prstGeom prst="rect">
            <a:avLst/>
          </a:prstGeom>
          <a:noFill/>
        </p:spPr>
        <p:txBody>
          <a:bodyPr wrap="square" anchor="t" lIns="36576" rIns="36576" tIns="36576" bIns="36576">
            <a:noAutofit/>
          </a:bodyPr>
          <a:lstStyle/>
          <a:p>
            <a:pPr algn="ctr">
              <a:spcAft>
                <a:spcPts val="0"/>
              </a:spcAft>
            </a:pPr>
            <a:r>
              <a:rPr sz="1100" b="0" i="0">
                <a:solidFill>
                  <a:srgbClr val="5E6A78"/>
                </a:solidFill>
                <a:latin typeface="Aptos"/>
              </a:rPr>
              <a:t>điểm gãy MNAR —</a:t>
            </a:r>
          </a:p>
          <a:p>
            <a:pPr algn="ctr">
              <a:spcAft>
                <a:spcPts val="0"/>
              </a:spcAft>
            </a:pPr>
            <a:r>
              <a:rPr sz="1100" b="0" i="0">
                <a:solidFill>
                  <a:srgbClr val="5E6A78"/>
                </a:solidFill>
                <a:latin typeface="Aptos"/>
              </a:rPr>
              <a:t>giả định cực đoan</a:t>
            </a:r>
          </a:p>
        </p:txBody>
      </p:sp>
      <p:sp>
        <p:nvSpPr>
          <p:cNvPr id="20" name="Rounded Rectangle 19"/>
          <p:cNvSpPr/>
          <p:nvPr/>
        </p:nvSpPr>
        <p:spPr>
          <a:xfrm>
            <a:off x="8942832"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2832" y="4416552"/>
            <a:ext cx="2633472" cy="566928"/>
          </a:xfrm>
          <a:prstGeom prst="rect">
            <a:avLst/>
          </a:prstGeom>
          <a:noFill/>
        </p:spPr>
        <p:txBody>
          <a:bodyPr wrap="square" anchor="t" lIns="36576" rIns="36576" tIns="36576" bIns="36576">
            <a:noAutofit/>
          </a:bodyPr>
          <a:lstStyle/>
          <a:p>
            <a:pPr algn="ctr">
              <a:spcAft>
                <a:spcPts val="300"/>
              </a:spcAft>
            </a:pPr>
            <a:r>
              <a:rPr sz="2600" b="1" i="0">
                <a:solidFill>
                  <a:srgbClr val="162C46"/>
                </a:solidFill>
                <a:latin typeface="Aptos Display"/>
              </a:rPr>
              <a:t>ECE 0,003</a:t>
            </a:r>
          </a:p>
        </p:txBody>
      </p:sp>
      <p:sp>
        <p:nvSpPr>
          <p:cNvPr id="22" name="TextBox 21"/>
          <p:cNvSpPr txBox="1"/>
          <p:nvPr/>
        </p:nvSpPr>
        <p:spPr>
          <a:xfrm>
            <a:off x="8942832" y="4983480"/>
            <a:ext cx="2633472" cy="566928"/>
          </a:xfrm>
          <a:prstGeom prst="rect">
            <a:avLst/>
          </a:prstGeom>
          <a:noFill/>
        </p:spPr>
        <p:txBody>
          <a:bodyPr wrap="square" anchor="t" lIns="36576" rIns="36576" tIns="36576" bIns="36576">
            <a:noAutofit/>
          </a:bodyPr>
          <a:lstStyle/>
          <a:p>
            <a:pPr algn="ctr">
              <a:spcAft>
                <a:spcPts val="0"/>
              </a:spcAft>
            </a:pPr>
            <a:r>
              <a:rPr sz="1100" b="0" i="0">
                <a:solidFill>
                  <a:srgbClr val="5E6A78"/>
                </a:solidFill>
                <a:latin typeface="Aptos"/>
              </a:rPr>
              <a:t>xác suất mô hình chốt</a:t>
            </a:r>
          </a:p>
          <a:p>
            <a:pPr algn="ctr">
              <a:spcAft>
                <a:spcPts val="0"/>
              </a:spcAft>
            </a:pPr>
            <a:r>
              <a:rPr sz="1100" b="0" i="0">
                <a:solidFill>
                  <a:srgbClr val="5E6A78"/>
                </a:solidFill>
                <a:latin typeface="Aptos"/>
              </a:rPr>
              <a:t>đáng tin</a:t>
            </a:r>
          </a:p>
        </p:txBody>
      </p:sp>
      <p:sp>
        <p:nvSpPr>
          <p:cNvPr id="23" name="Rounded Rectangle 22"/>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i="0">
                <a:solidFill>
                  <a:srgbClr val="FFFFFF"/>
                </a:solidFill>
                <a:latin typeface="Aptos"/>
              </a:rPr>
              <a:t>Nhóm không hỏi "mô hình đạt bao nhiêu điểm" — nhóm hỏi "bao nhiêu phần trăm con số đó là thật".</a:t>
            </a:r>
          </a:p>
        </p:txBody>
      </p:sp>
      <p:sp>
        <p:nvSpPr>
          <p:cNvPr id="24" name="Rounded Rectangle 2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25" name="Rounded Rectangle 2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26" name="Rounded Rectangle 2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27" name="Rounded Rectangle 2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28" name="Rounded Rectangle 2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29" name="Rounded Rectangle 2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30" name="Rounded Rectangle 29"/>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Evaluation</a:t>
            </a:r>
          </a:p>
        </p:txBody>
      </p:sp>
      <p:sp>
        <p:nvSpPr>
          <p:cNvPr id="31" name="Rounded Rectangle 3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2018</Words>
  <Application>Microsoft Office PowerPoint</Application>
  <PresentationFormat>Màn hình rộng</PresentationFormat>
  <Paragraphs>310</Paragraphs>
  <Slides>12</Slides>
  <Notes>2</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12</vt:i4>
      </vt:variant>
    </vt:vector>
  </HeadingPairs>
  <TitlesOfParts>
    <vt:vector size="17" baseType="lpstr">
      <vt:lpstr>Aptos</vt:lpstr>
      <vt:lpstr>Aptos Display</vt: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Ngoc Ngan</cp:lastModifiedBy>
  <cp:revision>4</cp:revision>
  <dcterms:created xsi:type="dcterms:W3CDTF">2013-01-27T09:14:16Z</dcterms:created>
  <dcterms:modified xsi:type="dcterms:W3CDTF">2026-09-28T19:31:46Z</dcterms:modified>
  <cp:category/>
</cp:coreProperties>
</file>