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EBFCF-7AA4-4AC6-BC31-3DCFABDCB4E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681AB-B8B1-41BD-B60F-78E646209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34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7681AB-B8B1-41BD-B60F-78E64620978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60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7681AB-B8B1-41BD-B60F-78E64620978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77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685800"/>
            <a:ext cx="722376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 dirty="0">
                <a:solidFill>
                  <a:srgbClr val="162C46"/>
                </a:solidFill>
                <a:latin typeface="Aptos Display"/>
              </a:rPr>
              <a:t>BẺ GÃY BẪY SLA
TRONG THƯƠNG MẠI ĐIỆN TỬ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920240"/>
            <a:ext cx="69494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 dirty="0" err="1">
                <a:solidFill>
                  <a:srgbClr val="5E6A78"/>
                </a:solidFill>
                <a:latin typeface="Aptos"/>
              </a:rPr>
              <a:t>Phân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tích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độ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lệch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giao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hàng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và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tác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động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đến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sự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hài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lòng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của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khách</a:t>
            </a:r>
            <a:r>
              <a:rPr sz="19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5E6A78"/>
                </a:solidFill>
                <a:latin typeface="Aptos"/>
              </a:rPr>
              <a:t>hàng</a:t>
            </a:r>
            <a:endParaRPr sz="1900" b="0" dirty="0">
              <a:solidFill>
                <a:srgbClr val="5E6A78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9808" y="2697480"/>
            <a:ext cx="7040880" cy="123444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907792"/>
            <a:ext cx="6830568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2F639D"/>
                </a:solidFill>
                <a:latin typeface="Aptos"/>
              </a:rPr>
              <a:t>SLA </a:t>
            </a:r>
            <a:r>
              <a:rPr sz="1800" b="1" dirty="0" err="1">
                <a:solidFill>
                  <a:srgbClr val="2F639D"/>
                </a:solidFill>
                <a:latin typeface="Aptos"/>
              </a:rPr>
              <a:t>có</a:t>
            </a:r>
            <a:r>
              <a:rPr sz="1800" b="1" dirty="0">
                <a:solidFill>
                  <a:srgbClr val="2F639D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F639D"/>
                </a:solidFill>
                <a:latin typeface="Aptos"/>
              </a:rPr>
              <a:t>thực</a:t>
            </a:r>
            <a:r>
              <a:rPr sz="1800" b="1" dirty="0">
                <a:solidFill>
                  <a:srgbClr val="2F639D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F639D"/>
                </a:solidFill>
                <a:latin typeface="Aptos"/>
              </a:rPr>
              <a:t>sự</a:t>
            </a:r>
            <a:r>
              <a:rPr sz="1800" b="1" dirty="0">
                <a:solidFill>
                  <a:srgbClr val="2F639D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F639D"/>
                </a:solidFill>
                <a:latin typeface="Aptos"/>
              </a:rPr>
              <a:t>phản</a:t>
            </a:r>
            <a:r>
              <a:rPr sz="1800" b="1" dirty="0">
                <a:solidFill>
                  <a:srgbClr val="2F639D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F639D"/>
                </a:solidFill>
                <a:latin typeface="Aptos"/>
              </a:rPr>
              <a:t>ánh</a:t>
            </a:r>
            <a:r>
              <a:rPr sz="1800" b="1" dirty="0">
                <a:solidFill>
                  <a:srgbClr val="2F639D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F639D"/>
                </a:solidFill>
                <a:latin typeface="Aptos"/>
              </a:rPr>
              <a:t>trải</a:t>
            </a:r>
            <a:r>
              <a:rPr sz="1800" b="1" dirty="0">
                <a:solidFill>
                  <a:srgbClr val="2F639D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F639D"/>
                </a:solidFill>
                <a:latin typeface="Aptos"/>
              </a:rPr>
              <a:t>nghiệm</a:t>
            </a:r>
            <a:r>
              <a:rPr sz="1800" b="1" dirty="0">
                <a:solidFill>
                  <a:srgbClr val="2F639D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F639D"/>
                </a:solidFill>
                <a:latin typeface="Aptos"/>
              </a:rPr>
              <a:t>giao</a:t>
            </a:r>
            <a:r>
              <a:rPr sz="1800" b="1" dirty="0">
                <a:solidFill>
                  <a:srgbClr val="2F639D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F639D"/>
                </a:solidFill>
                <a:latin typeface="Aptos"/>
              </a:rPr>
              <a:t>hàng</a:t>
            </a:r>
            <a:r>
              <a:rPr sz="1800" b="1" dirty="0">
                <a:solidFill>
                  <a:srgbClr val="2F639D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F639D"/>
                </a:solidFill>
                <a:latin typeface="Aptos"/>
              </a:rPr>
              <a:t>của</a:t>
            </a:r>
            <a:r>
              <a:rPr sz="1800" b="1" dirty="0">
                <a:solidFill>
                  <a:srgbClr val="2F639D"/>
                </a:solidFill>
                <a:latin typeface="Aptos"/>
              </a:rPr>
              <a:t> </a:t>
            </a:r>
            <a:r>
              <a:rPr lang="vi-VN" sz="1800" b="1" dirty="0">
                <a:solidFill>
                  <a:srgbClr val="2F639D"/>
                </a:solidFill>
                <a:latin typeface="Aptos"/>
              </a:rPr>
              <a:t>khách </a:t>
            </a:r>
            <a:r>
              <a:rPr sz="1800" b="1" dirty="0" err="1">
                <a:solidFill>
                  <a:srgbClr val="2F639D"/>
                </a:solidFill>
                <a:latin typeface="Aptos"/>
              </a:rPr>
              <a:t>hàng</a:t>
            </a:r>
            <a:r>
              <a:rPr sz="1800" b="1" dirty="0">
                <a:solidFill>
                  <a:srgbClr val="2F639D"/>
                </a:solidFill>
                <a:latin typeface="Aptos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10128"/>
            <a:ext cx="6400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dirty="0" err="1">
                <a:solidFill>
                  <a:srgbClr val="242B33"/>
                </a:solidFill>
                <a:latin typeface="Aptos"/>
              </a:rPr>
              <a:t>Phân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tích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dữ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liệu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đánh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giá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trên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Tiki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nhằm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đối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chiếu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thời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gian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giao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hàng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trạng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thái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SLA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và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phản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hồi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thực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tế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của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khách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B33"/>
                </a:solidFill>
                <a:latin typeface="Aptos"/>
              </a:rPr>
              <a:t>hàng</a:t>
            </a:r>
            <a:r>
              <a:rPr sz="1400" b="0" dirty="0">
                <a:solidFill>
                  <a:srgbClr val="242B33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251960"/>
            <a:ext cx="1600200" cy="347472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784100" y="4265652"/>
            <a:ext cx="1563624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2F639D"/>
                </a:solidFill>
                <a:latin typeface="Aptos"/>
              </a:rPr>
              <a:t>203.510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4251960"/>
            <a:ext cx="1783080" cy="347472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2452879" y="4265652"/>
            <a:ext cx="1801367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2F639D"/>
                </a:solidFill>
                <a:latin typeface="Aptos"/>
              </a:rPr>
              <a:t>Weighted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4251960"/>
            <a:ext cx="731520" cy="347472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4443984" y="4265652"/>
            <a:ext cx="65836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2F639D"/>
                </a:solidFill>
                <a:latin typeface="Aptos"/>
              </a:rPr>
              <a:t>EDA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76088" y="4251960"/>
            <a:ext cx="1874519" cy="347472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5244083" y="4265652"/>
            <a:ext cx="1938527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2F639D"/>
                </a:solidFill>
                <a:latin typeface="Aptos"/>
              </a:rPr>
              <a:t>Predictive modeling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94360"/>
            <a:ext cx="2971800" cy="5349240"/>
          </a:xfrm>
          <a:prstGeom prst="roundRect">
            <a:avLst/>
          </a:prstGeom>
          <a:solidFill>
            <a:srgbClr val="162C46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96528" y="1097280"/>
            <a:ext cx="224028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Aptos Display"/>
              </a:rPr>
              <a:t>DATA
SCIENCE
WORKFLOW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23960" y="2880360"/>
            <a:ext cx="2057400" cy="0"/>
          </a:xfrm>
          <a:prstGeom prst="line">
            <a:avLst/>
          </a:prstGeom>
          <a:ln w="25400">
            <a:solidFill>
              <a:srgbClr val="76A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23960" y="3154680"/>
            <a:ext cx="2194560" cy="1965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Business
→ Data
→ EDA
→ Modeling
→ Business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754285"/>
            <a:ext cx="5943600" cy="17974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5E6A78"/>
                </a:solidFill>
                <a:latin typeface="Aptos"/>
              </a:rPr>
              <a:t>Môn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học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Cơ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sở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Khoa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học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Dữ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liệu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
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Nhóm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: ........................................
Thành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viên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: </a:t>
            </a:r>
            <a:r>
              <a:rPr lang="vi-VN" sz="1600" b="0" dirty="0">
                <a:solidFill>
                  <a:srgbClr val="5E6A78"/>
                </a:solidFill>
                <a:latin typeface="Aptos"/>
              </a:rPr>
              <a:t> Phan Ngô Quốc An - 24139002</a:t>
            </a:r>
          </a:p>
          <a:p>
            <a:pPr algn="l"/>
            <a:r>
              <a:rPr lang="vi-VN" sz="1600" dirty="0">
                <a:solidFill>
                  <a:srgbClr val="5E6A78"/>
                </a:solidFill>
                <a:latin typeface="Aptos"/>
              </a:rPr>
              <a:t>	               Đỗ Minh Hiển - 24139013</a:t>
            </a:r>
          </a:p>
          <a:p>
            <a:pPr algn="l"/>
            <a:r>
              <a:rPr lang="vi-VN" sz="1600" b="0" dirty="0">
                <a:solidFill>
                  <a:srgbClr val="5E6A78"/>
                </a:solidFill>
                <a:latin typeface="Aptos"/>
              </a:rPr>
              <a:t>	               Nguyễn Ngọc Ngân - 24139031</a:t>
            </a:r>
          </a:p>
          <a:p>
            <a:pPr algn="l"/>
            <a:r>
              <a:rPr lang="vi-VN" sz="1600" dirty="0">
                <a:solidFill>
                  <a:srgbClr val="5E6A78"/>
                </a:solidFill>
                <a:latin typeface="Aptos"/>
              </a:rPr>
              <a:t>	               Hồ Ngọc </a:t>
            </a:r>
            <a:r>
              <a:rPr lang="vi-VN" sz="1600" dirty="0" err="1">
                <a:solidFill>
                  <a:srgbClr val="5E6A78"/>
                </a:solidFill>
                <a:latin typeface="Aptos"/>
              </a:rPr>
              <a:t>Sỹ</a:t>
            </a:r>
            <a:r>
              <a:rPr lang="vi-VN" sz="1600" dirty="0">
                <a:solidFill>
                  <a:srgbClr val="5E6A78"/>
                </a:solidFill>
                <a:latin typeface="Aptos"/>
              </a:rPr>
              <a:t> - 24139047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
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Giảng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viên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: </a:t>
            </a:r>
            <a:r>
              <a:rPr lang="vi-VN" sz="1600" b="0" dirty="0" err="1">
                <a:solidFill>
                  <a:srgbClr val="5E6A78"/>
                </a:solidFill>
                <a:latin typeface="Aptos"/>
              </a:rPr>
              <a:t>TS.Nguyễn</a:t>
            </a:r>
            <a:r>
              <a:rPr lang="vi-VN" sz="1600" b="0" dirty="0">
                <a:solidFill>
                  <a:srgbClr val="5E6A78"/>
                </a:solidFill>
                <a:latin typeface="Aptos"/>
              </a:rPr>
              <a:t> Mạnh Hùng</a:t>
            </a:r>
            <a:endParaRPr sz="1600" b="0" dirty="0">
              <a:solidFill>
                <a:srgbClr val="5E6A78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dirty="0" err="1">
                <a:solidFill>
                  <a:srgbClr val="5E6A78"/>
                </a:solidFill>
                <a:latin typeface="Aptos"/>
              </a:rPr>
              <a:t>Cơ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5E6A78"/>
                </a:solidFill>
                <a:latin typeface="Aptos"/>
              </a:rPr>
              <a:t>sở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Khoa </a:t>
            </a:r>
            <a:r>
              <a:rPr sz="850" b="0" dirty="0" err="1">
                <a:solidFill>
                  <a:srgbClr val="5E6A78"/>
                </a:solidFill>
                <a:latin typeface="Aptos"/>
              </a:rPr>
              <a:t>học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5E6A78"/>
                </a:solidFill>
                <a:latin typeface="Aptos"/>
              </a:rPr>
              <a:t>Dữ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5E6A78"/>
                </a:solidFill>
                <a:latin typeface="Aptos"/>
              </a:rPr>
              <a:t>liệu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 •  SLA &amp; Customer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65392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>
                <a:solidFill>
                  <a:srgbClr val="5E6A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84131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 dirty="0">
                <a:solidFill>
                  <a:srgbClr val="162C46"/>
                </a:solidFill>
                <a:latin typeface="Aptos Display"/>
              </a:rPr>
              <a:t>QUY TRÌNH NGHIÊN CỨU DATA SCIENCE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50392"/>
            <a:ext cx="11045952" cy="0"/>
          </a:xfrm>
          <a:prstGeom prst="line">
            <a:avLst/>
          </a:prstGeom>
          <a:ln w="25400">
            <a:solidFill>
              <a:srgbClr val="2F6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09960" y="30175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5E6A78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 err="1">
                <a:solidFill>
                  <a:srgbClr val="5E6A78"/>
                </a:solidFill>
                <a:latin typeface="Aptos"/>
              </a:rPr>
              <a:t>Từ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dữ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liệu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đánh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giá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Tiki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đến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đánh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giá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“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bẫy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SLA”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và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dự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báo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sự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không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hài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lòng</a:t>
            </a:r>
            <a:endParaRPr sz="1600" b="0" dirty="0">
              <a:solidFill>
                <a:srgbClr val="5E6A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240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Rounded Rectangle 6"/>
          <p:cNvSpPr/>
          <p:nvPr/>
        </p:nvSpPr>
        <p:spPr>
          <a:xfrm>
            <a:off x="786384" y="1645919"/>
            <a:ext cx="457200" cy="292608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822960" y="1632179"/>
            <a:ext cx="38404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626415"/>
            <a:ext cx="1938528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045017"/>
            <a:ext cx="2240280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 err="1">
                <a:solidFill>
                  <a:srgbClr val="5E6A78"/>
                </a:solidFill>
                <a:latin typeface="Aptos"/>
              </a:rPr>
              <a:t>Bẫy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SLA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trong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TMĐT
SLA ↔ Customer Satisfaction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508760"/>
            <a:ext cx="2240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Rounded Rectangle 11"/>
          <p:cNvSpPr/>
          <p:nvPr/>
        </p:nvSpPr>
        <p:spPr>
          <a:xfrm>
            <a:off x="3666744" y="1645919"/>
            <a:ext cx="457200" cy="292608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3703320" y="1632179"/>
            <a:ext cx="38404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020824"/>
            <a:ext cx="1938528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DATA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2340864"/>
            <a:ext cx="1938528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E6A78"/>
                </a:solidFill>
                <a:latin typeface="Aptos"/>
              </a:rPr>
              <a:t>Tiki Review Data
203.510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08760"/>
            <a:ext cx="2240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Rounded Rectangle 16"/>
          <p:cNvSpPr/>
          <p:nvPr/>
        </p:nvSpPr>
        <p:spPr>
          <a:xfrm>
            <a:off x="6547104" y="1645919"/>
            <a:ext cx="457200" cy="292608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6583680" y="1632179"/>
            <a:ext cx="38404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1639866"/>
            <a:ext cx="1938528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CLEANING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1973012"/>
            <a:ext cx="2093976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5E6A78"/>
                </a:solidFill>
                <a:latin typeface="Aptos"/>
              </a:rPr>
              <a:t>Timestamp · Lead Time · SLA
Anomaly &amp; missing labels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508760"/>
            <a:ext cx="2240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Rounded Rectangle 21"/>
          <p:cNvSpPr/>
          <p:nvPr/>
        </p:nvSpPr>
        <p:spPr>
          <a:xfrm>
            <a:off x="9427464" y="1645919"/>
            <a:ext cx="457200" cy="292608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9464040" y="1632179"/>
            <a:ext cx="38404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7829" y="1637574"/>
            <a:ext cx="1938528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EDA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4" y="2034744"/>
            <a:ext cx="1938528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5E6A78"/>
                </a:solidFill>
                <a:latin typeface="Aptos"/>
              </a:rPr>
              <a:t>Weighted analysis
Lead Time · SLA · Rating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794760"/>
            <a:ext cx="2240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Rounded Rectangle 26"/>
          <p:cNvSpPr/>
          <p:nvPr/>
        </p:nvSpPr>
        <p:spPr>
          <a:xfrm>
            <a:off x="786384" y="3931920"/>
            <a:ext cx="457200" cy="292608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822960" y="3918180"/>
            <a:ext cx="38404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8156" y="3931872"/>
            <a:ext cx="1938528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BUSINESS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38268"/>
            <a:ext cx="2089404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 err="1">
                <a:solidFill>
                  <a:srgbClr val="5E6A78"/>
                </a:solidFill>
                <a:latin typeface="Aptos"/>
              </a:rPr>
              <a:t>Đánh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giá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giới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hạn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của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SLA
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Bổ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sung customer signal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0440" y="3794760"/>
            <a:ext cx="2240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2" name="Rounded Rectangle 31"/>
          <p:cNvSpPr/>
          <p:nvPr/>
        </p:nvSpPr>
        <p:spPr>
          <a:xfrm>
            <a:off x="3666744" y="3931920"/>
            <a:ext cx="457200" cy="292608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3" name="TextBox 32"/>
          <p:cNvSpPr txBox="1"/>
          <p:nvPr/>
        </p:nvSpPr>
        <p:spPr>
          <a:xfrm>
            <a:off x="3703320" y="3918180"/>
            <a:ext cx="38404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3672" y="3925911"/>
            <a:ext cx="1938528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3028" y="4238267"/>
            <a:ext cx="2089404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5E6A78"/>
                </a:solidFill>
                <a:latin typeface="Aptos"/>
              </a:rPr>
              <a:t>PR-AUC · Lift · Calibration
Robustness &amp; uncertainty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794760"/>
            <a:ext cx="2240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7" name="Rounded Rectangle 36"/>
          <p:cNvSpPr/>
          <p:nvPr/>
        </p:nvSpPr>
        <p:spPr>
          <a:xfrm>
            <a:off x="6547104" y="3931920"/>
            <a:ext cx="457200" cy="292608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8" name="TextBox 37"/>
          <p:cNvSpPr txBox="1"/>
          <p:nvPr/>
        </p:nvSpPr>
        <p:spPr>
          <a:xfrm>
            <a:off x="6583680" y="3918180"/>
            <a:ext cx="38404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4888" y="3918179"/>
            <a:ext cx="1938528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MODELING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4273013"/>
            <a:ext cx="1938528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5E6A78"/>
                </a:solidFill>
                <a:latin typeface="Aptos"/>
              </a:rPr>
              <a:t>Baseline · Logistic · RF · GBM
Ensemble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81160" y="3794760"/>
            <a:ext cx="2910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2" name="Rounded Rectangle 41"/>
          <p:cNvSpPr/>
          <p:nvPr/>
        </p:nvSpPr>
        <p:spPr>
          <a:xfrm>
            <a:off x="9427464" y="3931920"/>
            <a:ext cx="457200" cy="292608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3" name="TextBox 42"/>
          <p:cNvSpPr txBox="1"/>
          <p:nvPr/>
        </p:nvSpPr>
        <p:spPr>
          <a:xfrm>
            <a:off x="9464040" y="3918180"/>
            <a:ext cx="38404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4100" y="3931872"/>
            <a:ext cx="23317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FEATURE ENGINEERING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27464" y="4272705"/>
            <a:ext cx="2089404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5E6A78"/>
                </a:solidFill>
                <a:latin typeface="Aptos"/>
              </a:rPr>
              <a:t>Delivery · Customer history
Product history · Target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63240" y="1965960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1965960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1965960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63240" y="4251960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4251960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60" y="4251960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77272" y="3172968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↓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532120"/>
            <a:ext cx="11028756" cy="6992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4" name="TextBox 53"/>
          <p:cNvSpPr txBox="1"/>
          <p:nvPr/>
        </p:nvSpPr>
        <p:spPr>
          <a:xfrm>
            <a:off x="777240" y="5611989"/>
            <a:ext cx="10698480" cy="54784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 dirty="0" err="1">
                <a:solidFill>
                  <a:srgbClr val="162C46"/>
                </a:solidFill>
                <a:latin typeface="Aptos"/>
              </a:rPr>
              <a:t>Mục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tiêu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xuyên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suốt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Kiểm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tra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liệu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chỉ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báo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SLA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của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doanh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nghiệp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có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phản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ánh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đầy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đủ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trải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nghiệm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giao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hàng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và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nguy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cơ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khách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hàng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đánh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giá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thấp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hay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không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dirty="0" err="1">
                <a:solidFill>
                  <a:srgbClr val="5E6A78"/>
                </a:solidFill>
                <a:latin typeface="Aptos"/>
              </a:rPr>
              <a:t>Cơ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5E6A78"/>
                </a:solidFill>
                <a:latin typeface="Aptos"/>
              </a:rPr>
              <a:t>sở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Khoa </a:t>
            </a:r>
            <a:r>
              <a:rPr sz="850" b="0" dirty="0" err="1">
                <a:solidFill>
                  <a:srgbClr val="5E6A78"/>
                </a:solidFill>
                <a:latin typeface="Aptos"/>
              </a:rPr>
              <a:t>học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5E6A78"/>
                </a:solidFill>
                <a:latin typeface="Aptos"/>
              </a:rPr>
              <a:t>Dữ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5E6A78"/>
                </a:solidFill>
                <a:latin typeface="Aptos"/>
              </a:rPr>
              <a:t>liệu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 •  SLA &amp; Customer Experience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01400" y="6565392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>
                <a:solidFill>
                  <a:srgbClr val="5E6A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88487"/>
            <a:ext cx="10972800" cy="93564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dirty="0">
                <a:solidFill>
                  <a:srgbClr val="162C46"/>
                </a:solidFill>
                <a:latin typeface="Aptos Display"/>
              </a:rPr>
              <a:t>BÀI TOÁN KINH DOANH: SLA CÓ PHẢN ÁNH ĐÚNG TRẢI NGHIỆM KHÁCH HÀNG?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73222"/>
            <a:ext cx="11045952" cy="0"/>
          </a:xfrm>
          <a:prstGeom prst="line">
            <a:avLst/>
          </a:prstGeom>
          <a:ln w="25400">
            <a:solidFill>
              <a:srgbClr val="2F6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09960" y="30175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 dirty="0">
                <a:solidFill>
                  <a:srgbClr val="5E6A78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15568"/>
            <a:ext cx="29260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1. VẤN ĐỀ KINH DOANH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5166360" cy="36118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2331720" cy="41148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996696" y="1828776"/>
            <a:ext cx="225856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SLA giao hàng: 1–5 ngày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258568"/>
            <a:ext cx="3200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78608"/>
            <a:ext cx="214884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62C46"/>
                </a:solidFill>
                <a:latin typeface="Aptos"/>
              </a:rPr>
              <a:t>Phân loại giao hàng
trong / vượt SLA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182112"/>
            <a:ext cx="3200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02152"/>
            <a:ext cx="22402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5E6A78"/>
                </a:solidFill>
                <a:latin typeface="Aptos"/>
              </a:rPr>
              <a:t>Câu hỏi đặt ra: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3424" y="3827693"/>
            <a:ext cx="2836551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242B33"/>
                </a:solidFill>
                <a:latin typeface="Aptos"/>
              </a:rPr>
              <a:t>Tuân </a:t>
            </a:r>
            <a:r>
              <a:rPr sz="1600" b="1" dirty="0" err="1">
                <a:solidFill>
                  <a:srgbClr val="242B33"/>
                </a:solidFill>
                <a:latin typeface="Aptos"/>
              </a:rPr>
              <a:t>thủ</a:t>
            </a:r>
            <a:r>
              <a:rPr sz="1600" b="1" dirty="0">
                <a:solidFill>
                  <a:srgbClr val="242B33"/>
                </a:solidFill>
                <a:latin typeface="Aptos"/>
              </a:rPr>
              <a:t> SLA </a:t>
            </a:r>
            <a:r>
              <a:rPr sz="1600" b="1" dirty="0" err="1">
                <a:solidFill>
                  <a:srgbClr val="242B33"/>
                </a:solidFill>
                <a:latin typeface="Aptos"/>
              </a:rPr>
              <a:t>có</a:t>
            </a:r>
            <a:r>
              <a:rPr sz="1600" b="1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242B33"/>
                </a:solidFill>
                <a:latin typeface="Aptos"/>
              </a:rPr>
              <a:t>đồng</a:t>
            </a:r>
            <a:r>
              <a:rPr sz="1600" b="1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242B33"/>
                </a:solidFill>
                <a:latin typeface="Aptos"/>
              </a:rPr>
              <a:t>nghĩa</a:t>
            </a:r>
            <a:r>
              <a:rPr sz="1600" b="1" dirty="0">
                <a:solidFill>
                  <a:srgbClr val="242B33"/>
                </a:solidFill>
                <a:latin typeface="Aptos"/>
              </a:rPr>
              <a:t>
</a:t>
            </a:r>
            <a:r>
              <a:rPr sz="1600" b="1" dirty="0" err="1">
                <a:solidFill>
                  <a:srgbClr val="242B33"/>
                </a:solidFill>
                <a:latin typeface="Aptos"/>
              </a:rPr>
              <a:t>với</a:t>
            </a:r>
            <a:r>
              <a:rPr sz="1600" b="1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242B33"/>
                </a:solidFill>
                <a:latin typeface="Aptos"/>
              </a:rPr>
              <a:t>trải</a:t>
            </a:r>
            <a:r>
              <a:rPr sz="1600" b="1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242B33"/>
                </a:solidFill>
                <a:latin typeface="Aptos"/>
              </a:rPr>
              <a:t>nghiệm</a:t>
            </a:r>
            <a:r>
              <a:rPr sz="1600" b="1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242B33"/>
                </a:solidFill>
                <a:latin typeface="Aptos"/>
              </a:rPr>
              <a:t>giao</a:t>
            </a:r>
            <a:r>
              <a:rPr sz="1600" b="1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242B33"/>
                </a:solidFill>
                <a:latin typeface="Aptos"/>
              </a:rPr>
              <a:t>hàng</a:t>
            </a:r>
            <a:r>
              <a:rPr sz="1600" b="1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242B33"/>
                </a:solidFill>
                <a:latin typeface="Aptos"/>
              </a:rPr>
              <a:t>tốt</a:t>
            </a:r>
            <a:r>
              <a:rPr sz="1600" b="1" dirty="0">
                <a:solidFill>
                  <a:srgbClr val="242B33"/>
                </a:solidFill>
                <a:latin typeface="Aptos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057400"/>
            <a:ext cx="1645920" cy="1920240"/>
          </a:xfrm>
          <a:prstGeom prst="roundRect">
            <a:avLst/>
          </a:prstGeom>
          <a:solidFill>
            <a:srgbClr val="162C46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4000500" y="2162556"/>
            <a:ext cx="1234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“BẪY SLA”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352" y="2401099"/>
            <a:ext cx="1325880" cy="155119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dirty="0">
                <a:solidFill>
                  <a:srgbClr val="FFFFFF"/>
                </a:solidFill>
                <a:latin typeface="Aptos"/>
              </a:rPr>
              <a:t>Trong SLA ≠
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luôn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hài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lòng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
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Vượt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SLA ≠
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luôn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không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hài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lòng</a:t>
            </a:r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72200" y="1115568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2F639D"/>
                </a:solidFill>
                <a:latin typeface="Aptos"/>
              </a:rPr>
              <a:t>2. CÂU HỎI NGHIÊN CỨU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1508760"/>
            <a:ext cx="5230368" cy="2222147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rPr sz="1600" dirty="0"/>
              <a:t>• Q1. Lead Time </a:t>
            </a:r>
            <a:r>
              <a:rPr sz="1600" dirty="0" err="1"/>
              <a:t>thực</a:t>
            </a:r>
            <a:r>
              <a:rPr sz="1600" dirty="0"/>
              <a:t> </a:t>
            </a:r>
            <a:r>
              <a:rPr sz="1600" dirty="0" err="1"/>
              <a:t>tế</a:t>
            </a:r>
            <a:r>
              <a:rPr sz="1600" dirty="0"/>
              <a:t> </a:t>
            </a:r>
            <a:r>
              <a:rPr sz="1600" dirty="0" err="1"/>
              <a:t>phân</a:t>
            </a:r>
            <a:r>
              <a:rPr sz="1600" dirty="0"/>
              <a:t> </a:t>
            </a:r>
            <a:r>
              <a:rPr sz="1600" dirty="0" err="1"/>
              <a:t>bố</a:t>
            </a:r>
            <a:r>
              <a:rPr sz="1600" dirty="0"/>
              <a:t> </a:t>
            </a:r>
            <a:r>
              <a:rPr sz="1600" dirty="0" err="1"/>
              <a:t>như</a:t>
            </a:r>
            <a:r>
              <a:rPr sz="1600" dirty="0"/>
              <a:t> </a:t>
            </a:r>
            <a:r>
              <a:rPr sz="1600" dirty="0" err="1"/>
              <a:t>thế</a:t>
            </a:r>
            <a:r>
              <a:rPr sz="1600" dirty="0"/>
              <a:t> </a:t>
            </a:r>
            <a:r>
              <a:rPr sz="1600" dirty="0" err="1"/>
              <a:t>nào</a:t>
            </a:r>
            <a:r>
              <a:rPr sz="1600" dirty="0"/>
              <a:t> so </a:t>
            </a:r>
            <a:r>
              <a:rPr sz="1600" dirty="0" err="1"/>
              <a:t>với</a:t>
            </a:r>
            <a:r>
              <a:rPr sz="1600" dirty="0"/>
              <a:t> </a:t>
            </a:r>
            <a:r>
              <a:rPr sz="1600" dirty="0" err="1"/>
              <a:t>ngưỡng</a:t>
            </a:r>
            <a:r>
              <a:rPr sz="1600" dirty="0"/>
              <a:t> SLA?</a:t>
            </a:r>
          </a:p>
          <a:p>
            <a:pPr>
              <a:spcAft>
                <a:spcPts val="12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rPr sz="1600" dirty="0"/>
              <a:t>• Q2. </a:t>
            </a:r>
            <a:r>
              <a:rPr sz="1600" dirty="0" err="1"/>
              <a:t>Trạng</a:t>
            </a:r>
            <a:r>
              <a:rPr sz="1600" dirty="0"/>
              <a:t> </a:t>
            </a:r>
            <a:r>
              <a:rPr sz="1600" dirty="0" err="1"/>
              <a:t>thái</a:t>
            </a:r>
            <a:r>
              <a:rPr sz="1600" dirty="0"/>
              <a:t> SLA </a:t>
            </a:r>
            <a:r>
              <a:rPr sz="1600" dirty="0" err="1"/>
              <a:t>có</a:t>
            </a:r>
            <a:r>
              <a:rPr sz="1600" dirty="0"/>
              <a:t> </a:t>
            </a:r>
            <a:r>
              <a:rPr sz="1600" dirty="0" err="1"/>
              <a:t>đồng</a:t>
            </a:r>
            <a:r>
              <a:rPr sz="1600" dirty="0"/>
              <a:t> </a:t>
            </a:r>
            <a:r>
              <a:rPr sz="1600" dirty="0" err="1"/>
              <a:t>nhất</a:t>
            </a:r>
            <a:r>
              <a:rPr sz="1600" dirty="0"/>
              <a:t> </a:t>
            </a:r>
            <a:r>
              <a:rPr sz="1600" dirty="0" err="1"/>
              <a:t>với</a:t>
            </a:r>
            <a:r>
              <a:rPr sz="1600" dirty="0"/>
              <a:t> </a:t>
            </a:r>
            <a:r>
              <a:rPr sz="1600" dirty="0" err="1"/>
              <a:t>cảm</a:t>
            </a:r>
            <a:r>
              <a:rPr sz="1600" dirty="0"/>
              <a:t> </a:t>
            </a:r>
            <a:r>
              <a:rPr sz="1600" dirty="0" err="1"/>
              <a:t>nhận</a:t>
            </a:r>
            <a:r>
              <a:rPr sz="1600" dirty="0"/>
              <a:t> </a:t>
            </a:r>
            <a:r>
              <a:rPr sz="1600" dirty="0" err="1"/>
              <a:t>giao</a:t>
            </a:r>
            <a:r>
              <a:rPr sz="1600" dirty="0"/>
              <a:t> </a:t>
            </a:r>
            <a:r>
              <a:rPr sz="1600" dirty="0" err="1"/>
              <a:t>hàng</a:t>
            </a:r>
            <a:r>
              <a:rPr sz="1600" dirty="0"/>
              <a:t> </a:t>
            </a:r>
            <a:r>
              <a:rPr sz="1600" dirty="0" err="1"/>
              <a:t>của</a:t>
            </a:r>
            <a:r>
              <a:rPr sz="1600" dirty="0"/>
              <a:t> </a:t>
            </a:r>
            <a:r>
              <a:rPr sz="1600" dirty="0" err="1"/>
              <a:t>khách</a:t>
            </a:r>
            <a:r>
              <a:rPr sz="1600" dirty="0"/>
              <a:t> </a:t>
            </a:r>
            <a:r>
              <a:rPr sz="1600" dirty="0" err="1"/>
              <a:t>hàng</a:t>
            </a:r>
            <a:r>
              <a:rPr sz="1600" dirty="0"/>
              <a:t> </a:t>
            </a:r>
            <a:r>
              <a:rPr sz="1600" dirty="0" err="1"/>
              <a:t>không</a:t>
            </a:r>
            <a:r>
              <a:rPr sz="1600" dirty="0"/>
              <a:t>?</a:t>
            </a:r>
          </a:p>
          <a:p>
            <a:pPr>
              <a:spcAft>
                <a:spcPts val="12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rPr sz="1600" dirty="0"/>
              <a:t>• Q3. Lead Time </a:t>
            </a:r>
            <a:r>
              <a:rPr sz="1600" dirty="0" err="1"/>
              <a:t>và</a:t>
            </a:r>
            <a:r>
              <a:rPr sz="1600" dirty="0"/>
              <a:t> SLA </a:t>
            </a:r>
            <a:r>
              <a:rPr sz="1600" dirty="0" err="1"/>
              <a:t>liên</a:t>
            </a:r>
            <a:r>
              <a:rPr sz="1600" dirty="0"/>
              <a:t> </a:t>
            </a:r>
            <a:r>
              <a:rPr sz="1600" dirty="0" err="1"/>
              <a:t>hệ</a:t>
            </a:r>
            <a:r>
              <a:rPr sz="1600" dirty="0"/>
              <a:t> </a:t>
            </a:r>
            <a:r>
              <a:rPr sz="1600" dirty="0" err="1"/>
              <a:t>như</a:t>
            </a:r>
            <a:r>
              <a:rPr sz="1600" dirty="0"/>
              <a:t> </a:t>
            </a:r>
            <a:r>
              <a:rPr sz="1600" dirty="0" err="1"/>
              <a:t>thế</a:t>
            </a:r>
            <a:r>
              <a:rPr sz="1600" dirty="0"/>
              <a:t> </a:t>
            </a:r>
            <a:r>
              <a:rPr sz="1600" dirty="0" err="1"/>
              <a:t>nào</a:t>
            </a:r>
            <a:r>
              <a:rPr sz="1600" dirty="0"/>
              <a:t> </a:t>
            </a:r>
            <a:r>
              <a:rPr sz="1600" dirty="0" err="1"/>
              <a:t>với</a:t>
            </a:r>
            <a:r>
              <a:rPr sz="1600" dirty="0"/>
              <a:t> Rating?</a:t>
            </a:r>
          </a:p>
          <a:p>
            <a:pPr>
              <a:spcAft>
                <a:spcPts val="12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rPr sz="1600" dirty="0"/>
              <a:t>• Q4. </a:t>
            </a:r>
            <a:r>
              <a:rPr sz="1600" dirty="0" err="1"/>
              <a:t>Có</a:t>
            </a:r>
            <a:r>
              <a:rPr sz="1600" dirty="0"/>
              <a:t> </a:t>
            </a:r>
            <a:r>
              <a:rPr sz="1600" dirty="0" err="1"/>
              <a:t>thể</a:t>
            </a:r>
            <a:r>
              <a:rPr sz="1600" dirty="0"/>
              <a:t> </a:t>
            </a:r>
            <a:r>
              <a:rPr sz="1600" dirty="0" err="1"/>
              <a:t>dự</a:t>
            </a:r>
            <a:r>
              <a:rPr sz="1600" dirty="0"/>
              <a:t> </a:t>
            </a:r>
            <a:r>
              <a:rPr sz="1600" dirty="0" err="1"/>
              <a:t>báo</a:t>
            </a:r>
            <a:r>
              <a:rPr sz="1600" dirty="0"/>
              <a:t> </a:t>
            </a:r>
            <a:r>
              <a:rPr sz="1600" dirty="0" err="1"/>
              <a:t>nguy</a:t>
            </a:r>
            <a:r>
              <a:rPr sz="1600" dirty="0"/>
              <a:t> </a:t>
            </a:r>
            <a:r>
              <a:rPr sz="1600" dirty="0" err="1"/>
              <a:t>cơ</a:t>
            </a:r>
            <a:r>
              <a:rPr sz="1600" dirty="0"/>
              <a:t> Low Rating (≤3★) </a:t>
            </a:r>
            <a:r>
              <a:rPr sz="1600" dirty="0" err="1"/>
              <a:t>tốt</a:t>
            </a:r>
            <a:r>
              <a:rPr sz="1600" dirty="0"/>
              <a:t> </a:t>
            </a:r>
            <a:r>
              <a:rPr sz="1600" dirty="0" err="1"/>
              <a:t>hơn</a:t>
            </a:r>
            <a:r>
              <a:rPr sz="1600" dirty="0"/>
              <a:t> </a:t>
            </a:r>
            <a:r>
              <a:rPr sz="1600" dirty="0" err="1"/>
              <a:t>việc</a:t>
            </a:r>
            <a:r>
              <a:rPr sz="1600" dirty="0"/>
              <a:t> </a:t>
            </a:r>
            <a:r>
              <a:rPr sz="1600" dirty="0" err="1"/>
              <a:t>chỉ</a:t>
            </a:r>
            <a:r>
              <a:rPr sz="1600" dirty="0"/>
              <a:t> </a:t>
            </a:r>
            <a:r>
              <a:rPr sz="1600" dirty="0" err="1"/>
              <a:t>sử</a:t>
            </a:r>
            <a:r>
              <a:rPr sz="1600" dirty="0"/>
              <a:t> </a:t>
            </a:r>
            <a:r>
              <a:rPr sz="1600" dirty="0" err="1"/>
              <a:t>dụng</a:t>
            </a:r>
            <a:r>
              <a:rPr sz="1600" dirty="0"/>
              <a:t> SLA hay </a:t>
            </a:r>
            <a:r>
              <a:rPr sz="1600" dirty="0" err="1"/>
              <a:t>không</a:t>
            </a:r>
            <a:r>
              <a:rPr sz="1600" dirty="0"/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413248"/>
            <a:ext cx="10835640" cy="658368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864108" y="5461561"/>
            <a:ext cx="10378440" cy="54784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MỤC TIÊU NGHIÊN CỨU: </a:t>
            </a:r>
            <a:r>
              <a:rPr sz="1600" b="0">
                <a:solidFill>
                  <a:srgbClr val="242B33"/>
                </a:solidFill>
                <a:latin typeface="Aptos"/>
              </a:rPr>
              <a:t>Phân tích mối quan hệ giữa Lead Time, trạng thái SLA và đánh giá của khách hàng; từ đó kiểm tra mức độ hữu ích của SLA trong việc nhận diện các đánh giá thấp (≤3★).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65392"/>
            <a:ext cx="5943600" cy="2046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dirty="0" err="1">
                <a:solidFill>
                  <a:srgbClr val="5E6A78"/>
                </a:solidFill>
                <a:latin typeface="Aptos"/>
              </a:rPr>
              <a:t>Cơ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5E6A78"/>
                </a:solidFill>
                <a:latin typeface="Aptos"/>
              </a:rPr>
              <a:t>sở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Khoa </a:t>
            </a:r>
            <a:r>
              <a:rPr sz="850" b="0" dirty="0" err="1">
                <a:solidFill>
                  <a:srgbClr val="5E6A78"/>
                </a:solidFill>
                <a:latin typeface="Aptos"/>
              </a:rPr>
              <a:t>học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5E6A78"/>
                </a:solidFill>
                <a:latin typeface="Aptos"/>
              </a:rPr>
              <a:t>Dữ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5E6A78"/>
                </a:solidFill>
                <a:latin typeface="Aptos"/>
              </a:rPr>
              <a:t>liệu</a:t>
            </a:r>
            <a:r>
              <a:rPr sz="850" b="0" dirty="0">
                <a:solidFill>
                  <a:srgbClr val="5E6A78"/>
                </a:solidFill>
                <a:latin typeface="Aptos"/>
              </a:rPr>
              <a:t>  •  SLA &amp; Customer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65392"/>
            <a:ext cx="3657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600" b="0">
                <a:solidFill>
                  <a:srgbClr val="5E6A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832" y="123194"/>
            <a:ext cx="10972800" cy="9971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 dirty="0">
                <a:solidFill>
                  <a:srgbClr val="162C46"/>
                </a:solidFill>
                <a:latin typeface="Aptos Display"/>
              </a:rPr>
              <a:t>THU THẬP DỮ LIỆU — TỪ TIKI REVIEWS ĐẾN TẬP DỮ LIỆU PHÂN TÍCH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59" y="1120390"/>
            <a:ext cx="11045952" cy="0"/>
          </a:xfrm>
          <a:prstGeom prst="line">
            <a:avLst/>
          </a:prstGeom>
          <a:ln w="25400">
            <a:solidFill>
              <a:srgbClr val="2F6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09960" y="30175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5E6A78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65597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NGUỒN VÀ QUY MÔ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03925"/>
            <a:ext cx="457200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 dirty="0" err="1">
                <a:solidFill>
                  <a:srgbClr val="162C46"/>
                </a:solidFill>
                <a:latin typeface="Aptos"/>
              </a:rPr>
              <a:t>Nguồn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dữ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liệu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Đánh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giá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sản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phẩm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trên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Tiki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97117"/>
            <a:ext cx="457200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Quy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mô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tập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dữ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liệu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: </a:t>
            </a:r>
            <a:r>
              <a:rPr sz="1600" b="1" dirty="0">
                <a:solidFill>
                  <a:srgbClr val="2F639D"/>
                </a:solidFill>
                <a:latin typeface="Aptos"/>
              </a:rPr>
              <a:t>203.510 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82333"/>
            <a:ext cx="25603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DỮ LIỆU THU THẬP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59" y="3189956"/>
            <a:ext cx="336499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758950" y="3354548"/>
            <a:ext cx="30175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ĐÁNH GIÁ KHÁCH HÀNG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0" y="3711164"/>
            <a:ext cx="30175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5E6A78"/>
                </a:solidFill>
                <a:latin typeface="Aptos"/>
              </a:rPr>
              <a:t>Rating ·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Thời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điểm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đánh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giá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
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Nội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dung /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thông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tin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6" y="3189956"/>
            <a:ext cx="336499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4434838" y="3354548"/>
            <a:ext cx="30175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THÔNG TIN GIAO HÀNG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8" y="3711164"/>
            <a:ext cx="3200400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 err="1">
                <a:solidFill>
                  <a:srgbClr val="5E6A78"/>
                </a:solidFill>
                <a:latin typeface="Aptos"/>
              </a:rPr>
              <a:t>Thời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điểm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giao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hàng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
Customer-reported delivery label
Các timestamp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liên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quan</a:t>
            </a:r>
            <a:endParaRPr sz="1600" b="0" dirty="0">
              <a:solidFill>
                <a:srgbClr val="5E6A78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46135" y="3189956"/>
            <a:ext cx="336499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8110727" y="3354548"/>
            <a:ext cx="30175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SẢN PHẨM &amp; NHÀ BÁN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7" y="3711164"/>
            <a:ext cx="30175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E6A78"/>
                </a:solidFill>
                <a:latin typeface="Aptos"/>
              </a:rPr>
              <a:t>Thông tin sản phẩm · Seller
Thuộc tính phục vụ phân nhóm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59" y="4748877"/>
            <a:ext cx="4400721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2F639D"/>
                </a:solidFill>
                <a:latin typeface="Aptos"/>
              </a:rPr>
              <a:t>TỪ DỮ LIỆU THÔ ĐẾN DỮ LIỆU PHÂN TÍCH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114637"/>
            <a:ext cx="10863072" cy="82296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Rounded Rectangle 19"/>
          <p:cNvSpPr/>
          <p:nvPr/>
        </p:nvSpPr>
        <p:spPr>
          <a:xfrm>
            <a:off x="850392" y="5343237"/>
            <a:ext cx="10972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886968" y="5356929"/>
            <a:ext cx="1024127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162C46"/>
                </a:solidFill>
                <a:latin typeface="Aptos"/>
              </a:rPr>
              <a:t>Raw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0552" y="5361525"/>
            <a:ext cx="3200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33472" y="5343237"/>
            <a:ext cx="11430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2670048" y="5356929"/>
            <a:ext cx="106984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Lead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05072" y="5343237"/>
            <a:ext cx="12344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4041648" y="5356929"/>
            <a:ext cx="116128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SLA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68112" y="5343237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5504688" y="5356929"/>
            <a:ext cx="74980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Rating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3952" y="5343237"/>
            <a:ext cx="2574514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6510528" y="5356929"/>
            <a:ext cx="262664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2F639D"/>
                </a:solidFill>
                <a:latin typeface="Aptos"/>
              </a:rPr>
              <a:t>Customer Delivery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1345" y="5343237"/>
            <a:ext cx="1284799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2" name="TextBox 31"/>
          <p:cNvSpPr txBox="1"/>
          <p:nvPr/>
        </p:nvSpPr>
        <p:spPr>
          <a:xfrm>
            <a:off x="9267922" y="5356929"/>
            <a:ext cx="1284800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2F639D"/>
                </a:solidFill>
                <a:latin typeface="Aptos"/>
              </a:rPr>
              <a:t>Low Rating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5E6A78"/>
                </a:solidFill>
                <a:latin typeface="Aptos"/>
              </a:rPr>
              <a:t>Cơ sở Khoa học Dữ liệu  •  SLA &amp; Customer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65392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>
                <a:solidFill>
                  <a:srgbClr val="5E6A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 dirty="0">
                <a:solidFill>
                  <a:srgbClr val="162C46"/>
                </a:solidFill>
                <a:latin typeface="Aptos Display"/>
              </a:rPr>
              <a:t>LÀM SẠCH &amp; XỬ LÝ DỮ LIỆU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50392"/>
            <a:ext cx="11045952" cy="0"/>
          </a:xfrm>
          <a:prstGeom prst="line">
            <a:avLst/>
          </a:prstGeom>
          <a:ln w="25400">
            <a:solidFill>
              <a:srgbClr val="2F6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09960" y="30175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5E6A78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2331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822959" y="1508760"/>
            <a:ext cx="457200" cy="292608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859536" y="1495020"/>
            <a:ext cx="38404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2002536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CHUẨN HÓA THỜI GIAN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51760"/>
            <a:ext cx="2002536" cy="1550168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>
              <a:spcAft>
                <a:spcPts val="1100"/>
              </a:spcAft>
              <a:defRPr sz="1220">
                <a:solidFill>
                  <a:srgbClr val="5E6A78"/>
                </a:solidFill>
                <a:latin typeface="Aptos"/>
              </a:defRPr>
            </a:pPr>
            <a:r>
              <a:rPr sz="1600"/>
              <a:t>• Chuẩn hóa các trường timestamp</a:t>
            </a:r>
          </a:p>
          <a:p>
            <a:pPr>
              <a:spcAft>
                <a:spcPts val="1100"/>
              </a:spcAft>
              <a:defRPr sz="1220">
                <a:solidFill>
                  <a:srgbClr val="5E6A78"/>
                </a:solidFill>
                <a:latin typeface="Aptos"/>
              </a:defRPr>
            </a:pPr>
            <a:r>
              <a:rPr sz="1600"/>
              <a:t>• Đồng nhất múi giờ</a:t>
            </a:r>
          </a:p>
          <a:p>
            <a:pPr>
              <a:spcAft>
                <a:spcPts val="1100"/>
              </a:spcAft>
              <a:defRPr sz="1220">
                <a:solidFill>
                  <a:srgbClr val="5E6A78"/>
                </a:solidFill>
                <a:latin typeface="Aptos"/>
              </a:defRPr>
            </a:pPr>
            <a:r>
              <a:rPr sz="1600"/>
              <a:t>• Kiểm tra thứ tự thời gian giữa các sự kiện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325880"/>
            <a:ext cx="2331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3410712" y="1508760"/>
            <a:ext cx="457200" cy="292608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3447288" y="1495020"/>
            <a:ext cx="38404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1920240"/>
            <a:ext cx="2002536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KIỂM TRA &amp; LÀM SẠCH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651760"/>
            <a:ext cx="2002536" cy="1796389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>
              <a:spcAft>
                <a:spcPts val="1100"/>
              </a:spcAft>
              <a:defRPr sz="1220">
                <a:solidFill>
                  <a:srgbClr val="5E6A78"/>
                </a:solidFill>
                <a:latin typeface="Aptos"/>
              </a:defRPr>
            </a:pPr>
            <a:r>
              <a:rPr sz="1600"/>
              <a:t>• Xử lý giá trị thiếu và bản ghi không hợp lệ</a:t>
            </a:r>
          </a:p>
          <a:p>
            <a:pPr>
              <a:spcAft>
                <a:spcPts val="1100"/>
              </a:spcAft>
              <a:defRPr sz="1220">
                <a:solidFill>
                  <a:srgbClr val="5E6A78"/>
                </a:solidFill>
                <a:latin typeface="Aptos"/>
              </a:defRPr>
            </a:pPr>
            <a:r>
              <a:rPr sz="1600"/>
              <a:t>• Kiểm tra Lead Time bất thường</a:t>
            </a:r>
          </a:p>
          <a:p>
            <a:pPr>
              <a:spcAft>
                <a:spcPts val="1100"/>
              </a:spcAft>
              <a:defRPr sz="1220">
                <a:solidFill>
                  <a:srgbClr val="5E6A78"/>
                </a:solidFill>
                <a:latin typeface="Aptos"/>
              </a:defRPr>
            </a:pPr>
            <a:r>
              <a:rPr sz="1600"/>
              <a:t>• Giới hạn Lead Time hợp lý: 0–90 ngày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325880"/>
            <a:ext cx="2331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ounded Rectangle 15"/>
          <p:cNvSpPr/>
          <p:nvPr/>
        </p:nvSpPr>
        <p:spPr>
          <a:xfrm>
            <a:off x="9308592" y="1508760"/>
            <a:ext cx="457200" cy="292608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9345167" y="1495020"/>
            <a:ext cx="38404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1920240"/>
            <a:ext cx="2002536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KIỂM TRA CHẤT LƯỢNG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651760"/>
            <a:ext cx="2002536" cy="2042610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>
              <a:spcAft>
                <a:spcPts val="1100"/>
              </a:spcAft>
              <a:defRPr sz="1220">
                <a:solidFill>
                  <a:srgbClr val="5E6A78"/>
                </a:solidFill>
                <a:latin typeface="Aptos"/>
              </a:defRPr>
            </a:pPr>
            <a:r>
              <a:rPr sz="1600"/>
              <a:t>• Kiểm tra phân bố và tính hợp lệ sau xử lý</a:t>
            </a:r>
          </a:p>
          <a:p>
            <a:pPr>
              <a:spcAft>
                <a:spcPts val="1100"/>
              </a:spcAft>
              <a:defRPr sz="1220">
                <a:solidFill>
                  <a:srgbClr val="5E6A78"/>
                </a:solidFill>
                <a:latin typeface="Aptos"/>
              </a:defRPr>
            </a:pPr>
            <a:r>
              <a:rPr sz="1600"/>
              <a:t>• Theo dõi missing Customer Delivery Status</a:t>
            </a:r>
          </a:p>
          <a:p>
            <a:pPr>
              <a:spcAft>
                <a:spcPts val="1100"/>
              </a:spcAft>
              <a:defRPr sz="1220">
                <a:solidFill>
                  <a:srgbClr val="5E6A78"/>
                </a:solidFill>
                <a:latin typeface="Aptos"/>
              </a:defRPr>
            </a:pPr>
            <a:r>
              <a:rPr sz="1600"/>
              <a:t>• Chuẩn bị dữ liệu cho EDA &amp; Modeling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1143000"/>
            <a:ext cx="3063240" cy="47091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2F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Rounded Rectangle 20"/>
          <p:cNvSpPr/>
          <p:nvPr/>
        </p:nvSpPr>
        <p:spPr>
          <a:xfrm>
            <a:off x="6016752" y="1353312"/>
            <a:ext cx="4572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6053328" y="1339572"/>
            <a:ext cx="38404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1755648"/>
            <a:ext cx="26517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XÂY DỰNG BIẾN PHÂN TÍCH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2272308"/>
            <a:ext cx="24688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2F639D"/>
                </a:solidFill>
                <a:latin typeface="Aptos"/>
              </a:rPr>
              <a:t>Lead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2564916"/>
            <a:ext cx="251460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242B33"/>
                </a:solidFill>
                <a:latin typeface="Aptos"/>
              </a:rPr>
              <a:t>Khoảng thời gian giao hàng thực tế.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6752" y="3076980"/>
            <a:ext cx="24688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SLA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3369588"/>
            <a:ext cx="251460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242B33"/>
                </a:solidFill>
                <a:latin typeface="Aptos"/>
              </a:rPr>
              <a:t>Within SLA / SLA Breach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với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ngưỡng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5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ngày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6752" y="3881652"/>
            <a:ext cx="24688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Customer Delivery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4174260"/>
            <a:ext cx="251460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242B33"/>
                </a:solidFill>
                <a:latin typeface="Aptos"/>
              </a:rPr>
              <a:t>Chuẩn hóa phản hồi của khách hàng về giao hàng.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6752" y="4686324"/>
            <a:ext cx="24688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Low Rating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2" y="4978932"/>
            <a:ext cx="251460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242B33"/>
                </a:solidFill>
                <a:latin typeface="Aptos"/>
              </a:rPr>
              <a:t>Đánh giá thấp với điều kiện Rating ≤ 3★.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5E6A78"/>
                </a:solidFill>
                <a:latin typeface="Aptos"/>
              </a:rPr>
              <a:t>Cơ sở Khoa học Dữ liệu  •  SLA &amp; Customer Experience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565392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>
                <a:solidFill>
                  <a:srgbClr val="5E6A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 dirty="0">
                <a:solidFill>
                  <a:srgbClr val="162C46"/>
                </a:solidFill>
                <a:latin typeface="Aptos Display"/>
              </a:rPr>
              <a:t>EDA — LEAD TIME THỰC TẾ SO VỚI NGƯỠNG SLA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50392"/>
            <a:ext cx="11045952" cy="0"/>
          </a:xfrm>
          <a:prstGeom prst="line">
            <a:avLst/>
          </a:prstGeom>
          <a:ln w="25400">
            <a:solidFill>
              <a:srgbClr val="2F6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09960" y="30175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5E6A78"/>
                </a:solidFill>
                <a:latin typeface="Aptos"/>
              </a:rPr>
              <a:t>06</a:t>
            </a:r>
          </a:p>
        </p:txBody>
      </p:sp>
      <p:pic>
        <p:nvPicPr>
          <p:cNvPr id="5" name="Picture 4" descr="B04_lead_d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" y="894899"/>
            <a:ext cx="6096000" cy="29419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9128" y="1093772"/>
            <a:ext cx="18288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KẾT QUẢ CHÍNH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9128" y="1432100"/>
            <a:ext cx="48006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Phần lớn đơn hàng được giao sớm hơn ngưỡng SLA 5 ngày.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9128" y="2072180"/>
            <a:ext cx="4663440" cy="1227003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242B33"/>
                </a:solidFill>
                <a:latin typeface="Aptos"/>
              </a:defRPr>
            </a:pPr>
            <a:r>
              <a:rPr sz="1600"/>
              <a:t>• Median Lead Time: 1,26 ngày</a:t>
            </a:r>
          </a:p>
          <a:p>
            <a:pPr>
              <a:spcAft>
                <a:spcPts val="800"/>
              </a:spcAft>
              <a:defRPr sz="1320">
                <a:solidFill>
                  <a:srgbClr val="242B33"/>
                </a:solidFill>
                <a:latin typeface="Aptos"/>
              </a:defRPr>
            </a:pPr>
            <a:r>
              <a:rPr sz="1600"/>
              <a:t>• Median ≈ 25% ngưỡng SLA 5 ngày</a:t>
            </a:r>
          </a:p>
          <a:p>
            <a:pPr>
              <a:spcAft>
                <a:spcPts val="800"/>
              </a:spcAft>
              <a:defRPr sz="1320">
                <a:solidFill>
                  <a:srgbClr val="242B33"/>
                </a:solidFill>
                <a:latin typeface="Aptos"/>
              </a:defRPr>
            </a:pPr>
            <a:r>
              <a:rPr sz="1600"/>
              <a:t>• Phân phối có đuôi phải dài: vẫn tồn tại nhóm giao rất chậm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9128" y="3599227"/>
            <a:ext cx="274320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2F639D"/>
                </a:solidFill>
                <a:latin typeface="Aptos"/>
              </a:rPr>
              <a:t>CÁC QUANTILE QUAN TRỌNG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39128" y="3928412"/>
            <a:ext cx="987552" cy="71323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6784848" y="4019852"/>
            <a:ext cx="8961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5E6A78"/>
                </a:solidFill>
                <a:latin typeface="Aptos"/>
              </a:rPr>
              <a:t>p50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4239308"/>
            <a:ext cx="8961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1,26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3928412"/>
            <a:ext cx="987552" cy="71323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7955280" y="4019852"/>
            <a:ext cx="8961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5E6A78"/>
                </a:solidFill>
                <a:latin typeface="Aptos"/>
              </a:rPr>
              <a:t>p90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4239308"/>
            <a:ext cx="8961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4,33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3928412"/>
            <a:ext cx="987552" cy="71323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9125712" y="4019852"/>
            <a:ext cx="8961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5E6A78"/>
                </a:solidFill>
                <a:latin typeface="Aptos"/>
              </a:rPr>
              <a:t>p95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4239308"/>
            <a:ext cx="8961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5,92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50424" y="3928412"/>
            <a:ext cx="987552" cy="71323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10296144" y="4019852"/>
            <a:ext cx="8961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5E6A78"/>
                </a:solidFill>
                <a:latin typeface="Aptos"/>
              </a:rPr>
              <a:t>p99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96144" y="4239308"/>
            <a:ext cx="89611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18,62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4659932"/>
            <a:ext cx="114300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B14242"/>
                </a:solidFill>
                <a:latin typeface="Aptos"/>
              </a:rPr>
              <a:t>SLA = 5 ngày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73184" y="4513628"/>
            <a:ext cx="0" cy="146304"/>
          </a:xfrm>
          <a:prstGeom prst="line">
            <a:avLst/>
          </a:prstGeom>
          <a:ln w="19050">
            <a:solidFill>
              <a:srgbClr val="B1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B07_sla_by_y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836802"/>
            <a:ext cx="6583679" cy="302119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744860" y="5232212"/>
            <a:ext cx="4800600" cy="1175411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6880655" y="5287053"/>
            <a:ext cx="17521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2F639D"/>
                </a:solidFill>
                <a:latin typeface="Aptos"/>
              </a:rPr>
              <a:t>KẾT QUẢ EDA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0655" y="5542995"/>
            <a:ext cx="4606119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242B33"/>
                </a:solidFill>
                <a:latin typeface="Aptos"/>
              </a:rPr>
              <a:t>Lead Time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điển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hình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thấp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hơn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nhiều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so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với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SLA 5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ngày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nhưng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phân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phối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có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đuôi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dài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và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SLA Breach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biến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động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đáng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kể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theo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thời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gian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02568" y="6488732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>
                <a:solidFill>
                  <a:srgbClr val="5E6A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 dirty="0">
                <a:solidFill>
                  <a:srgbClr val="162C46"/>
                </a:solidFill>
                <a:latin typeface="Aptos Display"/>
              </a:rPr>
              <a:t>EDA — KHI SLA VÀ CẢM NHẬN KHÁCH HÀNG KHÔNG ĐỒNG NHẤT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50392"/>
            <a:ext cx="11045952" cy="0"/>
          </a:xfrm>
          <a:prstGeom prst="line">
            <a:avLst/>
          </a:prstGeom>
          <a:ln w="25400">
            <a:solidFill>
              <a:srgbClr val="2F6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396472" y="30175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 dirty="0">
                <a:solidFill>
                  <a:srgbClr val="5E6A78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088338"/>
            <a:ext cx="2743200" cy="8686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475488" y="1189351"/>
            <a:ext cx="27432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162C46"/>
                </a:solidFill>
                <a:latin typeface="Aptos"/>
              </a:rPr>
              <a:t>GÓC NHÌN DOANH NGHIỆP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510763"/>
            <a:ext cx="2565233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dirty="0">
                <a:solidFill>
                  <a:srgbClr val="5E6A78"/>
                </a:solidFill>
                <a:latin typeface="Aptos"/>
              </a:rPr>
              <a:t>SLA Status · Within / Breach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10472" y="1170432"/>
            <a:ext cx="2743200" cy="8686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TextBox 8"/>
          <p:cNvSpPr txBox="1"/>
          <p:nvPr/>
        </p:nvSpPr>
        <p:spPr>
          <a:xfrm>
            <a:off x="9201912" y="1216735"/>
            <a:ext cx="25603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162C46"/>
                </a:solidFill>
                <a:latin typeface="Aptos"/>
              </a:rPr>
              <a:t>GÓC NHÌN KHÁCH HÀNG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10472" y="1505755"/>
            <a:ext cx="274320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dirty="0">
                <a:solidFill>
                  <a:srgbClr val="5E6A78"/>
                </a:solidFill>
                <a:latin typeface="Aptos"/>
              </a:rPr>
              <a:t>Customer Delivery · On-time / 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17320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Hai cách đánh giá có thực sự đồng nhất?</a:t>
            </a:r>
          </a:p>
        </p:txBody>
      </p:sp>
      <p:pic>
        <p:nvPicPr>
          <p:cNvPr id="12" name="Picture 11" descr="B10_SLA Status vs. Customer-Reported Delivery 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011680"/>
            <a:ext cx="5669280" cy="2697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" y="4919472"/>
            <a:ext cx="5074920" cy="86868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777240" y="4949130"/>
            <a:ext cx="44805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① WITHIN SLA NHƯNG KHÁCH BÁO TRỄ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221820"/>
            <a:ext cx="5074921" cy="54784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 dirty="0">
                <a:solidFill>
                  <a:srgbClr val="B14242"/>
                </a:solidFill>
                <a:latin typeface="Aptos"/>
              </a:rPr>
              <a:t>252 reviews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—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đạt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SLA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không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đảm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bảo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khách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cảm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nhận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đúng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hẹn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5832" y="4919472"/>
            <a:ext cx="5577840" cy="8686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6477000" y="4949130"/>
            <a:ext cx="49834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② SLA BREACH NHƯNG KHÁCH BÁO ĐÚNG HẸN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5831" y="5221820"/>
            <a:ext cx="5577841" cy="54784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 dirty="0">
                <a:solidFill>
                  <a:srgbClr val="BE7D2F"/>
                </a:solidFill>
                <a:latin typeface="Aptos"/>
              </a:rPr>
              <a:t>339 reviews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—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vượt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SLA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không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phải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lúc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nào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cũng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được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cảm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nhận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là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trễ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300" y="6149364"/>
            <a:ext cx="7775675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5E6A78"/>
                </a:solidFill>
                <a:latin typeface="Aptos"/>
              </a:rPr>
              <a:t>n = 15.816 reviews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có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đủ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thông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tin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đối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chiếu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· Ma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trận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sử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dụng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raw counts.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5E6A78"/>
                </a:solidFill>
                <a:latin typeface="Aptos"/>
              </a:rPr>
              <a:t>Cơ sở Khoa học Dữ liệu  •  SLA &amp; Customer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65392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>
                <a:solidFill>
                  <a:srgbClr val="5E6A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5780" y="112064"/>
            <a:ext cx="10972800" cy="9971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 dirty="0">
                <a:solidFill>
                  <a:srgbClr val="162C46"/>
                </a:solidFill>
                <a:latin typeface="Aptos Display"/>
              </a:rPr>
              <a:t>FEATURE ENGINEERING — XÂY DỰNG ĐẶC TRƯNG CHO DỰ BÁO LOW RATING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73024" y="1055108"/>
            <a:ext cx="11045952" cy="0"/>
          </a:xfrm>
          <a:prstGeom prst="line">
            <a:avLst/>
          </a:prstGeom>
          <a:ln w="25400">
            <a:solidFill>
              <a:srgbClr val="2F6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269980" y="30377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 dirty="0">
                <a:solidFill>
                  <a:srgbClr val="5E6A78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49257"/>
            <a:ext cx="38404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2F639D"/>
                </a:solidFill>
                <a:latin typeface="Aptos"/>
              </a:rPr>
              <a:t>1. TARGET — XÁC ĐỊNH BIẾN MỤC TIÊU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65721"/>
            <a:ext cx="11132820" cy="658368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667511" y="1868639"/>
            <a:ext cx="621792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 dirty="0">
                <a:solidFill>
                  <a:srgbClr val="2F639D"/>
                </a:solidFill>
                <a:latin typeface="Aptos"/>
              </a:rPr>
              <a:t>Low Rating = 1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nếu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Rating ≤ 3★   |   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Low Rating = 0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42B33"/>
                </a:solidFill>
                <a:latin typeface="Aptos"/>
              </a:rPr>
              <a:t>nếu</a:t>
            </a:r>
            <a:r>
              <a:rPr sz="1600" b="0" dirty="0">
                <a:solidFill>
                  <a:srgbClr val="242B33"/>
                </a:solidFill>
                <a:latin typeface="Aptos"/>
              </a:rPr>
              <a:t> Rating &gt; 3★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508" y="1740196"/>
            <a:ext cx="4887468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 err="1">
                <a:solidFill>
                  <a:srgbClr val="5E6A78"/>
                </a:solidFill>
                <a:latin typeface="Aptos"/>
              </a:rPr>
              <a:t>Mục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tiêu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Ước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lượng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nguy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cơ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khách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hàng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đưa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ra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đánh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giá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thấp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dựa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trên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thông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tin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có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trước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thời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điểm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đánh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giá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024" y="2518351"/>
            <a:ext cx="38404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2F639D"/>
                </a:solidFill>
                <a:latin typeface="Aptos"/>
              </a:rPr>
              <a:t>2. FEATURES — CÁC NHÓM ĐẶC TRƯNG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3464"/>
            <a:ext cx="3364992" cy="1589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758951" y="3178057"/>
            <a:ext cx="30175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2.1 DELIVERY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" y="3543817"/>
            <a:ext cx="3017520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5E6A78"/>
                </a:solidFill>
                <a:latin typeface="Aptos"/>
              </a:rPr>
              <a:t>Lead Time
SLA Status
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Đặc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trưng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thời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gian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giao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hàng</a:t>
            </a:r>
            <a:endParaRPr sz="1600" b="0" dirty="0">
              <a:solidFill>
                <a:srgbClr val="5E6A78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70247" y="3013464"/>
            <a:ext cx="3364992" cy="15835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4434839" y="3178057"/>
            <a:ext cx="30175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2.2 CUSTOMER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3543817"/>
            <a:ext cx="3017520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 err="1">
                <a:solidFill>
                  <a:srgbClr val="5E6A78"/>
                </a:solidFill>
                <a:latin typeface="Aptos"/>
              </a:rPr>
              <a:t>Đặc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trưng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tổng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hợp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từ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lịch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sử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trước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đó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của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khách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hàng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
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Chỉ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dùng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thông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tin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trước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review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hiện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tại</a:t>
            </a:r>
            <a:endParaRPr sz="1600" b="0" dirty="0">
              <a:solidFill>
                <a:srgbClr val="5E6A78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946136" y="3013464"/>
            <a:ext cx="3364992" cy="1589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8110728" y="3178057"/>
            <a:ext cx="30175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2.3 PRODUCT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3543817"/>
            <a:ext cx="3017520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 err="1">
                <a:solidFill>
                  <a:srgbClr val="5E6A78"/>
                </a:solidFill>
                <a:latin typeface="Aptos"/>
              </a:rPr>
              <a:t>Đặc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trưng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tổng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hợp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từ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lịch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sử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trước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đó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của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sản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phẩm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
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Chỉ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dùng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thông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tin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trước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thời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điểm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dự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báo</a:t>
            </a:r>
            <a:endParaRPr sz="1600" b="0" dirty="0">
              <a:solidFill>
                <a:srgbClr val="5E6A7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4750825"/>
            <a:ext cx="43891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3. DATA LEAKAGE — KIỂM SOÁT RÒ RỈ DỮ LIỆU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089153"/>
            <a:ext cx="49377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42B33"/>
                </a:solidFill>
                <a:latin typeface="Aptos"/>
              </a:rPr>
              <a:t>Chỉ sử dụng thông tin có sẵn trước thời điểm cần dự báo.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50992" y="5025145"/>
            <a:ext cx="1051560" cy="347472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5687568" y="5038837"/>
            <a:ext cx="978407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Past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5704" y="5061721"/>
            <a:ext cx="2743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5025145"/>
            <a:ext cx="960120" cy="347472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7123176" y="5038837"/>
            <a:ext cx="88696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6" y="5061721"/>
            <a:ext cx="2743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9912" y="5025145"/>
            <a:ext cx="1249998" cy="347472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8476488" y="5038837"/>
            <a:ext cx="1213422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2F639D"/>
                </a:solidFill>
                <a:latin typeface="Aptos"/>
              </a:rPr>
              <a:t>Low Rating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5098297"/>
            <a:ext cx="137160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B14242"/>
                </a:solidFill>
                <a:latin typeface="Aptos"/>
              </a:rPr>
              <a:t>Future Information 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683513"/>
            <a:ext cx="43891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4. FEATURE MATRIX — ĐẦU VÀO CHO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003553"/>
            <a:ext cx="1069848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Clean Data</a:t>
            </a:r>
            <a:r>
              <a:rPr sz="1600" b="0">
                <a:solidFill>
                  <a:srgbClr val="5E6A78"/>
                </a:solidFill>
                <a:latin typeface="Aptos"/>
              </a:rPr>
              <a:t>  →  Delivery + Customer History + Product History  →  </a:t>
            </a:r>
            <a:r>
              <a:rPr sz="1600" b="1">
                <a:solidFill>
                  <a:srgbClr val="2F639D"/>
                </a:solidFill>
                <a:latin typeface="Aptos"/>
              </a:rPr>
              <a:t>Feature Matrix X + Target y</a:t>
            </a:r>
            <a:r>
              <a:rPr sz="1600" b="0">
                <a:solidFill>
                  <a:srgbClr val="242B33"/>
                </a:solidFill>
                <a:latin typeface="Aptos"/>
              </a:rPr>
              <a:t>  →  Modeling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5E6A78"/>
                </a:solidFill>
                <a:latin typeface="Aptos"/>
              </a:rPr>
              <a:t>Cơ sở Khoa học Dữ liệu  •  SLA &amp; Customer Experience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565392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>
                <a:solidFill>
                  <a:srgbClr val="5E6A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 dirty="0">
                <a:solidFill>
                  <a:srgbClr val="162C46"/>
                </a:solidFill>
                <a:latin typeface="Aptos Display"/>
              </a:rPr>
              <a:t>MODELING — XÂY DỰNG MÔ HÌNH DỰ BÁO LOW RATING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50392"/>
            <a:ext cx="11045952" cy="0"/>
          </a:xfrm>
          <a:prstGeom prst="line">
            <a:avLst/>
          </a:prstGeom>
          <a:ln w="25400">
            <a:solidFill>
              <a:srgbClr val="2F6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09960" y="30175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5E6A78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101"/>
            <a:ext cx="22860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1. TEMPORAL SPLIT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26429"/>
            <a:ext cx="5074920" cy="105156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658368" y="1593911"/>
            <a:ext cx="50749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162C46"/>
                </a:solidFill>
                <a:latin typeface="Aptos"/>
              </a:rPr>
              <a:t>PAST  ──────────</a:t>
            </a:r>
            <a:r>
              <a:rPr lang="en-US" sz="1600" b="1" dirty="0">
                <a:solidFill>
                  <a:srgbClr val="162C46"/>
                </a:solidFill>
                <a:latin typeface="Aptos"/>
              </a:rPr>
              <a:t>─────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 2023  │  2024 ─────────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3095"/>
            <a:ext cx="50749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dirty="0">
                <a:solidFill>
                  <a:srgbClr val="5E6A78"/>
                </a:solidFill>
                <a:latin typeface="Aptos"/>
              </a:rPr>
              <a:t>TRAIN: 157.173 reviews          │          TEST: 41.182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73233"/>
            <a:ext cx="50749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dirty="0">
                <a:solidFill>
                  <a:srgbClr val="5E6A78"/>
                </a:solidFill>
                <a:latin typeface="Aptos"/>
              </a:rPr>
              <a:t>Test: 1.465 Low Rating · weighted population rate 1,68%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188101"/>
            <a:ext cx="18288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2.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1526429"/>
            <a:ext cx="5440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6217920" y="1545309"/>
            <a:ext cx="1517903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M0  Prevalence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5843" y="1540594"/>
            <a:ext cx="17373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M1a  SLA Breach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1542450"/>
            <a:ext cx="17373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M1b  Lead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1938037"/>
            <a:ext cx="5312664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 err="1">
                <a:solidFill>
                  <a:srgbClr val="5E6A78"/>
                </a:solidFill>
                <a:latin typeface="Aptos"/>
              </a:rPr>
              <a:t>Mốc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so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sánh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để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kiểm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tra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ML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có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tạo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thêm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giá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trị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so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với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chỉ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nhìn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SLA hay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không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898029"/>
            <a:ext cx="27432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3. CANDIDATE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45501"/>
            <a:ext cx="251460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795528" y="3425164"/>
            <a:ext cx="22402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62C46"/>
                </a:solidFill>
                <a:latin typeface="Aptos"/>
              </a:rPr>
              <a:t>LOGISTIC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827499"/>
            <a:ext cx="218541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>
                <a:solidFill>
                  <a:srgbClr val="5E6A78"/>
                </a:solidFill>
                <a:latin typeface="Aptos"/>
              </a:rPr>
              <a:t>Tuyến tính · dễ diễn giải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9856" y="3245501"/>
            <a:ext cx="251460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3557016" y="3425164"/>
            <a:ext cx="22402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62C46"/>
                </a:solidFill>
                <a:latin typeface="Aptos"/>
              </a:rPr>
              <a:t>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3827499"/>
            <a:ext cx="2185416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>
                <a:solidFill>
                  <a:srgbClr val="5E6A78"/>
                </a:solidFill>
                <a:latin typeface="Aptos"/>
              </a:rPr>
              <a:t>Mô hình cây ensemble · phi tuyến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3245501"/>
            <a:ext cx="251460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6318504" y="3425164"/>
            <a:ext cx="22402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62C46"/>
                </a:solidFill>
                <a:latin typeface="Aptos"/>
              </a:rPr>
              <a:t>GRADIENT BOOSTING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827499"/>
            <a:ext cx="2185416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>
                <a:solidFill>
                  <a:srgbClr val="5E6A78"/>
                </a:solidFill>
                <a:latin typeface="Aptos"/>
              </a:rPr>
              <a:t>Học tuần tự từ lỗi · quan hệ phức tạp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42832" y="3245501"/>
            <a:ext cx="2514600" cy="1261872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2F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9079992" y="3425164"/>
            <a:ext cx="22402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62C46"/>
                </a:solidFill>
                <a:latin typeface="Aptos"/>
              </a:rPr>
              <a:t>ENSEMBLE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3827499"/>
            <a:ext cx="218541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>
                <a:solidFill>
                  <a:srgbClr val="5E6A78"/>
                </a:solidFill>
                <a:latin typeface="Aptos"/>
              </a:rPr>
              <a:t>Logistic + GBM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818269"/>
            <a:ext cx="27432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4. TRAINING STRATEGY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156597"/>
            <a:ext cx="3364992" cy="74480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TextBox 30"/>
          <p:cNvSpPr txBox="1"/>
          <p:nvPr/>
        </p:nvSpPr>
        <p:spPr>
          <a:xfrm>
            <a:off x="795528" y="5293757"/>
            <a:ext cx="1981791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WEIGHTED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22576" y="5293757"/>
            <a:ext cx="15087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600" b="0" dirty="0">
                <a:solidFill>
                  <a:srgbClr val="5E6A78"/>
                </a:solidFill>
                <a:latin typeface="Aptos"/>
              </a:rPr>
              <a:t>Sampling weight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34255" y="5156596"/>
            <a:ext cx="3364992" cy="744803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4" name="TextBox 33"/>
          <p:cNvSpPr txBox="1"/>
          <p:nvPr/>
        </p:nvSpPr>
        <p:spPr>
          <a:xfrm>
            <a:off x="4498847" y="5293757"/>
            <a:ext cx="15087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TEMPORAL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98464" y="5293757"/>
            <a:ext cx="15087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600" b="0">
                <a:solidFill>
                  <a:srgbClr val="5E6A78"/>
                </a:solidFill>
                <a:latin typeface="Aptos"/>
              </a:rPr>
              <a:t>Validation 2022 → 2023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0144" y="5156597"/>
            <a:ext cx="3364992" cy="74480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7" name="TextBox 36"/>
          <p:cNvSpPr txBox="1"/>
          <p:nvPr/>
        </p:nvSpPr>
        <p:spPr>
          <a:xfrm>
            <a:off x="8174736" y="5293757"/>
            <a:ext cx="15087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CALIBRATION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5293757"/>
            <a:ext cx="15087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600" b="0">
                <a:solidFill>
                  <a:srgbClr val="5E6A78"/>
                </a:solidFill>
                <a:latin typeface="Aptos"/>
              </a:rPr>
              <a:t>Hiệu chỉnh xác suất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075267"/>
            <a:ext cx="106070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dirty="0" err="1">
                <a:solidFill>
                  <a:srgbClr val="5E6A78"/>
                </a:solidFill>
                <a:latin typeface="Aptos"/>
              </a:rPr>
              <a:t>Mô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hình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học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từ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dữ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liệu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quá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khứ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và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được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đánh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giá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trên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giai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đoạn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tương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lai.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5E6A78"/>
                </a:solidFill>
                <a:latin typeface="Aptos"/>
              </a:rPr>
              <a:t>Cơ sở Khoa học Dữ liệu  •  SLA &amp; Customer Experience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565392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>
                <a:solidFill>
                  <a:srgbClr val="5E6A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 dirty="0">
                <a:solidFill>
                  <a:srgbClr val="162C46"/>
                </a:solidFill>
                <a:latin typeface="Aptos Display"/>
              </a:rPr>
              <a:t>EVALUATION — ĐÁNH GIÁ HIỆU QUẢ DỰ BÁO LOW RATING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50392"/>
            <a:ext cx="11045952" cy="0"/>
          </a:xfrm>
          <a:prstGeom prst="line">
            <a:avLst/>
          </a:prstGeom>
          <a:ln w="25400">
            <a:solidFill>
              <a:srgbClr val="2F6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09960" y="30175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5E6A78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27432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2F639D"/>
                </a:solidFill>
                <a:latin typeface="Aptos"/>
              </a:rPr>
              <a:t>1. EVALUATION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63066"/>
            <a:ext cx="2011680" cy="100521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768096" y="1613334"/>
            <a:ext cx="1792224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PR-AUC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48976"/>
            <a:ext cx="2011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dirty="0" err="1">
                <a:solidFill>
                  <a:srgbClr val="5E6A78"/>
                </a:solidFill>
                <a:latin typeface="Aptos"/>
              </a:rPr>
              <a:t>Nhận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diện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Low 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563066"/>
            <a:ext cx="2011680" cy="10052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3008376" y="1613334"/>
            <a:ext cx="1792224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2001977"/>
            <a:ext cx="201168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dirty="0" err="1">
                <a:solidFill>
                  <a:srgbClr val="5E6A78"/>
                </a:solidFill>
                <a:latin typeface="Aptos"/>
              </a:rPr>
              <a:t>Cải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thiện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so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với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random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8" y="1563065"/>
            <a:ext cx="2011680" cy="1005219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5248656" y="1613334"/>
            <a:ext cx="1792224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9889" y="1947594"/>
            <a:ext cx="1792224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dirty="0" err="1">
                <a:solidFill>
                  <a:srgbClr val="5E6A78"/>
                </a:solidFill>
                <a:latin typeface="Aptos"/>
              </a:rPr>
              <a:t>Độ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tin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cậy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xác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suất</a:t>
            </a:r>
            <a:endParaRPr sz="1600" b="0" dirty="0">
              <a:solidFill>
                <a:srgbClr val="5E6A78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2273" y="2870880"/>
            <a:ext cx="42062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2. MODEL PERFORMANCE — TEST 2024–2026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2273" y="3209208"/>
            <a:ext cx="2743200" cy="438912"/>
          </a:xfrm>
          <a:prstGeom prst="rect">
            <a:avLst/>
          </a:prstGeom>
          <a:solidFill>
            <a:srgbClr val="162C46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707137" y="3309792"/>
            <a:ext cx="263347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95473" y="3209208"/>
            <a:ext cx="1143000" cy="438912"/>
          </a:xfrm>
          <a:prstGeom prst="rect">
            <a:avLst/>
          </a:prstGeom>
          <a:solidFill>
            <a:srgbClr val="162C46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3450337" y="3309792"/>
            <a:ext cx="1033271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PR-AUC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8473" y="3209208"/>
            <a:ext cx="1097280" cy="438912"/>
          </a:xfrm>
          <a:prstGeom prst="rect">
            <a:avLst/>
          </a:prstGeom>
          <a:solidFill>
            <a:srgbClr val="162C46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4593336" y="3309792"/>
            <a:ext cx="98755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Lift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2273" y="3648120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707137" y="3739560"/>
            <a:ext cx="263347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242B33"/>
                </a:solidFill>
                <a:latin typeface="Aptos"/>
              </a:rPr>
              <a:t>M0 — Prevalence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95473" y="3648120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3450337" y="3739560"/>
            <a:ext cx="1033271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>
                <a:solidFill>
                  <a:srgbClr val="242B33"/>
                </a:solidFill>
                <a:latin typeface="Aptos"/>
              </a:rPr>
              <a:t>0,0168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38473" y="364812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4593336" y="3739560"/>
            <a:ext cx="98755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>
                <a:solidFill>
                  <a:srgbClr val="242B33"/>
                </a:solidFill>
                <a:latin typeface="Aptos"/>
              </a:rPr>
              <a:t>1,00×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2273" y="4059600"/>
            <a:ext cx="2743200" cy="411480"/>
          </a:xfrm>
          <a:prstGeom prst="rect">
            <a:avLst/>
          </a:prstGeom>
          <a:solidFill>
            <a:srgbClr val="EEF4FA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9" name="TextBox 28"/>
          <p:cNvSpPr txBox="1"/>
          <p:nvPr/>
        </p:nvSpPr>
        <p:spPr>
          <a:xfrm>
            <a:off x="707137" y="4151039"/>
            <a:ext cx="263347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M1a — SLA Breach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95473" y="4059600"/>
            <a:ext cx="1143000" cy="411480"/>
          </a:xfrm>
          <a:prstGeom prst="rect">
            <a:avLst/>
          </a:prstGeom>
          <a:solidFill>
            <a:srgbClr val="EEF4FA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TextBox 30"/>
          <p:cNvSpPr txBox="1"/>
          <p:nvPr/>
        </p:nvSpPr>
        <p:spPr>
          <a:xfrm>
            <a:off x="3450337" y="4151039"/>
            <a:ext cx="1033271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0,0179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38473" y="4059600"/>
            <a:ext cx="1097280" cy="411480"/>
          </a:xfrm>
          <a:prstGeom prst="rect">
            <a:avLst/>
          </a:prstGeom>
          <a:solidFill>
            <a:srgbClr val="EEF4FA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3" name="TextBox 32"/>
          <p:cNvSpPr txBox="1"/>
          <p:nvPr/>
        </p:nvSpPr>
        <p:spPr>
          <a:xfrm>
            <a:off x="4593336" y="4151039"/>
            <a:ext cx="98755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1,06×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2273" y="4471080"/>
            <a:ext cx="2743200" cy="411480"/>
          </a:xfrm>
          <a:prstGeom prst="rect">
            <a:avLst/>
          </a:prstGeom>
          <a:solidFill>
            <a:srgbClr val="EEF4FA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5" name="TextBox 34"/>
          <p:cNvSpPr txBox="1"/>
          <p:nvPr/>
        </p:nvSpPr>
        <p:spPr>
          <a:xfrm>
            <a:off x="707137" y="4562520"/>
            <a:ext cx="263347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M1b — Lead Time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95473" y="4471080"/>
            <a:ext cx="1143000" cy="411480"/>
          </a:xfrm>
          <a:prstGeom prst="rect">
            <a:avLst/>
          </a:prstGeom>
          <a:solidFill>
            <a:srgbClr val="EEF4FA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7" name="TextBox 36"/>
          <p:cNvSpPr txBox="1"/>
          <p:nvPr/>
        </p:nvSpPr>
        <p:spPr>
          <a:xfrm>
            <a:off x="3450337" y="4562520"/>
            <a:ext cx="1033271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0,0244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38473" y="4471080"/>
            <a:ext cx="1097280" cy="411480"/>
          </a:xfrm>
          <a:prstGeom prst="rect">
            <a:avLst/>
          </a:prstGeom>
          <a:solidFill>
            <a:srgbClr val="EEF4FA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9" name="TextBox 38"/>
          <p:cNvSpPr txBox="1"/>
          <p:nvPr/>
        </p:nvSpPr>
        <p:spPr>
          <a:xfrm>
            <a:off x="4593336" y="4562520"/>
            <a:ext cx="98755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1,45×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2273" y="4882560"/>
            <a:ext cx="2743200" cy="411480"/>
          </a:xfrm>
          <a:prstGeom prst="rect">
            <a:avLst/>
          </a:prstGeom>
          <a:solidFill>
            <a:srgbClr val="EEF4FA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1" name="TextBox 40"/>
          <p:cNvSpPr txBox="1"/>
          <p:nvPr/>
        </p:nvSpPr>
        <p:spPr>
          <a:xfrm>
            <a:off x="707137" y="4974000"/>
            <a:ext cx="263347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M2 — Logistic Regression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95473" y="4882560"/>
            <a:ext cx="1143000" cy="411480"/>
          </a:xfrm>
          <a:prstGeom prst="rect">
            <a:avLst/>
          </a:prstGeom>
          <a:solidFill>
            <a:srgbClr val="EEF4FA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3" name="TextBox 42"/>
          <p:cNvSpPr txBox="1"/>
          <p:nvPr/>
        </p:nvSpPr>
        <p:spPr>
          <a:xfrm>
            <a:off x="3450337" y="4974000"/>
            <a:ext cx="1033271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0,0641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8473" y="4882560"/>
            <a:ext cx="1097280" cy="411480"/>
          </a:xfrm>
          <a:prstGeom prst="rect">
            <a:avLst/>
          </a:prstGeom>
          <a:solidFill>
            <a:srgbClr val="EEF4FA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5" name="TextBox 44"/>
          <p:cNvSpPr txBox="1"/>
          <p:nvPr/>
        </p:nvSpPr>
        <p:spPr>
          <a:xfrm>
            <a:off x="4593336" y="4974000"/>
            <a:ext cx="98755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3,82×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2273" y="5294040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7" name="TextBox 46"/>
          <p:cNvSpPr txBox="1"/>
          <p:nvPr/>
        </p:nvSpPr>
        <p:spPr>
          <a:xfrm>
            <a:off x="707137" y="5385480"/>
            <a:ext cx="263347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242B33"/>
                </a:solidFill>
                <a:latin typeface="Aptos"/>
              </a:rPr>
              <a:t>M5 — GBM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95473" y="5294040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9" name="TextBox 48"/>
          <p:cNvSpPr txBox="1"/>
          <p:nvPr/>
        </p:nvSpPr>
        <p:spPr>
          <a:xfrm>
            <a:off x="3450337" y="5385480"/>
            <a:ext cx="1033271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>
                <a:solidFill>
                  <a:srgbClr val="242B33"/>
                </a:solidFill>
                <a:latin typeface="Aptos"/>
              </a:rPr>
              <a:t>0,0548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38473" y="529404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1" name="TextBox 50"/>
          <p:cNvSpPr txBox="1"/>
          <p:nvPr/>
        </p:nvSpPr>
        <p:spPr>
          <a:xfrm>
            <a:off x="4593336" y="5385480"/>
            <a:ext cx="98755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>
                <a:solidFill>
                  <a:srgbClr val="242B33"/>
                </a:solidFill>
                <a:latin typeface="Aptos"/>
              </a:rPr>
              <a:t>3,27×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2273" y="5705520"/>
            <a:ext cx="2743200" cy="411480"/>
          </a:xfrm>
          <a:prstGeom prst="rect">
            <a:avLst/>
          </a:prstGeom>
          <a:solidFill>
            <a:srgbClr val="EEF4FA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3" name="TextBox 52"/>
          <p:cNvSpPr txBox="1"/>
          <p:nvPr/>
        </p:nvSpPr>
        <p:spPr>
          <a:xfrm>
            <a:off x="707137" y="5796959"/>
            <a:ext cx="263347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M7 — Ensemble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95473" y="5705520"/>
            <a:ext cx="1143000" cy="411480"/>
          </a:xfrm>
          <a:prstGeom prst="rect">
            <a:avLst/>
          </a:prstGeom>
          <a:solidFill>
            <a:srgbClr val="EEF4FA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5" name="TextBox 54"/>
          <p:cNvSpPr txBox="1"/>
          <p:nvPr/>
        </p:nvSpPr>
        <p:spPr>
          <a:xfrm>
            <a:off x="3450337" y="5796959"/>
            <a:ext cx="1033271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0,0632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38473" y="5705520"/>
            <a:ext cx="1097280" cy="411480"/>
          </a:xfrm>
          <a:prstGeom prst="rect">
            <a:avLst/>
          </a:prstGeom>
          <a:solidFill>
            <a:srgbClr val="EEF4FA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7" name="TextBox 56"/>
          <p:cNvSpPr txBox="1"/>
          <p:nvPr/>
        </p:nvSpPr>
        <p:spPr>
          <a:xfrm>
            <a:off x="4593336" y="5796959"/>
            <a:ext cx="98755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3,76×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33488" y="1078992"/>
            <a:ext cx="29260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2F639D"/>
                </a:solidFill>
                <a:latin typeface="Aptos"/>
              </a:rPr>
              <a:t>3. PRACTICAL PERFORMANCE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27394" y="1443524"/>
            <a:ext cx="4434840" cy="292608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0" name="TextBox 59"/>
          <p:cNvSpPr txBox="1"/>
          <p:nvPr/>
        </p:nvSpPr>
        <p:spPr>
          <a:xfrm>
            <a:off x="7601713" y="1518021"/>
            <a:ext cx="37033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62C46"/>
                </a:solidFill>
                <a:latin typeface="Aptos"/>
              </a:rPr>
              <a:t>TOP 5% RISK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01713" y="1984365"/>
            <a:ext cx="37033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23,3%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01713" y="2533005"/>
            <a:ext cx="37033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dirty="0" err="1">
                <a:solidFill>
                  <a:srgbClr val="5E6A78"/>
                </a:solidFill>
                <a:latin typeface="Aptos"/>
              </a:rPr>
              <a:t>tổng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số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Low Rating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được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nhận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diện</a:t>
            </a:r>
            <a:endParaRPr sz="1600" b="0" dirty="0">
              <a:solidFill>
                <a:srgbClr val="5E6A78"/>
              </a:solidFill>
              <a:latin typeface="Apto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601713" y="3008493"/>
            <a:ext cx="16916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62C46"/>
                </a:solidFill>
                <a:latin typeface="Aptos"/>
              </a:rPr>
              <a:t>Precision 7,8%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84793" y="3008493"/>
            <a:ext cx="1874519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62C46"/>
                </a:solidFill>
                <a:latin typeface="Aptos"/>
              </a:rPr>
              <a:t>4,7× vs random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91401" y="3694293"/>
            <a:ext cx="411480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>
                <a:solidFill>
                  <a:srgbClr val="5E6A78"/>
                </a:solidFill>
                <a:latin typeface="Aptos"/>
              </a:rPr>
              <a:t>Ensemble calibration: Predicted 1,63% ≈ Actual 1,68% · ECE 0,003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33488" y="4640580"/>
            <a:ext cx="4434840" cy="1425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7" name="TextBox 66"/>
          <p:cNvSpPr txBox="1"/>
          <p:nvPr/>
        </p:nvSpPr>
        <p:spPr>
          <a:xfrm>
            <a:off x="7580376" y="4841748"/>
            <a:ext cx="10972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2F639D"/>
                </a:solidFill>
                <a:latin typeface="Aptos"/>
              </a:rPr>
              <a:t>KẾT LUẬN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0376" y="5161788"/>
            <a:ext cx="3886200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62C46"/>
                </a:solidFill>
                <a:latin typeface="Aptos"/>
              </a:rPr>
              <a:t>SLA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đơn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lẻ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cung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cấp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ít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khả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năng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nhận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diện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Low Rating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hơn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mô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hình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kết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hợp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nhiều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Features.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5E6A78"/>
                </a:solidFill>
                <a:latin typeface="Aptos"/>
              </a:rPr>
              <a:t>Cơ sở Khoa học Dữ liệu  •  SLA &amp; Customer Experience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01400" y="6565392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>
                <a:solidFill>
                  <a:srgbClr val="5E6A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 dirty="0">
                <a:solidFill>
                  <a:srgbClr val="162C46"/>
                </a:solidFill>
                <a:latin typeface="Aptos Display"/>
              </a:rPr>
              <a:t>INSIGHTS — VÌ SAO CHỈ NHÌN SLA LÀ CHƯA ĐỦ?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50392"/>
            <a:ext cx="11045952" cy="0"/>
          </a:xfrm>
          <a:prstGeom prst="line">
            <a:avLst/>
          </a:prstGeom>
          <a:ln w="25400">
            <a:solidFill>
              <a:srgbClr val="2F6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09960" y="30175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5E6A78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36576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1. SLA BINARY LÀM MẤT THÔNG TIN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35640" cy="102412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896112" y="1618489"/>
            <a:ext cx="29260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387D67"/>
                </a:solidFill>
                <a:latin typeface="Aptos"/>
              </a:rPr>
              <a:t>1 </a:t>
            </a:r>
            <a:r>
              <a:rPr sz="1600" b="1" dirty="0" err="1">
                <a:solidFill>
                  <a:srgbClr val="387D67"/>
                </a:solidFill>
                <a:latin typeface="Aptos"/>
              </a:rPr>
              <a:t>ngày</a:t>
            </a:r>
            <a:r>
              <a:rPr sz="1600" b="1" dirty="0">
                <a:solidFill>
                  <a:srgbClr val="387D67"/>
                </a:solidFill>
                <a:latin typeface="Aptos"/>
              </a:rPr>
              <a:t> ───────── 4,9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6310" y="1618489"/>
            <a:ext cx="155721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B14242"/>
                </a:solidFill>
                <a:latin typeface="Aptos"/>
              </a:rPr>
              <a:t>│ SLA = 5 </a:t>
            </a:r>
            <a:r>
              <a:rPr sz="1600" b="1" dirty="0" err="1">
                <a:solidFill>
                  <a:srgbClr val="B14242"/>
                </a:solidFill>
                <a:latin typeface="Aptos"/>
              </a:rPr>
              <a:t>ngày</a:t>
            </a:r>
            <a:r>
              <a:rPr sz="1600" b="1" dirty="0">
                <a:solidFill>
                  <a:srgbClr val="B14242"/>
                </a:solidFill>
                <a:latin typeface="Aptos"/>
              </a:rPr>
              <a:t> 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9824" y="1618489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BE7D2F"/>
                </a:solidFill>
                <a:latin typeface="Aptos"/>
              </a:rPr>
              <a:t>5,1 ───────────── 10 </a:t>
            </a:r>
            <a:r>
              <a:rPr sz="1600" b="1" dirty="0" err="1">
                <a:solidFill>
                  <a:srgbClr val="BE7D2F"/>
                </a:solidFill>
                <a:latin typeface="Aptos"/>
              </a:rPr>
              <a:t>ngày</a:t>
            </a:r>
            <a:endParaRPr sz="1600" b="1" dirty="0">
              <a:solidFill>
                <a:srgbClr val="BE7D2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1956817"/>
            <a:ext cx="29260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387D67"/>
                </a:solidFill>
                <a:latin typeface="Aptos"/>
              </a:rPr>
              <a:t>WITHIN SLA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9824" y="1956817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BE7D2F"/>
                </a:solidFill>
                <a:latin typeface="Aptos"/>
              </a:rPr>
              <a:t>BREACH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1517905"/>
            <a:ext cx="2423160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 err="1">
                <a:solidFill>
                  <a:srgbClr val="162C46"/>
                </a:solidFill>
                <a:latin typeface="Aptos"/>
              </a:rPr>
              <a:t>Ngưỡng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nhị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phân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làm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mất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một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phần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thông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tin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của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Lead Time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liên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tục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51756"/>
            <a:ext cx="46177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2F639D"/>
                </a:solidFill>
                <a:latin typeface="Aptos"/>
              </a:rPr>
              <a:t>2. CUSTOMER SIGNAL BỔ SUNG THÔNG TIN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90672"/>
            <a:ext cx="5212080" cy="22456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932688" y="3171370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62C46"/>
                </a:solidFill>
                <a:latin typeface="Aptos"/>
              </a:rPr>
              <a:t>SLA Breach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3171370"/>
            <a:ext cx="10972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600" b="1">
                <a:solidFill>
                  <a:srgbClr val="2F639D"/>
                </a:solidFill>
                <a:latin typeface="Aptos"/>
              </a:rPr>
              <a:t>1,09×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56456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62C46"/>
                </a:solidFill>
                <a:latin typeface="Aptos"/>
              </a:rPr>
              <a:t>Lead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3564562"/>
            <a:ext cx="10972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600" b="1">
                <a:solidFill>
                  <a:srgbClr val="2F639D"/>
                </a:solidFill>
                <a:latin typeface="Aptos"/>
              </a:rPr>
              <a:t>1,51×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957753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62C46"/>
                </a:solidFill>
                <a:latin typeface="Aptos"/>
              </a:rPr>
              <a:t>Customer Delivery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3957753"/>
            <a:ext cx="10972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600" b="1">
                <a:solidFill>
                  <a:srgbClr val="2F639D"/>
                </a:solidFill>
                <a:latin typeface="Aptos"/>
              </a:rPr>
              <a:t>1,51×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50945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Lead Time + Customer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6" y="4350945"/>
            <a:ext cx="10972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600" b="1">
                <a:solidFill>
                  <a:srgbClr val="2F639D"/>
                </a:solidFill>
                <a:latin typeface="Aptos"/>
              </a:rPr>
              <a:t>2,52×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670986"/>
            <a:ext cx="4617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5E6A78"/>
                </a:solidFill>
                <a:latin typeface="Aptos"/>
              </a:rPr>
              <a:t>ΔPR-AUC (Lead Time + Status vs Lead Time): +0,0195 · 95% CI [+0,0109; +0,0342]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646831"/>
            <a:ext cx="40233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2F639D"/>
                </a:solidFill>
                <a:latin typeface="Aptos"/>
              </a:rPr>
              <a:t>3. LOW RATING KHÔNG CHỈ LÀ DELIVERY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090672"/>
            <a:ext cx="5321808" cy="2245603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6419088" y="3319272"/>
            <a:ext cx="48006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62C46"/>
                </a:solidFill>
                <a:latin typeface="Aptos"/>
              </a:rPr>
              <a:t>Mức giảm PR-AUC khi loại nhóm Feature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749039"/>
            <a:ext cx="16002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242B33"/>
                </a:solidFill>
                <a:latin typeface="Aptos"/>
              </a:rPr>
              <a:t>Product History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6448" y="3776472"/>
            <a:ext cx="2331720" cy="146304"/>
          </a:xfrm>
          <a:prstGeom prst="rect">
            <a:avLst/>
          </a:prstGeom>
          <a:solidFill>
            <a:srgbClr val="4C80B5"/>
          </a:solidFill>
          <a:ln w="12700">
            <a:solidFill>
              <a:srgbClr val="4C8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9" name="TextBox 28"/>
          <p:cNvSpPr txBox="1"/>
          <p:nvPr/>
        </p:nvSpPr>
        <p:spPr>
          <a:xfrm>
            <a:off x="10588752" y="3728840"/>
            <a:ext cx="90525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600" b="1" dirty="0">
                <a:solidFill>
                  <a:srgbClr val="162C46"/>
                </a:solidFill>
                <a:latin typeface="Aptos"/>
              </a:rPr>
              <a:t>−0,0103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187952"/>
            <a:ext cx="160020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242B33"/>
                </a:solidFill>
                <a:latin typeface="Aptos"/>
              </a:rPr>
              <a:t>Customer History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56448" y="4215384"/>
            <a:ext cx="1607302" cy="146304"/>
          </a:xfrm>
          <a:prstGeom prst="rect">
            <a:avLst/>
          </a:prstGeom>
          <a:solidFill>
            <a:srgbClr val="4C80B5"/>
          </a:solidFill>
          <a:ln w="12700">
            <a:solidFill>
              <a:srgbClr val="4C8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2" name="TextBox 31"/>
          <p:cNvSpPr txBox="1"/>
          <p:nvPr/>
        </p:nvSpPr>
        <p:spPr>
          <a:xfrm>
            <a:off x="10588752" y="4187952"/>
            <a:ext cx="90525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600" b="1" dirty="0">
                <a:solidFill>
                  <a:srgbClr val="162C46"/>
                </a:solidFill>
                <a:latin typeface="Aptos"/>
              </a:rPr>
              <a:t>−0,0071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626864"/>
            <a:ext cx="16002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242B33"/>
                </a:solidFill>
                <a:latin typeface="Aptos"/>
              </a:rPr>
              <a:t>Delivery Features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56448" y="4654296"/>
            <a:ext cx="294294" cy="146304"/>
          </a:xfrm>
          <a:prstGeom prst="rect">
            <a:avLst/>
          </a:prstGeom>
          <a:solidFill>
            <a:srgbClr val="4C80B5"/>
          </a:solidFill>
          <a:ln w="12700">
            <a:solidFill>
              <a:srgbClr val="4C8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5" name="TextBox 34"/>
          <p:cNvSpPr txBox="1"/>
          <p:nvPr/>
        </p:nvSpPr>
        <p:spPr>
          <a:xfrm>
            <a:off x="10588752" y="4626864"/>
            <a:ext cx="90525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600" b="1" dirty="0">
                <a:solidFill>
                  <a:srgbClr val="162C46"/>
                </a:solidFill>
                <a:latin typeface="Aptos"/>
              </a:rPr>
              <a:t>−0,0013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94799"/>
            <a:ext cx="10835640" cy="658368"/>
          </a:xfrm>
          <a:prstGeom prst="roundRect">
            <a:avLst/>
          </a:prstGeom>
          <a:solidFill>
            <a:srgbClr val="162C46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7" name="TextBox 36"/>
          <p:cNvSpPr txBox="1"/>
          <p:nvPr/>
        </p:nvSpPr>
        <p:spPr>
          <a:xfrm>
            <a:off x="932688" y="5777679"/>
            <a:ext cx="102870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SLA là một tín hiệu hữu ích, nhưng không đủ để mô tả toàn bộ trải nghiệm giao hàng và nguy cơ Low Rating.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5E6A78"/>
                </a:solidFill>
                <a:latin typeface="Aptos"/>
              </a:rPr>
              <a:t>Cơ sở Khoa học Dữ liệu  •  SLA &amp; Customer Experience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65392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>
                <a:solidFill>
                  <a:srgbClr val="5E6A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36661"/>
            <a:ext cx="10972800" cy="9971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 dirty="0">
                <a:solidFill>
                  <a:srgbClr val="162C46"/>
                </a:solidFill>
                <a:latin typeface="Aptos Display"/>
              </a:rPr>
              <a:t>BUSINESS VALUE — TỪ SLA ĐẾN GÓC NHÌN LẤY KHÁCH HÀNG LÀM TRUNG TÂM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61932"/>
            <a:ext cx="11045952" cy="0"/>
          </a:xfrm>
          <a:prstGeom prst="line">
            <a:avLst/>
          </a:prstGeom>
          <a:ln w="25400">
            <a:solidFill>
              <a:srgbClr val="2F6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09960" y="30175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5E6A78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72471"/>
            <a:ext cx="29260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1. KẾT LUẬN NGHIÊN CỨU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0799"/>
            <a:ext cx="5257800" cy="2276008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42B33"/>
                </a:solidFill>
                <a:latin typeface="Aptos"/>
              </a:defRPr>
            </a:pPr>
            <a:r>
              <a:rPr sz="1600" dirty="0"/>
              <a:t>• Median Lead Time 1,26 </a:t>
            </a:r>
            <a:r>
              <a:rPr sz="1600" dirty="0" err="1"/>
              <a:t>ngày</a:t>
            </a:r>
            <a:r>
              <a:rPr sz="1600" dirty="0"/>
              <a:t>, </a:t>
            </a:r>
            <a:r>
              <a:rPr sz="1600" dirty="0" err="1"/>
              <a:t>nhưng</a:t>
            </a:r>
            <a:r>
              <a:rPr sz="1600" dirty="0"/>
              <a:t> </a:t>
            </a:r>
            <a:r>
              <a:rPr sz="1600" dirty="0" err="1"/>
              <a:t>vẫn</a:t>
            </a:r>
            <a:r>
              <a:rPr sz="1600" dirty="0"/>
              <a:t> </a:t>
            </a:r>
            <a:r>
              <a:rPr sz="1600" dirty="0" err="1"/>
              <a:t>tồn</a:t>
            </a:r>
            <a:r>
              <a:rPr sz="1600" dirty="0"/>
              <a:t> </a:t>
            </a:r>
            <a:r>
              <a:rPr sz="1600" dirty="0" err="1"/>
              <a:t>tại</a:t>
            </a:r>
            <a:r>
              <a:rPr sz="1600" dirty="0"/>
              <a:t> </a:t>
            </a:r>
            <a:r>
              <a:rPr sz="1600" dirty="0" err="1"/>
              <a:t>nhóm</a:t>
            </a:r>
            <a:r>
              <a:rPr sz="1600" dirty="0"/>
              <a:t> </a:t>
            </a:r>
            <a:r>
              <a:rPr sz="1600" dirty="0" err="1"/>
              <a:t>giao</a:t>
            </a:r>
            <a:r>
              <a:rPr sz="1600" dirty="0"/>
              <a:t> </a:t>
            </a:r>
            <a:r>
              <a:rPr sz="1600" dirty="0" err="1"/>
              <a:t>rất</a:t>
            </a:r>
            <a:r>
              <a:rPr sz="1600" dirty="0"/>
              <a:t> </a:t>
            </a:r>
            <a:r>
              <a:rPr sz="1600" dirty="0" err="1"/>
              <a:t>chậm</a:t>
            </a:r>
            <a:r>
              <a:rPr sz="1600" dirty="0"/>
              <a:t>.</a:t>
            </a:r>
          </a:p>
          <a:p>
            <a:pPr>
              <a:spcAft>
                <a:spcPts val="700"/>
              </a:spcAft>
              <a:defRPr sz="1250">
                <a:solidFill>
                  <a:srgbClr val="242B33"/>
                </a:solidFill>
                <a:latin typeface="Aptos"/>
              </a:defRPr>
            </a:pPr>
            <a:r>
              <a:rPr sz="1600" dirty="0"/>
              <a:t>• SLA </a:t>
            </a:r>
            <a:r>
              <a:rPr sz="1600" dirty="0" err="1"/>
              <a:t>và</a:t>
            </a:r>
            <a:r>
              <a:rPr sz="1600" dirty="0"/>
              <a:t> </a:t>
            </a:r>
            <a:r>
              <a:rPr sz="1600" dirty="0" err="1"/>
              <a:t>cảm</a:t>
            </a:r>
            <a:r>
              <a:rPr sz="1600" dirty="0"/>
              <a:t> </a:t>
            </a:r>
            <a:r>
              <a:rPr sz="1600" dirty="0" err="1"/>
              <a:t>nhận</a:t>
            </a:r>
            <a:r>
              <a:rPr sz="1600" dirty="0"/>
              <a:t> </a:t>
            </a:r>
            <a:r>
              <a:rPr sz="1600" dirty="0" err="1"/>
              <a:t>khách</a:t>
            </a:r>
            <a:r>
              <a:rPr sz="1600" dirty="0"/>
              <a:t> </a:t>
            </a:r>
            <a:r>
              <a:rPr sz="1600" dirty="0" err="1"/>
              <a:t>hàng</a:t>
            </a:r>
            <a:r>
              <a:rPr sz="1600" dirty="0"/>
              <a:t> </a:t>
            </a:r>
            <a:r>
              <a:rPr sz="1600" dirty="0" err="1"/>
              <a:t>không</a:t>
            </a:r>
            <a:r>
              <a:rPr sz="1600" dirty="0"/>
              <a:t> </a:t>
            </a:r>
            <a:r>
              <a:rPr sz="1600" dirty="0" err="1"/>
              <a:t>phải</a:t>
            </a:r>
            <a:r>
              <a:rPr sz="1600" dirty="0"/>
              <a:t> </a:t>
            </a:r>
            <a:r>
              <a:rPr sz="1600" dirty="0" err="1"/>
              <a:t>lúc</a:t>
            </a:r>
            <a:r>
              <a:rPr sz="1600" dirty="0"/>
              <a:t> </a:t>
            </a:r>
            <a:r>
              <a:rPr sz="1600" dirty="0" err="1"/>
              <a:t>nào</a:t>
            </a:r>
            <a:r>
              <a:rPr sz="1600" dirty="0"/>
              <a:t> </a:t>
            </a:r>
            <a:r>
              <a:rPr sz="1600" dirty="0" err="1"/>
              <a:t>cũng</a:t>
            </a:r>
            <a:r>
              <a:rPr sz="1600" dirty="0"/>
              <a:t> </a:t>
            </a:r>
            <a:r>
              <a:rPr sz="1600" dirty="0" err="1"/>
              <a:t>đồng</a:t>
            </a:r>
            <a:r>
              <a:rPr sz="1600" dirty="0"/>
              <a:t> </a:t>
            </a:r>
            <a:r>
              <a:rPr sz="1600" dirty="0" err="1"/>
              <a:t>nhất</a:t>
            </a:r>
            <a:r>
              <a:rPr sz="1600" dirty="0"/>
              <a:t>.</a:t>
            </a:r>
          </a:p>
          <a:p>
            <a:pPr>
              <a:spcAft>
                <a:spcPts val="700"/>
              </a:spcAft>
              <a:defRPr sz="1250">
                <a:solidFill>
                  <a:srgbClr val="242B33"/>
                </a:solidFill>
                <a:latin typeface="Aptos"/>
              </a:defRPr>
            </a:pPr>
            <a:r>
              <a:rPr sz="1600" dirty="0"/>
              <a:t>• SLA Breach </a:t>
            </a:r>
            <a:r>
              <a:rPr sz="1600" dirty="0" err="1"/>
              <a:t>đơn</a:t>
            </a:r>
            <a:r>
              <a:rPr sz="1600" dirty="0"/>
              <a:t> </a:t>
            </a:r>
            <a:r>
              <a:rPr sz="1600" dirty="0" err="1"/>
              <a:t>lẻ</a:t>
            </a:r>
            <a:r>
              <a:rPr sz="1600" dirty="0"/>
              <a:t> </a:t>
            </a:r>
            <a:r>
              <a:rPr sz="1600" dirty="0" err="1"/>
              <a:t>chỉ</a:t>
            </a:r>
            <a:r>
              <a:rPr sz="1600" dirty="0"/>
              <a:t> </a:t>
            </a:r>
            <a:r>
              <a:rPr sz="1600" dirty="0" err="1"/>
              <a:t>đạt</a:t>
            </a:r>
            <a:r>
              <a:rPr sz="1600" dirty="0"/>
              <a:t> Lift 1,06× </a:t>
            </a:r>
            <a:r>
              <a:rPr sz="1600" dirty="0" err="1"/>
              <a:t>trong</a:t>
            </a:r>
            <a:r>
              <a:rPr sz="1600" dirty="0"/>
              <a:t> </a:t>
            </a:r>
            <a:r>
              <a:rPr sz="1600" dirty="0" err="1"/>
              <a:t>nhận</a:t>
            </a:r>
            <a:r>
              <a:rPr sz="1600" dirty="0"/>
              <a:t> </a:t>
            </a:r>
            <a:r>
              <a:rPr sz="1600" dirty="0" err="1"/>
              <a:t>diện</a:t>
            </a:r>
            <a:r>
              <a:rPr sz="1600" dirty="0"/>
              <a:t> Low Rating.</a:t>
            </a:r>
          </a:p>
          <a:p>
            <a:pPr>
              <a:spcAft>
                <a:spcPts val="700"/>
              </a:spcAft>
              <a:defRPr sz="1250">
                <a:solidFill>
                  <a:srgbClr val="242B33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Mô</a:t>
            </a:r>
            <a:r>
              <a:rPr sz="1600" dirty="0"/>
              <a:t> </a:t>
            </a:r>
            <a:r>
              <a:rPr sz="1600" dirty="0" err="1"/>
              <a:t>hình</a:t>
            </a:r>
            <a:r>
              <a:rPr sz="1600" dirty="0"/>
              <a:t> </a:t>
            </a:r>
            <a:r>
              <a:rPr sz="1600" dirty="0" err="1"/>
              <a:t>kết</a:t>
            </a:r>
            <a:r>
              <a:rPr sz="1600" dirty="0"/>
              <a:t> </a:t>
            </a:r>
            <a:r>
              <a:rPr sz="1600" dirty="0" err="1"/>
              <a:t>hợp</a:t>
            </a:r>
            <a:r>
              <a:rPr sz="1600" dirty="0"/>
              <a:t> </a:t>
            </a:r>
            <a:r>
              <a:rPr sz="1600" dirty="0" err="1"/>
              <a:t>nhiều</a:t>
            </a:r>
            <a:r>
              <a:rPr sz="1600" dirty="0"/>
              <a:t> Features </a:t>
            </a:r>
            <a:r>
              <a:rPr sz="1600" dirty="0" err="1"/>
              <a:t>cung</a:t>
            </a:r>
            <a:r>
              <a:rPr sz="1600" dirty="0"/>
              <a:t> </a:t>
            </a:r>
            <a:r>
              <a:rPr sz="1600" dirty="0" err="1"/>
              <a:t>cấp</a:t>
            </a:r>
            <a:r>
              <a:rPr sz="1600" dirty="0"/>
              <a:t> </a:t>
            </a:r>
            <a:r>
              <a:rPr sz="1600" dirty="0" err="1"/>
              <a:t>tín</a:t>
            </a:r>
            <a:r>
              <a:rPr sz="1600" dirty="0"/>
              <a:t> </a:t>
            </a:r>
            <a:r>
              <a:rPr sz="1600" dirty="0" err="1"/>
              <a:t>hiệu</a:t>
            </a:r>
            <a:r>
              <a:rPr sz="1600" dirty="0"/>
              <a:t> </a:t>
            </a:r>
            <a:r>
              <a:rPr sz="1600" dirty="0" err="1"/>
              <a:t>rủi</a:t>
            </a:r>
            <a:r>
              <a:rPr sz="1600" dirty="0"/>
              <a:t> </a:t>
            </a:r>
            <a:r>
              <a:rPr sz="1600" dirty="0" err="1"/>
              <a:t>ro</a:t>
            </a:r>
            <a:r>
              <a:rPr sz="1600" dirty="0"/>
              <a:t> </a:t>
            </a:r>
            <a:r>
              <a:rPr sz="1600" dirty="0" err="1"/>
              <a:t>tốt</a:t>
            </a:r>
            <a:r>
              <a:rPr sz="1600" dirty="0"/>
              <a:t> </a:t>
            </a:r>
            <a:r>
              <a:rPr sz="1600" dirty="0" err="1"/>
              <a:t>hơn</a:t>
            </a:r>
            <a:r>
              <a:rPr sz="1600" dirty="0"/>
              <a:t> SLA </a:t>
            </a:r>
            <a:r>
              <a:rPr sz="1600" dirty="0" err="1"/>
              <a:t>đơn</a:t>
            </a:r>
            <a:r>
              <a:rPr sz="1600" dirty="0"/>
              <a:t> </a:t>
            </a:r>
            <a:r>
              <a:rPr sz="1600" dirty="0" err="1"/>
              <a:t>lẻ</a:t>
            </a:r>
            <a:r>
              <a:rPr sz="16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8192" y="1272471"/>
            <a:ext cx="25603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2. BUSINESS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610799"/>
            <a:ext cx="5321808" cy="24231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Rounded Rectangle 8"/>
          <p:cNvSpPr/>
          <p:nvPr/>
        </p:nvSpPr>
        <p:spPr>
          <a:xfrm>
            <a:off x="6318504" y="1930838"/>
            <a:ext cx="1417320" cy="10636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6391656" y="1954009"/>
            <a:ext cx="1271016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162C46"/>
                </a:solidFill>
                <a:latin typeface="Aptos"/>
              </a:rPr>
              <a:t>SLA / LEAD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2433759"/>
            <a:ext cx="1271016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dirty="0">
                <a:solidFill>
                  <a:srgbClr val="5E6A78"/>
                </a:solidFill>
                <a:latin typeface="Aptos"/>
              </a:rPr>
              <a:t>Theo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dõi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vận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hành</a:t>
            </a:r>
            <a:endParaRPr sz="1600" b="0" dirty="0">
              <a:solidFill>
                <a:srgbClr val="5E6A78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46136" y="1930839"/>
            <a:ext cx="1417320" cy="10636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8019288" y="1958634"/>
            <a:ext cx="1271016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162C46"/>
                </a:solidFill>
                <a:latin typeface="Aptos"/>
              </a:rPr>
              <a:t>CUSTOMER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433759"/>
            <a:ext cx="1271016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>
                <a:solidFill>
                  <a:srgbClr val="5E6A78"/>
                </a:solidFill>
                <a:latin typeface="Aptos"/>
              </a:rPr>
              <a:t>Lắng nghe trải nghiệm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73768" y="1930838"/>
            <a:ext cx="1417320" cy="108536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9646920" y="1953651"/>
            <a:ext cx="127101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162C46"/>
                </a:solidFill>
                <a:latin typeface="Aptos"/>
              </a:rPr>
              <a:t>RISK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203676"/>
            <a:ext cx="1271016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dirty="0" err="1">
                <a:solidFill>
                  <a:srgbClr val="5E6A78"/>
                </a:solidFill>
                <a:latin typeface="Aptos"/>
              </a:rPr>
              <a:t>Ưu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tiên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trường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hợp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rủi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ro</a:t>
            </a:r>
            <a:endParaRPr sz="1600" b="0" dirty="0">
              <a:solidFill>
                <a:srgbClr val="5E6A7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21624" y="2954967"/>
            <a:ext cx="3200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3284151"/>
            <a:ext cx="4251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F639D"/>
                </a:solidFill>
                <a:latin typeface="Aptos"/>
              </a:rPr>
              <a:t>ĐÁNH GIÁ TRẢI NGHIỆM TOÀN DIỆN HƠN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3649911"/>
            <a:ext cx="4251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62C46"/>
                </a:solidFill>
                <a:latin typeface="Aptos"/>
              </a:rPr>
              <a:t>Top 5% risk → 23,3% Low 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24231"/>
            <a:ext cx="38404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F639D"/>
                </a:solidFill>
                <a:latin typeface="Aptos"/>
              </a:rPr>
              <a:t>3. GIỚI HẠN &amp; HƯỚNG PHÁT TRIỂN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262559"/>
            <a:ext cx="10835640" cy="1105576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832104" y="4390265"/>
            <a:ext cx="32461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162C46"/>
                </a:solidFill>
                <a:latin typeface="Aptos"/>
              </a:rPr>
              <a:t>Customer Delivery Status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còn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thiếu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nhiều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dữ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liệu</a:t>
            </a:r>
            <a:endParaRPr sz="1600" b="1" dirty="0">
              <a:solidFill>
                <a:srgbClr val="162C46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1960" y="4390265"/>
            <a:ext cx="3474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162C46"/>
                </a:solidFill>
                <a:latin typeface="Aptos"/>
              </a:rPr>
              <a:t>SLA 5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ngày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là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ngưỡng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chung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,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không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phải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promise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từng</a:t>
            </a:r>
            <a:r>
              <a:rPr sz="1600" b="1" dirty="0">
                <a:solidFill>
                  <a:srgbClr val="162C46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2C46"/>
                </a:solidFill>
                <a:latin typeface="Aptos"/>
              </a:rPr>
              <a:t>đơn</a:t>
            </a:r>
            <a:endParaRPr sz="1600" b="1" dirty="0">
              <a:solidFill>
                <a:srgbClr val="162C46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36992" y="4390265"/>
            <a:ext cx="315468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62C46"/>
                </a:solidFill>
                <a:latin typeface="Aptos"/>
              </a:rPr>
              <a:t>Dữ liệu chỉ từ Tiki — chưa đại diện toàn thị trường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4926155"/>
            <a:ext cx="102412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dirty="0" err="1">
                <a:solidFill>
                  <a:srgbClr val="5E6A78"/>
                </a:solidFill>
                <a:latin typeface="Aptos"/>
              </a:rPr>
              <a:t>Hướng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phát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triển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mở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rộng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dữ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liệu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cải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thiện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customer labels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và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kiểm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chứng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trên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các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nền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tảng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/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dữ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liệu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A78"/>
                </a:solidFill>
                <a:latin typeface="Aptos"/>
              </a:rPr>
              <a:t>khác</a:t>
            </a:r>
            <a:r>
              <a:rPr sz="1600" b="0" dirty="0">
                <a:solidFill>
                  <a:srgbClr val="5E6A78"/>
                </a:solidFill>
                <a:latin typeface="Aptos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515287"/>
            <a:ext cx="10835640" cy="777240"/>
          </a:xfrm>
          <a:prstGeom prst="roundRect">
            <a:avLst/>
          </a:prstGeom>
          <a:solidFill>
            <a:srgbClr val="162C46"/>
          </a:solidFill>
          <a:ln w="12700">
            <a:solidFill>
              <a:srgbClr val="16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868680" y="5616181"/>
            <a:ext cx="10287000" cy="56630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SLA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nên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được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xem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là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một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tín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hiệu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vận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hành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quan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trọng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,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nhưng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cần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kết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hợp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Lead Time,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phản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hồi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khách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hàng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và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mô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hình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rủi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ro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để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đánh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giá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trải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nghiệm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giao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hàng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đầy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đủ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hơn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5E6A78"/>
                </a:solidFill>
                <a:latin typeface="Aptos"/>
              </a:rPr>
              <a:t>Cơ sở Khoa học Dữ liệu  •  SLA &amp; Customer 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65392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>
                <a:solidFill>
                  <a:srgbClr val="5E6A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2018</Words>
  <Application>Microsoft Office PowerPoint</Application>
  <PresentationFormat>Màn hình rộng</PresentationFormat>
  <Paragraphs>310</Paragraphs>
  <Slides>12</Slides>
  <Notes>2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Ngoc Ngan</cp:lastModifiedBy>
  <cp:revision>4</cp:revision>
  <dcterms:created xsi:type="dcterms:W3CDTF">2013-01-27T09:14:16Z</dcterms:created>
  <dcterms:modified xsi:type="dcterms:W3CDTF">2026-09-28T19:31:46Z</dcterms:modified>
  <cp:category/>
</cp:coreProperties>
</file>